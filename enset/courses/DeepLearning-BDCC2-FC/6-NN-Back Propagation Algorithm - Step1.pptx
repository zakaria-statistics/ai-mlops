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753" r:id="rId3"/>
    <p:sldId id="605" r:id="rId4"/>
    <p:sldId id="755" r:id="rId5"/>
    <p:sldId id="754" r:id="rId6"/>
    <p:sldId id="758" r:id="rId7"/>
    <p:sldId id="759" r:id="rId8"/>
    <p:sldId id="760" r:id="rId9"/>
    <p:sldId id="762" r:id="rId10"/>
    <p:sldId id="763" r:id="rId11"/>
    <p:sldId id="647" r:id="rId12"/>
    <p:sldId id="764" r:id="rId13"/>
    <p:sldId id="765" r:id="rId14"/>
    <p:sldId id="556" r:id="rId15"/>
    <p:sldId id="766" r:id="rId16"/>
    <p:sldId id="604" r:id="rId17"/>
    <p:sldId id="581" r:id="rId18"/>
    <p:sldId id="580" r:id="rId19"/>
    <p:sldId id="767" r:id="rId20"/>
    <p:sldId id="585" r:id="rId21"/>
    <p:sldId id="590" r:id="rId22"/>
    <p:sldId id="486" r:id="rId23"/>
    <p:sldId id="587" r:id="rId24"/>
    <p:sldId id="583" r:id="rId25"/>
    <p:sldId id="591" r:id="rId26"/>
    <p:sldId id="588" r:id="rId27"/>
    <p:sldId id="599" r:id="rId28"/>
    <p:sldId id="593" r:id="rId29"/>
    <p:sldId id="596" r:id="rId30"/>
    <p:sldId id="597" r:id="rId31"/>
    <p:sldId id="600" r:id="rId32"/>
    <p:sldId id="578" r:id="rId33"/>
    <p:sldId id="607" r:id="rId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3300"/>
    <a:srgbClr val="0066FF"/>
    <a:srgbClr val="0065FA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AbdelwahabNaji" TargetMode="External"/><Relationship Id="rId2" Type="http://schemas.openxmlformats.org/officeDocument/2006/relationships/hyperlink" Target="mailto:Abdelwahab.naji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nature.com/articles/323533a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27.png"/><Relationship Id="rId7" Type="http://schemas.openxmlformats.org/officeDocument/2006/relationships/image" Target="../media/image12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0.png"/><Relationship Id="rId4" Type="http://schemas.openxmlformats.org/officeDocument/2006/relationships/image" Target="../media/image110.png"/><Relationship Id="rId9" Type="http://schemas.openxmlformats.org/officeDocument/2006/relationships/image" Target="../media/image14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8.png"/><Relationship Id="rId15" Type="http://schemas.openxmlformats.org/officeDocument/2006/relationships/image" Target="../media/image54.png"/><Relationship Id="rId1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3.png"/><Relationship Id="rId7" Type="http://schemas.openxmlformats.org/officeDocument/2006/relationships/image" Target="../media/image7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77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181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image" Target="../media/image76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180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201.png"/><Relationship Id="rId7" Type="http://schemas.openxmlformats.org/officeDocument/2006/relationships/image" Target="../media/image107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211.png"/><Relationship Id="rId10" Type="http://schemas.openxmlformats.org/officeDocument/2006/relationships/image" Target="../media/image221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11" Type="http://schemas.openxmlformats.org/officeDocument/2006/relationships/image" Target="../media/image220.png"/><Relationship Id="rId5" Type="http://schemas.openxmlformats.org/officeDocument/2006/relationships/image" Target="../media/image114.png"/><Relationship Id="rId10" Type="http://schemas.openxmlformats.org/officeDocument/2006/relationships/image" Target="../media/image210.png"/><Relationship Id="rId4" Type="http://schemas.openxmlformats.org/officeDocument/2006/relationships/image" Target="../media/image113.png"/><Relationship Id="rId9" Type="http://schemas.openxmlformats.org/officeDocument/2006/relationships/image" Target="../media/image20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" Type="http://schemas.openxmlformats.org/officeDocument/2006/relationships/image" Target="../media/image118.png"/><Relationship Id="rId21" Type="http://schemas.openxmlformats.org/officeDocument/2006/relationships/image" Target="../media/image148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2" Type="http://schemas.openxmlformats.org/officeDocument/2006/relationships/image" Target="../media/image117.png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38.png"/><Relationship Id="rId24" Type="http://schemas.openxmlformats.org/officeDocument/2006/relationships/image" Target="../media/image151.png"/><Relationship Id="rId5" Type="http://schemas.openxmlformats.org/officeDocument/2006/relationships/image" Target="../media/image120.png"/><Relationship Id="rId15" Type="http://schemas.openxmlformats.org/officeDocument/2006/relationships/image" Target="../media/image142.png"/><Relationship Id="rId23" Type="http://schemas.openxmlformats.org/officeDocument/2006/relationships/image" Target="../media/image150.png"/><Relationship Id="rId10" Type="http://schemas.openxmlformats.org/officeDocument/2006/relationships/image" Target="../media/image137.png"/><Relationship Id="rId19" Type="http://schemas.openxmlformats.org/officeDocument/2006/relationships/image" Target="../media/image146.png"/><Relationship Id="rId4" Type="http://schemas.openxmlformats.org/officeDocument/2006/relationships/image" Target="../media/image119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4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7.png"/><Relationship Id="rId3" Type="http://schemas.openxmlformats.org/officeDocument/2006/relationships/image" Target="../media/image118.png"/><Relationship Id="rId21" Type="http://schemas.openxmlformats.org/officeDocument/2006/relationships/image" Target="../media/image148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2" Type="http://schemas.openxmlformats.org/officeDocument/2006/relationships/image" Target="../media/image117.png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38.png"/><Relationship Id="rId24" Type="http://schemas.openxmlformats.org/officeDocument/2006/relationships/image" Target="../media/image156.png"/><Relationship Id="rId5" Type="http://schemas.openxmlformats.org/officeDocument/2006/relationships/image" Target="../media/image120.png"/><Relationship Id="rId15" Type="http://schemas.openxmlformats.org/officeDocument/2006/relationships/image" Target="../media/image142.png"/><Relationship Id="rId23" Type="http://schemas.openxmlformats.org/officeDocument/2006/relationships/image" Target="../media/image155.png"/><Relationship Id="rId10" Type="http://schemas.openxmlformats.org/officeDocument/2006/relationships/image" Target="../media/image137.png"/><Relationship Id="rId19" Type="http://schemas.openxmlformats.org/officeDocument/2006/relationships/image" Target="../media/image146.png"/><Relationship Id="rId4" Type="http://schemas.openxmlformats.org/officeDocument/2006/relationships/image" Target="../media/image119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5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052071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2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ENSET de Mohammedia, Université Hassan II de Casablanca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</a:t>
            </a: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BackPropagation</a:t>
            </a:r>
            <a:r>
              <a:rPr lang="fr-FR" sz="3200" b="1" dirty="0">
                <a:solidFill>
                  <a:srgbClr val="00B0F0"/>
                </a:solidFill>
              </a:rPr>
              <a:t> </a:t>
            </a:r>
            <a:r>
              <a:rPr lang="fr-FR" sz="3200" b="1" dirty="0" err="1">
                <a:solidFill>
                  <a:srgbClr val="00B0F0"/>
                </a:solidFill>
              </a:rPr>
              <a:t>Algorithm</a:t>
            </a:r>
            <a:endParaRPr lang="fr-FR" sz="4000" b="1" dirty="0">
              <a:solidFill>
                <a:srgbClr val="00B0F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591193" y="4669426"/>
            <a:ext cx="1285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dirty="0">
                <a:solidFill>
                  <a:srgbClr val="FF3300"/>
                </a:solidFill>
              </a:rPr>
              <a:t>Version 2023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815" y="4755403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534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E0BB5-5B9A-CFD7-AB15-E297FE8296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180" y="4786076"/>
            <a:ext cx="1861688" cy="122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1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Un réseau de neurones avec un seul neurone pour la régression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EFD93-0CB6-B5BF-EC68-A71703D502F3}"/>
              </a:ext>
            </a:extLst>
          </p:cNvPr>
          <p:cNvSpPr txBox="1"/>
          <p:nvPr/>
        </p:nvSpPr>
        <p:spPr>
          <a:xfrm>
            <a:off x="157803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E3694A-F600-A7DD-BE68-97ADB6C3DED5}"/>
              </a:ext>
            </a:extLst>
          </p:cNvPr>
          <p:cNvSpPr/>
          <p:nvPr/>
        </p:nvSpPr>
        <p:spPr>
          <a:xfrm>
            <a:off x="885648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023B07-913C-CDBB-0AA6-24041EC3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9" y="2247412"/>
            <a:ext cx="2298250" cy="1728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B1F5DA-6388-8224-1BEF-915F4B5DAEA3}"/>
              </a:ext>
            </a:extLst>
          </p:cNvPr>
          <p:cNvSpPr txBox="1"/>
          <p:nvPr/>
        </p:nvSpPr>
        <p:spPr>
          <a:xfrm>
            <a:off x="276644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B15FFD6-575C-616A-EFC7-46833D43D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43" y="4422824"/>
            <a:ext cx="1525509" cy="100247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C684589-5C19-460B-F08E-3FCB75C56A17}"/>
              </a:ext>
            </a:extLst>
          </p:cNvPr>
          <p:cNvSpPr txBox="1"/>
          <p:nvPr/>
        </p:nvSpPr>
        <p:spPr>
          <a:xfrm>
            <a:off x="5893684" y="811160"/>
            <a:ext cx="6179574" cy="59400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linear</a:t>
            </a:r>
            <a:r>
              <a:rPr lang="fr-MA" sz="1600" dirty="0"/>
              <a:t>(z):</a:t>
            </a:r>
          </a:p>
          <a:p>
            <a:r>
              <a:rPr lang="fr-MA" sz="1600" dirty="0"/>
              <a:t>    return z</a:t>
            </a:r>
          </a:p>
          <a:p>
            <a:r>
              <a:rPr lang="fr-MA" sz="1600" dirty="0"/>
              <a:t>class NN1Neurone: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__init__(self):</a:t>
            </a:r>
          </a:p>
          <a:p>
            <a:r>
              <a:rPr lang="fr-MA" sz="1600" dirty="0"/>
              <a:t>        self.lr=0.001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self.epochs</a:t>
            </a:r>
            <a:r>
              <a:rPr lang="fr-MA" sz="1600" dirty="0"/>
              <a:t>=10000</a:t>
            </a:r>
          </a:p>
          <a:p>
            <a:endParaRPr lang="fr-MA" sz="1600" dirty="0"/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self,X,y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self.bias</a:t>
            </a:r>
            <a:r>
              <a:rPr lang="fr-MA" sz="1600" dirty="0"/>
              <a:t>=0.7</a:t>
            </a:r>
          </a:p>
          <a:p>
            <a:r>
              <a:rPr lang="fr-MA" sz="1600" dirty="0"/>
              <a:t>        self.w1=0.1</a:t>
            </a:r>
          </a:p>
          <a:p>
            <a:r>
              <a:rPr lang="fr-MA" sz="1600" dirty="0"/>
              <a:t>    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    for i in range(</a:t>
            </a:r>
            <a:r>
              <a:rPr lang="fr-MA" sz="1600" dirty="0" err="1"/>
              <a:t>self.epochs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    </a:t>
            </a:r>
            <a:r>
              <a:rPr lang="fr-MA" sz="1600" dirty="0" err="1"/>
              <a:t>ws</a:t>
            </a:r>
            <a:r>
              <a:rPr lang="fr-MA" sz="1600" dirty="0"/>
              <a:t>=self.bias+self.w1*X</a:t>
            </a:r>
          </a:p>
          <a:p>
            <a:r>
              <a:rPr lang="fr-MA" sz="1600" dirty="0"/>
              <a:t>            </a:t>
            </a:r>
            <a:r>
              <a:rPr lang="fr-MA" sz="1600" dirty="0" err="1"/>
              <a:t>py</a:t>
            </a:r>
            <a:r>
              <a:rPr lang="fr-MA" sz="1600" dirty="0"/>
              <a:t>=</a:t>
            </a:r>
            <a:r>
              <a:rPr lang="fr-MA" sz="1600" dirty="0" err="1"/>
              <a:t>linear</a:t>
            </a:r>
            <a:r>
              <a:rPr lang="fr-MA" sz="1600" dirty="0"/>
              <a:t>(</a:t>
            </a:r>
            <a:r>
              <a:rPr lang="fr-MA" sz="1600" dirty="0" err="1"/>
              <a:t>ws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    </a:t>
            </a:r>
            <a:r>
              <a:rPr lang="fr-MA" sz="1600" dirty="0" err="1"/>
              <a:t>dbias</a:t>
            </a:r>
            <a:r>
              <a:rPr lang="fr-MA" sz="1600" dirty="0"/>
              <a:t>=-(2/n)*</a:t>
            </a:r>
            <a:r>
              <a:rPr lang="fr-MA" sz="1600" dirty="0" err="1"/>
              <a:t>sum</a:t>
            </a:r>
            <a:r>
              <a:rPr lang="fr-MA" sz="1600" dirty="0"/>
              <a:t>(y-</a:t>
            </a:r>
            <a:r>
              <a:rPr lang="fr-MA" sz="1600" dirty="0" err="1"/>
              <a:t>py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    dw1=-(2/n)*</a:t>
            </a:r>
            <a:r>
              <a:rPr lang="fr-MA" sz="1600" dirty="0" err="1"/>
              <a:t>sum</a:t>
            </a:r>
            <a:r>
              <a:rPr lang="fr-MA" sz="1600" dirty="0"/>
              <a:t>(X*(y-</a:t>
            </a:r>
            <a:r>
              <a:rPr lang="fr-MA" sz="1600" dirty="0" err="1"/>
              <a:t>py</a:t>
            </a:r>
            <a:r>
              <a:rPr lang="fr-MA" sz="1600" dirty="0"/>
              <a:t>))</a:t>
            </a:r>
          </a:p>
          <a:p>
            <a:r>
              <a:rPr lang="fr-MA" sz="1600" dirty="0"/>
              <a:t>            self.w1=self.w1-dw1*self.lr</a:t>
            </a:r>
          </a:p>
          <a:p>
            <a:r>
              <a:rPr lang="fr-MA" sz="1600" dirty="0"/>
              <a:t>            self.bias=self.bias-dbias*self.lr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predict</a:t>
            </a:r>
            <a:r>
              <a:rPr lang="fr-MA" sz="1600" dirty="0"/>
              <a:t>(</a:t>
            </a:r>
            <a:r>
              <a:rPr lang="fr-MA" sz="1600" dirty="0" err="1"/>
              <a:t>self,X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ws</a:t>
            </a:r>
            <a:r>
              <a:rPr lang="fr-MA" sz="1600" dirty="0"/>
              <a:t>=self.bias+self.w1*X</a:t>
            </a:r>
          </a:p>
          <a:p>
            <a:r>
              <a:rPr lang="fr-MA" sz="1600" dirty="0"/>
              <a:t>        return </a:t>
            </a:r>
            <a:r>
              <a:rPr lang="fr-MA" sz="1600" dirty="0" err="1"/>
              <a:t>linear</a:t>
            </a:r>
            <a:r>
              <a:rPr lang="fr-MA" sz="1600" dirty="0"/>
              <a:t>(</a:t>
            </a:r>
            <a:r>
              <a:rPr lang="fr-MA" sz="1600" dirty="0" err="1"/>
              <a:t>ws</a:t>
            </a:r>
            <a:r>
              <a:rPr lang="fr-MA" sz="1600" dirty="0"/>
              <a:t>)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getDetail</a:t>
            </a:r>
            <a:r>
              <a:rPr lang="fr-MA" sz="1600" dirty="0"/>
              <a:t>(self):</a:t>
            </a:r>
          </a:p>
          <a:p>
            <a:r>
              <a:rPr lang="fr-MA" sz="1600" dirty="0"/>
              <a:t>        return (</a:t>
            </a:r>
            <a:r>
              <a:rPr lang="fr-MA" sz="1600" dirty="0" err="1"/>
              <a:t>self.bias</a:t>
            </a:r>
            <a:r>
              <a:rPr lang="fr-MA" sz="1600" dirty="0"/>
              <a:t>,[self.w1])</a:t>
            </a:r>
          </a:p>
        </p:txBody>
      </p:sp>
    </p:spTree>
    <p:extLst>
      <p:ext uri="{BB962C8B-B14F-4D97-AF65-F5344CB8AC3E}">
        <p14:creationId xmlns:p14="http://schemas.microsoft.com/office/powerpoint/2010/main" val="404622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2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Un réseau de neurones avec un seul neurone pour la classification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F62A0C-4919-E6AA-6018-F644BA9A4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18080"/>
              </p:ext>
            </p:extLst>
          </p:nvPr>
        </p:nvGraphicFramePr>
        <p:xfrm>
          <a:off x="95285" y="2082118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7DAEBE-5FE0-D63B-9602-3F0F1AB1E9D0}"/>
              </a:ext>
            </a:extLst>
          </p:cNvPr>
          <p:cNvSpPr txBox="1"/>
          <p:nvPr/>
        </p:nvSpPr>
        <p:spPr>
          <a:xfrm>
            <a:off x="134076" y="4277426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2F100-575F-00AD-59D1-55160E9C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18" y="4629263"/>
            <a:ext cx="1668557" cy="1436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A6B121-3E9B-DC0F-467D-46019A4956E3}"/>
              </a:ext>
            </a:extLst>
          </p:cNvPr>
          <p:cNvSpPr txBox="1"/>
          <p:nvPr/>
        </p:nvSpPr>
        <p:spPr>
          <a:xfrm>
            <a:off x="-37854" y="1378105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C0B80B-FA3A-AAF9-660C-3FD5575A0FBC}"/>
              </a:ext>
            </a:extLst>
          </p:cNvPr>
          <p:cNvSpPr/>
          <p:nvPr/>
        </p:nvSpPr>
        <p:spPr>
          <a:xfrm>
            <a:off x="689991" y="83099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C4F49-C26D-0B1B-3343-B10E93F46290}"/>
              </a:ext>
            </a:extLst>
          </p:cNvPr>
          <p:cNvSpPr txBox="1"/>
          <p:nvPr/>
        </p:nvSpPr>
        <p:spPr>
          <a:xfrm>
            <a:off x="7114440" y="58846"/>
            <a:ext cx="4750942" cy="67403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class NN1Neurone: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__init__(self):</a:t>
            </a:r>
          </a:p>
          <a:p>
            <a:r>
              <a:rPr lang="fr-MA" sz="1600" dirty="0"/>
              <a:t>        self.lr=0.001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self.epochs</a:t>
            </a:r>
            <a:r>
              <a:rPr lang="fr-MA" sz="1600" dirty="0"/>
              <a:t>=10000</a:t>
            </a:r>
          </a:p>
          <a:p>
            <a:endParaRPr lang="fr-MA" sz="1600" dirty="0"/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fit(self,X1,X2,X3,y):</a:t>
            </a:r>
          </a:p>
          <a:p>
            <a:r>
              <a:rPr lang="fr-MA" sz="1600" dirty="0"/>
              <a:t>      </a:t>
            </a:r>
            <a:r>
              <a:rPr lang="fr-MA" sz="1600" dirty="0">
                <a:solidFill>
                  <a:srgbClr val="0070C0"/>
                </a:solidFill>
              </a:rPr>
              <a:t>  </a:t>
            </a:r>
            <a:r>
              <a:rPr lang="fr-MA" sz="1600" dirty="0" err="1">
                <a:solidFill>
                  <a:srgbClr val="0070C0"/>
                </a:solidFill>
              </a:rPr>
              <a:t>self.bias</a:t>
            </a:r>
            <a:r>
              <a:rPr lang="fr-MA" sz="1600" dirty="0">
                <a:solidFill>
                  <a:srgbClr val="0070C0"/>
                </a:solidFill>
              </a:rPr>
              <a:t>=0.7</a:t>
            </a:r>
          </a:p>
          <a:p>
            <a:r>
              <a:rPr lang="fr-MA" sz="1600" dirty="0">
                <a:solidFill>
                  <a:srgbClr val="0070C0"/>
                </a:solidFill>
              </a:rPr>
              <a:t>        self.w1=0.1</a:t>
            </a:r>
          </a:p>
          <a:p>
            <a:r>
              <a:rPr lang="fr-MA" sz="1600" dirty="0">
                <a:solidFill>
                  <a:srgbClr val="0070C0"/>
                </a:solidFill>
              </a:rPr>
              <a:t>        self.w2=0.1</a:t>
            </a:r>
          </a:p>
          <a:p>
            <a:r>
              <a:rPr lang="fr-MA" sz="1600" dirty="0">
                <a:solidFill>
                  <a:srgbClr val="0070C0"/>
                </a:solidFill>
              </a:rPr>
              <a:t>        self.w3=0.1</a:t>
            </a:r>
          </a:p>
          <a:p>
            <a:r>
              <a:rPr lang="fr-MA" sz="1600" dirty="0"/>
              <a:t>    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    for i in range(</a:t>
            </a:r>
            <a:r>
              <a:rPr lang="fr-MA" sz="1600" dirty="0" err="1"/>
              <a:t>self.epochs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    </a:t>
            </a:r>
            <a:r>
              <a:rPr lang="fr-MA" sz="1600" dirty="0" err="1">
                <a:solidFill>
                  <a:srgbClr val="0065FA"/>
                </a:solidFill>
              </a:rPr>
              <a:t>ws</a:t>
            </a:r>
            <a:r>
              <a:rPr lang="fr-MA" sz="1600" dirty="0">
                <a:solidFill>
                  <a:srgbClr val="0065FA"/>
                </a:solidFill>
              </a:rPr>
              <a:t>=self.bias+self.w1*X1 +self.w2*X2 +self.w3*X3</a:t>
            </a:r>
          </a:p>
          <a:p>
            <a:r>
              <a:rPr lang="fr-MA" sz="1600" dirty="0">
                <a:solidFill>
                  <a:srgbClr val="0065FA"/>
                </a:solidFill>
              </a:rPr>
              <a:t>            </a:t>
            </a:r>
            <a:r>
              <a:rPr lang="fr-MA" sz="1600" dirty="0" err="1">
                <a:solidFill>
                  <a:srgbClr val="0065FA"/>
                </a:solidFill>
              </a:rPr>
              <a:t>py</a:t>
            </a:r>
            <a:r>
              <a:rPr lang="fr-MA" sz="1600" dirty="0">
                <a:solidFill>
                  <a:srgbClr val="0065FA"/>
                </a:solidFill>
              </a:rPr>
              <a:t>=</a:t>
            </a:r>
            <a:r>
              <a:rPr lang="fr-MA" sz="1600" dirty="0" err="1">
                <a:solidFill>
                  <a:srgbClr val="0065FA"/>
                </a:solidFill>
              </a:rPr>
              <a:t>linear</a:t>
            </a:r>
            <a:r>
              <a:rPr lang="fr-MA" sz="1600" dirty="0">
                <a:solidFill>
                  <a:srgbClr val="0065FA"/>
                </a:solidFill>
              </a:rPr>
              <a:t>(</a:t>
            </a:r>
            <a:r>
              <a:rPr lang="fr-MA" sz="1600" dirty="0" err="1">
                <a:solidFill>
                  <a:srgbClr val="0065FA"/>
                </a:solidFill>
              </a:rPr>
              <a:t>ws</a:t>
            </a:r>
            <a:r>
              <a:rPr lang="fr-MA" sz="1600" dirty="0">
                <a:solidFill>
                  <a:srgbClr val="0065FA"/>
                </a:solidFill>
              </a:rPr>
              <a:t>)</a:t>
            </a:r>
          </a:p>
          <a:p>
            <a:r>
              <a:rPr lang="fr-MA" sz="1600" dirty="0"/>
              <a:t>            </a:t>
            </a:r>
            <a:r>
              <a:rPr lang="fr-MA" sz="1600" dirty="0" err="1">
                <a:solidFill>
                  <a:srgbClr val="C00000"/>
                </a:solidFill>
              </a:rPr>
              <a:t>dbias</a:t>
            </a:r>
            <a:r>
              <a:rPr lang="fr-MA" sz="1600" dirty="0">
                <a:solidFill>
                  <a:srgbClr val="C00000"/>
                </a:solidFill>
              </a:rPr>
              <a:t>=-(2/n)*</a:t>
            </a:r>
            <a:r>
              <a:rPr lang="fr-MA" sz="1600" dirty="0" err="1">
                <a:solidFill>
                  <a:srgbClr val="C00000"/>
                </a:solidFill>
              </a:rPr>
              <a:t>sum</a:t>
            </a:r>
            <a:r>
              <a:rPr lang="fr-MA" sz="1600" dirty="0">
                <a:solidFill>
                  <a:srgbClr val="C00000"/>
                </a:solidFill>
              </a:rPr>
              <a:t>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dw1=-(2/n)*</a:t>
            </a:r>
            <a:r>
              <a:rPr lang="fr-MA" sz="1600" dirty="0" err="1">
                <a:solidFill>
                  <a:srgbClr val="C00000"/>
                </a:solidFill>
              </a:rPr>
              <a:t>sum</a:t>
            </a:r>
            <a:r>
              <a:rPr lang="fr-MA" sz="1600" dirty="0">
                <a:solidFill>
                  <a:srgbClr val="C00000"/>
                </a:solidFill>
              </a:rPr>
              <a:t>(X1*(y-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dw2=-(2/n)*</a:t>
            </a:r>
            <a:r>
              <a:rPr lang="fr-MA" sz="1600" dirty="0" err="1">
                <a:solidFill>
                  <a:srgbClr val="C00000"/>
                </a:solidFill>
              </a:rPr>
              <a:t>sum</a:t>
            </a:r>
            <a:r>
              <a:rPr lang="fr-MA" sz="1600" dirty="0">
                <a:solidFill>
                  <a:srgbClr val="C00000"/>
                </a:solidFill>
              </a:rPr>
              <a:t>(X2*(y-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dw3=-(2/n)*</a:t>
            </a:r>
            <a:r>
              <a:rPr lang="fr-MA" sz="1600" dirty="0" err="1">
                <a:solidFill>
                  <a:srgbClr val="C00000"/>
                </a:solidFill>
              </a:rPr>
              <a:t>sum</a:t>
            </a:r>
            <a:r>
              <a:rPr lang="fr-MA" sz="1600" dirty="0">
                <a:solidFill>
                  <a:srgbClr val="C00000"/>
                </a:solidFill>
              </a:rPr>
              <a:t>(X3*(y-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self.w1=self.w1-dw1*self.lr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self.w1=self.w1-dw1*self.lr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self.w1=self.w1-dw1*self.lr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self.bias=self.bias-dbias*self.lr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predict</a:t>
            </a:r>
            <a:r>
              <a:rPr lang="fr-MA" sz="1600" dirty="0"/>
              <a:t>(</a:t>
            </a:r>
            <a:r>
              <a:rPr lang="fr-MA" sz="1600" dirty="0" err="1"/>
              <a:t>self,X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ws</a:t>
            </a:r>
            <a:r>
              <a:rPr lang="fr-MA" sz="1600" dirty="0"/>
              <a:t>=self.bias+self.w1*X1 +self.w2*X2 +self.w3*X3</a:t>
            </a:r>
          </a:p>
          <a:p>
            <a:r>
              <a:rPr lang="fr-MA" sz="1600" dirty="0"/>
              <a:t>        return </a:t>
            </a:r>
            <a:r>
              <a:rPr lang="fr-MA" sz="1600" dirty="0" err="1"/>
              <a:t>linear</a:t>
            </a:r>
            <a:r>
              <a:rPr lang="fr-MA" sz="1600" dirty="0"/>
              <a:t>(</a:t>
            </a:r>
            <a:r>
              <a:rPr lang="fr-MA" sz="1600" dirty="0" err="1"/>
              <a:t>ws</a:t>
            </a:r>
            <a:r>
              <a:rPr lang="fr-MA" sz="1600" dirty="0"/>
              <a:t>)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getDetail</a:t>
            </a:r>
            <a:r>
              <a:rPr lang="fr-MA" sz="1600" dirty="0"/>
              <a:t>(self):</a:t>
            </a:r>
          </a:p>
          <a:p>
            <a:r>
              <a:rPr lang="fr-MA" sz="1600" dirty="0"/>
              <a:t>        return (</a:t>
            </a:r>
            <a:r>
              <a:rPr lang="fr-MA" sz="1600" dirty="0" err="1"/>
              <a:t>self.bias</a:t>
            </a:r>
            <a:r>
              <a:rPr lang="fr-MA" sz="1600" dirty="0"/>
              <a:t>,[self.w1, self.w2, self.w3])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4AF0D3-A8F0-1D46-A71C-B91A9C3565B5}"/>
              </a:ext>
            </a:extLst>
          </p:cNvPr>
          <p:cNvSpPr txBox="1"/>
          <p:nvPr/>
        </p:nvSpPr>
        <p:spPr>
          <a:xfrm>
            <a:off x="2230766" y="89308"/>
            <a:ext cx="4750942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class NN1Neurone: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__init__(self):</a:t>
            </a:r>
          </a:p>
          <a:p>
            <a:r>
              <a:rPr lang="fr-MA" sz="1600" dirty="0"/>
              <a:t>        self.lr=0.001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self.epochs</a:t>
            </a:r>
            <a:r>
              <a:rPr lang="fr-MA" sz="1600" dirty="0"/>
              <a:t>=10000</a:t>
            </a:r>
          </a:p>
          <a:p>
            <a:endParaRPr lang="fr-MA" sz="1600" dirty="0"/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self,</a:t>
            </a:r>
            <a:r>
              <a:rPr lang="fr-MA" sz="1600" b="1" dirty="0" err="1"/>
              <a:t>X</a:t>
            </a:r>
            <a:r>
              <a:rPr lang="fr-MA" sz="1600" dirty="0" err="1"/>
              <a:t>,y</a:t>
            </a:r>
            <a:r>
              <a:rPr lang="fr-MA" sz="1600" dirty="0"/>
              <a:t>):</a:t>
            </a:r>
          </a:p>
          <a:p>
            <a:r>
              <a:rPr lang="fr-MA" sz="1600" dirty="0"/>
              <a:t>      </a:t>
            </a:r>
            <a:r>
              <a:rPr lang="fr-MA" sz="1600" dirty="0">
                <a:solidFill>
                  <a:srgbClr val="0070C0"/>
                </a:solidFill>
              </a:rPr>
              <a:t>  </a:t>
            </a:r>
            <a:r>
              <a:rPr lang="fr-MA" sz="1600" dirty="0" err="1">
                <a:solidFill>
                  <a:srgbClr val="0070C0"/>
                </a:solidFill>
              </a:rPr>
              <a:t>self.bias</a:t>
            </a:r>
            <a:r>
              <a:rPr lang="fr-MA" sz="1600" dirty="0">
                <a:solidFill>
                  <a:srgbClr val="0070C0"/>
                </a:solidFill>
              </a:rPr>
              <a:t>=</a:t>
            </a:r>
            <a:r>
              <a:rPr lang="fr-MA" sz="1600" dirty="0" err="1">
                <a:solidFill>
                  <a:srgbClr val="0070C0"/>
                </a:solidFill>
              </a:rPr>
              <a:t>np.random.uniform</a:t>
            </a:r>
            <a:r>
              <a:rPr lang="fr-MA" sz="1600" dirty="0">
                <a:solidFill>
                  <a:srgbClr val="0070C0"/>
                </a:solidFill>
              </a:rPr>
              <a:t>(-1,1)</a:t>
            </a:r>
          </a:p>
          <a:p>
            <a:r>
              <a:rPr lang="fr-MA" sz="1600" dirty="0">
                <a:solidFill>
                  <a:srgbClr val="0070C0"/>
                </a:solidFill>
              </a:rPr>
              <a:t>        </a:t>
            </a:r>
            <a:r>
              <a:rPr lang="fr-MA" sz="1600" b="1" dirty="0" err="1">
                <a:solidFill>
                  <a:srgbClr val="0070C0"/>
                </a:solidFill>
              </a:rPr>
              <a:t>self.W</a:t>
            </a:r>
            <a:r>
              <a:rPr lang="fr-MA" sz="1600" b="1" dirty="0">
                <a:solidFill>
                  <a:srgbClr val="0070C0"/>
                </a:solidFill>
              </a:rPr>
              <a:t>=</a:t>
            </a:r>
            <a:r>
              <a:rPr lang="fr-MA" sz="1600" b="1" dirty="0" err="1">
                <a:solidFill>
                  <a:srgbClr val="0070C0"/>
                </a:solidFill>
              </a:rPr>
              <a:t>np.array</a:t>
            </a:r>
            <a:r>
              <a:rPr lang="fr-MA" sz="1600" b="1" dirty="0">
                <a:solidFill>
                  <a:srgbClr val="0070C0"/>
                </a:solidFill>
              </a:rPr>
              <a:t>(</a:t>
            </a:r>
            <a:r>
              <a:rPr lang="fr-MA" sz="1600" b="1" dirty="0" err="1">
                <a:solidFill>
                  <a:srgbClr val="0070C0"/>
                </a:solidFill>
              </a:rPr>
              <a:t>np.uniform</a:t>
            </a:r>
            <a:r>
              <a:rPr lang="fr-MA" sz="1600" b="1" dirty="0">
                <a:solidFill>
                  <a:srgbClr val="0070C0"/>
                </a:solidFill>
              </a:rPr>
              <a:t>(-1,1,X.shape[1]))</a:t>
            </a:r>
          </a:p>
          <a:p>
            <a:r>
              <a:rPr lang="fr-MA" sz="1600" dirty="0"/>
              <a:t>    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    for i in range(</a:t>
            </a:r>
            <a:r>
              <a:rPr lang="fr-MA" sz="1600" dirty="0" err="1"/>
              <a:t>self.epochs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    </a:t>
            </a:r>
            <a:r>
              <a:rPr lang="fr-MA" sz="1600" dirty="0" err="1">
                <a:solidFill>
                  <a:srgbClr val="0065FA"/>
                </a:solidFill>
              </a:rPr>
              <a:t>ws</a:t>
            </a:r>
            <a:r>
              <a:rPr lang="fr-MA" sz="1600" dirty="0">
                <a:solidFill>
                  <a:srgbClr val="0065FA"/>
                </a:solidFill>
              </a:rPr>
              <a:t>=self.bias+np.dot(</a:t>
            </a:r>
            <a:r>
              <a:rPr lang="fr-MA" sz="1600" dirty="0" err="1">
                <a:solidFill>
                  <a:srgbClr val="0065FA"/>
                </a:solidFill>
              </a:rPr>
              <a:t>X,self.W</a:t>
            </a:r>
            <a:r>
              <a:rPr lang="fr-MA" sz="1600" dirty="0">
                <a:solidFill>
                  <a:srgbClr val="0065FA"/>
                </a:solidFill>
              </a:rPr>
              <a:t>)</a:t>
            </a:r>
          </a:p>
          <a:p>
            <a:r>
              <a:rPr lang="fr-MA" sz="1600" dirty="0">
                <a:solidFill>
                  <a:srgbClr val="0065FA"/>
                </a:solidFill>
              </a:rPr>
              <a:t>            </a:t>
            </a:r>
            <a:r>
              <a:rPr lang="fr-MA" sz="1600" dirty="0" err="1">
                <a:solidFill>
                  <a:srgbClr val="0065FA"/>
                </a:solidFill>
              </a:rPr>
              <a:t>py</a:t>
            </a:r>
            <a:r>
              <a:rPr lang="fr-MA" sz="1600" dirty="0">
                <a:solidFill>
                  <a:srgbClr val="0065FA"/>
                </a:solidFill>
              </a:rPr>
              <a:t>=</a:t>
            </a:r>
            <a:r>
              <a:rPr lang="fr-MA" sz="1600" dirty="0" err="1">
                <a:solidFill>
                  <a:srgbClr val="0065FA"/>
                </a:solidFill>
              </a:rPr>
              <a:t>linear</a:t>
            </a:r>
            <a:r>
              <a:rPr lang="fr-MA" sz="1600" dirty="0">
                <a:solidFill>
                  <a:srgbClr val="0065FA"/>
                </a:solidFill>
              </a:rPr>
              <a:t>(</a:t>
            </a:r>
            <a:r>
              <a:rPr lang="fr-MA" sz="1600" dirty="0" err="1">
                <a:solidFill>
                  <a:srgbClr val="0065FA"/>
                </a:solidFill>
              </a:rPr>
              <a:t>ws</a:t>
            </a:r>
            <a:r>
              <a:rPr lang="fr-MA" sz="1600" dirty="0">
                <a:solidFill>
                  <a:srgbClr val="0065FA"/>
                </a:solidFill>
              </a:rPr>
              <a:t>)</a:t>
            </a:r>
          </a:p>
          <a:p>
            <a:r>
              <a:rPr lang="fr-MA" sz="1600" dirty="0"/>
              <a:t>            </a:t>
            </a:r>
            <a:r>
              <a:rPr lang="fr-MA" sz="1600" dirty="0" err="1">
                <a:solidFill>
                  <a:srgbClr val="C00000"/>
                </a:solidFill>
              </a:rPr>
              <a:t>dbias</a:t>
            </a:r>
            <a:r>
              <a:rPr lang="fr-MA" sz="1600" dirty="0">
                <a:solidFill>
                  <a:srgbClr val="C00000"/>
                </a:solidFill>
              </a:rPr>
              <a:t>=-(2/n)*</a:t>
            </a:r>
            <a:r>
              <a:rPr lang="fr-MA" sz="1600" dirty="0" err="1">
                <a:solidFill>
                  <a:srgbClr val="C00000"/>
                </a:solidFill>
              </a:rPr>
              <a:t>sum</a:t>
            </a:r>
            <a:r>
              <a:rPr lang="fr-MA" sz="1600" dirty="0">
                <a:solidFill>
                  <a:srgbClr val="C00000"/>
                </a:solidFill>
              </a:rPr>
              <a:t>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</a:t>
            </a:r>
            <a:r>
              <a:rPr lang="fr-MA" sz="1600" dirty="0" err="1">
                <a:solidFill>
                  <a:srgbClr val="C00000"/>
                </a:solidFill>
              </a:rPr>
              <a:t>dW</a:t>
            </a:r>
            <a:r>
              <a:rPr lang="fr-MA" sz="1600" dirty="0">
                <a:solidFill>
                  <a:srgbClr val="C00000"/>
                </a:solidFill>
              </a:rPr>
              <a:t>=-(2/n)*np.dot(X.T, (y-</a:t>
            </a:r>
            <a:r>
              <a:rPr lang="fr-MA" sz="1600" dirty="0" err="1">
                <a:solidFill>
                  <a:srgbClr val="C00000"/>
                </a:solidFill>
              </a:rPr>
              <a:t>py</a:t>
            </a:r>
            <a:r>
              <a:rPr lang="fr-MA" sz="1600" dirty="0">
                <a:solidFill>
                  <a:srgbClr val="C00000"/>
                </a:solidFill>
              </a:rPr>
              <a:t>))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self.W=self.W-dW*self.lr</a:t>
            </a:r>
          </a:p>
          <a:p>
            <a:r>
              <a:rPr lang="fr-MA" sz="1600" dirty="0">
                <a:solidFill>
                  <a:srgbClr val="C00000"/>
                </a:solidFill>
              </a:rPr>
              <a:t>            self.bias=self.bias-dbias*self.lr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predict</a:t>
            </a:r>
            <a:r>
              <a:rPr lang="fr-MA" sz="1600" dirty="0"/>
              <a:t>(</a:t>
            </a:r>
            <a:r>
              <a:rPr lang="fr-MA" sz="1600" dirty="0" err="1"/>
              <a:t>self,X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ws</a:t>
            </a:r>
            <a:r>
              <a:rPr lang="fr-MA" sz="1600" dirty="0"/>
              <a:t>=self.bias+np.dot(X,W)</a:t>
            </a:r>
          </a:p>
          <a:p>
            <a:r>
              <a:rPr lang="fr-MA" sz="1600" dirty="0"/>
              <a:t>        return </a:t>
            </a:r>
            <a:r>
              <a:rPr lang="fr-MA" sz="1600" dirty="0" err="1"/>
              <a:t>linear</a:t>
            </a:r>
            <a:r>
              <a:rPr lang="fr-MA" sz="1600" dirty="0"/>
              <a:t>(</a:t>
            </a:r>
            <a:r>
              <a:rPr lang="fr-MA" sz="1600" dirty="0" err="1"/>
              <a:t>ws</a:t>
            </a:r>
            <a:r>
              <a:rPr lang="fr-MA" sz="1600" dirty="0"/>
              <a:t>)</a:t>
            </a:r>
          </a:p>
          <a:p>
            <a:r>
              <a:rPr lang="fr-MA" sz="1600" dirty="0"/>
              <a:t>    </a:t>
            </a:r>
            <a:r>
              <a:rPr lang="fr-MA" sz="1600" dirty="0" err="1"/>
              <a:t>def</a:t>
            </a:r>
            <a:r>
              <a:rPr lang="fr-MA" sz="1600" dirty="0"/>
              <a:t> </a:t>
            </a:r>
            <a:r>
              <a:rPr lang="fr-MA" sz="1600" dirty="0" err="1"/>
              <a:t>getDetail</a:t>
            </a:r>
            <a:r>
              <a:rPr lang="fr-MA" sz="1600" dirty="0"/>
              <a:t>(self):</a:t>
            </a:r>
          </a:p>
          <a:p>
            <a:r>
              <a:rPr lang="fr-MA" sz="1600" dirty="0"/>
              <a:t>        return (</a:t>
            </a:r>
            <a:r>
              <a:rPr lang="fr-MA" sz="1600" dirty="0" err="1"/>
              <a:t>self.bias</a:t>
            </a:r>
            <a:r>
              <a:rPr lang="fr-MA" sz="1600" dirty="0"/>
              <a:t>,[</a:t>
            </a:r>
            <a:r>
              <a:rPr lang="fr-MA" sz="1600" dirty="0" err="1"/>
              <a:t>self.W</a:t>
            </a:r>
            <a:r>
              <a:rPr lang="fr-MA" sz="16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16671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3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Un réseau de neurones avec un seul neurone pour la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0443E-19FD-AB65-0239-5C722D24CAC6}"/>
              </a:ext>
            </a:extLst>
          </p:cNvPr>
          <p:cNvSpPr txBox="1"/>
          <p:nvPr/>
        </p:nvSpPr>
        <p:spPr>
          <a:xfrm>
            <a:off x="172475" y="1354782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8128F-488A-FFD0-EE4E-E9194C4FD222}"/>
              </a:ext>
            </a:extLst>
          </p:cNvPr>
          <p:cNvSpPr/>
          <p:nvPr/>
        </p:nvSpPr>
        <p:spPr>
          <a:xfrm>
            <a:off x="1215364" y="803786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20A81-F69B-AAC0-A9DD-64305D9184FD}"/>
              </a:ext>
            </a:extLst>
          </p:cNvPr>
          <p:cNvSpPr txBox="1"/>
          <p:nvPr/>
        </p:nvSpPr>
        <p:spPr>
          <a:xfrm>
            <a:off x="357566" y="4263550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1819EC-92D5-07CB-E532-CDEE7AF2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76" y="4674326"/>
            <a:ext cx="1277590" cy="1247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6F68EF-056C-1F10-8BA1-A9972F1D6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0206"/>
            <a:ext cx="2779082" cy="2124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F06EFC-D4F4-A664-8796-6F92B3A501F7}"/>
              </a:ext>
            </a:extLst>
          </p:cNvPr>
          <p:cNvSpPr txBox="1"/>
          <p:nvPr/>
        </p:nvSpPr>
        <p:spPr>
          <a:xfrm>
            <a:off x="5839951" y="677953"/>
            <a:ext cx="6179574" cy="61247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sigmoid</a:t>
            </a:r>
            <a:r>
              <a:rPr lang="fr-MA" sz="1400" dirty="0"/>
              <a:t>(z):</a:t>
            </a:r>
          </a:p>
          <a:p>
            <a:r>
              <a:rPr lang="fr-MA" sz="1400" dirty="0"/>
              <a:t>    return 1/(1+np.exp(-z))</a:t>
            </a:r>
          </a:p>
          <a:p>
            <a:r>
              <a:rPr lang="fr-MA" sz="1400" dirty="0"/>
              <a:t>class NN1Neurone: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def</a:t>
            </a:r>
            <a:r>
              <a:rPr lang="fr-MA" sz="1400" dirty="0"/>
              <a:t> __init__(self):</a:t>
            </a:r>
          </a:p>
          <a:p>
            <a:r>
              <a:rPr lang="fr-MA" sz="1400" dirty="0"/>
              <a:t>        self.lr=0.001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self.epochs</a:t>
            </a:r>
            <a:r>
              <a:rPr lang="fr-MA" sz="1400" dirty="0"/>
              <a:t>=10000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def</a:t>
            </a:r>
            <a:r>
              <a:rPr lang="fr-MA" sz="1400" dirty="0"/>
              <a:t> fit(self,X1,X2,y):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self.bias</a:t>
            </a:r>
            <a:r>
              <a:rPr lang="fr-MA" sz="1400" dirty="0"/>
              <a:t>=0.7</a:t>
            </a:r>
          </a:p>
          <a:p>
            <a:r>
              <a:rPr lang="fr-MA" sz="1400" dirty="0"/>
              <a:t>        self.w1=0.1</a:t>
            </a:r>
          </a:p>
          <a:p>
            <a:r>
              <a:rPr lang="fr-MA" sz="1400" dirty="0"/>
              <a:t>        self.w2=0.1</a:t>
            </a:r>
          </a:p>
          <a:p>
            <a:r>
              <a:rPr lang="fr-MA" sz="1400" dirty="0"/>
              <a:t>        n=</a:t>
            </a:r>
            <a:r>
              <a:rPr lang="fr-MA" sz="1400" dirty="0" err="1"/>
              <a:t>len</a:t>
            </a:r>
            <a:r>
              <a:rPr lang="fr-MA" sz="1400" dirty="0"/>
              <a:t>(y)</a:t>
            </a:r>
          </a:p>
          <a:p>
            <a:r>
              <a:rPr lang="fr-MA" sz="1400" dirty="0"/>
              <a:t>        for i in range(</a:t>
            </a:r>
            <a:r>
              <a:rPr lang="fr-MA" sz="1400" dirty="0" err="1"/>
              <a:t>self.epochs</a:t>
            </a:r>
            <a:r>
              <a:rPr lang="fr-MA" sz="1400" dirty="0"/>
              <a:t>):</a:t>
            </a:r>
          </a:p>
          <a:p>
            <a:r>
              <a:rPr lang="fr-MA" sz="1400" dirty="0"/>
              <a:t>            </a:t>
            </a:r>
            <a:r>
              <a:rPr lang="fr-MA" sz="1400" dirty="0" err="1"/>
              <a:t>ws</a:t>
            </a:r>
            <a:r>
              <a:rPr lang="fr-MA" sz="1400" dirty="0"/>
              <a:t>=self.bias+self.w1*X1+self.w2*X2</a:t>
            </a:r>
          </a:p>
          <a:p>
            <a:r>
              <a:rPr lang="fr-MA" sz="1400" dirty="0"/>
              <a:t>            </a:t>
            </a:r>
            <a:r>
              <a:rPr lang="fr-MA" sz="1400" dirty="0" err="1"/>
              <a:t>py</a:t>
            </a:r>
            <a:r>
              <a:rPr lang="fr-MA" sz="1400" dirty="0"/>
              <a:t>=</a:t>
            </a:r>
            <a:r>
              <a:rPr lang="fr-MA" sz="1400" dirty="0" err="1"/>
              <a:t>sigmoid</a:t>
            </a:r>
            <a:r>
              <a:rPr lang="fr-MA" sz="1400" dirty="0"/>
              <a:t>(</a:t>
            </a:r>
            <a:r>
              <a:rPr lang="fr-MA" sz="1400" dirty="0" err="1"/>
              <a:t>ws</a:t>
            </a:r>
            <a:r>
              <a:rPr lang="fr-MA" sz="1400" dirty="0"/>
              <a:t>)</a:t>
            </a:r>
          </a:p>
          <a:p>
            <a:r>
              <a:rPr lang="fr-MA" sz="1400" dirty="0"/>
              <a:t>            </a:t>
            </a:r>
            <a:r>
              <a:rPr lang="fr-MA" sz="1400" dirty="0" err="1"/>
              <a:t>dbias</a:t>
            </a:r>
            <a:r>
              <a:rPr lang="fr-MA" sz="1400" dirty="0"/>
              <a:t>=-(2/n)*</a:t>
            </a:r>
            <a:r>
              <a:rPr lang="fr-MA" sz="1400" dirty="0" err="1"/>
              <a:t>sum</a:t>
            </a:r>
            <a:r>
              <a:rPr lang="fr-MA" sz="1400" dirty="0"/>
              <a:t>(y-</a:t>
            </a:r>
            <a:r>
              <a:rPr lang="fr-MA" sz="1400" dirty="0" err="1"/>
              <a:t>py</a:t>
            </a:r>
            <a:r>
              <a:rPr lang="fr-MA" sz="1400" dirty="0"/>
              <a:t>)</a:t>
            </a:r>
          </a:p>
          <a:p>
            <a:r>
              <a:rPr lang="fr-MA" sz="1400" dirty="0"/>
              <a:t>            dw1=-(2/n)*</a:t>
            </a:r>
            <a:r>
              <a:rPr lang="fr-MA" sz="1400" dirty="0" err="1"/>
              <a:t>sum</a:t>
            </a:r>
            <a:r>
              <a:rPr lang="fr-MA" sz="1400" dirty="0"/>
              <a:t>(X1*(y-</a:t>
            </a:r>
            <a:r>
              <a:rPr lang="fr-MA" sz="1400" dirty="0" err="1"/>
              <a:t>py</a:t>
            </a:r>
            <a:r>
              <a:rPr lang="fr-MA" sz="1400" dirty="0"/>
              <a:t>))</a:t>
            </a:r>
          </a:p>
          <a:p>
            <a:r>
              <a:rPr lang="fr-MA" sz="1400" dirty="0"/>
              <a:t>            dw2=-(2/n)*</a:t>
            </a:r>
            <a:r>
              <a:rPr lang="fr-MA" sz="1400" dirty="0" err="1"/>
              <a:t>sum</a:t>
            </a:r>
            <a:r>
              <a:rPr lang="fr-MA" sz="1400" dirty="0"/>
              <a:t>(X2*(y-</a:t>
            </a:r>
            <a:r>
              <a:rPr lang="fr-MA" sz="1400" dirty="0" err="1"/>
              <a:t>py</a:t>
            </a:r>
            <a:r>
              <a:rPr lang="fr-MA" sz="1400" dirty="0"/>
              <a:t>))</a:t>
            </a:r>
          </a:p>
          <a:p>
            <a:r>
              <a:rPr lang="fr-MA" sz="1400" dirty="0"/>
              <a:t>            self.w1=self.w1-dw1*self.lr</a:t>
            </a:r>
          </a:p>
          <a:p>
            <a:r>
              <a:rPr lang="fr-MA" sz="1400" dirty="0"/>
              <a:t>            self.w2=self.w2-dw2*self.lr</a:t>
            </a:r>
          </a:p>
          <a:p>
            <a:r>
              <a:rPr lang="fr-MA" sz="1400" dirty="0"/>
              <a:t>            self.bias=self.bias-dbias*self.lr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predict</a:t>
            </a:r>
            <a:r>
              <a:rPr lang="fr-MA" sz="1400" dirty="0"/>
              <a:t>(self,X1,X2):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ws</a:t>
            </a:r>
            <a:r>
              <a:rPr lang="fr-MA" sz="1400" dirty="0"/>
              <a:t>=self.bias+self.w1*X1+self.w1*X2</a:t>
            </a:r>
          </a:p>
          <a:p>
            <a:r>
              <a:rPr lang="fr-MA" sz="1400" dirty="0"/>
              <a:t>        proba=</a:t>
            </a:r>
            <a:r>
              <a:rPr lang="fr-MA" sz="1400" dirty="0" err="1"/>
              <a:t>sigmoid</a:t>
            </a:r>
            <a:r>
              <a:rPr lang="fr-MA" sz="1400" dirty="0"/>
              <a:t>(</a:t>
            </a:r>
            <a:r>
              <a:rPr lang="fr-MA" sz="1400" dirty="0" err="1"/>
              <a:t>ws</a:t>
            </a:r>
            <a:r>
              <a:rPr lang="fr-MA" sz="1400" dirty="0"/>
              <a:t>)</a:t>
            </a:r>
          </a:p>
          <a:p>
            <a:r>
              <a:rPr lang="fr-MA" sz="1400" dirty="0"/>
              <a:t>        cl=[1 if i&gt;0.5 </a:t>
            </a:r>
            <a:r>
              <a:rPr lang="fr-MA" sz="1400" dirty="0" err="1"/>
              <a:t>else</a:t>
            </a:r>
            <a:r>
              <a:rPr lang="fr-MA" sz="1400" dirty="0"/>
              <a:t> 0 for i in proba]</a:t>
            </a:r>
          </a:p>
          <a:p>
            <a:r>
              <a:rPr lang="fr-MA" sz="1400" dirty="0"/>
              <a:t>        return cl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getDetail</a:t>
            </a:r>
            <a:r>
              <a:rPr lang="fr-MA" sz="1400" dirty="0"/>
              <a:t>(self):</a:t>
            </a:r>
          </a:p>
          <a:p>
            <a:r>
              <a:rPr lang="fr-MA" sz="1400" dirty="0"/>
              <a:t>        return (</a:t>
            </a:r>
            <a:r>
              <a:rPr lang="fr-MA" sz="1400" dirty="0" err="1"/>
              <a:t>self.bias</a:t>
            </a:r>
            <a:r>
              <a:rPr lang="fr-MA" sz="1400" dirty="0"/>
              <a:t>,[self.w1,self.w2])</a:t>
            </a:r>
          </a:p>
        </p:txBody>
      </p:sp>
    </p:spTree>
    <p:extLst>
      <p:ext uri="{BB962C8B-B14F-4D97-AF65-F5344CB8AC3E}">
        <p14:creationId xmlns:p14="http://schemas.microsoft.com/office/powerpoint/2010/main" val="334793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4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Un réseau de neurones pour la classification d’un problème non linéairement séparable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1FFD1-F7B0-A59B-14DF-ACE41720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111" y="1960828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B20687-D8F3-D178-4C23-E8F9FEA35E8F}"/>
              </a:ext>
            </a:extLst>
          </p:cNvPr>
          <p:cNvSpPr txBox="1"/>
          <p:nvPr/>
        </p:nvSpPr>
        <p:spPr>
          <a:xfrm>
            <a:off x="33517" y="150622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DE1E07-E83D-D42D-B9DA-411EE5263746}"/>
              </a:ext>
            </a:extLst>
          </p:cNvPr>
          <p:cNvSpPr/>
          <p:nvPr/>
        </p:nvSpPr>
        <p:spPr>
          <a:xfrm>
            <a:off x="1068815" y="1031326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B6583-0FA0-8503-F316-33371B45530D}"/>
              </a:ext>
            </a:extLst>
          </p:cNvPr>
          <p:cNvSpPr txBox="1"/>
          <p:nvPr/>
        </p:nvSpPr>
        <p:spPr>
          <a:xfrm>
            <a:off x="1792469" y="833387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B15B47-7949-7EEE-FA8B-E28683D8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00" y="2279226"/>
            <a:ext cx="1790303" cy="1585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15CF62-3CC1-86C6-4F65-11A5E5534E3A}"/>
              </a:ext>
            </a:extLst>
          </p:cNvPr>
          <p:cNvSpPr txBox="1"/>
          <p:nvPr/>
        </p:nvSpPr>
        <p:spPr>
          <a:xfrm>
            <a:off x="5368413" y="835404"/>
            <a:ext cx="6777986" cy="550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00B050"/>
                </a:solidFill>
              </a:rPr>
              <a:t>#1---------------Librairies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numpy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as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keras.models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import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Sequential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keras.layers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import Activation, Dense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tensorflow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as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tf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fr-MA" sz="1600" b="1" dirty="0">
              <a:solidFill>
                <a:srgbClr val="00B050"/>
              </a:solidFill>
            </a:endParaRPr>
          </a:p>
          <a:p>
            <a:r>
              <a:rPr lang="fr-MA" sz="1600" b="1" dirty="0">
                <a:solidFill>
                  <a:srgbClr val="00B050"/>
                </a:solidFill>
              </a:rPr>
              <a:t>#2----------------Model </a:t>
            </a:r>
            <a:r>
              <a:rPr lang="fr-MA" sz="1600" b="1" dirty="0" err="1">
                <a:solidFill>
                  <a:srgbClr val="00B050"/>
                </a:solidFill>
              </a:rPr>
              <a:t>creation</a:t>
            </a:r>
            <a:r>
              <a:rPr lang="fr-MA" sz="1600" b="1" dirty="0">
                <a:solidFill>
                  <a:srgbClr val="00B050"/>
                </a:solidFill>
              </a:rPr>
              <a:t>: Neural network architecture</a:t>
            </a:r>
          </a:p>
          <a:p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 </a:t>
            </a:r>
            <a:r>
              <a:rPr lang="fr-MA" sz="1600" b="1" dirty="0">
                <a:solidFill>
                  <a:srgbClr val="FF0000"/>
                </a:solidFill>
              </a:rPr>
              <a:t>activation='relu'</a:t>
            </a:r>
            <a:r>
              <a:rPr lang="fr-MA" sz="1600" dirty="0"/>
              <a:t>) </a:t>
            </a:r>
          </a:p>
          <a:p>
            <a:r>
              <a:rPr lang="fr-MA" sz="1600" dirty="0" err="1"/>
              <a:t>output_layer</a:t>
            </a:r>
            <a:r>
              <a:rPr lang="fr-MA" sz="1600" dirty="0"/>
              <a:t> = Dense(1,</a:t>
            </a:r>
            <a:r>
              <a:rPr lang="fr-MA" sz="1600" b="1" dirty="0">
                <a:solidFill>
                  <a:srgbClr val="FF0000"/>
                </a:solidFill>
              </a:rPr>
              <a:t>kernel_initializer='</a:t>
            </a:r>
            <a:r>
              <a:rPr lang="fr-MA" sz="1600" b="1" dirty="0" err="1">
                <a:solidFill>
                  <a:srgbClr val="FF0000"/>
                </a:solidFill>
              </a:rPr>
              <a:t>random_uniform</a:t>
            </a:r>
            <a:r>
              <a:rPr lang="fr-MA" sz="1600" b="1" dirty="0">
                <a:solidFill>
                  <a:srgbClr val="FF0000"/>
                </a:solidFill>
              </a:rPr>
              <a:t>'</a:t>
            </a:r>
            <a:r>
              <a:rPr lang="fr-MA" sz="1600" dirty="0"/>
              <a:t>, 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 activation='</a:t>
            </a:r>
            <a:r>
              <a:rPr lang="fr-MA" sz="1600" dirty="0" err="1"/>
              <a:t>sigmoid</a:t>
            </a:r>
            <a:r>
              <a:rPr lang="fr-MA" sz="1600" dirty="0"/>
              <a:t>') </a:t>
            </a:r>
          </a:p>
          <a:p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</a:t>
            </a:r>
          </a:p>
          <a:p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 </a:t>
            </a:r>
          </a:p>
          <a:p>
            <a:r>
              <a:rPr lang="fr-MA" sz="1600" b="1" dirty="0">
                <a:solidFill>
                  <a:srgbClr val="00B050"/>
                </a:solidFill>
              </a:rPr>
              <a:t>#3-----------------Model compilation: </a:t>
            </a:r>
            <a:r>
              <a:rPr lang="fr-MA" sz="1600" b="1" dirty="0" err="1">
                <a:solidFill>
                  <a:srgbClr val="00B050"/>
                </a:solidFill>
              </a:rPr>
              <a:t>loss</a:t>
            </a:r>
            <a:r>
              <a:rPr lang="fr-MA" sz="1600" b="1" dirty="0">
                <a:solidFill>
                  <a:srgbClr val="00B050"/>
                </a:solidFill>
              </a:rPr>
              <a:t>, </a:t>
            </a:r>
            <a:r>
              <a:rPr lang="fr-MA" sz="1600" b="1" dirty="0" err="1">
                <a:solidFill>
                  <a:srgbClr val="00B050"/>
                </a:solidFill>
              </a:rPr>
              <a:t>optimizer</a:t>
            </a:r>
            <a:endParaRPr lang="fr-MA" sz="1600" dirty="0"/>
          </a:p>
          <a:p>
            <a:r>
              <a:rPr lang="en-US" sz="1600" dirty="0">
                <a:solidFill>
                  <a:srgbClr val="FF3300"/>
                </a:solidFill>
              </a:rPr>
              <a:t>#opt=tf.keras.optimizers.SGD(</a:t>
            </a:r>
            <a:r>
              <a:rPr lang="en-US" sz="1600" b="1" dirty="0">
                <a:solidFill>
                  <a:srgbClr val="FF3300"/>
                </a:solidFill>
              </a:rPr>
              <a:t>learning_rate=0.001</a:t>
            </a:r>
            <a:r>
              <a:rPr lang="en-US" sz="1600" dirty="0">
                <a:solidFill>
                  <a:srgbClr val="FF3300"/>
                </a:solidFill>
              </a:rPr>
              <a:t>)</a:t>
            </a:r>
            <a:endParaRPr lang="fr-MA" sz="1600" dirty="0">
              <a:solidFill>
                <a:srgbClr val="FF3300"/>
              </a:solidFill>
            </a:endParaRPr>
          </a:p>
          <a:p>
            <a:r>
              <a:rPr lang="fr-MA" sz="1600" dirty="0">
                <a:solidFill>
                  <a:srgbClr val="FF3300"/>
                </a:solidFill>
              </a:rPr>
              <a:t>#opt=tf.keras.optimizers.Adam(learning_rate=0.001)</a:t>
            </a:r>
          </a:p>
          <a:p>
            <a:r>
              <a:rPr lang="fr-MA" sz="1600" dirty="0" err="1">
                <a:solidFill>
                  <a:srgbClr val="FF3300"/>
                </a:solidFill>
              </a:rPr>
              <a:t>opt</a:t>
            </a:r>
            <a:r>
              <a:rPr lang="fr-MA" sz="1600" dirty="0">
                <a:solidFill>
                  <a:srgbClr val="FF3300"/>
                </a:solidFill>
              </a:rPr>
              <a:t>=tf.keras.optimizers.SGD(learning_rate=0.01,momentum=0.9)</a:t>
            </a:r>
          </a:p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>
                <a:solidFill>
                  <a:srgbClr val="FF0000"/>
                </a:solidFill>
              </a:rPr>
              <a:t>loss</a:t>
            </a:r>
            <a:r>
              <a:rPr lang="fr-MA" sz="1600" dirty="0">
                <a:solidFill>
                  <a:srgbClr val="FF0000"/>
                </a:solidFill>
              </a:rPr>
              <a:t>='binary_</a:t>
            </a:r>
            <a:r>
              <a:rPr lang="fr-MA" sz="1600" dirty="0" err="1">
                <a:solidFill>
                  <a:srgbClr val="FF0000"/>
                </a:solidFill>
              </a:rPr>
              <a:t>crossentropy</a:t>
            </a:r>
            <a:r>
              <a:rPr lang="fr-MA" sz="1600" dirty="0">
                <a:solidFill>
                  <a:srgbClr val="FF0000"/>
                </a:solidFill>
              </a:rPr>
              <a:t>'</a:t>
            </a:r>
            <a:r>
              <a:rPr lang="fr-MA" sz="1600" dirty="0"/>
              <a:t>,</a:t>
            </a:r>
            <a:r>
              <a:rPr lang="fr-MA" sz="1600" b="1" dirty="0" err="1">
                <a:solidFill>
                  <a:srgbClr val="FF0000"/>
                </a:solidFill>
              </a:rPr>
              <a:t>optimizer</a:t>
            </a:r>
            <a:r>
              <a:rPr lang="fr-MA" sz="1600" b="1" dirty="0">
                <a:solidFill>
                  <a:srgbClr val="FF0000"/>
                </a:solidFill>
              </a:rPr>
              <a:t>=</a:t>
            </a:r>
            <a:r>
              <a:rPr lang="fr-MA" sz="1600" b="1" dirty="0" err="1">
                <a:solidFill>
                  <a:srgbClr val="FF0000"/>
                </a:solidFill>
              </a:rPr>
              <a:t>opt</a:t>
            </a:r>
            <a:r>
              <a:rPr lang="fr-MA" sz="1600" dirty="0" err="1"/>
              <a:t>,metrics</a:t>
            </a:r>
            <a:r>
              <a:rPr lang="fr-MA" sz="1600" dirty="0"/>
              <a:t>=['</a:t>
            </a:r>
            <a:r>
              <a:rPr lang="fr-MA" sz="1600" dirty="0" err="1"/>
              <a:t>accuracy</a:t>
            </a:r>
            <a:r>
              <a:rPr lang="fr-MA" sz="1600" dirty="0"/>
              <a:t>'])</a:t>
            </a:r>
          </a:p>
          <a:p>
            <a:r>
              <a:rPr lang="fr-MA" sz="1600" b="1" dirty="0">
                <a:solidFill>
                  <a:srgbClr val="00B050"/>
                </a:solidFill>
              </a:rPr>
              <a:t>#4-------------------------------  Model training: </a:t>
            </a:r>
            <a:r>
              <a:rPr lang="fr-MA" sz="1600" b="1" dirty="0" err="1">
                <a:solidFill>
                  <a:srgbClr val="00B050"/>
                </a:solidFill>
              </a:rPr>
              <a:t>weights</a:t>
            </a:r>
            <a:r>
              <a:rPr lang="fr-MA" sz="1600" b="1" dirty="0">
                <a:solidFill>
                  <a:srgbClr val="00B050"/>
                </a:solidFill>
              </a:rPr>
              <a:t> </a:t>
            </a:r>
            <a:r>
              <a:rPr lang="fr-MA" sz="1600" b="1" dirty="0" err="1">
                <a:solidFill>
                  <a:srgbClr val="00B050"/>
                </a:solidFill>
              </a:rPr>
              <a:t>fitting</a:t>
            </a:r>
            <a:endParaRPr lang="fr-MA" sz="1600" dirty="0"/>
          </a:p>
          <a:p>
            <a:r>
              <a:rPr lang="fr-MA" sz="1600" dirty="0">
                <a:solidFill>
                  <a:srgbClr val="FF3300"/>
                </a:solidFill>
              </a:rPr>
              <a:t>#model.fit(X,y,epochs=1000,batch_size=4)</a:t>
            </a:r>
          </a:p>
          <a:p>
            <a:r>
              <a:rPr lang="fr-MA" sz="1600" dirty="0" err="1"/>
              <a:t>model.fit</a:t>
            </a:r>
            <a:r>
              <a:rPr lang="fr-MA" sz="1600" dirty="0"/>
              <a:t>(</a:t>
            </a:r>
            <a:r>
              <a:rPr lang="fr-MA" sz="1600" dirty="0" err="1"/>
              <a:t>X,y,epochs</a:t>
            </a:r>
            <a:r>
              <a:rPr lang="fr-MA" sz="1600" dirty="0"/>
              <a:t>=1000)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31ADE-2D7C-E45B-97D4-25C90F65F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338" y="137102"/>
            <a:ext cx="2897551" cy="20696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3EA66-0663-3024-E975-0D18C7D35F56}"/>
              </a:ext>
            </a:extLst>
          </p:cNvPr>
          <p:cNvSpPr txBox="1"/>
          <p:nvPr/>
        </p:nvSpPr>
        <p:spPr>
          <a:xfrm>
            <a:off x="172464" y="4170546"/>
            <a:ext cx="2016000" cy="92333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70C0"/>
                </a:solidFill>
              </a:rPr>
              <a:t>Accuracy</a:t>
            </a:r>
            <a:r>
              <a:rPr lang="fr-MA" dirty="0">
                <a:solidFill>
                  <a:srgbClr val="0070C0"/>
                </a:solidFill>
              </a:rPr>
              <a:t>=1,</a:t>
            </a:r>
            <a:br>
              <a:rPr lang="fr-MA" dirty="0">
                <a:solidFill>
                  <a:srgbClr val="0070C0"/>
                </a:solidFill>
              </a:rPr>
            </a:br>
            <a:r>
              <a:rPr lang="fr-MA" dirty="0">
                <a:solidFill>
                  <a:srgbClr val="0070C0"/>
                </a:solidFill>
              </a:rPr>
              <a:t>vu que  le </a:t>
            </a:r>
            <a:r>
              <a:rPr lang="fr-MA" dirty="0" err="1">
                <a:solidFill>
                  <a:srgbClr val="0070C0"/>
                </a:solidFill>
              </a:rPr>
              <a:t>dataset</a:t>
            </a:r>
            <a:r>
              <a:rPr lang="fr-MA" dirty="0">
                <a:solidFill>
                  <a:srgbClr val="0070C0"/>
                </a:solidFill>
              </a:rPr>
              <a:t> est simple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84EAC-6253-CDCA-BE52-3F2A9DA1BC2B}"/>
              </a:ext>
            </a:extLst>
          </p:cNvPr>
          <p:cNvSpPr txBox="1"/>
          <p:nvPr/>
        </p:nvSpPr>
        <p:spPr>
          <a:xfrm>
            <a:off x="2390387" y="4160715"/>
            <a:ext cx="2016000" cy="92333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70C0"/>
                </a:solidFill>
              </a:rPr>
              <a:t>Accuracy</a:t>
            </a:r>
            <a:r>
              <a:rPr lang="fr-MA" dirty="0">
                <a:solidFill>
                  <a:srgbClr val="0070C0"/>
                </a:solidFill>
              </a:rPr>
              <a:t>=0.583,</a:t>
            </a:r>
            <a:br>
              <a:rPr lang="fr-MA" dirty="0">
                <a:solidFill>
                  <a:srgbClr val="0070C0"/>
                </a:solidFill>
              </a:rPr>
            </a:br>
            <a:r>
              <a:rPr lang="fr-MA" dirty="0">
                <a:solidFill>
                  <a:srgbClr val="0070C0"/>
                </a:solidFill>
              </a:rPr>
              <a:t>vu que  le </a:t>
            </a:r>
            <a:r>
              <a:rPr lang="fr-MA" dirty="0" err="1">
                <a:solidFill>
                  <a:srgbClr val="0070C0"/>
                </a:solidFill>
              </a:rPr>
              <a:t>dataset</a:t>
            </a:r>
            <a:r>
              <a:rPr lang="fr-MA" dirty="0">
                <a:solidFill>
                  <a:srgbClr val="0070C0"/>
                </a:solidFill>
              </a:rPr>
              <a:t> n’est pas simple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984D17-37E4-7405-8918-05E47BA31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437" y="5126584"/>
            <a:ext cx="2445899" cy="1402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7B32A7-DE27-DDE8-F3B7-F50677E02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09" y="5229551"/>
            <a:ext cx="2061328" cy="11445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0155F7-06A6-9BDA-C1B8-8E8BEB237725}"/>
              </a:ext>
            </a:extLst>
          </p:cNvPr>
          <p:cNvSpPr txBox="1"/>
          <p:nvPr/>
        </p:nvSpPr>
        <p:spPr>
          <a:xfrm>
            <a:off x="9610456" y="3590004"/>
            <a:ext cx="2007313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MA" sz="1400" dirty="0">
                <a:solidFill>
                  <a:srgbClr val="FF0000"/>
                </a:solidFill>
              </a:rPr>
              <a:t>L’</a:t>
            </a:r>
            <a:r>
              <a:rPr lang="fr-MA" sz="1400" dirty="0" err="1">
                <a:solidFill>
                  <a:srgbClr val="FF0000"/>
                </a:solidFill>
              </a:rPr>
              <a:t>accuracy</a:t>
            </a:r>
            <a:r>
              <a:rPr lang="fr-MA" sz="1400" dirty="0">
                <a:solidFill>
                  <a:srgbClr val="FF0000"/>
                </a:solidFill>
              </a:rPr>
              <a:t> peut être influencé par les poids initiaux</a:t>
            </a:r>
          </a:p>
        </p:txBody>
      </p:sp>
    </p:spTree>
    <p:extLst>
      <p:ext uri="{BB962C8B-B14F-4D97-AF65-F5344CB8AC3E}">
        <p14:creationId xmlns:p14="http://schemas.microsoft.com/office/powerpoint/2010/main" val="56288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5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Comment optimiser la performance d’un réseau de neurones</a:t>
            </a: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F2D6AF81-45E4-8045-4269-55A904C73A19}"/>
              </a:ext>
            </a:extLst>
          </p:cNvPr>
          <p:cNvSpPr txBox="1"/>
          <p:nvPr/>
        </p:nvSpPr>
        <p:spPr>
          <a:xfrm>
            <a:off x="17700" y="785120"/>
            <a:ext cx="55866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Plusieurs questions sont à soulever: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Quelle l’architecture du réseau de neurones à adopter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initialiser les poids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Quelle fonction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à choisir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 </a:t>
            </a:r>
            <a:r>
              <a:rPr lang="fr-MA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choisir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définir les paramètres de l’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choisi 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bien choisir les fonctions d’activation 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86543-EFC9-C8FF-83DE-6735A1CFD986}"/>
              </a:ext>
            </a:extLst>
          </p:cNvPr>
          <p:cNvSpPr txBox="1"/>
          <p:nvPr/>
        </p:nvSpPr>
        <p:spPr>
          <a:xfrm>
            <a:off x="5648631" y="333962"/>
            <a:ext cx="647454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B050"/>
                </a:solidFill>
              </a:rPr>
              <a:t>#1---------------Librairies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numpy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as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keras.models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import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Sequential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keras.layers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import Activation, Dense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tensorflow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as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tf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fr-MA" sz="1400" b="1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rgbClr val="00B050"/>
                </a:solidFill>
              </a:rPr>
              <a:t>#2----------------Model </a:t>
            </a:r>
            <a:r>
              <a:rPr lang="fr-MA" sz="1400" b="1" dirty="0" err="1">
                <a:solidFill>
                  <a:srgbClr val="00B050"/>
                </a:solidFill>
              </a:rPr>
              <a:t>creation</a:t>
            </a:r>
            <a:r>
              <a:rPr lang="fr-MA" sz="1400" b="1" dirty="0">
                <a:solidFill>
                  <a:srgbClr val="00B050"/>
                </a:solidFill>
              </a:rPr>
              <a:t>: Neural network architecture</a:t>
            </a:r>
          </a:p>
          <a:p>
            <a:r>
              <a:rPr lang="fr-MA" sz="1400" dirty="0"/>
              <a:t>model = </a:t>
            </a:r>
            <a:r>
              <a:rPr lang="fr-MA" sz="1400" dirty="0" err="1"/>
              <a:t>Sequential</a:t>
            </a:r>
            <a:r>
              <a:rPr lang="fr-MA" sz="1400" dirty="0"/>
              <a:t>() </a:t>
            </a:r>
          </a:p>
          <a:p>
            <a:r>
              <a:rPr lang="fr-MA" sz="1400" dirty="0" err="1"/>
              <a:t>hidden_layer</a:t>
            </a:r>
            <a:r>
              <a:rPr lang="fr-MA" sz="1400" dirty="0"/>
              <a:t> = Dense(2,input_dim=2, </a:t>
            </a:r>
            <a:r>
              <a:rPr lang="fr-MA" sz="1400" dirty="0" err="1"/>
              <a:t>kernel_initializer</a:t>
            </a:r>
            <a:r>
              <a:rPr lang="fr-MA" sz="1400" dirty="0"/>
              <a:t>='</a:t>
            </a:r>
            <a:r>
              <a:rPr lang="fr-MA" sz="1400" dirty="0" err="1"/>
              <a:t>ones</a:t>
            </a:r>
            <a:r>
              <a:rPr lang="fr-MA" sz="1400" dirty="0"/>
              <a:t>',</a:t>
            </a:r>
            <a:r>
              <a:rPr lang="fr-MA" sz="1400" dirty="0" err="1"/>
              <a:t>bias_initializer</a:t>
            </a:r>
            <a:r>
              <a:rPr lang="fr-MA" sz="1400" dirty="0"/>
              <a:t>='</a:t>
            </a:r>
            <a:r>
              <a:rPr lang="fr-MA" sz="1400" dirty="0" err="1"/>
              <a:t>zeros</a:t>
            </a:r>
            <a:r>
              <a:rPr lang="fr-MA" sz="1400" dirty="0"/>
              <a:t>', </a:t>
            </a:r>
            <a:r>
              <a:rPr lang="fr-MA" sz="1400" b="1" dirty="0">
                <a:solidFill>
                  <a:srgbClr val="FF0000"/>
                </a:solidFill>
              </a:rPr>
              <a:t>activation='relu'</a:t>
            </a:r>
            <a:r>
              <a:rPr lang="fr-MA" sz="1400" dirty="0"/>
              <a:t>) </a:t>
            </a:r>
          </a:p>
          <a:p>
            <a:r>
              <a:rPr lang="fr-MA" sz="1400" dirty="0" err="1"/>
              <a:t>output_layer</a:t>
            </a:r>
            <a:r>
              <a:rPr lang="fr-MA" sz="1400" dirty="0"/>
              <a:t> = Dense(1,</a:t>
            </a:r>
            <a:r>
              <a:rPr lang="fr-MA" sz="1400" b="1" dirty="0">
                <a:solidFill>
                  <a:srgbClr val="FF0000"/>
                </a:solidFill>
              </a:rPr>
              <a:t>kernel_initializer='</a:t>
            </a:r>
            <a:r>
              <a:rPr lang="fr-MA" sz="1400" b="1" dirty="0" err="1">
                <a:solidFill>
                  <a:srgbClr val="FF0000"/>
                </a:solidFill>
              </a:rPr>
              <a:t>random_uniform</a:t>
            </a:r>
            <a:r>
              <a:rPr lang="fr-MA" sz="1400" b="1" dirty="0">
                <a:solidFill>
                  <a:srgbClr val="FF0000"/>
                </a:solidFill>
              </a:rPr>
              <a:t>'</a:t>
            </a:r>
            <a:r>
              <a:rPr lang="fr-MA" sz="1400" dirty="0"/>
              <a:t>, </a:t>
            </a:r>
            <a:r>
              <a:rPr lang="fr-MA" sz="1400" dirty="0" err="1"/>
              <a:t>bias_initializer</a:t>
            </a:r>
            <a:r>
              <a:rPr lang="fr-MA" sz="1400" dirty="0"/>
              <a:t>='</a:t>
            </a:r>
            <a:r>
              <a:rPr lang="fr-MA" sz="1400" dirty="0" err="1"/>
              <a:t>zeros</a:t>
            </a:r>
            <a:r>
              <a:rPr lang="fr-MA" sz="1400" dirty="0"/>
              <a:t>', activation='</a:t>
            </a:r>
            <a:r>
              <a:rPr lang="fr-MA" sz="1400" dirty="0" err="1"/>
              <a:t>sigmoid</a:t>
            </a:r>
            <a:r>
              <a:rPr lang="fr-MA" sz="1400" dirty="0"/>
              <a:t>') </a:t>
            </a:r>
          </a:p>
          <a:p>
            <a:r>
              <a:rPr lang="fr-MA" sz="1400" dirty="0" err="1"/>
              <a:t>model.add</a:t>
            </a:r>
            <a:r>
              <a:rPr lang="fr-MA" sz="1400" dirty="0"/>
              <a:t>(</a:t>
            </a:r>
            <a:r>
              <a:rPr lang="fr-MA" sz="1400" dirty="0" err="1"/>
              <a:t>hidden_layer</a:t>
            </a:r>
            <a:r>
              <a:rPr lang="fr-MA" sz="1400" dirty="0"/>
              <a:t>) </a:t>
            </a:r>
          </a:p>
          <a:p>
            <a:r>
              <a:rPr lang="fr-MA" sz="1400" dirty="0" err="1"/>
              <a:t>model.add</a:t>
            </a:r>
            <a:r>
              <a:rPr lang="fr-MA" sz="1400" dirty="0"/>
              <a:t>(</a:t>
            </a:r>
            <a:r>
              <a:rPr lang="fr-MA" sz="1400" dirty="0" err="1"/>
              <a:t>output_layer</a:t>
            </a:r>
            <a:r>
              <a:rPr lang="fr-MA" sz="1400" dirty="0"/>
              <a:t>) </a:t>
            </a:r>
          </a:p>
          <a:p>
            <a:r>
              <a:rPr lang="fr-MA" sz="1400" b="1" dirty="0">
                <a:solidFill>
                  <a:srgbClr val="00B050"/>
                </a:solidFill>
              </a:rPr>
              <a:t>#3-----------------Model compilation: </a:t>
            </a:r>
            <a:r>
              <a:rPr lang="fr-MA" sz="1400" b="1" dirty="0" err="1">
                <a:solidFill>
                  <a:srgbClr val="00B050"/>
                </a:solidFill>
              </a:rPr>
              <a:t>loss</a:t>
            </a:r>
            <a:r>
              <a:rPr lang="fr-MA" sz="1400" b="1" dirty="0">
                <a:solidFill>
                  <a:srgbClr val="00B050"/>
                </a:solidFill>
              </a:rPr>
              <a:t>, </a:t>
            </a:r>
            <a:r>
              <a:rPr lang="fr-MA" sz="1400" b="1" dirty="0" err="1">
                <a:solidFill>
                  <a:srgbClr val="00B050"/>
                </a:solidFill>
              </a:rPr>
              <a:t>optimizer</a:t>
            </a:r>
            <a:endParaRPr lang="fr-MA" sz="1400" dirty="0"/>
          </a:p>
          <a:p>
            <a:r>
              <a:rPr lang="en-US" sz="1400" dirty="0">
                <a:solidFill>
                  <a:srgbClr val="FF3300"/>
                </a:solidFill>
              </a:rPr>
              <a:t>#opt=tf.keras.optimizers.SGD(</a:t>
            </a:r>
            <a:r>
              <a:rPr lang="en-US" sz="1400" b="1" dirty="0">
                <a:solidFill>
                  <a:srgbClr val="FF3300"/>
                </a:solidFill>
              </a:rPr>
              <a:t>learning_rate=0.001</a:t>
            </a:r>
            <a:r>
              <a:rPr lang="en-US" sz="1400" dirty="0">
                <a:solidFill>
                  <a:srgbClr val="FF3300"/>
                </a:solidFill>
              </a:rPr>
              <a:t>)</a:t>
            </a:r>
            <a:endParaRPr lang="fr-MA" sz="1400" dirty="0">
              <a:solidFill>
                <a:srgbClr val="FF3300"/>
              </a:solidFill>
            </a:endParaRPr>
          </a:p>
          <a:p>
            <a:r>
              <a:rPr lang="fr-MA" sz="1400" dirty="0">
                <a:solidFill>
                  <a:srgbClr val="FF3300"/>
                </a:solidFill>
              </a:rPr>
              <a:t>#opt=tf.keras.optimizers.Adam(learning_rate=0.001)</a:t>
            </a:r>
          </a:p>
          <a:p>
            <a:r>
              <a:rPr lang="fr-MA" sz="1400" dirty="0" err="1">
                <a:solidFill>
                  <a:srgbClr val="FF3300"/>
                </a:solidFill>
              </a:rPr>
              <a:t>opt</a:t>
            </a:r>
            <a:r>
              <a:rPr lang="fr-MA" sz="1400" dirty="0">
                <a:solidFill>
                  <a:srgbClr val="FF3300"/>
                </a:solidFill>
              </a:rPr>
              <a:t>=tf.keras.optimizers.SGD(learning_rate=0.01,momentum=0.9)</a:t>
            </a:r>
          </a:p>
          <a:p>
            <a:r>
              <a:rPr lang="fr-MA" sz="1400" dirty="0" err="1"/>
              <a:t>model.compile</a:t>
            </a:r>
            <a:r>
              <a:rPr lang="fr-MA" sz="1400" dirty="0"/>
              <a:t>(</a:t>
            </a:r>
            <a:r>
              <a:rPr lang="fr-MA" sz="1400" dirty="0" err="1">
                <a:solidFill>
                  <a:srgbClr val="FF0000"/>
                </a:solidFill>
              </a:rPr>
              <a:t>loss</a:t>
            </a:r>
            <a:r>
              <a:rPr lang="fr-MA" sz="1400" dirty="0">
                <a:solidFill>
                  <a:srgbClr val="FF0000"/>
                </a:solidFill>
              </a:rPr>
              <a:t>='binary_</a:t>
            </a:r>
            <a:r>
              <a:rPr lang="fr-MA" sz="1400" dirty="0" err="1">
                <a:solidFill>
                  <a:srgbClr val="FF0000"/>
                </a:solidFill>
              </a:rPr>
              <a:t>crossentropy</a:t>
            </a:r>
            <a:r>
              <a:rPr lang="fr-MA" sz="1400" dirty="0">
                <a:solidFill>
                  <a:srgbClr val="FF0000"/>
                </a:solidFill>
              </a:rPr>
              <a:t>'</a:t>
            </a:r>
            <a:r>
              <a:rPr lang="fr-MA" sz="1400" dirty="0"/>
              <a:t>,</a:t>
            </a:r>
            <a:r>
              <a:rPr lang="fr-MA" sz="1400" b="1" dirty="0" err="1">
                <a:solidFill>
                  <a:srgbClr val="FF0000"/>
                </a:solidFill>
              </a:rPr>
              <a:t>optimizer</a:t>
            </a:r>
            <a:r>
              <a:rPr lang="fr-MA" sz="1400" b="1" dirty="0">
                <a:solidFill>
                  <a:srgbClr val="FF0000"/>
                </a:solidFill>
              </a:rPr>
              <a:t>=</a:t>
            </a:r>
            <a:r>
              <a:rPr lang="fr-MA" sz="1400" b="1" dirty="0" err="1">
                <a:solidFill>
                  <a:srgbClr val="FF0000"/>
                </a:solidFill>
              </a:rPr>
              <a:t>opt</a:t>
            </a:r>
            <a:r>
              <a:rPr lang="fr-MA" sz="1400" dirty="0" err="1"/>
              <a:t>,metrics</a:t>
            </a:r>
            <a:r>
              <a:rPr lang="fr-MA" sz="1400" dirty="0"/>
              <a:t>=['</a:t>
            </a:r>
            <a:r>
              <a:rPr lang="fr-MA" sz="1400" dirty="0" err="1"/>
              <a:t>accuracy</a:t>
            </a:r>
            <a:r>
              <a:rPr lang="fr-MA" sz="1400" dirty="0"/>
              <a:t>'])</a:t>
            </a:r>
          </a:p>
          <a:p>
            <a:r>
              <a:rPr lang="fr-MA" sz="1400" b="1" dirty="0">
                <a:solidFill>
                  <a:srgbClr val="00B050"/>
                </a:solidFill>
              </a:rPr>
              <a:t>#4-------------------------------  Model training: </a:t>
            </a:r>
            <a:r>
              <a:rPr lang="fr-MA" sz="1400" b="1" dirty="0" err="1">
                <a:solidFill>
                  <a:srgbClr val="00B050"/>
                </a:solidFill>
              </a:rPr>
              <a:t>weights</a:t>
            </a:r>
            <a:r>
              <a:rPr lang="fr-MA" sz="1400" b="1" dirty="0">
                <a:solidFill>
                  <a:srgbClr val="00B050"/>
                </a:solidFill>
              </a:rPr>
              <a:t> </a:t>
            </a:r>
            <a:r>
              <a:rPr lang="fr-MA" sz="1400" b="1" dirty="0" err="1">
                <a:solidFill>
                  <a:srgbClr val="00B050"/>
                </a:solidFill>
              </a:rPr>
              <a:t>fitting</a:t>
            </a:r>
            <a:endParaRPr lang="fr-MA" sz="1400" dirty="0"/>
          </a:p>
          <a:p>
            <a:r>
              <a:rPr lang="fr-MA" sz="1400" dirty="0">
                <a:solidFill>
                  <a:srgbClr val="FF3300"/>
                </a:solidFill>
              </a:rPr>
              <a:t>#model.fit(X,y,epochs=1000,batch_size=4)</a:t>
            </a:r>
          </a:p>
          <a:p>
            <a:r>
              <a:rPr lang="fr-MA" sz="1400" dirty="0" err="1"/>
              <a:t>model.fit</a:t>
            </a:r>
            <a:r>
              <a:rPr lang="fr-MA" sz="1400" dirty="0"/>
              <a:t>(</a:t>
            </a:r>
            <a:r>
              <a:rPr lang="fr-MA" sz="1400" dirty="0" err="1"/>
              <a:t>X,y,epochs</a:t>
            </a:r>
            <a:r>
              <a:rPr lang="fr-MA" sz="1400" dirty="0"/>
              <a:t>=1000)</a:t>
            </a:r>
          </a:p>
        </p:txBody>
      </p:sp>
    </p:spTree>
    <p:extLst>
      <p:ext uri="{BB962C8B-B14F-4D97-AF65-F5344CB8AC3E}">
        <p14:creationId xmlns:p14="http://schemas.microsoft.com/office/powerpoint/2010/main" val="68152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5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Comment optimiser la performance d’un réseau de neurones</a:t>
            </a: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F2D6AF81-45E4-8045-4269-55A904C73A19}"/>
              </a:ext>
            </a:extLst>
          </p:cNvPr>
          <p:cNvSpPr txBox="1"/>
          <p:nvPr/>
        </p:nvSpPr>
        <p:spPr>
          <a:xfrm>
            <a:off x="17700" y="785120"/>
            <a:ext cx="5586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différents </a:t>
            </a:r>
            <a:r>
              <a:rPr lang="fr-MA" sz="2000" b="1" dirty="0" err="1">
                <a:solidFill>
                  <a:srgbClr val="0070C0"/>
                </a:solidFill>
              </a:rPr>
              <a:t>optimizers</a:t>
            </a:r>
            <a:r>
              <a:rPr lang="fr-MA" sz="2000" b="1" dirty="0">
                <a:solidFill>
                  <a:srgbClr val="0070C0"/>
                </a:solidFill>
              </a:rPr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93C656-0184-3580-6F95-2DB3322C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7" y="1217303"/>
            <a:ext cx="10667999" cy="545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9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0" y="0"/>
            <a:ext cx="6141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Rappel 6</a:t>
            </a:r>
          </a:p>
          <a:p>
            <a:r>
              <a:rPr lang="fr-MA" sz="1600" b="1" dirty="0">
                <a:solidFill>
                  <a:srgbClr val="0070C0"/>
                </a:solidFill>
              </a:rPr>
              <a:t>Créer un réseau de neurones pour la classification –</a:t>
            </a:r>
            <a:br>
              <a:rPr lang="fr-MA" sz="1600" b="1" dirty="0">
                <a:solidFill>
                  <a:srgbClr val="0070C0"/>
                </a:solidFill>
              </a:rPr>
            </a:br>
            <a:r>
              <a:rPr lang="fr-MA" sz="1600" b="1" dirty="0">
                <a:solidFill>
                  <a:srgbClr val="FF0000"/>
                </a:solidFill>
              </a:rPr>
              <a:t> fashion </a:t>
            </a:r>
            <a:r>
              <a:rPr lang="fr-MA" sz="1600" b="1" dirty="0" err="1">
                <a:solidFill>
                  <a:srgbClr val="FF0000"/>
                </a:solidFill>
              </a:rPr>
              <a:t>problem</a:t>
            </a:r>
            <a:endParaRPr lang="fr-MA" sz="16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7C66E8-DB3C-C7C2-D688-EF262059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09" y="3024951"/>
            <a:ext cx="4071323" cy="38239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A1D6A3-A2F8-9B3D-E094-D4FA746FD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09" y="1199125"/>
            <a:ext cx="1693273" cy="1716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4BC8D7-90FD-FF96-58EA-188028BCE164}"/>
              </a:ext>
            </a:extLst>
          </p:cNvPr>
          <p:cNvSpPr txBox="1"/>
          <p:nvPr/>
        </p:nvSpPr>
        <p:spPr>
          <a:xfrm>
            <a:off x="5031348" y="66036"/>
            <a:ext cx="7053970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import </a:t>
            </a:r>
            <a:r>
              <a:rPr lang="fr-MA" sz="1600" dirty="0" err="1"/>
              <a:t>keras</a:t>
            </a:r>
            <a:endParaRPr lang="fr-MA" sz="1600" dirty="0"/>
          </a:p>
          <a:p>
            <a:r>
              <a:rPr lang="fr-MA" sz="1600" dirty="0"/>
              <a:t>import </a:t>
            </a:r>
            <a:r>
              <a:rPr lang="fr-MA" sz="1600" dirty="0" err="1"/>
              <a:t>tensorflow</a:t>
            </a:r>
            <a:r>
              <a:rPr lang="fr-MA" sz="1600" dirty="0"/>
              <a:t> as </a:t>
            </a:r>
            <a:r>
              <a:rPr lang="fr-MA" sz="1600" dirty="0" err="1"/>
              <a:t>tf</a:t>
            </a:r>
            <a:endParaRPr lang="fr-MA" sz="1600" dirty="0"/>
          </a:p>
          <a:p>
            <a:r>
              <a:rPr lang="fr-MA" sz="1600" dirty="0"/>
              <a:t>import </a:t>
            </a:r>
            <a:r>
              <a:rPr lang="fr-MA" sz="1600" dirty="0" err="1"/>
              <a:t>matplotlib.pyplot</a:t>
            </a:r>
            <a:r>
              <a:rPr lang="fr-MA" sz="1600" dirty="0"/>
              <a:t> as </a:t>
            </a:r>
            <a:r>
              <a:rPr lang="fr-MA" sz="1600" dirty="0" err="1"/>
              <a:t>plt</a:t>
            </a:r>
            <a:endParaRPr lang="fr-MA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6431A-9CEB-537B-77D9-C1E0489B2BA0}"/>
              </a:ext>
            </a:extLst>
          </p:cNvPr>
          <p:cNvSpPr txBox="1"/>
          <p:nvPr/>
        </p:nvSpPr>
        <p:spPr>
          <a:xfrm>
            <a:off x="5040210" y="963795"/>
            <a:ext cx="705397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dataset</a:t>
            </a:r>
            <a:r>
              <a:rPr lang="fr-MA" sz="1600" dirty="0"/>
              <a:t> = </a:t>
            </a:r>
            <a:r>
              <a:rPr lang="fr-MA" sz="1600" dirty="0" err="1"/>
              <a:t>tf.keras.datasets.fashion_mnist</a:t>
            </a:r>
            <a:endParaRPr lang="fr-MA" sz="1600" dirty="0"/>
          </a:p>
          <a:p>
            <a:r>
              <a:rPr lang="en-US" sz="1600" dirty="0"/>
              <a:t>(</a:t>
            </a:r>
            <a:r>
              <a:rPr lang="en-US" sz="1600" dirty="0" err="1"/>
              <a:t>X_train</a:t>
            </a:r>
            <a:r>
              <a:rPr lang="en-US" sz="1600" dirty="0"/>
              <a:t>, </a:t>
            </a:r>
            <a:r>
              <a:rPr lang="en-US" sz="1600" dirty="0" err="1"/>
              <a:t>y_train</a:t>
            </a:r>
            <a:r>
              <a:rPr lang="en-US" sz="1600" dirty="0"/>
              <a:t>), (</a:t>
            </a:r>
            <a:r>
              <a:rPr lang="en-US" sz="1600" dirty="0" err="1"/>
              <a:t>X_test</a:t>
            </a:r>
            <a:r>
              <a:rPr lang="en-US" sz="1600" dirty="0"/>
              <a:t>, </a:t>
            </a:r>
            <a:r>
              <a:rPr lang="en-US" sz="1600" dirty="0" err="1"/>
              <a:t>y_test</a:t>
            </a:r>
            <a:r>
              <a:rPr lang="en-US" sz="1600" dirty="0"/>
              <a:t>) = </a:t>
            </a:r>
            <a:r>
              <a:rPr lang="en-US" sz="1600" dirty="0" err="1"/>
              <a:t>dataset.load_data</a:t>
            </a:r>
            <a:r>
              <a:rPr lang="en-US" sz="1600" dirty="0"/>
              <a:t>()</a:t>
            </a:r>
            <a:endParaRPr lang="fr-MA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C51A4-FB3E-2057-79FC-91D518D9E319}"/>
              </a:ext>
            </a:extLst>
          </p:cNvPr>
          <p:cNvSpPr txBox="1"/>
          <p:nvPr/>
        </p:nvSpPr>
        <p:spPr>
          <a:xfrm>
            <a:off x="5043180" y="1627376"/>
            <a:ext cx="7042138" cy="3247043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model=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  <a:p>
            <a:pPr>
              <a:spcAft>
                <a:spcPts val="6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#couche N°1 : couche d'</a:t>
            </a:r>
            <a:r>
              <a:rPr lang="fr-MA" sz="1600" b="1" dirty="0" err="1">
                <a:solidFill>
                  <a:srgbClr val="00B050"/>
                </a:solidFill>
              </a:rPr>
              <a:t>entree</a:t>
            </a:r>
            <a:r>
              <a:rPr lang="fr-MA" sz="1600" b="1" dirty="0">
                <a:solidFill>
                  <a:srgbClr val="00B050"/>
                </a:solidFill>
              </a:rPr>
              <a:t>: 28x28, </a:t>
            </a:r>
            <a:r>
              <a:rPr lang="fr-MA" sz="1600" b="1" dirty="0" err="1">
                <a:solidFill>
                  <a:srgbClr val="00B050"/>
                </a:solidFill>
              </a:rPr>
              <a:t>Flatten</a:t>
            </a:r>
            <a:r>
              <a:rPr lang="fr-MA" sz="1600" b="1" dirty="0">
                <a:solidFill>
                  <a:srgbClr val="00B050"/>
                </a:solidFill>
              </a:rPr>
              <a:t>()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input_layer</a:t>
            </a:r>
            <a:r>
              <a:rPr lang="fr-MA" sz="1600" dirty="0"/>
              <a:t>=</a:t>
            </a:r>
            <a:r>
              <a:rPr lang="fr-MA" sz="1600" dirty="0" err="1"/>
              <a:t>Flatten</a:t>
            </a:r>
            <a:r>
              <a:rPr lang="fr-MA" sz="1600" dirty="0"/>
              <a:t>(</a:t>
            </a:r>
            <a:r>
              <a:rPr lang="fr-MA" sz="1600" dirty="0" err="1"/>
              <a:t>input_shape</a:t>
            </a:r>
            <a:r>
              <a:rPr lang="fr-MA" sz="1600" dirty="0"/>
              <a:t>=[28, 28])</a:t>
            </a:r>
          </a:p>
          <a:p>
            <a:pPr>
              <a:spcAft>
                <a:spcPts val="6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#couche N°2, couche cachée (20 neurone)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=Dense(20,activation='relu',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random_uniform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b="1" dirty="0">
                <a:solidFill>
                  <a:srgbClr val="00B050"/>
                </a:solidFill>
              </a:rPr>
              <a:t>#couche N°3:  output (10 neurone)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=Dense(10,activation='</a:t>
            </a:r>
            <a:r>
              <a:rPr lang="fr-MA" sz="1600" dirty="0" err="1"/>
              <a:t>softmax</a:t>
            </a:r>
            <a:r>
              <a:rPr lang="fr-MA" sz="1600" dirty="0"/>
              <a:t>',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random_uniform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input_layer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1A27C-710B-5BD8-5028-DB49EA6CF9A8}"/>
              </a:ext>
            </a:extLst>
          </p:cNvPr>
          <p:cNvSpPr txBox="1"/>
          <p:nvPr/>
        </p:nvSpPr>
        <p:spPr>
          <a:xfrm>
            <a:off x="5038430" y="4885630"/>
            <a:ext cx="70421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model.compile</a:t>
            </a:r>
            <a:r>
              <a:rPr lang="fr-MA" dirty="0"/>
              <a:t>(</a:t>
            </a:r>
            <a:r>
              <a:rPr lang="fr-MA" dirty="0" err="1"/>
              <a:t>loss</a:t>
            </a:r>
            <a:r>
              <a:rPr lang="fr-MA" dirty="0"/>
              <a:t>="</a:t>
            </a:r>
            <a:r>
              <a:rPr lang="fr-MA" dirty="0" err="1"/>
              <a:t>sparse_categorical_crossentropy</a:t>
            </a:r>
            <a:r>
              <a:rPr lang="fr-MA" dirty="0"/>
              <a:t>", </a:t>
            </a:r>
          </a:p>
          <a:p>
            <a:r>
              <a:rPr lang="fr-MA" dirty="0"/>
              <a:t>              </a:t>
            </a:r>
            <a:r>
              <a:rPr lang="fr-MA" dirty="0" err="1"/>
              <a:t>optimizer</a:t>
            </a:r>
            <a:r>
              <a:rPr lang="fr-MA" dirty="0"/>
              <a:t>="</a:t>
            </a:r>
            <a:r>
              <a:rPr lang="fr-MA" dirty="0" err="1"/>
              <a:t>adam</a:t>
            </a:r>
            <a:r>
              <a:rPr lang="fr-MA" dirty="0"/>
              <a:t>", </a:t>
            </a:r>
            <a:r>
              <a:rPr lang="fr-MA" dirty="0" err="1"/>
              <a:t>metrics</a:t>
            </a:r>
            <a:r>
              <a:rPr lang="fr-MA" dirty="0"/>
              <a:t>=["</a:t>
            </a:r>
            <a:r>
              <a:rPr lang="fr-MA" dirty="0" err="1"/>
              <a:t>accuracy</a:t>
            </a:r>
            <a:r>
              <a:rPr lang="fr-MA" dirty="0"/>
              <a:t>"])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1E0B0-05EE-4510-AABC-6941B1F40F5E}"/>
              </a:ext>
            </a:extLst>
          </p:cNvPr>
          <p:cNvSpPr txBox="1"/>
          <p:nvPr/>
        </p:nvSpPr>
        <p:spPr>
          <a:xfrm>
            <a:off x="5088078" y="5553528"/>
            <a:ext cx="699249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model.</a:t>
            </a:r>
            <a:r>
              <a:rPr lang="fr-MA" b="1" dirty="0" err="1"/>
              <a:t>fit</a:t>
            </a:r>
            <a:r>
              <a:rPr lang="fr-MA" dirty="0"/>
              <a:t>(</a:t>
            </a:r>
            <a:r>
              <a:rPr lang="fr-MA" dirty="0" err="1"/>
              <a:t>X_train</a:t>
            </a:r>
            <a:r>
              <a:rPr lang="fr-MA" dirty="0"/>
              <a:t>, </a:t>
            </a:r>
            <a:r>
              <a:rPr lang="fr-MA" dirty="0" err="1"/>
              <a:t>y_train,</a:t>
            </a:r>
            <a:r>
              <a:rPr lang="fr-MA" b="1" dirty="0" err="1">
                <a:solidFill>
                  <a:srgbClr val="FF0000"/>
                </a:solidFill>
              </a:rPr>
              <a:t>epochs</a:t>
            </a:r>
            <a:r>
              <a:rPr lang="fr-MA" b="1" dirty="0">
                <a:solidFill>
                  <a:srgbClr val="FF0000"/>
                </a:solidFill>
              </a:rPr>
              <a:t>=10</a:t>
            </a:r>
            <a:r>
              <a:rPr lang="fr-MA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62725-0696-846E-C7DC-EA34FC096136}"/>
              </a:ext>
            </a:extLst>
          </p:cNvPr>
          <p:cNvSpPr txBox="1"/>
          <p:nvPr/>
        </p:nvSpPr>
        <p:spPr>
          <a:xfrm>
            <a:off x="2479952" y="1896152"/>
            <a:ext cx="2016000" cy="92333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70C0"/>
                </a:solidFill>
              </a:rPr>
              <a:t>Accuracy</a:t>
            </a:r>
            <a:r>
              <a:rPr lang="fr-MA" dirty="0">
                <a:solidFill>
                  <a:srgbClr val="0070C0"/>
                </a:solidFill>
              </a:rPr>
              <a:t>=0.8355,</a:t>
            </a:r>
            <a:br>
              <a:rPr lang="fr-MA" dirty="0">
                <a:solidFill>
                  <a:srgbClr val="0070C0"/>
                </a:solidFill>
              </a:rPr>
            </a:br>
            <a:r>
              <a:rPr lang="fr-MA" dirty="0">
                <a:solidFill>
                  <a:srgbClr val="0070C0"/>
                </a:solidFill>
              </a:rPr>
              <a:t>vu que  le </a:t>
            </a:r>
            <a:r>
              <a:rPr lang="fr-MA" dirty="0" err="1">
                <a:solidFill>
                  <a:srgbClr val="0070C0"/>
                </a:solidFill>
              </a:rPr>
              <a:t>dataset</a:t>
            </a:r>
            <a:r>
              <a:rPr lang="fr-MA" dirty="0">
                <a:solidFill>
                  <a:srgbClr val="0070C0"/>
                </a:solidFill>
              </a:rPr>
              <a:t> n’est pas simple</a:t>
            </a:r>
          </a:p>
        </p:txBody>
      </p:sp>
    </p:spTree>
    <p:extLst>
      <p:ext uri="{BB962C8B-B14F-4D97-AF65-F5344CB8AC3E}">
        <p14:creationId xmlns:p14="http://schemas.microsoft.com/office/powerpoint/2010/main" val="352580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A506090-BAFD-4BE6-97B9-F021C7BEE54E}"/>
              </a:ext>
            </a:extLst>
          </p:cNvPr>
          <p:cNvSpPr txBox="1"/>
          <p:nvPr/>
        </p:nvSpPr>
        <p:spPr>
          <a:xfrm>
            <a:off x="-1" y="0"/>
            <a:ext cx="7535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3200" b="1" dirty="0">
                <a:solidFill>
                  <a:srgbClr val="0070C0"/>
                </a:solidFill>
              </a:rPr>
              <a:t>Objectifs à atteindre dans la suite</a:t>
            </a:r>
          </a:p>
          <a:p>
            <a:r>
              <a:rPr lang="fr-MA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 tant que </a:t>
            </a:r>
            <a:r>
              <a:rPr lang="fr-MA" sz="1600" b="1" dirty="0" err="1">
                <a:solidFill>
                  <a:srgbClr val="FF3300"/>
                </a:solidFill>
              </a:rPr>
              <a:t>Ing</a:t>
            </a:r>
            <a:r>
              <a:rPr lang="fr-MA" sz="1600" b="1" dirty="0">
                <a:solidFill>
                  <a:srgbClr val="FF3300"/>
                </a:solidFill>
              </a:rPr>
              <a:t> Recherche et Dev</a:t>
            </a:r>
            <a:r>
              <a:rPr lang="fr-MA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comment optimiser son réseau de neurones</a:t>
            </a: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F2D6AF81-45E4-8045-4269-55A904C73A19}"/>
              </a:ext>
            </a:extLst>
          </p:cNvPr>
          <p:cNvSpPr txBox="1"/>
          <p:nvPr/>
        </p:nvSpPr>
        <p:spPr>
          <a:xfrm>
            <a:off x="64998" y="1163496"/>
            <a:ext cx="5586687" cy="52629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Plusieurs questions sont à soulever: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Quelle l’architecture du réseau de neurones à adopter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800" b="1" dirty="0">
                <a:solidFill>
                  <a:srgbClr val="FF0000"/>
                </a:solidFill>
              </a:rPr>
              <a:t>Comment initialiser les poids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Quelle fonction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à choisir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Quel </a:t>
            </a:r>
            <a:r>
              <a:rPr lang="fr-MA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choisir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définir les paramètres de l’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choisi 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bien choisir les fonctions d’activation 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Quels sont les problèmes récurrents liés aux réseaux de neurones profonds: </a:t>
            </a:r>
            <a:r>
              <a:rPr lang="fr-MA" dirty="0" err="1">
                <a:solidFill>
                  <a:srgbClr val="FF3300"/>
                </a:solidFill>
              </a:rPr>
              <a:t>overfitting</a:t>
            </a:r>
            <a:r>
              <a:rPr lang="fr-MA" dirty="0">
                <a:solidFill>
                  <a:srgbClr val="FF3300"/>
                </a:solidFill>
              </a:rPr>
              <a:t>, </a:t>
            </a:r>
            <a:r>
              <a:rPr lang="fr-MA" dirty="0" err="1">
                <a:solidFill>
                  <a:srgbClr val="FF3300"/>
                </a:solidFill>
              </a:rPr>
              <a:t>undefitting</a:t>
            </a:r>
            <a:r>
              <a:rPr lang="fr-MA" dirty="0">
                <a:solidFill>
                  <a:srgbClr val="FF3300"/>
                </a:solidFill>
              </a:rPr>
              <a:t>, gradient explosion, </a:t>
            </a:r>
            <a:r>
              <a:rPr lang="fr-MA" dirty="0" err="1">
                <a:solidFill>
                  <a:srgbClr val="FF3300"/>
                </a:solidFill>
              </a:rPr>
              <a:t>vanishing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problem</a:t>
            </a:r>
            <a:r>
              <a:rPr lang="fr-MA" dirty="0">
                <a:solidFill>
                  <a:srgbClr val="FF3300"/>
                </a:solidFill>
              </a:rPr>
              <a:t>, </a:t>
            </a:r>
            <a:r>
              <a:rPr lang="fr-MA" dirty="0" err="1">
                <a:solidFill>
                  <a:srgbClr val="FF3300"/>
                </a:solidFill>
              </a:rPr>
              <a:t>dataset</a:t>
            </a:r>
            <a:r>
              <a:rPr lang="fr-MA" dirty="0">
                <a:solidFill>
                  <a:srgbClr val="FF3300"/>
                </a:solidFill>
              </a:rPr>
              <a:t> non équilibré…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7ABC0-AD82-C3C9-B1F7-15AE7B6026D9}"/>
              </a:ext>
            </a:extLst>
          </p:cNvPr>
          <p:cNvSpPr txBox="1"/>
          <p:nvPr/>
        </p:nvSpPr>
        <p:spPr>
          <a:xfrm>
            <a:off x="7034737" y="1970681"/>
            <a:ext cx="441434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66FF"/>
                </a:solidFill>
              </a:rPr>
              <a:t>Développer un réseau de neurones profond</a:t>
            </a:r>
            <a:br>
              <a:rPr lang="fr-FR" b="1" dirty="0">
                <a:solidFill>
                  <a:srgbClr val="0066FF"/>
                </a:solidFill>
              </a:rPr>
            </a:br>
            <a:r>
              <a:rPr lang="fr-FR" b="1" dirty="0">
                <a:solidFill>
                  <a:srgbClr val="0066FF"/>
                </a:solidFill>
              </a:rPr>
              <a:t> </a:t>
            </a:r>
            <a:r>
              <a:rPr lang="fr-FR" b="1" dirty="0" err="1">
                <a:solidFill>
                  <a:srgbClr val="0066FF"/>
                </a:solidFill>
              </a:rPr>
              <a:t>from</a:t>
            </a:r>
            <a:r>
              <a:rPr lang="fr-FR" b="1" dirty="0">
                <a:solidFill>
                  <a:srgbClr val="0066FF"/>
                </a:solidFill>
              </a:rPr>
              <a:t> scratch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CEEF8-F135-02BF-C374-1F6BFE5401FE}"/>
              </a:ext>
            </a:extLst>
          </p:cNvPr>
          <p:cNvSpPr txBox="1"/>
          <p:nvPr/>
        </p:nvSpPr>
        <p:spPr>
          <a:xfrm>
            <a:off x="6905297" y="3496590"/>
            <a:ext cx="441434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66FF"/>
                </a:solidFill>
              </a:rPr>
              <a:t>Découvrir ce qui est caché!!!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223CE51-DD42-9382-7152-5D57A8A8BD8D}"/>
              </a:ext>
            </a:extLst>
          </p:cNvPr>
          <p:cNvSpPr/>
          <p:nvPr/>
        </p:nvSpPr>
        <p:spPr>
          <a:xfrm>
            <a:off x="8824122" y="2713322"/>
            <a:ext cx="835573" cy="6869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95D66B0-DADC-AE06-0F27-B55D73B0F327}"/>
              </a:ext>
            </a:extLst>
          </p:cNvPr>
          <p:cNvSpPr/>
          <p:nvPr/>
        </p:nvSpPr>
        <p:spPr>
          <a:xfrm>
            <a:off x="5873842" y="1895497"/>
            <a:ext cx="938737" cy="796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2654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2C7D4-964D-4417-BCDE-B68D458F1235}"/>
              </a:ext>
            </a:extLst>
          </p:cNvPr>
          <p:cNvSpPr txBox="1"/>
          <p:nvPr/>
        </p:nvSpPr>
        <p:spPr>
          <a:xfrm>
            <a:off x="127439" y="3766655"/>
            <a:ext cx="4667250" cy="2985433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200" b="1" dirty="0">
                <a:solidFill>
                  <a:srgbClr val="00B050"/>
                </a:solidFill>
              </a:rPr>
              <a:t>#inputs</a:t>
            </a:r>
          </a:p>
          <a:p>
            <a:pPr>
              <a:spcAft>
                <a:spcPts val="1200"/>
              </a:spcAft>
            </a:pPr>
            <a:r>
              <a:rPr lang="fr-MA" sz="1200" dirty="0"/>
              <a:t>X = </a:t>
            </a:r>
            <a:r>
              <a:rPr lang="fr-MA" sz="1200" dirty="0" err="1"/>
              <a:t>np.array</a:t>
            </a:r>
            <a:r>
              <a:rPr lang="fr-MA" sz="1200" dirty="0"/>
              <a:t>([[0.1,0.2]])</a:t>
            </a:r>
          </a:p>
          <a:p>
            <a:pPr>
              <a:spcAft>
                <a:spcPts val="1200"/>
              </a:spcAft>
            </a:pPr>
            <a:r>
              <a:rPr lang="fr-MA" sz="1200" dirty="0"/>
              <a:t>y = </a:t>
            </a:r>
            <a:r>
              <a:rPr lang="fr-MA" sz="1200" dirty="0" err="1"/>
              <a:t>np.array</a:t>
            </a:r>
            <a:r>
              <a:rPr lang="fr-MA" sz="1200" dirty="0"/>
              <a:t>([[0.03]])</a:t>
            </a:r>
          </a:p>
          <a:p>
            <a:pPr>
              <a:spcAft>
                <a:spcPts val="1200"/>
              </a:spcAft>
            </a:pPr>
            <a:r>
              <a:rPr lang="fr-MA" sz="1200" dirty="0" err="1"/>
              <a:t>learning_rate</a:t>
            </a:r>
            <a:r>
              <a:rPr lang="fr-MA" sz="1200" dirty="0"/>
              <a:t>= 0.1</a:t>
            </a:r>
          </a:p>
          <a:p>
            <a:pPr>
              <a:spcAft>
                <a:spcPts val="1200"/>
              </a:spcAft>
            </a:pPr>
            <a:r>
              <a:rPr lang="fr-MA" sz="1200" b="1" dirty="0">
                <a:solidFill>
                  <a:srgbClr val="00B050"/>
                </a:solidFill>
              </a:rPr>
              <a:t>#weights and </a:t>
            </a:r>
            <a:r>
              <a:rPr lang="fr-MA" sz="1200" b="1" dirty="0" err="1">
                <a:solidFill>
                  <a:srgbClr val="00B050"/>
                </a:solidFill>
              </a:rPr>
              <a:t>bias</a:t>
            </a:r>
            <a:r>
              <a:rPr lang="fr-MA" sz="1200" b="1" dirty="0">
                <a:solidFill>
                  <a:srgbClr val="00B050"/>
                </a:solidFill>
              </a:rPr>
              <a:t> </a:t>
            </a:r>
            <a:r>
              <a:rPr lang="fr-MA" sz="1200" b="1" dirty="0" err="1">
                <a:solidFill>
                  <a:srgbClr val="00B050"/>
                </a:solidFill>
              </a:rPr>
              <a:t>initialization</a:t>
            </a:r>
            <a:endParaRPr lang="fr-MA" sz="1200" b="1" dirty="0">
              <a:solidFill>
                <a:srgbClr val="00B050"/>
              </a:solidFill>
            </a:endParaRPr>
          </a:p>
          <a:p>
            <a:pPr>
              <a:spcAft>
                <a:spcPts val="1200"/>
              </a:spcAft>
            </a:pPr>
            <a:r>
              <a:rPr lang="fr-MA" sz="1200" dirty="0" err="1"/>
              <a:t>hidden_weights</a:t>
            </a:r>
            <a:r>
              <a:rPr lang="fr-MA" sz="1200" dirty="0"/>
              <a:t> = [[0.5,0.6],[-0.7,0.8]]</a:t>
            </a:r>
          </a:p>
          <a:p>
            <a:pPr>
              <a:spcAft>
                <a:spcPts val="1200"/>
              </a:spcAft>
            </a:pPr>
            <a:r>
              <a:rPr lang="fr-MA" sz="1200" dirty="0" err="1"/>
              <a:t>hidden_bias</a:t>
            </a:r>
            <a:r>
              <a:rPr lang="fr-MA" sz="1200" dirty="0"/>
              <a:t> =[0.4,0.9]</a:t>
            </a:r>
          </a:p>
          <a:p>
            <a:pPr>
              <a:spcAft>
                <a:spcPts val="1200"/>
              </a:spcAft>
            </a:pPr>
            <a:r>
              <a:rPr lang="fr-MA" sz="1200" dirty="0" err="1"/>
              <a:t>output_weights</a:t>
            </a:r>
            <a:r>
              <a:rPr lang="fr-MA" sz="1200" dirty="0"/>
              <a:t> = </a:t>
            </a:r>
            <a:r>
              <a:rPr lang="fr-MA" sz="1200" dirty="0" err="1"/>
              <a:t>np.array</a:t>
            </a:r>
            <a:r>
              <a:rPr lang="fr-MA" sz="1200" dirty="0"/>
              <a:t>([[0.35],[-0.45]])</a:t>
            </a:r>
          </a:p>
          <a:p>
            <a:pPr>
              <a:spcAft>
                <a:spcPts val="1200"/>
              </a:spcAft>
            </a:pPr>
            <a:r>
              <a:rPr lang="fr-MA" sz="1200" dirty="0" err="1"/>
              <a:t>output_bias</a:t>
            </a:r>
            <a:r>
              <a:rPr lang="fr-MA" sz="1200" dirty="0"/>
              <a:t> = </a:t>
            </a:r>
            <a:r>
              <a:rPr lang="fr-MA" sz="1200" dirty="0" err="1"/>
              <a:t>np.array</a:t>
            </a:r>
            <a:r>
              <a:rPr lang="fr-MA" sz="1200" dirty="0"/>
              <a:t>([[0.25]])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89006-235F-4D78-BED3-8EF986226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9" y="405459"/>
            <a:ext cx="4696318" cy="3110255"/>
          </a:xfrm>
          <a:prstGeom prst="rect">
            <a:avLst/>
          </a:prstGeom>
          <a:ln>
            <a:solidFill>
              <a:srgbClr val="0065FA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D3483C-4190-5B8C-CC8A-6FAA9D0E681B}"/>
              </a:ext>
            </a:extLst>
          </p:cNvPr>
          <p:cNvSpPr txBox="1"/>
          <p:nvPr/>
        </p:nvSpPr>
        <p:spPr>
          <a:xfrm>
            <a:off x="4857091" y="389694"/>
            <a:ext cx="7334910" cy="1569660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hidden_layer_sum</a:t>
            </a:r>
            <a:r>
              <a:rPr lang="fr-MA" sz="1600" dirty="0"/>
              <a:t> = np.dot(</a:t>
            </a:r>
            <a:r>
              <a:rPr lang="fr-MA" sz="1600" dirty="0" err="1"/>
              <a:t>X,hidden_weights</a:t>
            </a:r>
            <a:r>
              <a:rPr lang="fr-MA" sz="1600" dirty="0"/>
              <a:t>) + </a:t>
            </a:r>
            <a:r>
              <a:rPr lang="fr-MA" sz="1600" dirty="0" err="1"/>
              <a:t>hidden_bias</a:t>
            </a:r>
            <a:endParaRPr lang="fr-MA" sz="1600" dirty="0"/>
          </a:p>
          <a:p>
            <a:pPr>
              <a:spcAft>
                <a:spcPts val="1200"/>
              </a:spcAft>
            </a:pPr>
            <a:r>
              <a:rPr lang="fr-MA" sz="1600" dirty="0" err="1"/>
              <a:t>hidden_layer_out</a:t>
            </a:r>
            <a:r>
              <a:rPr lang="fr-MA" sz="1600" dirty="0"/>
              <a:t> = </a:t>
            </a:r>
            <a:r>
              <a:rPr lang="fr-MA" sz="1600" dirty="0" err="1"/>
              <a:t>sigmoid</a:t>
            </a:r>
            <a:r>
              <a:rPr lang="fr-MA" sz="1600" dirty="0"/>
              <a:t>(</a:t>
            </a:r>
            <a:r>
              <a:rPr lang="fr-MA" sz="1600" dirty="0" err="1"/>
              <a:t>hidden_layer_sum</a:t>
            </a:r>
            <a:r>
              <a:rPr lang="fr-MA" sz="16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output_layer_sum</a:t>
            </a:r>
            <a:r>
              <a:rPr lang="fr-MA" sz="1600" dirty="0"/>
              <a:t> = np.dot(</a:t>
            </a:r>
            <a:r>
              <a:rPr lang="fr-MA" sz="1600" dirty="0" err="1"/>
              <a:t>hidden_layer_out,output_weights</a:t>
            </a:r>
            <a:r>
              <a:rPr lang="fr-MA" sz="1600" dirty="0"/>
              <a:t>) + </a:t>
            </a:r>
            <a:r>
              <a:rPr lang="fr-MA" sz="1600" dirty="0" err="1"/>
              <a:t>output_bias</a:t>
            </a:r>
            <a:endParaRPr lang="fr-MA" sz="1600" dirty="0"/>
          </a:p>
          <a:p>
            <a:pPr>
              <a:spcAft>
                <a:spcPts val="1200"/>
              </a:spcAft>
            </a:pPr>
            <a:r>
              <a:rPr lang="fr-MA" sz="1600" dirty="0" err="1"/>
              <a:t>predicted_y</a:t>
            </a:r>
            <a:r>
              <a:rPr lang="fr-MA" sz="1600" dirty="0"/>
              <a:t> = </a:t>
            </a:r>
            <a:r>
              <a:rPr lang="fr-MA" sz="1600" dirty="0" err="1"/>
              <a:t>sigmoid</a:t>
            </a:r>
            <a:r>
              <a:rPr lang="fr-MA" sz="1600" dirty="0"/>
              <a:t>(</a:t>
            </a:r>
            <a:r>
              <a:rPr lang="fr-MA" sz="1600" dirty="0" err="1"/>
              <a:t>output_layer_sum</a:t>
            </a:r>
            <a:r>
              <a:rPr lang="fr-MA" sz="16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DEF93-1437-AE13-229B-EAA28E736172}"/>
              </a:ext>
            </a:extLst>
          </p:cNvPr>
          <p:cNvSpPr txBox="1"/>
          <p:nvPr/>
        </p:nvSpPr>
        <p:spPr>
          <a:xfrm>
            <a:off x="4857091" y="2315394"/>
            <a:ext cx="7334909" cy="2215991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dloss_dw_h</a:t>
            </a:r>
            <a:r>
              <a:rPr lang="fr-MA" sz="1600" dirty="0"/>
              <a:t>= X.T.dot((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400" b="1" dirty="0" err="1"/>
              <a:t>sigmoid_derivative</a:t>
            </a:r>
            <a:r>
              <a:rPr lang="fr-MA" sz="1400" b="1" dirty="0"/>
              <a:t>(</a:t>
            </a:r>
            <a:r>
              <a:rPr lang="fr-MA" sz="1400" b="1" dirty="0" err="1"/>
              <a:t>predicted_y</a:t>
            </a:r>
            <a:r>
              <a:rPr lang="fr-MA" sz="1400" b="1" dirty="0"/>
              <a:t>).dot(</a:t>
            </a:r>
            <a:r>
              <a:rPr lang="fr-MA" sz="1400" b="1" dirty="0" err="1"/>
              <a:t>output_weights.T</a:t>
            </a:r>
            <a:r>
              <a:rPr lang="fr-MA" sz="1400" b="1" dirty="0"/>
              <a:t>)*</a:t>
            </a:r>
            <a:r>
              <a:rPr lang="fr-MA" sz="1400" b="1" dirty="0" err="1"/>
              <a:t>sigmoid_derivative</a:t>
            </a:r>
            <a:r>
              <a:rPr lang="fr-MA" sz="1400" b="1" dirty="0"/>
              <a:t>(</a:t>
            </a:r>
            <a:r>
              <a:rPr lang="fr-MA" sz="1400" b="1" dirty="0" err="1"/>
              <a:t>hidden_layer_out</a:t>
            </a:r>
            <a:r>
              <a:rPr lang="fr-MA" sz="1400" b="1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dloss_dbias_h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 </a:t>
            </a:r>
            <a:r>
              <a:rPr lang="fr-MA" sz="1400" b="1" dirty="0" err="1"/>
              <a:t>sigmoid_derivative</a:t>
            </a:r>
            <a:r>
              <a:rPr lang="fr-MA" sz="1400" b="1" dirty="0"/>
              <a:t>(</a:t>
            </a:r>
            <a:r>
              <a:rPr lang="fr-MA" sz="1400" b="1" dirty="0" err="1"/>
              <a:t>predicted_y</a:t>
            </a:r>
            <a:r>
              <a:rPr lang="fr-MA" sz="1400" b="1" dirty="0"/>
              <a:t>).dot(</a:t>
            </a:r>
            <a:r>
              <a:rPr lang="fr-MA" sz="1400" b="1" dirty="0" err="1"/>
              <a:t>output_weights.T</a:t>
            </a:r>
            <a:r>
              <a:rPr lang="fr-MA" sz="1400" b="1" dirty="0"/>
              <a:t>)*</a:t>
            </a:r>
            <a:r>
              <a:rPr lang="fr-MA" sz="1400" b="1" dirty="0" err="1"/>
              <a:t>sigmoid_derivative</a:t>
            </a:r>
            <a:r>
              <a:rPr lang="fr-MA" sz="1400" b="1" dirty="0"/>
              <a:t>(</a:t>
            </a:r>
            <a:r>
              <a:rPr lang="fr-MA" sz="1400" b="1" dirty="0" err="1"/>
              <a:t>hidden_layer_out</a:t>
            </a:r>
            <a:r>
              <a:rPr lang="fr-MA" sz="1400" b="1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dloss_dw_out</a:t>
            </a:r>
            <a:r>
              <a:rPr lang="fr-MA" sz="1600" dirty="0"/>
              <a:t>=hidden_layer_out.T.dot((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dloss_dbias_out</a:t>
            </a:r>
            <a:r>
              <a:rPr lang="fr-MA" sz="1600" dirty="0"/>
              <a:t>=(</a:t>
            </a:r>
            <a:r>
              <a:rPr lang="fr-MA" sz="1600" dirty="0" err="1"/>
              <a:t>predicted_y</a:t>
            </a:r>
            <a:r>
              <a:rPr lang="fr-MA" sz="1600" dirty="0"/>
              <a:t>-y)*</a:t>
            </a:r>
            <a:r>
              <a:rPr lang="fr-MA" sz="1600" dirty="0" err="1"/>
              <a:t>sigmoid_derivative</a:t>
            </a:r>
            <a:r>
              <a:rPr lang="fr-MA" sz="1600" dirty="0"/>
              <a:t>(</a:t>
            </a:r>
            <a:r>
              <a:rPr lang="fr-MA" sz="1600" dirty="0" err="1"/>
              <a:t>predicted_y</a:t>
            </a:r>
            <a:r>
              <a:rPr lang="fr-MA" sz="16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9C3FC-0F4A-963D-DCFA-1396B36E04E2}"/>
              </a:ext>
            </a:extLst>
          </p:cNvPr>
          <p:cNvSpPr txBox="1"/>
          <p:nvPr/>
        </p:nvSpPr>
        <p:spPr>
          <a:xfrm>
            <a:off x="4867601" y="4533583"/>
            <a:ext cx="7334909" cy="2154436"/>
          </a:xfrm>
          <a:prstGeom prst="rect">
            <a:avLst/>
          </a:prstGeom>
          <a:solidFill>
            <a:srgbClr val="FFFF99"/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400" dirty="0">
                <a:solidFill>
                  <a:srgbClr val="00B050"/>
                </a:solidFill>
              </a:rPr>
              <a:t>#update</a:t>
            </a:r>
          </a:p>
          <a:p>
            <a:pPr>
              <a:spcAft>
                <a:spcPts val="1200"/>
              </a:spcAft>
            </a:pPr>
            <a:r>
              <a:rPr lang="fr-MA" sz="1400" dirty="0" err="1"/>
              <a:t>hidden_weights</a:t>
            </a:r>
            <a:r>
              <a:rPr lang="fr-MA" sz="1400" dirty="0"/>
              <a:t>-=</a:t>
            </a:r>
            <a:r>
              <a:rPr lang="fr-MA" sz="1400" dirty="0" err="1"/>
              <a:t>dloss_dw_h</a:t>
            </a:r>
            <a:r>
              <a:rPr lang="fr-MA" sz="1400" dirty="0"/>
              <a:t>*</a:t>
            </a:r>
            <a:r>
              <a:rPr lang="fr-MA" sz="1400" dirty="0" err="1"/>
              <a:t>learning_rate</a:t>
            </a:r>
            <a:endParaRPr lang="fr-MA" sz="1400" dirty="0"/>
          </a:p>
          <a:p>
            <a:pPr>
              <a:spcAft>
                <a:spcPts val="1200"/>
              </a:spcAft>
            </a:pPr>
            <a:r>
              <a:rPr lang="fr-MA" sz="1400" dirty="0" err="1"/>
              <a:t>hidden_bias</a:t>
            </a:r>
            <a:r>
              <a:rPr lang="fr-MA" sz="1400" dirty="0"/>
              <a:t>-=</a:t>
            </a:r>
            <a:r>
              <a:rPr lang="fr-MA" sz="1400" dirty="0" err="1"/>
              <a:t>dloss_dbias_h</a:t>
            </a:r>
            <a:r>
              <a:rPr lang="fr-MA" sz="1400" dirty="0"/>
              <a:t>*</a:t>
            </a:r>
            <a:r>
              <a:rPr lang="fr-MA" sz="1400" dirty="0" err="1"/>
              <a:t>learning_rate</a:t>
            </a:r>
            <a:endParaRPr lang="fr-MA" sz="1400" dirty="0"/>
          </a:p>
          <a:p>
            <a:pPr>
              <a:spcAft>
                <a:spcPts val="1200"/>
              </a:spcAft>
            </a:pPr>
            <a:r>
              <a:rPr lang="fr-MA" sz="1400" dirty="0" err="1"/>
              <a:t>hidden_bias</a:t>
            </a:r>
            <a:r>
              <a:rPr lang="fr-MA" sz="1400" dirty="0"/>
              <a:t>=</a:t>
            </a:r>
            <a:r>
              <a:rPr lang="fr-MA" sz="1400" dirty="0" err="1"/>
              <a:t>np.sum</a:t>
            </a:r>
            <a:r>
              <a:rPr lang="fr-MA" sz="1400" dirty="0"/>
              <a:t>(</a:t>
            </a:r>
            <a:r>
              <a:rPr lang="fr-MA" sz="1400" dirty="0" err="1"/>
              <a:t>hidden_bias,axis</a:t>
            </a:r>
            <a:r>
              <a:rPr lang="fr-MA" sz="1400" dirty="0"/>
              <a:t>=0,keepdims=</a:t>
            </a:r>
            <a:r>
              <a:rPr lang="fr-MA" sz="1400" dirty="0" err="1"/>
              <a:t>True</a:t>
            </a:r>
            <a:r>
              <a:rPr lang="fr-MA" sz="1400" dirty="0"/>
              <a:t>)</a:t>
            </a:r>
          </a:p>
          <a:p>
            <a:pPr>
              <a:spcAft>
                <a:spcPts val="1200"/>
              </a:spcAft>
            </a:pPr>
            <a:r>
              <a:rPr lang="fr-MA" sz="1400" dirty="0" err="1"/>
              <a:t>output_weights</a:t>
            </a:r>
            <a:r>
              <a:rPr lang="fr-MA" sz="1400" dirty="0"/>
              <a:t>-=</a:t>
            </a:r>
            <a:r>
              <a:rPr lang="fr-MA" sz="1400" dirty="0" err="1"/>
              <a:t>dloss_dw_out</a:t>
            </a:r>
            <a:r>
              <a:rPr lang="fr-MA" sz="1400" dirty="0"/>
              <a:t>*</a:t>
            </a:r>
            <a:r>
              <a:rPr lang="fr-MA" sz="1400" dirty="0" err="1"/>
              <a:t>learning_rate</a:t>
            </a:r>
            <a:endParaRPr lang="fr-MA" sz="1400" dirty="0"/>
          </a:p>
          <a:p>
            <a:pPr>
              <a:spcAft>
                <a:spcPts val="1200"/>
              </a:spcAft>
            </a:pPr>
            <a:r>
              <a:rPr lang="fr-MA" sz="1400" dirty="0" err="1"/>
              <a:t>output_bias</a:t>
            </a:r>
            <a:r>
              <a:rPr lang="fr-MA" sz="1400" dirty="0"/>
              <a:t>-=</a:t>
            </a:r>
            <a:r>
              <a:rPr lang="fr-MA" sz="1400" dirty="0" err="1"/>
              <a:t>np.sum</a:t>
            </a:r>
            <a:r>
              <a:rPr lang="fr-MA" sz="1400" dirty="0"/>
              <a:t>(</a:t>
            </a:r>
            <a:r>
              <a:rPr lang="fr-MA" sz="1400" dirty="0" err="1"/>
              <a:t>dloss_dbias_out,axis</a:t>
            </a:r>
            <a:r>
              <a:rPr lang="fr-MA" sz="1400" dirty="0"/>
              <a:t>=0,keepdims=</a:t>
            </a:r>
            <a:r>
              <a:rPr lang="fr-MA" sz="1400" dirty="0" err="1"/>
              <a:t>True</a:t>
            </a:r>
            <a:r>
              <a:rPr lang="fr-MA" sz="1400" dirty="0"/>
              <a:t>)*</a:t>
            </a:r>
            <a:r>
              <a:rPr lang="fr-MA" sz="1400" dirty="0" err="1"/>
              <a:t>learning_rate</a:t>
            </a:r>
            <a:endParaRPr lang="fr-MA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AC6C4-3D33-FC8A-2073-016F5BEB3412}"/>
              </a:ext>
            </a:extLst>
          </p:cNvPr>
          <p:cNvSpPr txBox="1"/>
          <p:nvPr/>
        </p:nvSpPr>
        <p:spPr>
          <a:xfrm>
            <a:off x="-1" y="0"/>
            <a:ext cx="7535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dirty="0">
                <a:solidFill>
                  <a:srgbClr val="0070C0"/>
                </a:solidFill>
              </a:rPr>
              <a:t>Code source final à obtenir</a:t>
            </a:r>
            <a:endParaRPr lang="fr-MA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B14D2-BF26-C4A6-319C-D484F68EF09A}"/>
              </a:ext>
            </a:extLst>
          </p:cNvPr>
          <p:cNvSpPr txBox="1"/>
          <p:nvPr/>
        </p:nvSpPr>
        <p:spPr>
          <a:xfrm>
            <a:off x="4819650" y="-8908"/>
            <a:ext cx="7334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b="1" dirty="0" err="1">
                <a:solidFill>
                  <a:srgbClr val="FF0000"/>
                </a:solidFill>
              </a:rPr>
              <a:t>Forward</a:t>
            </a:r>
            <a:r>
              <a:rPr lang="fr-MA" sz="2000" b="1" dirty="0">
                <a:solidFill>
                  <a:srgbClr val="FF0000"/>
                </a:solidFill>
              </a:rPr>
              <a:t> </a:t>
            </a:r>
            <a:r>
              <a:rPr lang="fr-MA" sz="2000" b="1" dirty="0" err="1">
                <a:solidFill>
                  <a:srgbClr val="FF0000"/>
                </a:solidFill>
              </a:rPr>
              <a:t>pass</a:t>
            </a:r>
            <a:endParaRPr lang="fr-MA" sz="11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8D280-803F-2E38-0868-2843CFF9C82A}"/>
              </a:ext>
            </a:extLst>
          </p:cNvPr>
          <p:cNvSpPr txBox="1"/>
          <p:nvPr/>
        </p:nvSpPr>
        <p:spPr>
          <a:xfrm>
            <a:off x="4794689" y="1957846"/>
            <a:ext cx="7334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b="1" dirty="0" err="1">
                <a:solidFill>
                  <a:srgbClr val="FF0000"/>
                </a:solidFill>
              </a:rPr>
              <a:t>Backward</a:t>
            </a:r>
            <a:r>
              <a:rPr lang="fr-MA" sz="2000" b="1" dirty="0">
                <a:solidFill>
                  <a:srgbClr val="FF0000"/>
                </a:solidFill>
              </a:rPr>
              <a:t> </a:t>
            </a:r>
            <a:r>
              <a:rPr lang="fr-MA" sz="2000" b="1" dirty="0" err="1">
                <a:solidFill>
                  <a:srgbClr val="FF0000"/>
                </a:solidFill>
              </a:rPr>
              <a:t>pass</a:t>
            </a:r>
            <a:endParaRPr lang="fr-MA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75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6">
            <a:extLst>
              <a:ext uri="{FF2B5EF4-FFF2-40B4-BE49-F238E27FC236}">
                <a16:creationId xmlns:a16="http://schemas.microsoft.com/office/drawing/2014/main" id="{FFC1B43F-48B8-C00E-18A9-54E8BE0A3E9A}"/>
              </a:ext>
            </a:extLst>
          </p:cNvPr>
          <p:cNvSpPr txBox="1"/>
          <p:nvPr/>
        </p:nvSpPr>
        <p:spPr>
          <a:xfrm>
            <a:off x="78830" y="0"/>
            <a:ext cx="1089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Mise en œuvre d’un </a:t>
            </a:r>
            <a:r>
              <a:rPr lang="fr-MA" sz="2000" b="1" dirty="0" err="1">
                <a:solidFill>
                  <a:srgbClr val="0070C0"/>
                </a:solidFill>
              </a:rPr>
              <a:t>Feed</a:t>
            </a:r>
            <a:r>
              <a:rPr lang="fr-MA" sz="2000" b="1" dirty="0">
                <a:solidFill>
                  <a:srgbClr val="0070C0"/>
                </a:solidFill>
              </a:rPr>
              <a:t> </a:t>
            </a:r>
            <a:r>
              <a:rPr lang="fr-MA" sz="2000" b="1" dirty="0" err="1">
                <a:solidFill>
                  <a:srgbClr val="0070C0"/>
                </a:solidFill>
              </a:rPr>
              <a:t>Forward</a:t>
            </a:r>
            <a:r>
              <a:rPr lang="fr-MA" sz="2000" b="1" dirty="0">
                <a:solidFill>
                  <a:srgbClr val="0070C0"/>
                </a:solidFill>
              </a:rPr>
              <a:t> Network </a:t>
            </a:r>
            <a:r>
              <a:rPr lang="fr-MA" sz="2000" b="1" dirty="0" err="1">
                <a:solidFill>
                  <a:srgbClr val="0070C0"/>
                </a:solidFill>
              </a:rPr>
              <a:t>from</a:t>
            </a:r>
            <a:r>
              <a:rPr lang="fr-MA" sz="2000" b="1" dirty="0">
                <a:solidFill>
                  <a:srgbClr val="0070C0"/>
                </a:solidFill>
              </a:rPr>
              <a:t> scratch: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BD584-5A70-3528-18E4-FED9D0A57D82}"/>
              </a:ext>
            </a:extLst>
          </p:cNvPr>
          <p:cNvSpPr txBox="1"/>
          <p:nvPr/>
        </p:nvSpPr>
        <p:spPr>
          <a:xfrm>
            <a:off x="0" y="628233"/>
            <a:ext cx="914005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Utiliser un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simple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Utiliser une architecture simple avec une seule couche cachée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Comment ajuster les paramètres d’un réseau de neurones: Appliquer la technique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Forward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prediction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Backward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ajustement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A24E1C1-565C-245B-8933-E14F1DBA0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87" y="3859888"/>
            <a:ext cx="4166089" cy="283054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ABE6B4-664E-0F39-93A6-769E30D6E829}"/>
              </a:ext>
            </a:extLst>
          </p:cNvPr>
          <p:cNvSpPr txBox="1"/>
          <p:nvPr/>
        </p:nvSpPr>
        <p:spPr>
          <a:xfrm>
            <a:off x="39178" y="3429161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C87906-0C69-C6C8-0ADB-39EECD39210F}"/>
              </a:ext>
            </a:extLst>
          </p:cNvPr>
          <p:cNvSpPr txBox="1"/>
          <p:nvPr/>
        </p:nvSpPr>
        <p:spPr>
          <a:xfrm>
            <a:off x="6596302" y="3363145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2</a:t>
            </a:r>
          </a:p>
        </p:txBody>
      </p:sp>
      <p:sp>
        <p:nvSpPr>
          <p:cNvPr id="33" name="Ellipse 76">
            <a:extLst>
              <a:ext uri="{FF2B5EF4-FFF2-40B4-BE49-F238E27FC236}">
                <a16:creationId xmlns:a16="http://schemas.microsoft.com/office/drawing/2014/main" id="{D10D4FE4-474F-D897-B94D-415B7A8000B4}"/>
              </a:ext>
            </a:extLst>
          </p:cNvPr>
          <p:cNvSpPr/>
          <p:nvPr/>
        </p:nvSpPr>
        <p:spPr>
          <a:xfrm>
            <a:off x="280337" y="437978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Ellipse 94">
            <a:extLst>
              <a:ext uri="{FF2B5EF4-FFF2-40B4-BE49-F238E27FC236}">
                <a16:creationId xmlns:a16="http://schemas.microsoft.com/office/drawing/2014/main" id="{D43F3460-11F8-2A12-81AB-814EFBA2E5F2}"/>
              </a:ext>
            </a:extLst>
          </p:cNvPr>
          <p:cNvSpPr/>
          <p:nvPr/>
        </p:nvSpPr>
        <p:spPr>
          <a:xfrm>
            <a:off x="2881884" y="4436573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5" name="Connecteur droit avec flèche 95">
            <a:extLst>
              <a:ext uri="{FF2B5EF4-FFF2-40B4-BE49-F238E27FC236}">
                <a16:creationId xmlns:a16="http://schemas.microsoft.com/office/drawing/2014/main" id="{8CA462B0-1B59-725E-961D-3BA24F6435E9}"/>
              </a:ext>
            </a:extLst>
          </p:cNvPr>
          <p:cNvCxnSpPr/>
          <p:nvPr/>
        </p:nvCxnSpPr>
        <p:spPr>
          <a:xfrm flipV="1">
            <a:off x="3837227" y="4866436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96">
            <a:extLst>
              <a:ext uri="{FF2B5EF4-FFF2-40B4-BE49-F238E27FC236}">
                <a16:creationId xmlns:a16="http://schemas.microsoft.com/office/drawing/2014/main" id="{1167ECE6-9789-956D-6924-A24A2BCBE782}"/>
              </a:ext>
            </a:extLst>
          </p:cNvPr>
          <p:cNvCxnSpPr>
            <a:stCxn id="34" idx="0"/>
            <a:endCxn id="34" idx="4"/>
          </p:cNvCxnSpPr>
          <p:nvPr/>
        </p:nvCxnSpPr>
        <p:spPr>
          <a:xfrm>
            <a:off x="3359556" y="4436573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97">
            <a:extLst>
              <a:ext uri="{FF2B5EF4-FFF2-40B4-BE49-F238E27FC236}">
                <a16:creationId xmlns:a16="http://schemas.microsoft.com/office/drawing/2014/main" id="{4A872780-3B63-8860-7EE0-FFA5D5C50E42}"/>
              </a:ext>
            </a:extLst>
          </p:cNvPr>
          <p:cNvSpPr txBox="1"/>
          <p:nvPr/>
        </p:nvSpPr>
        <p:spPr>
          <a:xfrm>
            <a:off x="3328245" y="4733602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8" name="ZoneTexte 98">
            <a:extLst>
              <a:ext uri="{FF2B5EF4-FFF2-40B4-BE49-F238E27FC236}">
                <a16:creationId xmlns:a16="http://schemas.microsoft.com/office/drawing/2014/main" id="{046F01D1-9A93-8389-D6B8-AD7DD6EECF5A}"/>
              </a:ext>
            </a:extLst>
          </p:cNvPr>
          <p:cNvSpPr txBox="1"/>
          <p:nvPr/>
        </p:nvSpPr>
        <p:spPr>
          <a:xfrm>
            <a:off x="2922579" y="4731491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sp>
        <p:nvSpPr>
          <p:cNvPr id="39" name="Ellipse 101">
            <a:extLst>
              <a:ext uri="{FF2B5EF4-FFF2-40B4-BE49-F238E27FC236}">
                <a16:creationId xmlns:a16="http://schemas.microsoft.com/office/drawing/2014/main" id="{62DCF319-9ED1-0364-0051-810247C8CECC}"/>
              </a:ext>
            </a:extLst>
          </p:cNvPr>
          <p:cNvSpPr/>
          <p:nvPr/>
        </p:nvSpPr>
        <p:spPr>
          <a:xfrm>
            <a:off x="293985" y="5401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ZoneTexte 102">
            <a:extLst>
              <a:ext uri="{FF2B5EF4-FFF2-40B4-BE49-F238E27FC236}">
                <a16:creationId xmlns:a16="http://schemas.microsoft.com/office/drawing/2014/main" id="{36B6EFFB-DC79-9536-F0B6-FB09791C4388}"/>
              </a:ext>
            </a:extLst>
          </p:cNvPr>
          <p:cNvSpPr txBox="1"/>
          <p:nvPr/>
        </p:nvSpPr>
        <p:spPr>
          <a:xfrm>
            <a:off x="2921351" y="4043207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080D33D-E89E-D1FC-D604-71A294B0D89B}"/>
              </a:ext>
            </a:extLst>
          </p:cNvPr>
          <p:cNvSpPr/>
          <p:nvPr/>
        </p:nvSpPr>
        <p:spPr>
          <a:xfrm>
            <a:off x="318140" y="4397937"/>
            <a:ext cx="6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9272E-BFEB-F674-02FD-6D4AB1AB1E8F}"/>
              </a:ext>
            </a:extLst>
          </p:cNvPr>
          <p:cNvSpPr/>
          <p:nvPr/>
        </p:nvSpPr>
        <p:spPr>
          <a:xfrm>
            <a:off x="332881" y="5443477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3" name="Connecteur droit 106">
            <a:extLst>
              <a:ext uri="{FF2B5EF4-FFF2-40B4-BE49-F238E27FC236}">
                <a16:creationId xmlns:a16="http://schemas.microsoft.com/office/drawing/2014/main" id="{36E89D15-D830-6DE0-F6A3-18FAC5935A50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2101029" y="4313220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107">
            <a:extLst>
              <a:ext uri="{FF2B5EF4-FFF2-40B4-BE49-F238E27FC236}">
                <a16:creationId xmlns:a16="http://schemas.microsoft.com/office/drawing/2014/main" id="{85FBE39E-CF80-B980-A9EE-89EBAD487112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892337" y="4613781"/>
            <a:ext cx="1989547" cy="27316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08">
            <a:extLst>
              <a:ext uri="{FF2B5EF4-FFF2-40B4-BE49-F238E27FC236}">
                <a16:creationId xmlns:a16="http://schemas.microsoft.com/office/drawing/2014/main" id="{D8F4CF60-411F-A940-6051-DD9DA470F33B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 flipV="1">
            <a:off x="905985" y="4886949"/>
            <a:ext cx="1975899" cy="7481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64FAA8F-1950-FC92-5E54-F2D69B78B041}"/>
              </a:ext>
            </a:extLst>
          </p:cNvPr>
          <p:cNvSpPr/>
          <p:nvPr/>
        </p:nvSpPr>
        <p:spPr>
          <a:xfrm>
            <a:off x="45540" y="3949825"/>
            <a:ext cx="5018252" cy="196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105">
            <a:extLst>
              <a:ext uri="{FF2B5EF4-FFF2-40B4-BE49-F238E27FC236}">
                <a16:creationId xmlns:a16="http://schemas.microsoft.com/office/drawing/2014/main" id="{FAA01F1D-FD5C-6BB5-EA46-049AED41C094}"/>
              </a:ext>
            </a:extLst>
          </p:cNvPr>
          <p:cNvSpPr txBox="1"/>
          <p:nvPr/>
        </p:nvSpPr>
        <p:spPr>
          <a:xfrm>
            <a:off x="3777143" y="4402870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yhat</a:t>
            </a:r>
            <a:r>
              <a:rPr lang="fr-MA" sz="1050" b="1" dirty="0">
                <a:solidFill>
                  <a:srgbClr val="FF3300"/>
                </a:solidFill>
              </a:rPr>
              <a:t>=0.5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64EC42-8A3A-4F0F-288E-8AB01BC2E12B}"/>
              </a:ext>
            </a:extLst>
          </p:cNvPr>
          <p:cNvSpPr txBox="1"/>
          <p:nvPr/>
        </p:nvSpPr>
        <p:spPr>
          <a:xfrm>
            <a:off x="1450873" y="3944314"/>
            <a:ext cx="1106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r>
              <a:rPr lang="fr-MA" sz="1400" b="1" dirty="0">
                <a:solidFill>
                  <a:srgbClr val="0070C0"/>
                </a:solidFill>
              </a:rPr>
              <a:t>=1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34CE45-0A4C-80B0-D614-62FB830989F0}"/>
              </a:ext>
            </a:extLst>
          </p:cNvPr>
          <p:cNvSpPr txBox="1"/>
          <p:nvPr/>
        </p:nvSpPr>
        <p:spPr>
          <a:xfrm>
            <a:off x="1101905" y="4382388"/>
            <a:ext cx="1401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w1=-4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D248B4-ACE0-C125-1EE1-86D4984F911D}"/>
              </a:ext>
            </a:extLst>
          </p:cNvPr>
          <p:cNvSpPr txBox="1"/>
          <p:nvPr/>
        </p:nvSpPr>
        <p:spPr>
          <a:xfrm>
            <a:off x="1045306" y="5027019"/>
            <a:ext cx="112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w2=-2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graphicFrame>
        <p:nvGraphicFramePr>
          <p:cNvPr id="52" name="Tableau 32">
            <a:extLst>
              <a:ext uri="{FF2B5EF4-FFF2-40B4-BE49-F238E27FC236}">
                <a16:creationId xmlns:a16="http://schemas.microsoft.com/office/drawing/2014/main" id="{2AAAA337-4E08-9EB2-0F63-F1E63F1F5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018847"/>
              </p:ext>
            </p:extLst>
          </p:nvPr>
        </p:nvGraphicFramePr>
        <p:xfrm>
          <a:off x="4119613" y="2612700"/>
          <a:ext cx="248007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616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label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ZoneTexte 1">
            <a:extLst>
              <a:ext uri="{FF2B5EF4-FFF2-40B4-BE49-F238E27FC236}">
                <a16:creationId xmlns:a16="http://schemas.microsoft.com/office/drawing/2014/main" id="{355B50B9-2062-D380-6309-961E072DDD5E}"/>
              </a:ext>
            </a:extLst>
          </p:cNvPr>
          <p:cNvSpPr txBox="1"/>
          <p:nvPr/>
        </p:nvSpPr>
        <p:spPr>
          <a:xfrm>
            <a:off x="6596302" y="2709372"/>
            <a:ext cx="107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Dataset</a:t>
            </a:r>
            <a:endParaRPr lang="fr-FR" b="1" dirty="0"/>
          </a:p>
        </p:txBody>
      </p:sp>
      <p:sp>
        <p:nvSpPr>
          <p:cNvPr id="54" name="ZoneTexte 105">
            <a:extLst>
              <a:ext uri="{FF2B5EF4-FFF2-40B4-BE49-F238E27FC236}">
                <a16:creationId xmlns:a16="http://schemas.microsoft.com/office/drawing/2014/main" id="{50B18181-977D-280E-85FE-262E1A13D83F}"/>
              </a:ext>
            </a:extLst>
          </p:cNvPr>
          <p:cNvSpPr txBox="1"/>
          <p:nvPr/>
        </p:nvSpPr>
        <p:spPr>
          <a:xfrm>
            <a:off x="3775340" y="4999271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mse</a:t>
            </a:r>
            <a:r>
              <a:rPr lang="fr-MA" sz="1050" b="1" dirty="0">
                <a:solidFill>
                  <a:srgbClr val="FF3300"/>
                </a:solidFill>
              </a:rPr>
              <a:t>=0.47</a:t>
            </a:r>
            <a:endParaRPr lang="fr-FR" sz="105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36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5A634E-E25C-9C90-1B2B-8570D21C1FAE}"/>
              </a:ext>
            </a:extLst>
          </p:cNvPr>
          <p:cNvSpPr txBox="1"/>
          <p:nvPr/>
        </p:nvSpPr>
        <p:spPr>
          <a:xfrm>
            <a:off x="39178" y="55332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1</a:t>
            </a:r>
          </a:p>
        </p:txBody>
      </p:sp>
      <p:sp>
        <p:nvSpPr>
          <p:cNvPr id="3" name="Ellipse 76">
            <a:extLst>
              <a:ext uri="{FF2B5EF4-FFF2-40B4-BE49-F238E27FC236}">
                <a16:creationId xmlns:a16="http://schemas.microsoft.com/office/drawing/2014/main" id="{2BFC444E-AE22-5674-2F95-B83D32E1213D}"/>
              </a:ext>
            </a:extLst>
          </p:cNvPr>
          <p:cNvSpPr/>
          <p:nvPr/>
        </p:nvSpPr>
        <p:spPr>
          <a:xfrm>
            <a:off x="280337" y="10059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Ellipse 94">
            <a:extLst>
              <a:ext uri="{FF2B5EF4-FFF2-40B4-BE49-F238E27FC236}">
                <a16:creationId xmlns:a16="http://schemas.microsoft.com/office/drawing/2014/main" id="{8769BA72-542F-D1B0-BBB2-E2BF9C459FE5}"/>
              </a:ext>
            </a:extLst>
          </p:cNvPr>
          <p:cNvSpPr/>
          <p:nvPr/>
        </p:nvSpPr>
        <p:spPr>
          <a:xfrm>
            <a:off x="2881884" y="1062744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5" name="Connecteur droit avec flèche 95">
            <a:extLst>
              <a:ext uri="{FF2B5EF4-FFF2-40B4-BE49-F238E27FC236}">
                <a16:creationId xmlns:a16="http://schemas.microsoft.com/office/drawing/2014/main" id="{D2C04D31-23C2-52DD-8780-6B1E5A9B7753}"/>
              </a:ext>
            </a:extLst>
          </p:cNvPr>
          <p:cNvCxnSpPr/>
          <p:nvPr/>
        </p:nvCxnSpPr>
        <p:spPr>
          <a:xfrm flipV="1">
            <a:off x="3837227" y="149260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96">
            <a:extLst>
              <a:ext uri="{FF2B5EF4-FFF2-40B4-BE49-F238E27FC236}">
                <a16:creationId xmlns:a16="http://schemas.microsoft.com/office/drawing/2014/main" id="{A05C38B3-9CBF-05E6-0B92-34CE94D0D003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3359556" y="1062744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97">
            <a:extLst>
              <a:ext uri="{FF2B5EF4-FFF2-40B4-BE49-F238E27FC236}">
                <a16:creationId xmlns:a16="http://schemas.microsoft.com/office/drawing/2014/main" id="{DB275E82-8812-4C62-2825-3C6A73E361CE}"/>
              </a:ext>
            </a:extLst>
          </p:cNvPr>
          <p:cNvSpPr txBox="1"/>
          <p:nvPr/>
        </p:nvSpPr>
        <p:spPr>
          <a:xfrm>
            <a:off x="3328245" y="1359773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8" name="ZoneTexte 98">
            <a:extLst>
              <a:ext uri="{FF2B5EF4-FFF2-40B4-BE49-F238E27FC236}">
                <a16:creationId xmlns:a16="http://schemas.microsoft.com/office/drawing/2014/main" id="{029D0ED4-1DB8-DC1B-C734-A04E86F2ED1F}"/>
              </a:ext>
            </a:extLst>
          </p:cNvPr>
          <p:cNvSpPr txBox="1"/>
          <p:nvPr/>
        </p:nvSpPr>
        <p:spPr>
          <a:xfrm>
            <a:off x="2922579" y="1357662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sp>
        <p:nvSpPr>
          <p:cNvPr id="9" name="Ellipse 101">
            <a:extLst>
              <a:ext uri="{FF2B5EF4-FFF2-40B4-BE49-F238E27FC236}">
                <a16:creationId xmlns:a16="http://schemas.microsoft.com/office/drawing/2014/main" id="{178F0DBF-637F-44BF-4C16-487A71A82789}"/>
              </a:ext>
            </a:extLst>
          </p:cNvPr>
          <p:cNvSpPr/>
          <p:nvPr/>
        </p:nvSpPr>
        <p:spPr>
          <a:xfrm>
            <a:off x="293985" y="202730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ZoneTexte 102">
            <a:extLst>
              <a:ext uri="{FF2B5EF4-FFF2-40B4-BE49-F238E27FC236}">
                <a16:creationId xmlns:a16="http://schemas.microsoft.com/office/drawing/2014/main" id="{A965477B-A512-50A1-5400-863A3F3905D4}"/>
              </a:ext>
            </a:extLst>
          </p:cNvPr>
          <p:cNvSpPr txBox="1"/>
          <p:nvPr/>
        </p:nvSpPr>
        <p:spPr>
          <a:xfrm>
            <a:off x="2921351" y="669378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F45C58-E772-E3BD-EC42-FC7A2F5FBAC4}"/>
              </a:ext>
            </a:extLst>
          </p:cNvPr>
          <p:cNvSpPr/>
          <p:nvPr/>
        </p:nvSpPr>
        <p:spPr>
          <a:xfrm>
            <a:off x="318140" y="1024108"/>
            <a:ext cx="6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54D6D-B54E-40A7-BB35-FF0F3AB5076E}"/>
              </a:ext>
            </a:extLst>
          </p:cNvPr>
          <p:cNvSpPr/>
          <p:nvPr/>
        </p:nvSpPr>
        <p:spPr>
          <a:xfrm>
            <a:off x="332881" y="2069648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" name="Connecteur droit 106">
            <a:extLst>
              <a:ext uri="{FF2B5EF4-FFF2-40B4-BE49-F238E27FC236}">
                <a16:creationId xmlns:a16="http://schemas.microsoft.com/office/drawing/2014/main" id="{7E6E6DD9-9696-17F3-39DE-8B658586B7FB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101029" y="939391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07">
            <a:extLst>
              <a:ext uri="{FF2B5EF4-FFF2-40B4-BE49-F238E27FC236}">
                <a16:creationId xmlns:a16="http://schemas.microsoft.com/office/drawing/2014/main" id="{48B14914-FD06-8DEF-E6D6-545A0B4AC63F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892337" y="1239952"/>
            <a:ext cx="1989547" cy="27316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08">
            <a:extLst>
              <a:ext uri="{FF2B5EF4-FFF2-40B4-BE49-F238E27FC236}">
                <a16:creationId xmlns:a16="http://schemas.microsoft.com/office/drawing/2014/main" id="{36474A9C-4BF2-D0F2-4B7D-BD08FC817064}"/>
              </a:ext>
            </a:extLst>
          </p:cNvPr>
          <p:cNvCxnSpPr>
            <a:cxnSpLocks/>
            <a:stCxn id="9" idx="6"/>
            <a:endCxn id="4" idx="2"/>
          </p:cNvCxnSpPr>
          <p:nvPr/>
        </p:nvCxnSpPr>
        <p:spPr>
          <a:xfrm flipV="1">
            <a:off x="905985" y="1513120"/>
            <a:ext cx="1975899" cy="7481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A441D28-F3AC-41EA-6B97-995EA43F9D4C}"/>
              </a:ext>
            </a:extLst>
          </p:cNvPr>
          <p:cNvSpPr/>
          <p:nvPr/>
        </p:nvSpPr>
        <p:spPr>
          <a:xfrm>
            <a:off x="45540" y="575996"/>
            <a:ext cx="5018252" cy="196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05">
            <a:extLst>
              <a:ext uri="{FF2B5EF4-FFF2-40B4-BE49-F238E27FC236}">
                <a16:creationId xmlns:a16="http://schemas.microsoft.com/office/drawing/2014/main" id="{74411A55-B5BB-95F6-2EF2-FAEF8DAF7470}"/>
              </a:ext>
            </a:extLst>
          </p:cNvPr>
          <p:cNvSpPr txBox="1"/>
          <p:nvPr/>
        </p:nvSpPr>
        <p:spPr>
          <a:xfrm>
            <a:off x="3777143" y="1029041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yhat</a:t>
            </a:r>
            <a:r>
              <a:rPr lang="fr-MA" sz="1050" b="1" dirty="0">
                <a:solidFill>
                  <a:srgbClr val="FF3300"/>
                </a:solidFill>
              </a:rPr>
              <a:t>=0.5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71813-238B-D832-477D-3AAC3C941729}"/>
              </a:ext>
            </a:extLst>
          </p:cNvPr>
          <p:cNvSpPr txBox="1"/>
          <p:nvPr/>
        </p:nvSpPr>
        <p:spPr>
          <a:xfrm>
            <a:off x="1450873" y="570485"/>
            <a:ext cx="1106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r>
              <a:rPr lang="fr-MA" sz="1400" b="1" dirty="0">
                <a:solidFill>
                  <a:srgbClr val="0070C0"/>
                </a:solidFill>
              </a:rPr>
              <a:t>=1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4871E-88E5-6677-DBE8-B116839A63ED}"/>
              </a:ext>
            </a:extLst>
          </p:cNvPr>
          <p:cNvSpPr txBox="1"/>
          <p:nvPr/>
        </p:nvSpPr>
        <p:spPr>
          <a:xfrm>
            <a:off x="1101905" y="1008559"/>
            <a:ext cx="1401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w1=-4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6AA708-1967-EE76-AAA9-90024C06ABCD}"/>
              </a:ext>
            </a:extLst>
          </p:cNvPr>
          <p:cNvSpPr txBox="1"/>
          <p:nvPr/>
        </p:nvSpPr>
        <p:spPr>
          <a:xfrm>
            <a:off x="1045306" y="1653190"/>
            <a:ext cx="112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w2=-2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1" name="ZoneTexte 105">
            <a:extLst>
              <a:ext uri="{FF2B5EF4-FFF2-40B4-BE49-F238E27FC236}">
                <a16:creationId xmlns:a16="http://schemas.microsoft.com/office/drawing/2014/main" id="{D0171B3B-0E93-8958-09C2-6F99B82617C0}"/>
              </a:ext>
            </a:extLst>
          </p:cNvPr>
          <p:cNvSpPr txBox="1"/>
          <p:nvPr/>
        </p:nvSpPr>
        <p:spPr>
          <a:xfrm>
            <a:off x="3775340" y="1625442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mse</a:t>
            </a:r>
            <a:r>
              <a:rPr lang="fr-MA" sz="1050" b="1" dirty="0">
                <a:solidFill>
                  <a:srgbClr val="FF3300"/>
                </a:solidFill>
              </a:rPr>
              <a:t>=0.47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8609C9-FFF3-F016-C430-2EF21DFF2CB1}"/>
              </a:ext>
            </a:extLst>
          </p:cNvPr>
          <p:cNvSpPr txBox="1"/>
          <p:nvPr/>
        </p:nvSpPr>
        <p:spPr>
          <a:xfrm>
            <a:off x="5469458" y="55332"/>
            <a:ext cx="6140668" cy="6186309"/>
          </a:xfrm>
          <a:prstGeom prst="rect">
            <a:avLst/>
          </a:prstGeom>
          <a:solidFill>
            <a:srgbClr val="FFFF99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</a:t>
            </a:r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/>
              <a:t>    </a:t>
            </a:r>
            <a:r>
              <a:rPr lang="fr-MA" dirty="0" err="1"/>
              <a:t>epochs</a:t>
            </a:r>
            <a:r>
              <a:rPr lang="fr-MA" dirty="0"/>
              <a:t>=10000</a:t>
            </a:r>
          </a:p>
          <a:p>
            <a:r>
              <a:rPr lang="fr-MA" dirty="0"/>
              <a:t>    </a:t>
            </a:r>
            <a:r>
              <a:rPr lang="fr-MA" dirty="0" err="1"/>
              <a:t>bias</a:t>
            </a:r>
            <a:r>
              <a:rPr lang="fr-MA" dirty="0"/>
              <a:t>=1</a:t>
            </a:r>
          </a:p>
          <a:p>
            <a:r>
              <a:rPr lang="fr-MA" dirty="0"/>
              <a:t>    w1=-4</a:t>
            </a:r>
          </a:p>
          <a:p>
            <a:r>
              <a:rPr lang="fr-MA" dirty="0"/>
              <a:t>    w2=-2</a:t>
            </a:r>
          </a:p>
          <a:p>
            <a:r>
              <a:rPr lang="fr-MA" dirty="0"/>
              <a:t>    n=1#len(</a:t>
            </a:r>
            <a:r>
              <a:rPr lang="fr-MA" dirty="0" err="1"/>
              <a:t>dataset</a:t>
            </a:r>
            <a:r>
              <a:rPr lang="fr-MA" dirty="0"/>
              <a:t>)</a:t>
            </a:r>
          </a:p>
          <a:p>
            <a:r>
              <a:rPr lang="fr-MA" dirty="0"/>
              <a:t>    X1,X2=X[0],X[1]</a:t>
            </a:r>
          </a:p>
          <a:p>
            <a:r>
              <a:rPr lang="fr-MA" dirty="0"/>
              <a:t>    for i in range(</a:t>
            </a:r>
            <a:r>
              <a:rPr lang="fr-MA" dirty="0" err="1"/>
              <a:t>epochs</a:t>
            </a:r>
            <a:r>
              <a:rPr lang="fr-MA" dirty="0"/>
              <a:t>):</a:t>
            </a:r>
          </a:p>
          <a:p>
            <a:r>
              <a:rPr lang="fr-MA" dirty="0"/>
              <a:t>        </a:t>
            </a:r>
            <a:r>
              <a:rPr lang="fr-MA" b="1" dirty="0">
                <a:solidFill>
                  <a:srgbClr val="00B050"/>
                </a:solidFill>
              </a:rPr>
              <a:t>#forward </a:t>
            </a:r>
            <a:r>
              <a:rPr lang="fr-MA" b="1" dirty="0" err="1">
                <a:solidFill>
                  <a:srgbClr val="00B050"/>
                </a:solidFill>
              </a:rPr>
              <a:t>pass</a:t>
            </a:r>
            <a:endParaRPr lang="fr-MA" b="1" dirty="0">
              <a:solidFill>
                <a:srgbClr val="00B050"/>
              </a:solidFill>
            </a:endParaRPr>
          </a:p>
          <a:p>
            <a:r>
              <a:rPr lang="fr-MA" dirty="0"/>
              <a:t>        </a:t>
            </a:r>
            <a:r>
              <a:rPr lang="fr-MA" dirty="0" err="1"/>
              <a:t>ws</a:t>
            </a:r>
            <a:r>
              <a:rPr lang="fr-MA" dirty="0"/>
              <a:t>=bias+w1*X1+w2*X2 </a:t>
            </a:r>
          </a:p>
          <a:p>
            <a:r>
              <a:rPr lang="fr-MA" dirty="0"/>
              <a:t>        </a:t>
            </a:r>
            <a:r>
              <a:rPr lang="fr-MA" dirty="0" err="1"/>
              <a:t>yhat</a:t>
            </a:r>
            <a:r>
              <a:rPr lang="fr-MA" dirty="0"/>
              <a:t>=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ws</a:t>
            </a:r>
            <a:r>
              <a:rPr lang="fr-MA" dirty="0"/>
              <a:t>)</a:t>
            </a: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00B050"/>
                </a:solidFill>
              </a:rPr>
              <a:t> #backward </a:t>
            </a:r>
            <a:r>
              <a:rPr lang="fr-MA" b="1" dirty="0" err="1">
                <a:solidFill>
                  <a:srgbClr val="00B050"/>
                </a:solidFill>
              </a:rPr>
              <a:t>pass</a:t>
            </a:r>
            <a:endParaRPr lang="fr-MA" b="1" dirty="0">
              <a:solidFill>
                <a:srgbClr val="00B050"/>
              </a:solidFill>
            </a:endParaRPr>
          </a:p>
          <a:p>
            <a:r>
              <a:rPr lang="fr-MA" dirty="0"/>
              <a:t>        </a:t>
            </a:r>
            <a:r>
              <a:rPr lang="fr-MA" dirty="0" err="1"/>
              <a:t>print</a:t>
            </a:r>
            <a:r>
              <a:rPr lang="fr-MA" dirty="0"/>
              <a:t>("</a:t>
            </a:r>
            <a:r>
              <a:rPr lang="fr-MA" dirty="0" err="1"/>
              <a:t>iteration</a:t>
            </a:r>
            <a:r>
              <a:rPr lang="fr-MA" dirty="0"/>
              <a:t>: ",i,"===&gt; </a:t>
            </a:r>
            <a:r>
              <a:rPr lang="fr-MA" dirty="0" err="1"/>
              <a:t>error</a:t>
            </a:r>
            <a:r>
              <a:rPr lang="fr-MA" dirty="0"/>
              <a:t>=",(y-</a:t>
            </a:r>
            <a:r>
              <a:rPr lang="fr-MA" dirty="0" err="1"/>
              <a:t>yhat</a:t>
            </a:r>
            <a:r>
              <a:rPr lang="fr-MA" dirty="0"/>
              <a:t>))</a:t>
            </a:r>
          </a:p>
          <a:p>
            <a:r>
              <a:rPr lang="fr-MA" dirty="0"/>
              <a:t>        </a:t>
            </a:r>
            <a:r>
              <a:rPr lang="fr-MA" dirty="0" err="1"/>
              <a:t>dbias</a:t>
            </a:r>
            <a:r>
              <a:rPr lang="fr-MA" dirty="0"/>
              <a:t>=-(2/n)*(y-</a:t>
            </a:r>
            <a:r>
              <a:rPr lang="fr-MA" dirty="0" err="1"/>
              <a:t>yhat</a:t>
            </a:r>
            <a:r>
              <a:rPr lang="fr-MA" dirty="0"/>
              <a:t>)</a:t>
            </a:r>
          </a:p>
          <a:p>
            <a:r>
              <a:rPr lang="fr-MA" dirty="0"/>
              <a:t>        dw1=-(2/n)*(X1*(y-</a:t>
            </a:r>
            <a:r>
              <a:rPr lang="fr-MA" dirty="0" err="1"/>
              <a:t>yhat</a:t>
            </a:r>
            <a:r>
              <a:rPr lang="fr-MA" dirty="0"/>
              <a:t>))</a:t>
            </a:r>
          </a:p>
          <a:p>
            <a:r>
              <a:rPr lang="fr-MA" dirty="0"/>
              <a:t>        dw2=-(2/n)*(X2*(y-</a:t>
            </a:r>
            <a:r>
              <a:rPr lang="fr-MA" dirty="0" err="1"/>
              <a:t>yhat</a:t>
            </a:r>
            <a:r>
              <a:rPr lang="fr-MA" dirty="0"/>
              <a:t>))  </a:t>
            </a:r>
          </a:p>
          <a:p>
            <a:r>
              <a:rPr lang="fr-MA" dirty="0"/>
              <a:t>        w1=w1-dw1*</a:t>
            </a:r>
            <a:r>
              <a:rPr lang="fr-MA" dirty="0" err="1"/>
              <a:t>lr</a:t>
            </a:r>
            <a:endParaRPr lang="fr-MA" dirty="0"/>
          </a:p>
          <a:p>
            <a:r>
              <a:rPr lang="fr-MA" dirty="0"/>
              <a:t>        w2=w2-dw2*</a:t>
            </a:r>
            <a:r>
              <a:rPr lang="fr-MA" dirty="0" err="1"/>
              <a:t>lr</a:t>
            </a:r>
            <a:endParaRPr lang="fr-MA" dirty="0"/>
          </a:p>
          <a:p>
            <a:r>
              <a:rPr lang="fr-MA" dirty="0"/>
              <a:t>        </a:t>
            </a:r>
            <a:r>
              <a:rPr lang="fr-MA" dirty="0" err="1"/>
              <a:t>bias</a:t>
            </a:r>
            <a:r>
              <a:rPr lang="fr-MA" dirty="0"/>
              <a:t>=</a:t>
            </a:r>
            <a:r>
              <a:rPr lang="fr-MA" dirty="0" err="1"/>
              <a:t>bias-dbias</a:t>
            </a:r>
            <a:r>
              <a:rPr lang="fr-MA" dirty="0"/>
              <a:t>*</a:t>
            </a:r>
            <a:r>
              <a:rPr lang="fr-MA" dirty="0" err="1"/>
              <a:t>lr</a:t>
            </a:r>
            <a:endParaRPr lang="fr-MA" dirty="0"/>
          </a:p>
          <a:p>
            <a:r>
              <a:rPr lang="fr-MA" dirty="0"/>
              <a:t>        </a:t>
            </a:r>
          </a:p>
          <a:p>
            <a:r>
              <a:rPr lang="fr-MA" dirty="0"/>
              <a:t>    return bias,w1,w2</a:t>
            </a:r>
          </a:p>
        </p:txBody>
      </p:sp>
    </p:spTree>
    <p:extLst>
      <p:ext uri="{BB962C8B-B14F-4D97-AF65-F5344CB8AC3E}">
        <p14:creationId xmlns:p14="http://schemas.microsoft.com/office/powerpoint/2010/main" val="459107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/>
          <p:cNvSpPr txBox="1"/>
          <p:nvPr/>
        </p:nvSpPr>
        <p:spPr>
          <a:xfrm>
            <a:off x="0" y="391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Forward</a:t>
            </a:r>
            <a:r>
              <a:rPr lang="fr-MA" sz="3200" b="1" dirty="0"/>
              <a:t> </a:t>
            </a:r>
            <a:r>
              <a:rPr lang="fr-MA" sz="3200" b="1" dirty="0" err="1"/>
              <a:t>pass</a:t>
            </a:r>
            <a:r>
              <a:rPr lang="fr-MA" sz="3200" b="1" dirty="0"/>
              <a:t>, </a:t>
            </a:r>
            <a:r>
              <a:rPr lang="fr-MA" sz="3200" b="1" dirty="0" err="1"/>
              <a:t>backward</a:t>
            </a:r>
            <a:r>
              <a:rPr lang="fr-MA" sz="3200" b="1" dirty="0"/>
              <a:t> </a:t>
            </a:r>
            <a:r>
              <a:rPr lang="fr-MA" sz="3200" b="1" dirty="0" err="1"/>
              <a:t>pass</a:t>
            </a:r>
            <a:r>
              <a:rPr lang="fr-MA" sz="3200" b="1" dirty="0"/>
              <a:t> sans </a:t>
            </a:r>
            <a:r>
              <a:rPr lang="fr-MA" sz="3200" b="1" dirty="0" err="1"/>
              <a:t>backpropagation</a:t>
            </a:r>
            <a:r>
              <a:rPr lang="fr-MA" sz="3200" b="1" dirty="0"/>
              <a:t> technique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81401" y="1838543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  <a:endParaRPr lang="fr-FR" dirty="0"/>
          </a:p>
        </p:txBody>
      </p:sp>
      <p:sp>
        <p:nvSpPr>
          <p:cNvPr id="17" name="Ellipse 16"/>
          <p:cNvSpPr/>
          <p:nvPr/>
        </p:nvSpPr>
        <p:spPr>
          <a:xfrm>
            <a:off x="102750" y="814064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  <a:endParaRPr lang="fr-FR" dirty="0"/>
          </a:p>
        </p:txBody>
      </p:sp>
      <p:sp>
        <p:nvSpPr>
          <p:cNvPr id="20" name="Ellipse 19"/>
          <p:cNvSpPr/>
          <p:nvPr/>
        </p:nvSpPr>
        <p:spPr>
          <a:xfrm>
            <a:off x="100136" y="2881265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  <a:endParaRPr lang="fr-FR" dirty="0"/>
          </a:p>
        </p:txBody>
      </p:sp>
      <p:sp>
        <p:nvSpPr>
          <p:cNvPr id="22" name="Ellipse 21"/>
          <p:cNvSpPr/>
          <p:nvPr/>
        </p:nvSpPr>
        <p:spPr>
          <a:xfrm>
            <a:off x="94407" y="3904352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  <a:endParaRPr lang="fr-FR" dirty="0"/>
          </a:p>
        </p:txBody>
      </p:sp>
      <p:sp>
        <p:nvSpPr>
          <p:cNvPr id="23" name="Ellipse 22"/>
          <p:cNvSpPr/>
          <p:nvPr/>
        </p:nvSpPr>
        <p:spPr>
          <a:xfrm>
            <a:off x="84967" y="474534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261401" y="1249163"/>
            <a:ext cx="359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Pour i=1 à </a:t>
            </a:r>
            <a:r>
              <a:rPr lang="fr-MA" b="1" dirty="0" err="1">
                <a:solidFill>
                  <a:srgbClr val="0070C0"/>
                </a:solidFill>
              </a:rPr>
              <a:t>nbEpochs</a:t>
            </a:r>
            <a:r>
              <a:rPr lang="fr-MA" b="1" dirty="0">
                <a:solidFill>
                  <a:srgbClr val="0070C0"/>
                </a:solidFill>
              </a:rPr>
              <a:t> faire: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861445" y="2916251"/>
            <a:ext cx="301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Activation 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 output</a:t>
            </a: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882409" y="3918519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desired-predicted</a:t>
            </a:r>
            <a:endParaRPr lang="fr-FR" b="1" dirty="0"/>
          </a:p>
        </p:txBody>
      </p:sp>
      <p:sp>
        <p:nvSpPr>
          <p:cNvPr id="27" name="ZoneTexte 26"/>
          <p:cNvSpPr txBox="1"/>
          <p:nvPr/>
        </p:nvSpPr>
        <p:spPr>
          <a:xfrm>
            <a:off x="843280" y="4806119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Weights</a:t>
            </a:r>
            <a:r>
              <a:rPr lang="fr-MA" b="1" dirty="0"/>
              <a:t> update</a:t>
            </a:r>
            <a:endParaRPr lang="fr-FR" b="1" dirty="0"/>
          </a:p>
        </p:txBody>
      </p:sp>
      <p:sp>
        <p:nvSpPr>
          <p:cNvPr id="28" name="Rectangle 27"/>
          <p:cNvSpPr/>
          <p:nvPr/>
        </p:nvSpPr>
        <p:spPr>
          <a:xfrm>
            <a:off x="73532" y="805020"/>
            <a:ext cx="5802167" cy="5710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991036" y="4318644"/>
                <a:ext cx="2706391" cy="43800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036" y="4318644"/>
                <a:ext cx="2706391" cy="4380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55324" y="5299438"/>
            <a:ext cx="469519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W</a:t>
            </a:r>
            <a:r>
              <a:rPr lang="fr-MA" b="1" baseline="-25000" dirty="0">
                <a:solidFill>
                  <a:srgbClr val="0070C0"/>
                </a:solidFill>
              </a:rPr>
              <a:t>i</a:t>
            </a:r>
            <a:r>
              <a:rPr lang="fr-MA" b="1" dirty="0"/>
              <a:t> =</a:t>
            </a:r>
            <a:r>
              <a:rPr lang="fr-MA" b="1" dirty="0" err="1">
                <a:solidFill>
                  <a:srgbClr val="0070C0"/>
                </a:solidFill>
              </a:rPr>
              <a:t>w</a:t>
            </a:r>
            <a:r>
              <a:rPr lang="fr-MA" b="1" baseline="-25000" dirty="0" err="1">
                <a:solidFill>
                  <a:srgbClr val="0070C0"/>
                </a:solidFill>
              </a:rPr>
              <a:t>i</a:t>
            </a:r>
            <a:r>
              <a:rPr lang="fr-MA" b="1" dirty="0"/>
              <a:t>+ </a:t>
            </a:r>
            <a:r>
              <a:rPr lang="fr-MA" b="1" dirty="0">
                <a:solidFill>
                  <a:srgbClr val="FF0000"/>
                </a:solidFill>
              </a:rPr>
              <a:t>(</a:t>
            </a:r>
            <a:r>
              <a:rPr lang="fr-MA" b="1" dirty="0" err="1">
                <a:solidFill>
                  <a:srgbClr val="FF0000"/>
                </a:solidFill>
              </a:rPr>
              <a:t>desired-predicted</a:t>
            </a:r>
            <a:r>
              <a:rPr lang="fr-MA" b="1" dirty="0">
                <a:solidFill>
                  <a:srgbClr val="FF0000"/>
                </a:solidFill>
              </a:rPr>
              <a:t>)</a:t>
            </a:r>
            <a:r>
              <a:rPr lang="fr-MA" b="1" dirty="0"/>
              <a:t>* Xi * </a:t>
            </a:r>
            <a:r>
              <a:rPr lang="fr-MA" b="1" dirty="0" err="1">
                <a:solidFill>
                  <a:srgbClr val="0070C0"/>
                </a:solidFill>
              </a:rPr>
              <a:t>learning_rate</a:t>
            </a:r>
            <a:endParaRPr lang="fr-MA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810456" y="1671257"/>
                <a:ext cx="2872276" cy="847027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fr-MA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M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fr-M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56" y="1671257"/>
                <a:ext cx="2872276" cy="8470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884804" y="3281308"/>
                <a:ext cx="3515144" cy="617348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04" y="3281308"/>
                <a:ext cx="3515144" cy="61734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/>
          <p:cNvSpPr txBox="1"/>
          <p:nvPr/>
        </p:nvSpPr>
        <p:spPr>
          <a:xfrm>
            <a:off x="815584" y="887850"/>
            <a:ext cx="201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weights</a:t>
            </a:r>
            <a:endParaRPr lang="fr-FR" b="1" dirty="0"/>
          </a:p>
        </p:txBody>
      </p:sp>
      <p:sp>
        <p:nvSpPr>
          <p:cNvPr id="39" name="Ellipse 76">
            <a:extLst>
              <a:ext uri="{FF2B5EF4-FFF2-40B4-BE49-F238E27FC236}">
                <a16:creationId xmlns:a16="http://schemas.microsoft.com/office/drawing/2014/main" id="{8081AEC0-642F-4185-B40A-EE3B69367F19}"/>
              </a:ext>
            </a:extLst>
          </p:cNvPr>
          <p:cNvSpPr/>
          <p:nvPr/>
        </p:nvSpPr>
        <p:spPr>
          <a:xfrm>
            <a:off x="7063189" y="270358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Ellipse 77">
            <a:extLst>
              <a:ext uri="{FF2B5EF4-FFF2-40B4-BE49-F238E27FC236}">
                <a16:creationId xmlns:a16="http://schemas.microsoft.com/office/drawing/2014/main" id="{B5BC03C0-D68E-4A3E-A6E5-E881B93400D3}"/>
              </a:ext>
            </a:extLst>
          </p:cNvPr>
          <p:cNvSpPr/>
          <p:nvPr/>
        </p:nvSpPr>
        <p:spPr>
          <a:xfrm>
            <a:off x="8163881" y="2125939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41" name="Ellipse 78">
            <a:extLst>
              <a:ext uri="{FF2B5EF4-FFF2-40B4-BE49-F238E27FC236}">
                <a16:creationId xmlns:a16="http://schemas.microsoft.com/office/drawing/2014/main" id="{FB3855EE-56FB-49BA-9ABA-DC861FD6756B}"/>
              </a:ext>
            </a:extLst>
          </p:cNvPr>
          <p:cNvSpPr/>
          <p:nvPr/>
        </p:nvSpPr>
        <p:spPr>
          <a:xfrm>
            <a:off x="8197315" y="2678733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-4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42" name="Ellipse 80">
            <a:extLst>
              <a:ext uri="{FF2B5EF4-FFF2-40B4-BE49-F238E27FC236}">
                <a16:creationId xmlns:a16="http://schemas.microsoft.com/office/drawing/2014/main" id="{E8A1B8E1-6615-4E3B-ACCC-1E5D60F857A5}"/>
              </a:ext>
            </a:extLst>
          </p:cNvPr>
          <p:cNvSpPr/>
          <p:nvPr/>
        </p:nvSpPr>
        <p:spPr>
          <a:xfrm>
            <a:off x="8238259" y="3274501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-2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43" name="Ellipse 94">
            <a:extLst>
              <a:ext uri="{FF2B5EF4-FFF2-40B4-BE49-F238E27FC236}">
                <a16:creationId xmlns:a16="http://schemas.microsoft.com/office/drawing/2014/main" id="{1358C037-2C4A-4FCE-B0DD-964A629DEBA3}"/>
              </a:ext>
            </a:extLst>
          </p:cNvPr>
          <p:cNvSpPr/>
          <p:nvPr/>
        </p:nvSpPr>
        <p:spPr>
          <a:xfrm>
            <a:off x="9664736" y="2501292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44" name="Connecteur droit avec flèche 95">
            <a:extLst>
              <a:ext uri="{FF2B5EF4-FFF2-40B4-BE49-F238E27FC236}">
                <a16:creationId xmlns:a16="http://schemas.microsoft.com/office/drawing/2014/main" id="{43E36E8E-7D3D-4156-811B-AD41F0CFF94A}"/>
              </a:ext>
            </a:extLst>
          </p:cNvPr>
          <p:cNvCxnSpPr/>
          <p:nvPr/>
        </p:nvCxnSpPr>
        <p:spPr>
          <a:xfrm flipV="1">
            <a:off x="10620079" y="2931155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96">
            <a:extLst>
              <a:ext uri="{FF2B5EF4-FFF2-40B4-BE49-F238E27FC236}">
                <a16:creationId xmlns:a16="http://schemas.microsoft.com/office/drawing/2014/main" id="{8C65B4AB-2DE7-4C77-8A09-0F661E541D6E}"/>
              </a:ext>
            </a:extLst>
          </p:cNvPr>
          <p:cNvCxnSpPr>
            <a:stCxn id="43" idx="0"/>
            <a:endCxn id="43" idx="4"/>
          </p:cNvCxnSpPr>
          <p:nvPr/>
        </p:nvCxnSpPr>
        <p:spPr>
          <a:xfrm>
            <a:off x="10142408" y="2501292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97">
            <a:extLst>
              <a:ext uri="{FF2B5EF4-FFF2-40B4-BE49-F238E27FC236}">
                <a16:creationId xmlns:a16="http://schemas.microsoft.com/office/drawing/2014/main" id="{F5802DA4-4141-414E-B2C3-B498C59D015B}"/>
              </a:ext>
            </a:extLst>
          </p:cNvPr>
          <p:cNvSpPr txBox="1"/>
          <p:nvPr/>
        </p:nvSpPr>
        <p:spPr>
          <a:xfrm>
            <a:off x="10111097" y="2798321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47" name="ZoneTexte 98">
            <a:extLst>
              <a:ext uri="{FF2B5EF4-FFF2-40B4-BE49-F238E27FC236}">
                <a16:creationId xmlns:a16="http://schemas.microsoft.com/office/drawing/2014/main" id="{009E413F-891B-4DDA-9295-F4E4A7A8F590}"/>
              </a:ext>
            </a:extLst>
          </p:cNvPr>
          <p:cNvSpPr txBox="1"/>
          <p:nvPr/>
        </p:nvSpPr>
        <p:spPr>
          <a:xfrm>
            <a:off x="9705431" y="2796210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cxnSp>
        <p:nvCxnSpPr>
          <p:cNvPr id="48" name="Connecteur droit avec flèche 99">
            <a:extLst>
              <a:ext uri="{FF2B5EF4-FFF2-40B4-BE49-F238E27FC236}">
                <a16:creationId xmlns:a16="http://schemas.microsoft.com/office/drawing/2014/main" id="{204C3332-7D29-453A-8133-7F57E5F3C322}"/>
              </a:ext>
            </a:extLst>
          </p:cNvPr>
          <p:cNvCxnSpPr>
            <a:cxnSpLocks/>
            <a:stCxn id="39" idx="6"/>
            <a:endCxn id="41" idx="2"/>
          </p:cNvCxnSpPr>
          <p:nvPr/>
        </p:nvCxnSpPr>
        <p:spPr>
          <a:xfrm flipV="1">
            <a:off x="7675189" y="2930733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100">
            <a:extLst>
              <a:ext uri="{FF2B5EF4-FFF2-40B4-BE49-F238E27FC236}">
                <a16:creationId xmlns:a16="http://schemas.microsoft.com/office/drawing/2014/main" id="{281000DA-DC5B-41F2-A722-253EB38B018F}"/>
              </a:ext>
            </a:extLst>
          </p:cNvPr>
          <p:cNvCxnSpPr>
            <a:cxnSpLocks/>
          </p:cNvCxnSpPr>
          <p:nvPr/>
        </p:nvCxnSpPr>
        <p:spPr>
          <a:xfrm flipV="1">
            <a:off x="7688837" y="4029421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lipse 101">
            <a:extLst>
              <a:ext uri="{FF2B5EF4-FFF2-40B4-BE49-F238E27FC236}">
                <a16:creationId xmlns:a16="http://schemas.microsoft.com/office/drawing/2014/main" id="{767B9C53-E1C5-49EF-98F2-04E1849EB335}"/>
              </a:ext>
            </a:extLst>
          </p:cNvPr>
          <p:cNvSpPr/>
          <p:nvPr/>
        </p:nvSpPr>
        <p:spPr>
          <a:xfrm>
            <a:off x="7076837" y="329821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ZoneTexte 102">
            <a:extLst>
              <a:ext uri="{FF2B5EF4-FFF2-40B4-BE49-F238E27FC236}">
                <a16:creationId xmlns:a16="http://schemas.microsoft.com/office/drawing/2014/main" id="{482FCFA5-BE30-4E4F-AF0B-7C09965F7EC3}"/>
              </a:ext>
            </a:extLst>
          </p:cNvPr>
          <p:cNvSpPr txBox="1"/>
          <p:nvPr/>
        </p:nvSpPr>
        <p:spPr>
          <a:xfrm>
            <a:off x="9704203" y="1848846"/>
            <a:ext cx="211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Activation:</a:t>
            </a:r>
          </a:p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C2E1AF-2BC7-4908-8338-8D8B0F973C8D}"/>
              </a:ext>
            </a:extLst>
          </p:cNvPr>
          <p:cNvSpPr/>
          <p:nvPr/>
        </p:nvSpPr>
        <p:spPr>
          <a:xfrm>
            <a:off x="7150634" y="2721737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B92D63-784A-4EC7-BC4D-8E82EAC61BF9}"/>
              </a:ext>
            </a:extLst>
          </p:cNvPr>
          <p:cNvSpPr/>
          <p:nvPr/>
        </p:nvSpPr>
        <p:spPr>
          <a:xfrm>
            <a:off x="7176693" y="3340556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4" name="Connecteur droit 106">
            <a:extLst>
              <a:ext uri="{FF2B5EF4-FFF2-40B4-BE49-F238E27FC236}">
                <a16:creationId xmlns:a16="http://schemas.microsoft.com/office/drawing/2014/main" id="{12E1F362-8B2E-4D01-B829-596E946507A0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8883881" y="2377939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107">
            <a:extLst>
              <a:ext uri="{FF2B5EF4-FFF2-40B4-BE49-F238E27FC236}">
                <a16:creationId xmlns:a16="http://schemas.microsoft.com/office/drawing/2014/main" id="{D4C53AE9-CDF2-42B8-ACD4-C7067338323C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8719441" y="2906403"/>
            <a:ext cx="945295" cy="4526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108">
            <a:extLst>
              <a:ext uri="{FF2B5EF4-FFF2-40B4-BE49-F238E27FC236}">
                <a16:creationId xmlns:a16="http://schemas.microsoft.com/office/drawing/2014/main" id="{E9E59E4B-3A35-4729-ADC4-0D77A29484B5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8787257" y="2951668"/>
            <a:ext cx="877479" cy="573554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1A9D7A7-12E5-4589-978E-062828AC31AE}"/>
              </a:ext>
            </a:extLst>
          </p:cNvPr>
          <p:cNvSpPr/>
          <p:nvPr/>
        </p:nvSpPr>
        <p:spPr>
          <a:xfrm>
            <a:off x="6477000" y="1801263"/>
            <a:ext cx="5343286" cy="2183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105">
            <a:extLst>
              <a:ext uri="{FF2B5EF4-FFF2-40B4-BE49-F238E27FC236}">
                <a16:creationId xmlns:a16="http://schemas.microsoft.com/office/drawing/2014/main" id="{871C6635-08F2-4C10-8910-3BC952E3E9B3}"/>
              </a:ext>
            </a:extLst>
          </p:cNvPr>
          <p:cNvSpPr txBox="1"/>
          <p:nvPr/>
        </p:nvSpPr>
        <p:spPr>
          <a:xfrm>
            <a:off x="10559996" y="2467589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0000"/>
                </a:solidFill>
              </a:rPr>
              <a:t>Predicted</a:t>
            </a:r>
            <a:r>
              <a:rPr lang="fr-MA" sz="105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0000"/>
                </a:solidFill>
              </a:rPr>
              <a:t>output</a:t>
            </a:r>
            <a:endParaRPr lang="fr-FR" sz="1050" b="1" dirty="0">
              <a:solidFill>
                <a:srgbClr val="FF0000"/>
              </a:solidFill>
            </a:endParaRPr>
          </a:p>
        </p:txBody>
      </p:sp>
      <p:sp>
        <p:nvSpPr>
          <p:cNvPr id="67" name="ZoneTexte 20">
            <a:extLst>
              <a:ext uri="{FF2B5EF4-FFF2-40B4-BE49-F238E27FC236}">
                <a16:creationId xmlns:a16="http://schemas.microsoft.com/office/drawing/2014/main" id="{A35FF5CB-2224-46AD-84A6-F389353F9723}"/>
              </a:ext>
            </a:extLst>
          </p:cNvPr>
          <p:cNvSpPr txBox="1"/>
          <p:nvPr/>
        </p:nvSpPr>
        <p:spPr>
          <a:xfrm>
            <a:off x="10329396" y="4142955"/>
            <a:ext cx="87156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=0</a:t>
            </a:r>
          </a:p>
        </p:txBody>
      </p:sp>
      <p:sp>
        <p:nvSpPr>
          <p:cNvPr id="68" name="ZoneTexte 55">
            <a:extLst>
              <a:ext uri="{FF2B5EF4-FFF2-40B4-BE49-F238E27FC236}">
                <a16:creationId xmlns:a16="http://schemas.microsoft.com/office/drawing/2014/main" id="{24494B48-66D7-41A8-8F7C-E0F216C19721}"/>
              </a:ext>
            </a:extLst>
          </p:cNvPr>
          <p:cNvSpPr txBox="1"/>
          <p:nvPr/>
        </p:nvSpPr>
        <p:spPr>
          <a:xfrm>
            <a:off x="7015253" y="4142955"/>
            <a:ext cx="3314143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err="1"/>
              <a:t>sum</a:t>
            </a:r>
            <a:r>
              <a:rPr lang="fr-FR" b="1" dirty="0"/>
              <a:t>=</a:t>
            </a:r>
            <a:r>
              <a:rPr lang="fr-FR" b="1" dirty="0">
                <a:solidFill>
                  <a:srgbClr val="0066FF"/>
                </a:solidFill>
              </a:rPr>
              <a:t>1</a:t>
            </a:r>
            <a:r>
              <a:rPr lang="fr-FR" b="1" dirty="0"/>
              <a:t>*1 + (</a:t>
            </a:r>
            <a:r>
              <a:rPr lang="fr-FR" b="1" dirty="0">
                <a:solidFill>
                  <a:srgbClr val="0066FF"/>
                </a:solidFill>
              </a:rPr>
              <a:t>-4)</a:t>
            </a:r>
            <a:r>
              <a:rPr lang="fr-FR" b="1" dirty="0"/>
              <a:t>*0.1+(</a:t>
            </a:r>
            <a:r>
              <a:rPr lang="fr-FR" b="1" dirty="0">
                <a:solidFill>
                  <a:srgbClr val="0066FF"/>
                </a:solidFill>
              </a:rPr>
              <a:t>-2)</a:t>
            </a:r>
            <a:r>
              <a:rPr lang="fr-FR" b="1" dirty="0"/>
              <a:t>*0.3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2DB6A74-789F-4576-B9B8-946DBC8DADFB}"/>
                  </a:ext>
                </a:extLst>
              </p:cNvPr>
              <p:cNvSpPr/>
              <p:nvPr/>
            </p:nvSpPr>
            <p:spPr>
              <a:xfrm>
                <a:off x="7015253" y="4614768"/>
                <a:ext cx="3314143" cy="492507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fr-FR" b="1" dirty="0"/>
                  <a:t>sigmoid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𝟗𝟒𝟎</m:t>
                        </m:r>
                      </m:e>
                    </m:d>
                    <m:r>
                      <a:rPr lang="fr-FR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FR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den>
                    </m:f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2DB6A74-789F-4576-B9B8-946DBC8DA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253" y="4614768"/>
                <a:ext cx="3314143" cy="492507"/>
              </a:xfrm>
              <a:prstGeom prst="rect">
                <a:avLst/>
              </a:prstGeom>
              <a:blipFill>
                <a:blip r:embed="rId6"/>
                <a:stretch>
                  <a:fillRect l="-1468" b="-60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ZoneTexte 57">
            <a:extLst>
              <a:ext uri="{FF2B5EF4-FFF2-40B4-BE49-F238E27FC236}">
                <a16:creationId xmlns:a16="http://schemas.microsoft.com/office/drawing/2014/main" id="{040B89BB-BAE8-4D2E-9A15-7BD67A90E9D5}"/>
              </a:ext>
            </a:extLst>
          </p:cNvPr>
          <p:cNvSpPr txBox="1"/>
          <p:nvPr/>
        </p:nvSpPr>
        <p:spPr>
          <a:xfrm>
            <a:off x="10329396" y="4653819"/>
            <a:ext cx="87156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=0.5</a:t>
            </a:r>
          </a:p>
        </p:txBody>
      </p:sp>
      <p:graphicFrame>
        <p:nvGraphicFramePr>
          <p:cNvPr id="73" name="Tableau 10">
            <a:extLst>
              <a:ext uri="{FF2B5EF4-FFF2-40B4-BE49-F238E27FC236}">
                <a16:creationId xmlns:a16="http://schemas.microsoft.com/office/drawing/2014/main" id="{46A1048B-ACF7-431E-AAAD-ABAD04616620}"/>
              </a:ext>
            </a:extLst>
          </p:cNvPr>
          <p:cNvGraphicFramePr>
            <a:graphicFrameLocks noGrp="1"/>
          </p:cNvGraphicFramePr>
          <p:nvPr/>
        </p:nvGraphicFramePr>
        <p:xfrm>
          <a:off x="6911054" y="946158"/>
          <a:ext cx="2902593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ZoneTexte 11">
            <a:extLst>
              <a:ext uri="{FF2B5EF4-FFF2-40B4-BE49-F238E27FC236}">
                <a16:creationId xmlns:a16="http://schemas.microsoft.com/office/drawing/2014/main" id="{9D158B63-612B-4442-952C-EA0913BBDD3A}"/>
              </a:ext>
            </a:extLst>
          </p:cNvPr>
          <p:cNvSpPr txBox="1"/>
          <p:nvPr/>
        </p:nvSpPr>
        <p:spPr>
          <a:xfrm>
            <a:off x="6799666" y="481811"/>
            <a:ext cx="2935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Exemple:</a:t>
            </a:r>
            <a:endParaRPr lang="fr-F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BCF596-6A8C-4D6C-B7D2-E48E36A64EF3}"/>
                  </a:ext>
                </a:extLst>
              </p:cNvPr>
              <p:cNvSpPr/>
              <p:nvPr/>
            </p:nvSpPr>
            <p:spPr>
              <a:xfrm>
                <a:off x="7011440" y="5788373"/>
                <a:ext cx="3335016" cy="446789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sz="1600" b="1" dirty="0">
                    <a:solidFill>
                      <a:srgbClr val="FF0000"/>
                    </a:solidFill>
                  </a:rPr>
                  <a:t>Cost</a:t>
                </a:r>
                <a14:m>
                  <m:oMath xmlns:m="http://schemas.openxmlformats.org/officeDocument/2006/math">
                    <m:r>
                      <a:rPr lang="fr-FR" sz="16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16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den>
                    </m:f>
                    <m:sSup>
                      <m:sSupPr>
                        <m:ctrlPr>
                          <a:rPr lang="fr-FR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fr-FR" sz="16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MA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e>
                      <m:sup>
                        <m:r>
                          <a:rPr lang="fr-FR" sz="16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MA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𝟐𝟐𝟎𝟗</m:t>
                    </m:r>
                  </m:oMath>
                </a14:m>
                <a:endParaRPr lang="fr-FR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BBCF596-6A8C-4D6C-B7D2-E48E36A64E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440" y="5788373"/>
                <a:ext cx="3335016" cy="446789"/>
              </a:xfrm>
              <a:prstGeom prst="rect">
                <a:avLst/>
              </a:prstGeom>
              <a:blipFill>
                <a:blip r:embed="rId7"/>
                <a:stretch>
                  <a:fillRect l="-729" b="-53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ZoneTexte 23">
            <a:extLst>
              <a:ext uri="{FF2B5EF4-FFF2-40B4-BE49-F238E27FC236}">
                <a16:creationId xmlns:a16="http://schemas.microsoft.com/office/drawing/2014/main" id="{C5DEE087-2362-44BC-8317-6D46A17B9691}"/>
              </a:ext>
            </a:extLst>
          </p:cNvPr>
          <p:cNvSpPr txBox="1"/>
          <p:nvPr/>
        </p:nvSpPr>
        <p:spPr>
          <a:xfrm>
            <a:off x="73532" y="6102430"/>
            <a:ext cx="359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Fin Pour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D60D3EF-258F-494C-B511-F3B7E446669C}"/>
              </a:ext>
            </a:extLst>
          </p:cNvPr>
          <p:cNvSpPr/>
          <p:nvPr/>
        </p:nvSpPr>
        <p:spPr>
          <a:xfrm>
            <a:off x="655324" y="5768236"/>
            <a:ext cx="4616648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fr-MA" b="1" dirty="0" err="1">
                <a:solidFill>
                  <a:srgbClr val="0070C0"/>
                </a:solidFill>
              </a:rPr>
              <a:t>bias</a:t>
            </a:r>
            <a:r>
              <a:rPr lang="fr-MA" b="1" dirty="0"/>
              <a:t> =</a:t>
            </a:r>
            <a:r>
              <a:rPr lang="fr-MA" b="1" dirty="0" err="1">
                <a:solidFill>
                  <a:srgbClr val="0070C0"/>
                </a:solidFill>
              </a:rPr>
              <a:t>bias</a:t>
            </a:r>
            <a:r>
              <a:rPr lang="fr-MA" b="1" dirty="0"/>
              <a:t>+ </a:t>
            </a:r>
            <a:r>
              <a:rPr lang="fr-MA" b="1" dirty="0">
                <a:solidFill>
                  <a:srgbClr val="FF0000"/>
                </a:solidFill>
              </a:rPr>
              <a:t>(</a:t>
            </a:r>
            <a:r>
              <a:rPr lang="fr-MA" b="1" dirty="0" err="1">
                <a:solidFill>
                  <a:srgbClr val="FF0000"/>
                </a:solidFill>
              </a:rPr>
              <a:t>desired-predicted</a:t>
            </a:r>
            <a:r>
              <a:rPr lang="fr-MA" b="1" dirty="0">
                <a:solidFill>
                  <a:srgbClr val="FF0000"/>
                </a:solidFill>
              </a:rPr>
              <a:t>)</a:t>
            </a:r>
            <a:r>
              <a:rPr lang="fr-MA" b="1" dirty="0"/>
              <a:t> * </a:t>
            </a:r>
            <a:r>
              <a:rPr lang="fr-MA" b="1" dirty="0" err="1">
                <a:solidFill>
                  <a:srgbClr val="0070C0"/>
                </a:solidFill>
              </a:rPr>
              <a:t>learning_rate</a:t>
            </a:r>
            <a:endParaRPr lang="fr-MA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91D92-940A-420F-AD97-E43A905B9F16}"/>
              </a:ext>
            </a:extLst>
          </p:cNvPr>
          <p:cNvSpPr txBox="1"/>
          <p:nvPr/>
        </p:nvSpPr>
        <p:spPr>
          <a:xfrm>
            <a:off x="6665699" y="2744369"/>
            <a:ext cx="5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A1436C-CAC6-442E-830C-8CC38AB79A42}"/>
              </a:ext>
            </a:extLst>
          </p:cNvPr>
          <p:cNvSpPr txBox="1"/>
          <p:nvPr/>
        </p:nvSpPr>
        <p:spPr>
          <a:xfrm>
            <a:off x="6727909" y="3322819"/>
            <a:ext cx="5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2F287-04DA-4767-9407-8C40E22BDA6F}"/>
              </a:ext>
            </a:extLst>
          </p:cNvPr>
          <p:cNvSpPr txBox="1"/>
          <p:nvPr/>
        </p:nvSpPr>
        <p:spPr>
          <a:xfrm>
            <a:off x="8275037" y="1967676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bias</a:t>
            </a:r>
            <a:endParaRPr lang="fr-MA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5484C7-1574-478E-B4F4-D4DA5DB4EC0A}"/>
              </a:ext>
            </a:extLst>
          </p:cNvPr>
          <p:cNvSpPr txBox="1"/>
          <p:nvPr/>
        </p:nvSpPr>
        <p:spPr>
          <a:xfrm>
            <a:off x="8275037" y="2564631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9F0DD7-54BC-47C1-89A7-476507E9AD21}"/>
              </a:ext>
            </a:extLst>
          </p:cNvPr>
          <p:cNvSpPr txBox="1"/>
          <p:nvPr/>
        </p:nvSpPr>
        <p:spPr>
          <a:xfrm>
            <a:off x="8335997" y="3156396"/>
            <a:ext cx="67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5F225F-50B5-41F9-A7A9-93F2B76232DB}"/>
              </a:ext>
            </a:extLst>
          </p:cNvPr>
          <p:cNvCxnSpPr/>
          <p:nvPr/>
        </p:nvCxnSpPr>
        <p:spPr>
          <a:xfrm>
            <a:off x="6477000" y="1701325"/>
            <a:ext cx="4904544" cy="200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7669EC6-22C6-4A9D-8674-1DE298F0CF04}"/>
              </a:ext>
            </a:extLst>
          </p:cNvPr>
          <p:cNvCxnSpPr>
            <a:cxnSpLocks/>
          </p:cNvCxnSpPr>
          <p:nvPr/>
        </p:nvCxnSpPr>
        <p:spPr>
          <a:xfrm flipH="1">
            <a:off x="6552598" y="6441638"/>
            <a:ext cx="516115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69F0EC-C915-CCDD-10EB-B55D7EC83941}"/>
                  </a:ext>
                </a:extLst>
              </p:cNvPr>
              <p:cNvSpPr/>
              <p:nvPr/>
            </p:nvSpPr>
            <p:spPr>
              <a:xfrm>
                <a:off x="7019334" y="5184625"/>
                <a:ext cx="2879634" cy="33855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sz="1600" b="1" dirty="0">
                    <a:solidFill>
                      <a:srgbClr val="FF0000"/>
                    </a:solidFill>
                  </a:rPr>
                  <a:t>error</a:t>
                </a:r>
                <a14:m>
                  <m:oMath xmlns:m="http://schemas.openxmlformats.org/officeDocument/2006/math">
                    <m:r>
                      <a:rPr lang="fr-FR" sz="16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𝟎𝟑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MA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𝟒𝟕</m:t>
                    </m:r>
                  </m:oMath>
                </a14:m>
                <a:endParaRPr lang="fr-FR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69F0EC-C915-CCDD-10EB-B55D7EC83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334" y="5184625"/>
                <a:ext cx="2879634" cy="338554"/>
              </a:xfrm>
              <a:prstGeom prst="rect">
                <a:avLst/>
              </a:prstGeom>
              <a:blipFill>
                <a:blip r:embed="rId8"/>
                <a:stretch>
                  <a:fillRect l="-842" t="-3448" b="-189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8444D1C-03C0-7CCC-733D-114622C96EFA}"/>
              </a:ext>
            </a:extLst>
          </p:cNvPr>
          <p:cNvSpPr txBox="1"/>
          <p:nvPr/>
        </p:nvSpPr>
        <p:spPr>
          <a:xfrm>
            <a:off x="4114800" y="4264352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Avec n=1</a:t>
            </a:r>
          </a:p>
          <a:p>
            <a:r>
              <a:rPr lang="fr-MA" b="1" dirty="0"/>
              <a:t>Une seule ligne</a:t>
            </a:r>
          </a:p>
        </p:txBody>
      </p:sp>
    </p:spTree>
    <p:extLst>
      <p:ext uri="{BB962C8B-B14F-4D97-AF65-F5344CB8AC3E}">
        <p14:creationId xmlns:p14="http://schemas.microsoft.com/office/powerpoint/2010/main" val="2495780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87F452-08CF-4BFD-5E14-EA3B161FE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58" y="2802011"/>
            <a:ext cx="5563147" cy="37797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D5279-75B6-A2FF-0510-5F49D8F9A769}"/>
              </a:ext>
            </a:extLst>
          </p:cNvPr>
          <p:cNvSpPr txBox="1"/>
          <p:nvPr/>
        </p:nvSpPr>
        <p:spPr>
          <a:xfrm>
            <a:off x="0" y="13371"/>
            <a:ext cx="12192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Pour l’architecture dans l’exemple 2, le programme précédent ne peut pas connaitre les valeurs de mise à jour pour les poids des couches précédentes (couche cachée): bias1,w1,w2,w3,w4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L’erreur n’est pas exprimée en fonction de bias1,w1,w2,w3,w4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 en réalité, même dans l’exemple 1, l’erreur ne dépend pas directement de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w1 et w2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Mais plutôt elle dépend de </a:t>
            </a:r>
            <a:r>
              <a:rPr lang="fr-MA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OUT=</a:t>
            </a:r>
            <a:r>
              <a:rPr lang="fr-MA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sigmoid</a:t>
            </a:r>
            <a:r>
              <a:rPr lang="fr-MA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fr-MA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</a:t>
            </a:r>
            <a:r>
              <a:rPr lang="fr-MA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 </a:t>
            </a:r>
            <a:r>
              <a:rPr lang="fr-MA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mse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=(1/n)*(y-</a:t>
            </a:r>
            <a:r>
              <a:rPr lang="fr-MA" b="1" dirty="0">
                <a:solidFill>
                  <a:srgbClr val="FF3300"/>
                </a:solidFill>
              </a:rPr>
              <a:t>out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fr-MA" b="1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  <a:p>
            <a:pPr marL="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rgbClr val="FF3300"/>
                </a:solidFill>
              </a:rPr>
              <a:t>Le recours à la règle de chaine </a:t>
            </a:r>
            <a:r>
              <a:rPr lang="fr-MA" sz="2000" b="1" dirty="0" err="1">
                <a:solidFill>
                  <a:srgbClr val="FF3300"/>
                </a:solidFill>
              </a:rPr>
              <a:t>rule</a:t>
            </a:r>
            <a:r>
              <a:rPr lang="fr-MA" sz="2000" b="1" dirty="0">
                <a:solidFill>
                  <a:srgbClr val="FF3300"/>
                </a:solidFill>
              </a:rPr>
              <a:t> est nécessaire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A5ED7-E496-3246-D600-80085F7EF3E9}"/>
              </a:ext>
            </a:extLst>
          </p:cNvPr>
          <p:cNvSpPr txBox="1"/>
          <p:nvPr/>
        </p:nvSpPr>
        <p:spPr>
          <a:xfrm>
            <a:off x="45540" y="3153082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1</a:t>
            </a:r>
          </a:p>
        </p:txBody>
      </p:sp>
      <p:sp>
        <p:nvSpPr>
          <p:cNvPr id="5" name="Ellipse 76">
            <a:extLst>
              <a:ext uri="{FF2B5EF4-FFF2-40B4-BE49-F238E27FC236}">
                <a16:creationId xmlns:a16="http://schemas.microsoft.com/office/drawing/2014/main" id="{D6FFF1EB-2A64-09D9-77BC-2F9DCB01E536}"/>
              </a:ext>
            </a:extLst>
          </p:cNvPr>
          <p:cNvSpPr/>
          <p:nvPr/>
        </p:nvSpPr>
        <p:spPr>
          <a:xfrm>
            <a:off x="280337" y="41117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Ellipse 94">
            <a:extLst>
              <a:ext uri="{FF2B5EF4-FFF2-40B4-BE49-F238E27FC236}">
                <a16:creationId xmlns:a16="http://schemas.microsoft.com/office/drawing/2014/main" id="{39DFD6FF-1A6B-540E-B1E7-04FCD831CCED}"/>
              </a:ext>
            </a:extLst>
          </p:cNvPr>
          <p:cNvSpPr/>
          <p:nvPr/>
        </p:nvSpPr>
        <p:spPr>
          <a:xfrm>
            <a:off x="2881884" y="4168561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7" name="Connecteur droit avec flèche 95">
            <a:extLst>
              <a:ext uri="{FF2B5EF4-FFF2-40B4-BE49-F238E27FC236}">
                <a16:creationId xmlns:a16="http://schemas.microsoft.com/office/drawing/2014/main" id="{B8CC6F89-70B3-E639-C5A5-DBB49EC6B2F0}"/>
              </a:ext>
            </a:extLst>
          </p:cNvPr>
          <p:cNvCxnSpPr/>
          <p:nvPr/>
        </p:nvCxnSpPr>
        <p:spPr>
          <a:xfrm flipV="1">
            <a:off x="3837227" y="45984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96">
            <a:extLst>
              <a:ext uri="{FF2B5EF4-FFF2-40B4-BE49-F238E27FC236}">
                <a16:creationId xmlns:a16="http://schemas.microsoft.com/office/drawing/2014/main" id="{3D0E74E4-54EB-0490-1637-5191F6A0DC8D}"/>
              </a:ext>
            </a:extLst>
          </p:cNvPr>
          <p:cNvCxnSpPr>
            <a:stCxn id="6" idx="0"/>
            <a:endCxn id="6" idx="4"/>
          </p:cNvCxnSpPr>
          <p:nvPr/>
        </p:nvCxnSpPr>
        <p:spPr>
          <a:xfrm>
            <a:off x="3359556" y="4168561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97">
            <a:extLst>
              <a:ext uri="{FF2B5EF4-FFF2-40B4-BE49-F238E27FC236}">
                <a16:creationId xmlns:a16="http://schemas.microsoft.com/office/drawing/2014/main" id="{10ED78B0-2F1B-03B3-9E76-5C4142F73E6B}"/>
              </a:ext>
            </a:extLst>
          </p:cNvPr>
          <p:cNvSpPr txBox="1"/>
          <p:nvPr/>
        </p:nvSpPr>
        <p:spPr>
          <a:xfrm>
            <a:off x="3328245" y="4465590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10" name="ZoneTexte 98">
            <a:extLst>
              <a:ext uri="{FF2B5EF4-FFF2-40B4-BE49-F238E27FC236}">
                <a16:creationId xmlns:a16="http://schemas.microsoft.com/office/drawing/2014/main" id="{67276E94-9771-A648-C32D-26122FD37935}"/>
              </a:ext>
            </a:extLst>
          </p:cNvPr>
          <p:cNvSpPr txBox="1"/>
          <p:nvPr/>
        </p:nvSpPr>
        <p:spPr>
          <a:xfrm>
            <a:off x="2922579" y="4463479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sp>
        <p:nvSpPr>
          <p:cNvPr id="11" name="Ellipse 101">
            <a:extLst>
              <a:ext uri="{FF2B5EF4-FFF2-40B4-BE49-F238E27FC236}">
                <a16:creationId xmlns:a16="http://schemas.microsoft.com/office/drawing/2014/main" id="{E3285A51-61E5-BD15-DA2B-E4E8B3F0BC2F}"/>
              </a:ext>
            </a:extLst>
          </p:cNvPr>
          <p:cNvSpPr/>
          <p:nvPr/>
        </p:nvSpPr>
        <p:spPr>
          <a:xfrm>
            <a:off x="293985" y="513312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ZoneTexte 102">
            <a:extLst>
              <a:ext uri="{FF2B5EF4-FFF2-40B4-BE49-F238E27FC236}">
                <a16:creationId xmlns:a16="http://schemas.microsoft.com/office/drawing/2014/main" id="{0847E5D8-7AFB-677A-6AED-FFCB6ED732A3}"/>
              </a:ext>
            </a:extLst>
          </p:cNvPr>
          <p:cNvSpPr txBox="1"/>
          <p:nvPr/>
        </p:nvSpPr>
        <p:spPr>
          <a:xfrm>
            <a:off x="2921351" y="3775195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2C743-D985-6289-B374-B33F1271DCA6}"/>
              </a:ext>
            </a:extLst>
          </p:cNvPr>
          <p:cNvSpPr/>
          <p:nvPr/>
        </p:nvSpPr>
        <p:spPr>
          <a:xfrm>
            <a:off x="318140" y="4129925"/>
            <a:ext cx="6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5F84A-A1CC-05DF-40C1-D93A6EC3455F}"/>
              </a:ext>
            </a:extLst>
          </p:cNvPr>
          <p:cNvSpPr/>
          <p:nvPr/>
        </p:nvSpPr>
        <p:spPr>
          <a:xfrm>
            <a:off x="332881" y="5175465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" name="Connecteur droit 106">
            <a:extLst>
              <a:ext uri="{FF2B5EF4-FFF2-40B4-BE49-F238E27FC236}">
                <a16:creationId xmlns:a16="http://schemas.microsoft.com/office/drawing/2014/main" id="{CB19358E-E42D-00B0-6FB3-737C6EB81CB2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101029" y="4045208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07">
            <a:extLst>
              <a:ext uri="{FF2B5EF4-FFF2-40B4-BE49-F238E27FC236}">
                <a16:creationId xmlns:a16="http://schemas.microsoft.com/office/drawing/2014/main" id="{2C885A4B-F32B-974E-307E-3026DA969D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892337" y="4345769"/>
            <a:ext cx="1989547" cy="27316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08">
            <a:extLst>
              <a:ext uri="{FF2B5EF4-FFF2-40B4-BE49-F238E27FC236}">
                <a16:creationId xmlns:a16="http://schemas.microsoft.com/office/drawing/2014/main" id="{B26D0B9B-F9DD-FB2F-6FC7-07E947408522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905985" y="4618937"/>
            <a:ext cx="1975899" cy="7481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7CD8CC4-1469-685E-081F-EEFCE6AE83E2}"/>
              </a:ext>
            </a:extLst>
          </p:cNvPr>
          <p:cNvSpPr/>
          <p:nvPr/>
        </p:nvSpPr>
        <p:spPr>
          <a:xfrm>
            <a:off x="45540" y="3681813"/>
            <a:ext cx="5018252" cy="196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05">
            <a:extLst>
              <a:ext uri="{FF2B5EF4-FFF2-40B4-BE49-F238E27FC236}">
                <a16:creationId xmlns:a16="http://schemas.microsoft.com/office/drawing/2014/main" id="{6E28E415-14A7-789F-1E96-EDBF8DEA8BBE}"/>
              </a:ext>
            </a:extLst>
          </p:cNvPr>
          <p:cNvSpPr txBox="1"/>
          <p:nvPr/>
        </p:nvSpPr>
        <p:spPr>
          <a:xfrm>
            <a:off x="3777143" y="4134858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yhat</a:t>
            </a:r>
            <a:r>
              <a:rPr lang="fr-MA" sz="1050" b="1" dirty="0">
                <a:solidFill>
                  <a:srgbClr val="FF3300"/>
                </a:solidFill>
              </a:rPr>
              <a:t>=0.5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390354-F67E-C201-0A0E-CFB7D0C99664}"/>
              </a:ext>
            </a:extLst>
          </p:cNvPr>
          <p:cNvSpPr txBox="1"/>
          <p:nvPr/>
        </p:nvSpPr>
        <p:spPr>
          <a:xfrm>
            <a:off x="1450873" y="3676302"/>
            <a:ext cx="1106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r>
              <a:rPr lang="fr-MA" sz="1400" b="1" dirty="0">
                <a:solidFill>
                  <a:srgbClr val="0070C0"/>
                </a:solidFill>
              </a:rPr>
              <a:t>=1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B51D88-DD0A-5888-2953-88B9E0278159}"/>
              </a:ext>
            </a:extLst>
          </p:cNvPr>
          <p:cNvSpPr txBox="1"/>
          <p:nvPr/>
        </p:nvSpPr>
        <p:spPr>
          <a:xfrm>
            <a:off x="1101905" y="4114376"/>
            <a:ext cx="1401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w1=-4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E73CEB-3F37-FE9A-CCB2-921369B4FDB8}"/>
              </a:ext>
            </a:extLst>
          </p:cNvPr>
          <p:cNvSpPr txBox="1"/>
          <p:nvPr/>
        </p:nvSpPr>
        <p:spPr>
          <a:xfrm>
            <a:off x="1045306" y="4759007"/>
            <a:ext cx="112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w2=-2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3" name="ZoneTexte 105">
            <a:extLst>
              <a:ext uri="{FF2B5EF4-FFF2-40B4-BE49-F238E27FC236}">
                <a16:creationId xmlns:a16="http://schemas.microsoft.com/office/drawing/2014/main" id="{52893718-13C9-9C14-BE65-61372EB57D4E}"/>
              </a:ext>
            </a:extLst>
          </p:cNvPr>
          <p:cNvSpPr txBox="1"/>
          <p:nvPr/>
        </p:nvSpPr>
        <p:spPr>
          <a:xfrm>
            <a:off x="3775340" y="4731259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mse</a:t>
            </a:r>
            <a:r>
              <a:rPr lang="fr-MA" sz="1050" b="1" dirty="0">
                <a:solidFill>
                  <a:srgbClr val="FF3300"/>
                </a:solidFill>
              </a:rPr>
              <a:t>=0.47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ABFBFD-824D-F28F-B653-72CD26E438DF}"/>
              </a:ext>
            </a:extLst>
          </p:cNvPr>
          <p:cNvSpPr txBox="1"/>
          <p:nvPr/>
        </p:nvSpPr>
        <p:spPr>
          <a:xfrm>
            <a:off x="6819457" y="2441036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2</a:t>
            </a:r>
          </a:p>
        </p:txBody>
      </p:sp>
    </p:spTree>
    <p:extLst>
      <p:ext uri="{BB962C8B-B14F-4D97-AF65-F5344CB8AC3E}">
        <p14:creationId xmlns:p14="http://schemas.microsoft.com/office/powerpoint/2010/main" val="1959750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2222-9E63-45CB-903C-253371C5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913" y="1765305"/>
            <a:ext cx="6977063" cy="1325563"/>
          </a:xfrm>
        </p:spPr>
        <p:txBody>
          <a:bodyPr/>
          <a:lstStyle/>
          <a:p>
            <a:r>
              <a:rPr lang="fr-MA" b="1" dirty="0" err="1"/>
              <a:t>Backpropagation</a:t>
            </a:r>
            <a:r>
              <a:rPr lang="fr-MA" b="1" dirty="0"/>
              <a:t> </a:t>
            </a:r>
            <a:r>
              <a:rPr lang="fr-MA" b="1" dirty="0" err="1"/>
              <a:t>Algorithm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873063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>
            <a:extLst>
              <a:ext uri="{FF2B5EF4-FFF2-40B4-BE49-F238E27FC236}">
                <a16:creationId xmlns:a16="http://schemas.microsoft.com/office/drawing/2014/main" id="{043EB5AF-162E-42B0-B53E-160087CAEC25}"/>
              </a:ext>
            </a:extLst>
          </p:cNvPr>
          <p:cNvSpPr txBox="1"/>
          <p:nvPr/>
        </p:nvSpPr>
        <p:spPr>
          <a:xfrm>
            <a:off x="91440" y="32954"/>
            <a:ext cx="108966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 err="1">
                <a:solidFill>
                  <a:srgbClr val="0070C0"/>
                </a:solidFill>
              </a:rPr>
              <a:t>Backpropagation</a:t>
            </a:r>
            <a:r>
              <a:rPr lang="fr-MA" sz="2000" b="1" dirty="0">
                <a:solidFill>
                  <a:srgbClr val="0070C0"/>
                </a:solidFill>
              </a:rPr>
              <a:t> </a:t>
            </a:r>
            <a:r>
              <a:rPr lang="fr-MA" sz="2000" b="1" dirty="0" err="1">
                <a:solidFill>
                  <a:srgbClr val="0070C0"/>
                </a:solidFill>
              </a:rPr>
              <a:t>Algorithm</a:t>
            </a:r>
            <a:endParaRPr lang="fr-MA" sz="2000" b="1" dirty="0">
              <a:solidFill>
                <a:srgbClr val="0070C0"/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Algorithme qui constitue un block important d’un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Multilayer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neural network pour l’apprentissage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Il a été créé dans les années 1960, 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Devenu populaire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par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Rumelhart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, Hinton and Williams dans un papier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intitulé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“</a:t>
            </a:r>
            <a:r>
              <a:rPr lang="en-US" b="0" i="1" u="sng" dirty="0">
                <a:effectLst/>
                <a:latin typeface="charter"/>
                <a:hlinkClick r:id="rId2"/>
              </a:rPr>
              <a:t>Learning representations by back-propagating errors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”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5" name="Image 12">
            <a:extLst>
              <a:ext uri="{FF2B5EF4-FFF2-40B4-BE49-F238E27FC236}">
                <a16:creationId xmlns:a16="http://schemas.microsoft.com/office/drawing/2014/main" id="{AD97C74D-84F6-4F0E-BDC0-EB160C0F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45" y="2198918"/>
            <a:ext cx="5779567" cy="847443"/>
          </a:xfrm>
          <a:prstGeom prst="rect">
            <a:avLst/>
          </a:prstGeom>
          <a:ln>
            <a:solidFill>
              <a:srgbClr val="FF3300"/>
            </a:solidFill>
          </a:ln>
        </p:spPr>
      </p:pic>
      <p:pic>
        <p:nvPicPr>
          <p:cNvPr id="6" name="Image 13">
            <a:extLst>
              <a:ext uri="{FF2B5EF4-FFF2-40B4-BE49-F238E27FC236}">
                <a16:creationId xmlns:a16="http://schemas.microsoft.com/office/drawing/2014/main" id="{078B3B9D-8C06-449A-86D6-E476EA821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063" y="3046361"/>
            <a:ext cx="5793049" cy="2313907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537E4-C54F-9D24-4831-E9644BA419ED}"/>
              </a:ext>
            </a:extLst>
          </p:cNvPr>
          <p:cNvSpPr txBox="1"/>
          <p:nvPr/>
        </p:nvSpPr>
        <p:spPr>
          <a:xfrm>
            <a:off x="45540" y="2159847"/>
            <a:ext cx="2543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dirty="0">
                <a:solidFill>
                  <a:srgbClr val="0066FF"/>
                </a:solidFill>
              </a:rPr>
              <a:t>Exemple 1</a:t>
            </a:r>
          </a:p>
        </p:txBody>
      </p:sp>
      <p:sp>
        <p:nvSpPr>
          <p:cNvPr id="9" name="Ellipse 76">
            <a:extLst>
              <a:ext uri="{FF2B5EF4-FFF2-40B4-BE49-F238E27FC236}">
                <a16:creationId xmlns:a16="http://schemas.microsoft.com/office/drawing/2014/main" id="{52DC00A2-1A88-856D-1ACB-99816E657302}"/>
              </a:ext>
            </a:extLst>
          </p:cNvPr>
          <p:cNvSpPr/>
          <p:nvPr/>
        </p:nvSpPr>
        <p:spPr>
          <a:xfrm>
            <a:off x="280337" y="31185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Ellipse 94">
            <a:extLst>
              <a:ext uri="{FF2B5EF4-FFF2-40B4-BE49-F238E27FC236}">
                <a16:creationId xmlns:a16="http://schemas.microsoft.com/office/drawing/2014/main" id="{A35B911D-FE01-A74D-68A8-404C434291F9}"/>
              </a:ext>
            </a:extLst>
          </p:cNvPr>
          <p:cNvSpPr/>
          <p:nvPr/>
        </p:nvSpPr>
        <p:spPr>
          <a:xfrm>
            <a:off x="2881884" y="3175326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11" name="Connecteur droit avec flèche 95">
            <a:extLst>
              <a:ext uri="{FF2B5EF4-FFF2-40B4-BE49-F238E27FC236}">
                <a16:creationId xmlns:a16="http://schemas.microsoft.com/office/drawing/2014/main" id="{F3536CAE-77CB-48DF-E45C-B9B68B82B8CC}"/>
              </a:ext>
            </a:extLst>
          </p:cNvPr>
          <p:cNvCxnSpPr/>
          <p:nvPr/>
        </p:nvCxnSpPr>
        <p:spPr>
          <a:xfrm flipV="1">
            <a:off x="3837227" y="36051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96">
            <a:extLst>
              <a:ext uri="{FF2B5EF4-FFF2-40B4-BE49-F238E27FC236}">
                <a16:creationId xmlns:a16="http://schemas.microsoft.com/office/drawing/2014/main" id="{9D1899BE-3D4E-93E5-E6C4-F9A1CB4C80F1}"/>
              </a:ext>
            </a:extLst>
          </p:cNvPr>
          <p:cNvCxnSpPr>
            <a:stCxn id="10" idx="0"/>
            <a:endCxn id="10" idx="4"/>
          </p:cNvCxnSpPr>
          <p:nvPr/>
        </p:nvCxnSpPr>
        <p:spPr>
          <a:xfrm>
            <a:off x="3359556" y="3175326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97">
            <a:extLst>
              <a:ext uri="{FF2B5EF4-FFF2-40B4-BE49-F238E27FC236}">
                <a16:creationId xmlns:a16="http://schemas.microsoft.com/office/drawing/2014/main" id="{31EB64D8-EAA7-6E1C-99F2-366FD01F7A98}"/>
              </a:ext>
            </a:extLst>
          </p:cNvPr>
          <p:cNvSpPr txBox="1"/>
          <p:nvPr/>
        </p:nvSpPr>
        <p:spPr>
          <a:xfrm>
            <a:off x="3328245" y="3472355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A2490B80-21E7-A694-17E6-BB7DE5271E1D}"/>
              </a:ext>
            </a:extLst>
          </p:cNvPr>
          <p:cNvSpPr txBox="1"/>
          <p:nvPr/>
        </p:nvSpPr>
        <p:spPr>
          <a:xfrm>
            <a:off x="2922579" y="3470244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sp>
        <p:nvSpPr>
          <p:cNvPr id="15" name="Ellipse 101">
            <a:extLst>
              <a:ext uri="{FF2B5EF4-FFF2-40B4-BE49-F238E27FC236}">
                <a16:creationId xmlns:a16="http://schemas.microsoft.com/office/drawing/2014/main" id="{7810D9D0-51AF-AE7F-AF71-F5D6B71C86AD}"/>
              </a:ext>
            </a:extLst>
          </p:cNvPr>
          <p:cNvSpPr/>
          <p:nvPr/>
        </p:nvSpPr>
        <p:spPr>
          <a:xfrm>
            <a:off x="293985" y="413988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ZoneTexte 102">
            <a:extLst>
              <a:ext uri="{FF2B5EF4-FFF2-40B4-BE49-F238E27FC236}">
                <a16:creationId xmlns:a16="http://schemas.microsoft.com/office/drawing/2014/main" id="{F7178FE8-937B-A86B-9BCA-FED7AAA0A6C8}"/>
              </a:ext>
            </a:extLst>
          </p:cNvPr>
          <p:cNvSpPr txBox="1"/>
          <p:nvPr/>
        </p:nvSpPr>
        <p:spPr>
          <a:xfrm>
            <a:off x="2921351" y="2781960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326AAD-4BDD-41FE-14F2-281BBB3D4B65}"/>
              </a:ext>
            </a:extLst>
          </p:cNvPr>
          <p:cNvSpPr/>
          <p:nvPr/>
        </p:nvSpPr>
        <p:spPr>
          <a:xfrm>
            <a:off x="318140" y="3136690"/>
            <a:ext cx="6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21662D-E3F8-AC64-5B8D-51FA727FB1A0}"/>
              </a:ext>
            </a:extLst>
          </p:cNvPr>
          <p:cNvSpPr/>
          <p:nvPr/>
        </p:nvSpPr>
        <p:spPr>
          <a:xfrm>
            <a:off x="332881" y="4182230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Connecteur droit 106">
            <a:extLst>
              <a:ext uri="{FF2B5EF4-FFF2-40B4-BE49-F238E27FC236}">
                <a16:creationId xmlns:a16="http://schemas.microsoft.com/office/drawing/2014/main" id="{CA365CCF-FC91-747D-ACB7-A83C7A2B4FF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101029" y="3051973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07">
            <a:extLst>
              <a:ext uri="{FF2B5EF4-FFF2-40B4-BE49-F238E27FC236}">
                <a16:creationId xmlns:a16="http://schemas.microsoft.com/office/drawing/2014/main" id="{2B68E052-E5DE-BC45-42DB-0443333AE9CC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892337" y="3352534"/>
            <a:ext cx="1989547" cy="27316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108">
            <a:extLst>
              <a:ext uri="{FF2B5EF4-FFF2-40B4-BE49-F238E27FC236}">
                <a16:creationId xmlns:a16="http://schemas.microsoft.com/office/drawing/2014/main" id="{AA4D0437-B417-ED6C-1DE6-4A449D0820F1}"/>
              </a:ext>
            </a:extLst>
          </p:cNvPr>
          <p:cNvCxnSpPr>
            <a:cxnSpLocks/>
            <a:stCxn id="15" idx="6"/>
            <a:endCxn id="10" idx="2"/>
          </p:cNvCxnSpPr>
          <p:nvPr/>
        </p:nvCxnSpPr>
        <p:spPr>
          <a:xfrm flipV="1">
            <a:off x="905985" y="3625702"/>
            <a:ext cx="1975899" cy="7481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E4B328F-3014-AE8A-E5DA-1333AB066D5E}"/>
              </a:ext>
            </a:extLst>
          </p:cNvPr>
          <p:cNvSpPr/>
          <p:nvPr/>
        </p:nvSpPr>
        <p:spPr>
          <a:xfrm>
            <a:off x="45540" y="2688578"/>
            <a:ext cx="5018252" cy="196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105">
            <a:extLst>
              <a:ext uri="{FF2B5EF4-FFF2-40B4-BE49-F238E27FC236}">
                <a16:creationId xmlns:a16="http://schemas.microsoft.com/office/drawing/2014/main" id="{696FBD48-C6C4-41BA-57B5-EE41FC0B4FA8}"/>
              </a:ext>
            </a:extLst>
          </p:cNvPr>
          <p:cNvSpPr txBox="1"/>
          <p:nvPr/>
        </p:nvSpPr>
        <p:spPr>
          <a:xfrm>
            <a:off x="3777143" y="3141623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yhat</a:t>
            </a:r>
            <a:r>
              <a:rPr lang="fr-MA" sz="1050" b="1" dirty="0">
                <a:solidFill>
                  <a:srgbClr val="FF3300"/>
                </a:solidFill>
              </a:rPr>
              <a:t>=1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30D163-15FF-F432-D550-C4C1162B78F5}"/>
              </a:ext>
            </a:extLst>
          </p:cNvPr>
          <p:cNvSpPr txBox="1"/>
          <p:nvPr/>
        </p:nvSpPr>
        <p:spPr>
          <a:xfrm>
            <a:off x="1450873" y="2683067"/>
            <a:ext cx="1106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795993-39FB-C408-79F8-66031D663425}"/>
              </a:ext>
            </a:extLst>
          </p:cNvPr>
          <p:cNvSpPr txBox="1"/>
          <p:nvPr/>
        </p:nvSpPr>
        <p:spPr>
          <a:xfrm>
            <a:off x="1101905" y="3121141"/>
            <a:ext cx="1401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D070D-716C-4AA1-56A2-C24FA0F5606E}"/>
              </a:ext>
            </a:extLst>
          </p:cNvPr>
          <p:cNvSpPr txBox="1"/>
          <p:nvPr/>
        </p:nvSpPr>
        <p:spPr>
          <a:xfrm>
            <a:off x="1045306" y="3765772"/>
            <a:ext cx="112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27" name="ZoneTexte 105">
            <a:extLst>
              <a:ext uri="{FF2B5EF4-FFF2-40B4-BE49-F238E27FC236}">
                <a16:creationId xmlns:a16="http://schemas.microsoft.com/office/drawing/2014/main" id="{DE009DC8-B0E6-A7B5-3EB2-5277FFD285C5}"/>
              </a:ext>
            </a:extLst>
          </p:cNvPr>
          <p:cNvSpPr txBox="1"/>
          <p:nvPr/>
        </p:nvSpPr>
        <p:spPr>
          <a:xfrm>
            <a:off x="3775340" y="3738024"/>
            <a:ext cx="11431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mse</a:t>
            </a:r>
            <a:r>
              <a:rPr lang="fr-MA" sz="1050" b="1" dirty="0">
                <a:solidFill>
                  <a:srgbClr val="FF3300"/>
                </a:solidFill>
              </a:rPr>
              <a:t>=?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A71AAA3-482E-B997-809E-9C73B4EF5BD5}"/>
              </a:ext>
            </a:extLst>
          </p:cNvPr>
          <p:cNvSpPr/>
          <p:nvPr/>
        </p:nvSpPr>
        <p:spPr>
          <a:xfrm>
            <a:off x="5218386" y="3352534"/>
            <a:ext cx="793406" cy="10213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61409-7177-0376-7661-EE0441C590C4}"/>
              </a:ext>
            </a:extLst>
          </p:cNvPr>
          <p:cNvSpPr txBox="1"/>
          <p:nvPr/>
        </p:nvSpPr>
        <p:spPr>
          <a:xfrm>
            <a:off x="7099497" y="5407492"/>
            <a:ext cx="41413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Forward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prédiction</a:t>
            </a:r>
          </a:p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Backward</a:t>
            </a:r>
            <a:r>
              <a:rPr lang="fr-MA" dirty="0"/>
              <a:t> </a:t>
            </a:r>
            <a:r>
              <a:rPr lang="fr-MA" dirty="0" err="1"/>
              <a:t>pass</a:t>
            </a:r>
            <a:r>
              <a:rPr lang="fr-MA" dirty="0"/>
              <a:t>: pour la correction</a:t>
            </a:r>
          </a:p>
        </p:txBody>
      </p:sp>
    </p:spTree>
    <p:extLst>
      <p:ext uri="{BB962C8B-B14F-4D97-AF65-F5344CB8AC3E}">
        <p14:creationId xmlns:p14="http://schemas.microsoft.com/office/powerpoint/2010/main" val="3303961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>
            <a:extLst>
              <a:ext uri="{FF2B5EF4-FFF2-40B4-BE49-F238E27FC236}">
                <a16:creationId xmlns:a16="http://schemas.microsoft.com/office/drawing/2014/main" id="{043EB5AF-162E-42B0-B53E-160087CAEC25}"/>
              </a:ext>
            </a:extLst>
          </p:cNvPr>
          <p:cNvSpPr txBox="1"/>
          <p:nvPr/>
        </p:nvSpPr>
        <p:spPr>
          <a:xfrm>
            <a:off x="91440" y="32954"/>
            <a:ext cx="10896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 err="1">
                <a:solidFill>
                  <a:srgbClr val="0070C0"/>
                </a:solidFill>
              </a:rPr>
              <a:t>Backpropagation</a:t>
            </a:r>
            <a:r>
              <a:rPr lang="fr-MA" sz="2000" b="1" dirty="0">
                <a:solidFill>
                  <a:srgbClr val="0070C0"/>
                </a:solidFill>
              </a:rPr>
              <a:t> </a:t>
            </a:r>
            <a:r>
              <a:rPr lang="fr-MA" sz="2000" b="1" dirty="0" err="1">
                <a:solidFill>
                  <a:srgbClr val="0070C0"/>
                </a:solidFill>
              </a:rPr>
              <a:t>Algorithm</a:t>
            </a:r>
            <a:endParaRPr lang="fr-MA" sz="2000" b="1" dirty="0">
              <a:solidFill>
                <a:srgbClr val="0070C0"/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L'algorithme est utilisé pour entraîner efficacement un réseau de neurones à l’aide d’une méthode appelée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chain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rule</a:t>
            </a: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Après chaque passage en avant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à travers un réseau, la rétropropagation effectue un passage en arrière (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Backward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tout en ajustant les paramètres du modèle (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weights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).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12">
            <a:extLst>
              <a:ext uri="{FF2B5EF4-FFF2-40B4-BE49-F238E27FC236}">
                <a16:creationId xmlns:a16="http://schemas.microsoft.com/office/drawing/2014/main" id="{AD97C74D-84F6-4F0E-BDC0-EB160C0F2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571" y="2279723"/>
            <a:ext cx="5359937" cy="847443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18" name="ZoneTexte 6">
            <a:extLst>
              <a:ext uri="{FF2B5EF4-FFF2-40B4-BE49-F238E27FC236}">
                <a16:creationId xmlns:a16="http://schemas.microsoft.com/office/drawing/2014/main" id="{C4CB5B57-7C3E-41BB-B57F-CB6CAD97DEB5}"/>
              </a:ext>
            </a:extLst>
          </p:cNvPr>
          <p:cNvSpPr txBox="1"/>
          <p:nvPr/>
        </p:nvSpPr>
        <p:spPr>
          <a:xfrm>
            <a:off x="747683" y="4098008"/>
            <a:ext cx="785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b="1" dirty="0"/>
              <a:t>Comment un changement de poids va influencer sur l’erreur ?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54217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7C4E813-15AB-B687-D0E7-7D706E6D58F8}"/>
                  </a:ext>
                </a:extLst>
              </p:cNvPr>
              <p:cNvSpPr/>
              <p:nvPr/>
            </p:nvSpPr>
            <p:spPr>
              <a:xfrm>
                <a:off x="3110439" y="3054037"/>
                <a:ext cx="4179542" cy="6685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20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20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7C4E813-15AB-B687-D0E7-7D706E6D5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439" y="3054037"/>
                <a:ext cx="4179542" cy="6685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1541C790-EFFB-DA1E-D3A1-C2AB03EEC39A}"/>
              </a:ext>
            </a:extLst>
          </p:cNvPr>
          <p:cNvSpPr txBox="1">
            <a:spLocks/>
          </p:cNvSpPr>
          <p:nvPr/>
        </p:nvSpPr>
        <p:spPr>
          <a:xfrm>
            <a:off x="283779" y="1765305"/>
            <a:ext cx="108151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MA" sz="3600" b="1" dirty="0"/>
              <a:t>Dans la suite, pour simplifier nous allons utiliser:</a:t>
            </a:r>
          </a:p>
        </p:txBody>
      </p:sp>
    </p:spTree>
    <p:extLst>
      <p:ext uri="{BB962C8B-B14F-4D97-AF65-F5344CB8AC3E}">
        <p14:creationId xmlns:p14="http://schemas.microsoft.com/office/powerpoint/2010/main" val="2573235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Connecteur droit avec flèche 58"/>
          <p:cNvCxnSpPr>
            <a:cxnSpLocks/>
          </p:cNvCxnSpPr>
          <p:nvPr/>
        </p:nvCxnSpPr>
        <p:spPr>
          <a:xfrm>
            <a:off x="257175" y="625068"/>
            <a:ext cx="1134189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602352" y="255736"/>
            <a:ext cx="309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forward</a:t>
            </a:r>
            <a:r>
              <a:rPr lang="fr-FR" b="1" dirty="0"/>
              <a:t> </a:t>
            </a:r>
            <a:r>
              <a:rPr lang="fr-FR" b="1" dirty="0" err="1"/>
              <a:t>pass</a:t>
            </a:r>
            <a:endParaRPr lang="fr-FR" b="1" dirty="0"/>
          </a:p>
        </p:txBody>
      </p:sp>
      <p:sp>
        <p:nvSpPr>
          <p:cNvPr id="62" name="Ellipse 61"/>
          <p:cNvSpPr/>
          <p:nvPr/>
        </p:nvSpPr>
        <p:spPr>
          <a:xfrm>
            <a:off x="1760272" y="1270555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64" name="Ellipse 63"/>
          <p:cNvSpPr/>
          <p:nvPr/>
        </p:nvSpPr>
        <p:spPr>
          <a:xfrm>
            <a:off x="4496162" y="1399555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73" name="Ellipse 72"/>
          <p:cNvSpPr/>
          <p:nvPr/>
        </p:nvSpPr>
        <p:spPr>
          <a:xfrm>
            <a:off x="7486229" y="1385907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74" name="Ellipse 73"/>
          <p:cNvSpPr/>
          <p:nvPr/>
        </p:nvSpPr>
        <p:spPr>
          <a:xfrm>
            <a:off x="10559249" y="1388179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75" name="Rectangle à coins arrondis 74"/>
          <p:cNvSpPr/>
          <p:nvPr/>
        </p:nvSpPr>
        <p:spPr>
          <a:xfrm>
            <a:off x="36056" y="1714951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Inputs</a:t>
            </a:r>
          </a:p>
        </p:txBody>
      </p:sp>
      <p:sp>
        <p:nvSpPr>
          <p:cNvPr id="76" name="Rectangle à coins arrondis 75"/>
          <p:cNvSpPr/>
          <p:nvPr/>
        </p:nvSpPr>
        <p:spPr>
          <a:xfrm>
            <a:off x="4243934" y="1742140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</a:t>
            </a:r>
          </a:p>
        </p:txBody>
      </p:sp>
      <p:sp>
        <p:nvSpPr>
          <p:cNvPr id="77" name="Rectangle à coins arrondis 76"/>
          <p:cNvSpPr/>
          <p:nvPr/>
        </p:nvSpPr>
        <p:spPr>
          <a:xfrm>
            <a:off x="7134389" y="1728492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8" name="Rectangle à coins arrondis 77"/>
          <p:cNvSpPr/>
          <p:nvPr/>
        </p:nvSpPr>
        <p:spPr>
          <a:xfrm>
            <a:off x="10254523" y="1728492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Error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8922675" y="2376120"/>
                <a:ext cx="2985561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675" y="2376120"/>
                <a:ext cx="2985561" cy="495649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6070803" y="2305159"/>
                <a:ext cx="2814681" cy="5590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𝒑𝒓𝒆𝒅𝒊𝒄𝒕</m:t>
                      </m:r>
                      <m:r>
                        <a:rPr lang="fr-FR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𝐞𝐝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803" y="2305159"/>
                <a:ext cx="2814681" cy="559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3162121" y="2439278"/>
                <a:ext cx="2608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121" y="2439278"/>
                <a:ext cx="260885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1421943" y="2936661"/>
                <a:ext cx="138634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43" y="2936661"/>
                <a:ext cx="13863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à coins arrondis 74">
            <a:extLst>
              <a:ext uri="{FF2B5EF4-FFF2-40B4-BE49-F238E27FC236}">
                <a16:creationId xmlns:a16="http://schemas.microsoft.com/office/drawing/2014/main" id="{068B672F-913E-4FEB-830A-C9D0E88BCEE6}"/>
              </a:ext>
            </a:extLst>
          </p:cNvPr>
          <p:cNvSpPr/>
          <p:nvPr/>
        </p:nvSpPr>
        <p:spPr>
          <a:xfrm>
            <a:off x="1472917" y="1635984"/>
            <a:ext cx="1113739" cy="9045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Weights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</a:p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bias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/>
              <p:nvPr/>
            </p:nvSpPr>
            <p:spPr>
              <a:xfrm>
                <a:off x="495" y="2739280"/>
                <a:ext cx="79111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" y="2739280"/>
                <a:ext cx="79111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031EDD7-8F05-4066-AA39-126390B8C6EB}"/>
              </a:ext>
            </a:extLst>
          </p:cNvPr>
          <p:cNvSpPr txBox="1"/>
          <p:nvPr/>
        </p:nvSpPr>
        <p:spPr>
          <a:xfrm>
            <a:off x="257174" y="4118994"/>
            <a:ext cx="576987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§"/>
            </a:pPr>
            <a:r>
              <a:rPr lang="fr-MA" dirty="0"/>
              <a:t>Quel est l’effet de W1 sur </a:t>
            </a:r>
            <a:r>
              <a:rPr lang="fr-MA" dirty="0" err="1"/>
              <a:t>Loss</a:t>
            </a:r>
            <a:r>
              <a:rPr lang="fr-MA" dirty="0"/>
              <a:t>?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§"/>
            </a:pPr>
            <a:r>
              <a:rPr lang="fr-MA" dirty="0"/>
              <a:t>Quel est l’effet de W2 sur </a:t>
            </a:r>
            <a:r>
              <a:rPr lang="fr-MA" dirty="0" err="1"/>
              <a:t>Loss</a:t>
            </a:r>
            <a:r>
              <a:rPr lang="fr-MA" dirty="0"/>
              <a:t>?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§"/>
            </a:pPr>
            <a:r>
              <a:rPr lang="fr-MA" dirty="0"/>
              <a:t> Quel est l’effet de </a:t>
            </a:r>
            <a:r>
              <a:rPr lang="fr-MA" dirty="0" err="1"/>
              <a:t>bias</a:t>
            </a:r>
            <a:r>
              <a:rPr lang="fr-MA" dirty="0"/>
              <a:t> sur </a:t>
            </a:r>
            <a:r>
              <a:rPr lang="fr-MA" dirty="0" err="1"/>
              <a:t>Loss</a:t>
            </a:r>
            <a:r>
              <a:rPr lang="fr-MA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D4C65-ADFB-4031-A696-D001600A0E26}"/>
              </a:ext>
            </a:extLst>
          </p:cNvPr>
          <p:cNvSpPr txBox="1"/>
          <p:nvPr/>
        </p:nvSpPr>
        <p:spPr>
          <a:xfrm>
            <a:off x="14283" y="3471842"/>
            <a:ext cx="6213096" cy="40011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FF3300"/>
                </a:solidFill>
              </a:rPr>
              <a:t>On sait que les Wi et </a:t>
            </a:r>
            <a:r>
              <a:rPr lang="fr-MA" sz="2000" b="1" dirty="0" err="1">
                <a:solidFill>
                  <a:srgbClr val="FF3300"/>
                </a:solidFill>
              </a:rPr>
              <a:t>bias</a:t>
            </a:r>
            <a:r>
              <a:rPr lang="fr-MA" sz="2000" b="1" dirty="0">
                <a:solidFill>
                  <a:srgbClr val="FF3300"/>
                </a:solidFill>
              </a:rPr>
              <a:t> déterminent la valeur de </a:t>
            </a:r>
            <a:r>
              <a:rPr lang="fr-MA" sz="2000" b="1" dirty="0" err="1">
                <a:solidFill>
                  <a:srgbClr val="FF3300"/>
                </a:solidFill>
              </a:rPr>
              <a:t>Loss</a:t>
            </a:r>
            <a:r>
              <a:rPr lang="fr-MA" sz="2000" b="1" dirty="0">
                <a:solidFill>
                  <a:srgbClr val="FF330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FF728D-3C69-4778-A92F-61D77D849263}"/>
                  </a:ext>
                </a:extLst>
              </p:cNvPr>
              <p:cNvSpPr txBox="1"/>
              <p:nvPr/>
            </p:nvSpPr>
            <p:spPr>
              <a:xfrm>
                <a:off x="3750866" y="3961028"/>
                <a:ext cx="1100138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FF728D-3C69-4778-A92F-61D77D849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866" y="3961028"/>
                <a:ext cx="1100138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63C60D-D966-42E4-9AF8-CC21AAA5FC3B}"/>
                  </a:ext>
                </a:extLst>
              </p:cNvPr>
              <p:cNvSpPr txBox="1"/>
              <p:nvPr/>
            </p:nvSpPr>
            <p:spPr>
              <a:xfrm>
                <a:off x="3629298" y="4672008"/>
                <a:ext cx="1229272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63C60D-D966-42E4-9AF8-CC21AAA5F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298" y="4672008"/>
                <a:ext cx="1229272" cy="6643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F91F6D-FFC0-48CD-9080-BDBE558E240A}"/>
                  </a:ext>
                </a:extLst>
              </p:cNvPr>
              <p:cNvSpPr txBox="1"/>
              <p:nvPr/>
            </p:nvSpPr>
            <p:spPr>
              <a:xfrm>
                <a:off x="3710259" y="5295900"/>
                <a:ext cx="1229272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𝑏𝑖𝑎𝑠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F91F6D-FFC0-48CD-9080-BDBE558E2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259" y="5295900"/>
                <a:ext cx="1229272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D7915C4-C73E-73A2-E2C9-2E0BE30CED5D}"/>
              </a:ext>
            </a:extLst>
          </p:cNvPr>
          <p:cNvSpPr/>
          <p:nvPr/>
        </p:nvSpPr>
        <p:spPr>
          <a:xfrm>
            <a:off x="6107312" y="3105939"/>
            <a:ext cx="861047" cy="76601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sz="36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6398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/>
              <p:cNvSpPr/>
              <p:nvPr/>
            </p:nvSpPr>
            <p:spPr>
              <a:xfrm>
                <a:off x="263808" y="1026687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" name="Rectangle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08" y="1026687"/>
                <a:ext cx="3746347" cy="6643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ZoneTexte 157"/>
          <p:cNvSpPr txBox="1"/>
          <p:nvPr/>
        </p:nvSpPr>
        <p:spPr>
          <a:xfrm>
            <a:off x="0" y="199074"/>
            <a:ext cx="1002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0066FF"/>
                </a:solidFill>
              </a:rPr>
              <a:t>Connaitre l’effet pour la mise à jour des paramètres du modèle</a:t>
            </a:r>
            <a:endParaRPr lang="fr-FR" sz="28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6164E7F-0E2C-4A19-AD7A-4775DED7134A}"/>
                  </a:ext>
                </a:extLst>
              </p:cNvPr>
              <p:cNvSpPr/>
              <p:nvPr/>
            </p:nvSpPr>
            <p:spPr>
              <a:xfrm>
                <a:off x="263808" y="3096825"/>
                <a:ext cx="475623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6164E7F-0E2C-4A19-AD7A-4775DED71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08" y="3096825"/>
                <a:ext cx="4756237" cy="664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DBACAD2-AA21-4AC9-9732-E5E9AE5DC605}"/>
                  </a:ext>
                </a:extLst>
              </p:cNvPr>
              <p:cNvSpPr/>
              <p:nvPr/>
            </p:nvSpPr>
            <p:spPr>
              <a:xfrm>
                <a:off x="271076" y="2061756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DBACAD2-AA21-4AC9-9732-E5E9AE5DC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76" y="2061756"/>
                <a:ext cx="3746347" cy="6643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884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137003" y="1003529"/>
                <a:ext cx="2706391" cy="43800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3" y="1003529"/>
                <a:ext cx="2706391" cy="4380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92618" y="1540987"/>
                <a:ext cx="4339971" cy="56861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fr-FR" b="1" dirty="0"/>
                  <a:t>Loss</a:t>
                </a:r>
                <a14:m>
                  <m:oMath xmlns:m="http://schemas.openxmlformats.org/officeDocument/2006/math">
                    <m:r>
                      <a:rPr lang="fr-FR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𝒅𝒆𝒔𝒊𝒓𝒆𝒅</m:t>
                            </m:r>
                            <m:r>
                              <a:rPr lang="fr-FR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fr-FR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fr-FR" b="1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1" i="1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fr-FR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fr-FR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fr-FR" b="1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fr-FR" b="1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𝒘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fr-FR" b="1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fr-FR" b="1" i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fr-MA" b="1" i="1" smtClean="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fr-MA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𝒃𝒊𝒂𝒔</m:t>
                                        </m:r>
                                      </m:e>
                                    </m:d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8" y="1540987"/>
                <a:ext cx="4339971" cy="568617"/>
              </a:xfrm>
              <a:prstGeom prst="rect">
                <a:avLst/>
              </a:prstGeom>
              <a:blipFill>
                <a:blip r:embed="rId12"/>
                <a:stretch>
                  <a:fillRect l="-980" b="-4211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137003" y="2943400"/>
                <a:ext cx="5919313" cy="816121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MA" b="1" i="1" smtClean="0">
                                  <a:latin typeface="Cambria Math" panose="02040503050406030204" pitchFamily="18" charset="0"/>
                                </a:rPr>
                                <m:t>𝑳𝒐𝒔𝒔</m:t>
                              </m:r>
                            </m:num>
                            <m:den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𝑑𝑒𝑠𝑖𝑟𝑒𝑑</m:t>
                                  </m:r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fr-FR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fr-MA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fr-MA" b="0" i="0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bias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3" y="2943400"/>
                <a:ext cx="5919313" cy="8161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ZoneTexte 105"/>
          <p:cNvSpPr txBox="1"/>
          <p:nvPr/>
        </p:nvSpPr>
        <p:spPr>
          <a:xfrm>
            <a:off x="167640" y="157084"/>
            <a:ext cx="975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/>
              <a:t>Exprimer </a:t>
            </a:r>
            <a:r>
              <a:rPr lang="fr-MA" sz="3200" b="1" dirty="0" err="1"/>
              <a:t>Loss</a:t>
            </a:r>
            <a:r>
              <a:rPr lang="fr-MA" sz="3200" b="1" dirty="0"/>
              <a:t> en fonction de </a:t>
            </a:r>
            <a:r>
              <a:rPr lang="fr-MA" sz="3200" b="1" dirty="0" err="1"/>
              <a:t>bias</a:t>
            </a:r>
            <a:r>
              <a:rPr lang="fr-MA" sz="3200" b="1" dirty="0"/>
              <a:t>, w1 et w2</a:t>
            </a:r>
            <a:endParaRPr lang="fr-FR" sz="3200" b="1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CB6BE0C-37B6-4D3F-BEB8-03AA42599D66}"/>
                  </a:ext>
                </a:extLst>
              </p:cNvPr>
              <p:cNvSpPr/>
              <p:nvPr/>
            </p:nvSpPr>
            <p:spPr>
              <a:xfrm>
                <a:off x="137002" y="3936016"/>
                <a:ext cx="5919313" cy="816121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MA" b="1" i="1" smtClean="0">
                                  <a:latin typeface="Cambria Math" panose="02040503050406030204" pitchFamily="18" charset="0"/>
                                </a:rPr>
                                <m:t>𝑳𝒐𝒔𝒔</m:t>
                              </m:r>
                            </m:num>
                            <m:den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𝑑𝑒𝑠𝑖𝑟𝑒𝑑</m:t>
                                  </m:r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fr-FR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fr-MA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fr-MA" b="0" i="0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bias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CB6BE0C-37B6-4D3F-BEB8-03AA42599D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2" y="3936016"/>
                <a:ext cx="5919313" cy="8161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49DD096-1F5F-4242-A5D1-9241D398DD83}"/>
                  </a:ext>
                </a:extLst>
              </p:cNvPr>
              <p:cNvSpPr/>
              <p:nvPr/>
            </p:nvSpPr>
            <p:spPr>
              <a:xfrm>
                <a:off x="137001" y="4900125"/>
                <a:ext cx="6082819" cy="816121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MA" b="1" i="1" smtClean="0">
                                  <a:latin typeface="Cambria Math" panose="02040503050406030204" pitchFamily="18" charset="0"/>
                                </a:rPr>
                                <m:t>𝑳𝒐𝒔𝒔</m:t>
                              </m:r>
                            </m:num>
                            <m:den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𝛛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𝒃𝒊𝒂𝒔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M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𝒃𝒊𝒂𝒔</m:t>
                              </m:r>
                            </m:den>
                          </m:f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𝑑𝑒𝑠𝑖𝑟𝑒𝑑</m:t>
                                  </m:r>
                                  <m:r>
                                    <a:rPr lang="fr-FR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fr-FR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fr-FR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fr-FR" b="1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  <m:r>
                                                <a:rPr lang="fr-FR" b="1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fr-F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fr-FR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fr-MA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fr-MA" b="0" i="0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bias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49DD096-1F5F-4242-A5D1-9241D398DD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1" y="4900125"/>
                <a:ext cx="6082819" cy="8161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105">
            <a:extLst>
              <a:ext uri="{FF2B5EF4-FFF2-40B4-BE49-F238E27FC236}">
                <a16:creationId xmlns:a16="http://schemas.microsoft.com/office/drawing/2014/main" id="{C8022F6F-5DCC-435A-99B9-75662601EA28}"/>
              </a:ext>
            </a:extLst>
          </p:cNvPr>
          <p:cNvSpPr txBox="1"/>
          <p:nvPr/>
        </p:nvSpPr>
        <p:spPr>
          <a:xfrm>
            <a:off x="-1" y="2210637"/>
            <a:ext cx="10652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/>
              <a:t>Pour connaitre L’effet de </a:t>
            </a:r>
            <a:r>
              <a:rPr lang="fr-MA" sz="3200" b="1" dirty="0" err="1"/>
              <a:t>bias</a:t>
            </a:r>
            <a:r>
              <a:rPr lang="fr-MA" sz="3200" b="1" dirty="0"/>
              <a:t>, w1 et w2 sur </a:t>
            </a:r>
            <a:r>
              <a:rPr lang="fr-MA" sz="3200" b="1" dirty="0" err="1"/>
              <a:t>Loss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50A36-F87E-4B89-8DA6-9C9222D5D6B1}"/>
              </a:ext>
            </a:extLst>
          </p:cNvPr>
          <p:cNvSpPr txBox="1"/>
          <p:nvPr/>
        </p:nvSpPr>
        <p:spPr>
          <a:xfrm>
            <a:off x="6903720" y="2795412"/>
            <a:ext cx="5151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rgbClr val="FF3300"/>
                </a:solidFill>
              </a:rPr>
              <a:t>Difficile à calculer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9BD8ABB0-CDDC-4AEE-85A1-848CB8944009}"/>
              </a:ext>
            </a:extLst>
          </p:cNvPr>
          <p:cNvSpPr/>
          <p:nvPr/>
        </p:nvSpPr>
        <p:spPr>
          <a:xfrm>
            <a:off x="7802880" y="3429000"/>
            <a:ext cx="1143000" cy="13231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B123E-39A4-4DF1-B8C2-D5D64B4BE293}"/>
              </a:ext>
            </a:extLst>
          </p:cNvPr>
          <p:cNvSpPr txBox="1"/>
          <p:nvPr/>
        </p:nvSpPr>
        <p:spPr>
          <a:xfrm>
            <a:off x="6771342" y="5013960"/>
            <a:ext cx="497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70C0"/>
                </a:solidFill>
              </a:rPr>
              <a:t>Autre alternative: </a:t>
            </a:r>
            <a:r>
              <a:rPr lang="fr-MA" sz="2400" b="1" dirty="0" err="1">
                <a:solidFill>
                  <a:srgbClr val="0070C0"/>
                </a:solidFill>
              </a:rPr>
              <a:t>chain</a:t>
            </a:r>
            <a:r>
              <a:rPr lang="fr-MA" sz="2400" b="1" dirty="0">
                <a:solidFill>
                  <a:srgbClr val="0070C0"/>
                </a:solidFill>
              </a:rPr>
              <a:t> </a:t>
            </a:r>
            <a:r>
              <a:rPr lang="fr-MA" sz="2400" b="1" dirty="0" err="1">
                <a:solidFill>
                  <a:srgbClr val="0070C0"/>
                </a:solidFill>
              </a:rPr>
              <a:t>rule</a:t>
            </a:r>
            <a:endParaRPr lang="fr-MA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22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1" grpId="0" animBg="1"/>
      <p:bldP spid="103" grpId="0" animBg="1"/>
      <p:bldP spid="35" grpId="0" animBg="1"/>
      <p:bldP spid="36" grpId="0" animBg="1"/>
      <p:bldP spid="2" grpId="0"/>
      <p:bldP spid="3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4F6A51-4E66-4AAE-B338-1F54A75BBE2A}"/>
              </a:ext>
            </a:extLst>
          </p:cNvPr>
          <p:cNvSpPr/>
          <p:nvPr/>
        </p:nvSpPr>
        <p:spPr>
          <a:xfrm>
            <a:off x="361667" y="1460365"/>
            <a:ext cx="3204927" cy="18354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2BF83-C884-4037-992F-D050A430333D}"/>
              </a:ext>
            </a:extLst>
          </p:cNvPr>
          <p:cNvSpPr/>
          <p:nvPr/>
        </p:nvSpPr>
        <p:spPr>
          <a:xfrm>
            <a:off x="768472" y="1704291"/>
            <a:ext cx="2432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y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f(u)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 et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u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= </a:t>
            </a:r>
            <a:r>
              <a:rPr lang="es-ES" i="1" dirty="0">
                <a:solidFill>
                  <a:srgbClr val="0A0A0A"/>
                </a:solidFill>
                <a:latin typeface="Lucida Sans Unicode" panose="020B0602030504020204" pitchFamily="34" charset="0"/>
              </a:rPr>
              <a:t>g(x)</a:t>
            </a:r>
            <a:r>
              <a:rPr lang="es-ES" dirty="0">
                <a:solidFill>
                  <a:srgbClr val="0A0A0A"/>
                </a:solidFill>
                <a:latin typeface="Lucida Sans Unicode" panose="020B0602030504020204" pitchFamily="34" charset="0"/>
              </a:rPr>
              <a:t> </a:t>
            </a:r>
            <a:endParaRPr lang="fr-FR" dirty="0"/>
          </a:p>
        </p:txBody>
      </p:sp>
      <p:pic>
        <p:nvPicPr>
          <p:cNvPr id="6" name="Picture 2" descr="https://www.onlinemathlearning.com/image-files/chain-rule1.gif">
            <a:extLst>
              <a:ext uri="{FF2B5EF4-FFF2-40B4-BE49-F238E27FC236}">
                <a16:creationId xmlns:a16="http://schemas.microsoft.com/office/drawing/2014/main" id="{8A6EAF11-02FB-43D6-96E1-EF1FF5DD2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28" y="2073623"/>
            <a:ext cx="1655334" cy="81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111">
            <a:extLst>
              <a:ext uri="{FF2B5EF4-FFF2-40B4-BE49-F238E27FC236}">
                <a16:creationId xmlns:a16="http://schemas.microsoft.com/office/drawing/2014/main" id="{EFC44AD5-7A78-41BA-AE0D-CD1172DC4175}"/>
              </a:ext>
            </a:extLst>
          </p:cNvPr>
          <p:cNvSpPr txBox="1"/>
          <p:nvPr/>
        </p:nvSpPr>
        <p:spPr>
          <a:xfrm>
            <a:off x="0" y="68206"/>
            <a:ext cx="236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solidFill>
                  <a:srgbClr val="0070C0"/>
                </a:solidFill>
              </a:rPr>
              <a:t>chain</a:t>
            </a:r>
            <a:r>
              <a:rPr lang="fr-FR" sz="2400" b="1" dirty="0">
                <a:solidFill>
                  <a:srgbClr val="0070C0"/>
                </a:solidFill>
              </a:rPr>
              <a:t> </a:t>
            </a:r>
            <a:r>
              <a:rPr lang="fr-FR" sz="2400" b="1" dirty="0" err="1">
                <a:solidFill>
                  <a:srgbClr val="0070C0"/>
                </a:solidFill>
              </a:rPr>
              <a:t>rule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8D3D8-44DD-462C-8C8E-82B5366BE044}"/>
              </a:ext>
            </a:extLst>
          </p:cNvPr>
          <p:cNvSpPr txBox="1"/>
          <p:nvPr/>
        </p:nvSpPr>
        <p:spPr>
          <a:xfrm>
            <a:off x="0" y="509356"/>
            <a:ext cx="7757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Appelée aussi théorème de dérivation des fonctions composées</a:t>
            </a:r>
          </a:p>
          <a:p>
            <a:r>
              <a:rPr lang="fr-MA" dirty="0"/>
              <a:t>Ou </a:t>
            </a:r>
            <a:r>
              <a:rPr lang="fr-FR" dirty="0"/>
              <a:t>règle de dérivation en chaîne</a:t>
            </a:r>
            <a:endParaRPr lang="fr-M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045288-DF9E-42DE-B7B7-CD731449D46E}"/>
              </a:ext>
            </a:extLst>
          </p:cNvPr>
          <p:cNvSpPr txBox="1"/>
          <p:nvPr/>
        </p:nvSpPr>
        <p:spPr>
          <a:xfrm>
            <a:off x="0" y="5902302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https://en.wikipedia.org/wiki/Chain_rule</a:t>
            </a:r>
          </a:p>
        </p:txBody>
      </p:sp>
    </p:spTree>
    <p:extLst>
      <p:ext uri="{BB962C8B-B14F-4D97-AF65-F5344CB8AC3E}">
        <p14:creationId xmlns:p14="http://schemas.microsoft.com/office/powerpoint/2010/main" val="2180711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llipse 61"/>
          <p:cNvSpPr/>
          <p:nvPr/>
        </p:nvSpPr>
        <p:spPr>
          <a:xfrm>
            <a:off x="1724216" y="122017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64" name="Ellipse 63"/>
          <p:cNvSpPr/>
          <p:nvPr/>
        </p:nvSpPr>
        <p:spPr>
          <a:xfrm>
            <a:off x="4460106" y="251017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73" name="Ellipse 72"/>
          <p:cNvSpPr/>
          <p:nvPr/>
        </p:nvSpPr>
        <p:spPr>
          <a:xfrm>
            <a:off x="7450173" y="237369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74" name="Ellipse 73"/>
          <p:cNvSpPr/>
          <p:nvPr/>
        </p:nvSpPr>
        <p:spPr>
          <a:xfrm>
            <a:off x="10523193" y="239641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75" name="Rectangle à coins arrondis 74"/>
          <p:cNvSpPr/>
          <p:nvPr/>
        </p:nvSpPr>
        <p:spPr>
          <a:xfrm>
            <a:off x="0" y="566413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Inputs</a:t>
            </a:r>
          </a:p>
        </p:txBody>
      </p:sp>
      <p:sp>
        <p:nvSpPr>
          <p:cNvPr id="76" name="Rectangle à coins arrondis 75"/>
          <p:cNvSpPr/>
          <p:nvPr/>
        </p:nvSpPr>
        <p:spPr>
          <a:xfrm>
            <a:off x="4207878" y="593602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</a:t>
            </a:r>
          </a:p>
        </p:txBody>
      </p:sp>
      <p:sp>
        <p:nvSpPr>
          <p:cNvPr id="77" name="Rectangle à coins arrondis 76"/>
          <p:cNvSpPr/>
          <p:nvPr/>
        </p:nvSpPr>
        <p:spPr>
          <a:xfrm>
            <a:off x="7098333" y="579954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8" name="Rectangle à coins arrondis 77"/>
          <p:cNvSpPr/>
          <p:nvPr/>
        </p:nvSpPr>
        <p:spPr>
          <a:xfrm>
            <a:off x="10218467" y="579954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Error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9005369" y="1382543"/>
                <a:ext cx="2985561" cy="49564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69" y="1382543"/>
                <a:ext cx="2985561" cy="495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6034747" y="1342361"/>
                <a:ext cx="2814681" cy="5590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𝒑𝒓𝒆𝒅𝒊𝒄𝒕</m:t>
                      </m:r>
                      <m:r>
                        <a:rPr lang="fr-FR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𝐞𝐝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747" y="1342361"/>
                <a:ext cx="2814681" cy="559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3126065" y="1476480"/>
                <a:ext cx="2752741" cy="307777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065" y="1476480"/>
                <a:ext cx="275274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1300559" y="1444223"/>
                <a:ext cx="138634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59" y="1444223"/>
                <a:ext cx="13863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9956660" y="3039328"/>
                <a:ext cx="1487908" cy="6656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60" y="3039328"/>
                <a:ext cx="1487908" cy="6656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6869069" y="3262256"/>
                <a:ext cx="1527423" cy="6190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69" y="3262256"/>
                <a:ext cx="1527423" cy="619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4219189" y="3751268"/>
                <a:ext cx="843207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189" y="3751268"/>
                <a:ext cx="843207" cy="6190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4207878" y="4510818"/>
                <a:ext cx="854721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78" y="4510818"/>
                <a:ext cx="854721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4207878" y="3002933"/>
                <a:ext cx="854518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78" y="3002933"/>
                <a:ext cx="854518" cy="6190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à coins arrondis 74">
            <a:extLst>
              <a:ext uri="{FF2B5EF4-FFF2-40B4-BE49-F238E27FC236}">
                <a16:creationId xmlns:a16="http://schemas.microsoft.com/office/drawing/2014/main" id="{068B672F-913E-4FEB-830A-C9D0E88BCEE6}"/>
              </a:ext>
            </a:extLst>
          </p:cNvPr>
          <p:cNvSpPr/>
          <p:nvPr/>
        </p:nvSpPr>
        <p:spPr>
          <a:xfrm>
            <a:off x="1436861" y="487446"/>
            <a:ext cx="1113739" cy="9045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Weights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</a:p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bias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/>
              <p:nvPr/>
            </p:nvSpPr>
            <p:spPr>
              <a:xfrm>
                <a:off x="126938" y="1412679"/>
                <a:ext cx="79111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8" y="1412679"/>
                <a:ext cx="79111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26D1D2E-8C60-4DA7-A1B2-CCB58C54FBA7}"/>
              </a:ext>
            </a:extLst>
          </p:cNvPr>
          <p:cNvSpPr txBox="1"/>
          <p:nvPr/>
        </p:nvSpPr>
        <p:spPr>
          <a:xfrm>
            <a:off x="89672" y="2253997"/>
            <a:ext cx="3036393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FF3300"/>
                </a:solidFill>
              </a:rPr>
              <a:t>Loss</a:t>
            </a:r>
            <a:r>
              <a:rPr lang="fr-MA" dirty="0">
                <a:solidFill>
                  <a:srgbClr val="FF3300"/>
                </a:solidFill>
              </a:rPr>
              <a:t> n’est pas en fonction de w0,w1 et </a:t>
            </a:r>
            <a:r>
              <a:rPr lang="fr-MA" dirty="0" err="1">
                <a:solidFill>
                  <a:srgbClr val="FF3300"/>
                </a:solidFill>
              </a:rPr>
              <a:t>bias</a:t>
            </a:r>
            <a:r>
              <a:rPr lang="fr-MA" dirty="0">
                <a:solidFill>
                  <a:srgbClr val="FF3300"/>
                </a:solidFill>
              </a:rPr>
              <a:t>, </a:t>
            </a:r>
          </a:p>
          <a:p>
            <a:r>
              <a:rPr lang="fr-MA" dirty="0">
                <a:solidFill>
                  <a:srgbClr val="FF3300"/>
                </a:solidFill>
              </a:rPr>
              <a:t>Mais on a:</a:t>
            </a:r>
          </a:p>
          <a:p>
            <a:endParaRPr lang="fr-MA" dirty="0">
              <a:solidFill>
                <a:srgbClr val="FF33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652D12-1EAF-4074-B5D3-8BF723251C7A}"/>
              </a:ext>
            </a:extLst>
          </p:cNvPr>
          <p:cNvCxnSpPr/>
          <p:nvPr/>
        </p:nvCxnSpPr>
        <p:spPr>
          <a:xfrm>
            <a:off x="10523193" y="2039080"/>
            <a:ext cx="0" cy="8469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AE74032-0EBC-467E-8A2C-AA5A126C6C0D}"/>
              </a:ext>
            </a:extLst>
          </p:cNvPr>
          <p:cNvCxnSpPr/>
          <p:nvPr/>
        </p:nvCxnSpPr>
        <p:spPr>
          <a:xfrm>
            <a:off x="7450173" y="2127367"/>
            <a:ext cx="0" cy="8469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C0CE417-899A-4B3F-9D71-A36A50AC3F07}"/>
              </a:ext>
            </a:extLst>
          </p:cNvPr>
          <p:cNvCxnSpPr/>
          <p:nvPr/>
        </p:nvCxnSpPr>
        <p:spPr>
          <a:xfrm>
            <a:off x="4602198" y="1947731"/>
            <a:ext cx="0" cy="8469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1705109-2A1F-4E50-8AE4-4EAA20BE58D5}"/>
              </a:ext>
            </a:extLst>
          </p:cNvPr>
          <p:cNvSpPr txBox="1"/>
          <p:nvPr/>
        </p:nvSpPr>
        <p:spPr>
          <a:xfrm>
            <a:off x="104988" y="5413777"/>
            <a:ext cx="11751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70C0"/>
                </a:solidFill>
              </a:rPr>
              <a:t>Comment utiliser </a:t>
            </a:r>
            <a:r>
              <a:rPr lang="fr-MA" sz="2400" b="1" dirty="0" err="1">
                <a:solidFill>
                  <a:srgbClr val="0070C0"/>
                </a:solidFill>
              </a:rPr>
              <a:t>chain</a:t>
            </a:r>
            <a:r>
              <a:rPr lang="fr-MA" sz="2400" b="1" dirty="0">
                <a:solidFill>
                  <a:srgbClr val="0070C0"/>
                </a:solidFill>
              </a:rPr>
              <a:t> </a:t>
            </a:r>
            <a:r>
              <a:rPr lang="fr-MA" sz="2400" b="1" dirty="0" err="1">
                <a:solidFill>
                  <a:srgbClr val="0070C0"/>
                </a:solidFill>
              </a:rPr>
              <a:t>rule</a:t>
            </a:r>
            <a:r>
              <a:rPr lang="fr-MA" sz="2400" b="1" dirty="0">
                <a:solidFill>
                  <a:srgbClr val="0070C0"/>
                </a:solidFill>
              </a:rPr>
              <a:t> pour connaitre L’effet de </a:t>
            </a:r>
            <a:r>
              <a:rPr lang="fr-MA" sz="2400" b="1" dirty="0" err="1">
                <a:solidFill>
                  <a:srgbClr val="0070C0"/>
                </a:solidFill>
              </a:rPr>
              <a:t>bias</a:t>
            </a:r>
            <a:r>
              <a:rPr lang="fr-MA" sz="2400" b="1" dirty="0">
                <a:solidFill>
                  <a:srgbClr val="0070C0"/>
                </a:solidFill>
              </a:rPr>
              <a:t>, w1 et w2 sur </a:t>
            </a:r>
            <a:r>
              <a:rPr lang="fr-MA" sz="2400" b="1" dirty="0" err="1">
                <a:solidFill>
                  <a:srgbClr val="0070C0"/>
                </a:solidFill>
              </a:rPr>
              <a:t>Loss</a:t>
            </a:r>
            <a:r>
              <a:rPr lang="fr-MA" sz="2400" b="1" dirty="0">
                <a:solidFill>
                  <a:srgbClr val="0070C0"/>
                </a:solidFill>
              </a:rPr>
              <a:t> ?</a:t>
            </a:r>
            <a:endParaRPr lang="fr-FR" sz="2400" b="1" dirty="0">
              <a:solidFill>
                <a:srgbClr val="0070C0"/>
              </a:solidFill>
            </a:endParaRPr>
          </a:p>
          <a:p>
            <a:endParaRPr lang="fr-MA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63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45" grpId="0" animBg="1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llipse 61"/>
          <p:cNvSpPr/>
          <p:nvPr/>
        </p:nvSpPr>
        <p:spPr>
          <a:xfrm>
            <a:off x="1678855" y="1011462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64" name="Ellipse 63"/>
          <p:cNvSpPr/>
          <p:nvPr/>
        </p:nvSpPr>
        <p:spPr>
          <a:xfrm>
            <a:off x="4460106" y="1108278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73" name="Ellipse 72"/>
          <p:cNvSpPr/>
          <p:nvPr/>
        </p:nvSpPr>
        <p:spPr>
          <a:xfrm>
            <a:off x="7450173" y="1094630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74" name="Ellipse 73"/>
          <p:cNvSpPr/>
          <p:nvPr/>
        </p:nvSpPr>
        <p:spPr>
          <a:xfrm>
            <a:off x="10523193" y="1096902"/>
            <a:ext cx="354842" cy="288000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75" name="Rectangle à coins arrondis 74"/>
          <p:cNvSpPr/>
          <p:nvPr/>
        </p:nvSpPr>
        <p:spPr>
          <a:xfrm>
            <a:off x="0" y="1423674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Inputs</a:t>
            </a:r>
          </a:p>
        </p:txBody>
      </p:sp>
      <p:sp>
        <p:nvSpPr>
          <p:cNvPr id="76" name="Rectangle à coins arrondis 75"/>
          <p:cNvSpPr/>
          <p:nvPr/>
        </p:nvSpPr>
        <p:spPr>
          <a:xfrm>
            <a:off x="4207878" y="1450863"/>
            <a:ext cx="1113739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</a:t>
            </a:r>
          </a:p>
        </p:txBody>
      </p:sp>
      <p:sp>
        <p:nvSpPr>
          <p:cNvPr id="77" name="Rectangle à coins arrondis 76"/>
          <p:cNvSpPr/>
          <p:nvPr/>
        </p:nvSpPr>
        <p:spPr>
          <a:xfrm>
            <a:off x="7098333" y="1437215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8" name="Rectangle à coins arrondis 77"/>
          <p:cNvSpPr/>
          <p:nvPr/>
        </p:nvSpPr>
        <p:spPr>
          <a:xfrm>
            <a:off x="10218467" y="1437215"/>
            <a:ext cx="1344551" cy="504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Error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9005369" y="2239804"/>
                <a:ext cx="2985561" cy="49564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69" y="2239804"/>
                <a:ext cx="2985561" cy="495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6034747" y="2199622"/>
                <a:ext cx="2814681" cy="5590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𝒑𝒓𝒆𝒅𝒊𝒄𝒕</m:t>
                      </m:r>
                      <m:r>
                        <a:rPr lang="fr-FR" sz="16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𝐞𝐝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747" y="2199622"/>
                <a:ext cx="2814681" cy="559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3126065" y="2333741"/>
                <a:ext cx="2752741" cy="307777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4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065" y="2333741"/>
                <a:ext cx="275274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1300559" y="2301484"/>
                <a:ext cx="138634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559" y="2301484"/>
                <a:ext cx="138634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9956660" y="2782160"/>
                <a:ext cx="1487908" cy="6656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60" y="2782160"/>
                <a:ext cx="1487908" cy="6656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6869069" y="3005088"/>
                <a:ext cx="1527423" cy="6190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69" y="3005088"/>
                <a:ext cx="1527423" cy="619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4219189" y="3494100"/>
                <a:ext cx="843207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189" y="3494100"/>
                <a:ext cx="843207" cy="6190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4207878" y="4253650"/>
                <a:ext cx="854721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78" y="4253650"/>
                <a:ext cx="854721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4207878" y="2745765"/>
                <a:ext cx="854518" cy="619016"/>
              </a:xfrm>
              <a:prstGeom prst="rect">
                <a:avLst/>
              </a:prstGeom>
              <a:solidFill>
                <a:srgbClr val="57D3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78" y="2745765"/>
                <a:ext cx="854518" cy="6190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à coins arrondis 74">
            <a:extLst>
              <a:ext uri="{FF2B5EF4-FFF2-40B4-BE49-F238E27FC236}">
                <a16:creationId xmlns:a16="http://schemas.microsoft.com/office/drawing/2014/main" id="{068B672F-913E-4FEB-830A-C9D0E88BCEE6}"/>
              </a:ext>
            </a:extLst>
          </p:cNvPr>
          <p:cNvSpPr/>
          <p:nvPr/>
        </p:nvSpPr>
        <p:spPr>
          <a:xfrm>
            <a:off x="1436861" y="1344707"/>
            <a:ext cx="1113739" cy="9045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Weights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</a:p>
          <a:p>
            <a:pPr algn="ctr"/>
            <a:r>
              <a:rPr lang="fr-F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bias</a:t>
            </a:r>
            <a:endParaRPr lang="fr-F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/>
              <p:nvPr/>
            </p:nvSpPr>
            <p:spPr>
              <a:xfrm>
                <a:off x="126938" y="2269940"/>
                <a:ext cx="79111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6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3284CB-5A56-4524-BB90-BDDFBECC2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8" y="2269940"/>
                <a:ext cx="791114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111">
            <a:extLst>
              <a:ext uri="{FF2B5EF4-FFF2-40B4-BE49-F238E27FC236}">
                <a16:creationId xmlns:a16="http://schemas.microsoft.com/office/drawing/2014/main" id="{9595AC38-01F7-419A-AB53-CAA9C1C0986E}"/>
              </a:ext>
            </a:extLst>
          </p:cNvPr>
          <p:cNvSpPr txBox="1"/>
          <p:nvPr/>
        </p:nvSpPr>
        <p:spPr>
          <a:xfrm>
            <a:off x="72388" y="599371"/>
            <a:ext cx="1033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Utiliser </a:t>
            </a:r>
            <a:r>
              <a:rPr lang="fr-FR" b="1" dirty="0" err="1">
                <a:solidFill>
                  <a:srgbClr val="0070C0"/>
                </a:solidFill>
              </a:rPr>
              <a:t>chain</a:t>
            </a:r>
            <a:r>
              <a:rPr lang="fr-FR" b="1" dirty="0">
                <a:solidFill>
                  <a:srgbClr val="0070C0"/>
                </a:solidFill>
              </a:rPr>
              <a:t> Rule pour exprimer</a:t>
            </a:r>
            <a:r>
              <a:rPr lang="fr-FR" b="1" dirty="0"/>
              <a:t> 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variation de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Loss</a:t>
            </a:r>
            <a:r>
              <a:rPr lang="fr-FR" b="1" dirty="0"/>
              <a:t> </a:t>
            </a:r>
            <a:r>
              <a:rPr lang="fr-FR" b="1" dirty="0">
                <a:solidFill>
                  <a:srgbClr val="0070C0"/>
                </a:solidFill>
              </a:rPr>
              <a:t>en fonction de</a:t>
            </a:r>
            <a:r>
              <a:rPr lang="fr-FR" b="1" dirty="0"/>
              <a:t> </a:t>
            </a:r>
            <a:r>
              <a:rPr lang="fr-FR" b="1" dirty="0">
                <a:solidFill>
                  <a:srgbClr val="FF0000"/>
                </a:solidFill>
              </a:rPr>
              <a:t>la variation de </a:t>
            </a:r>
            <a:r>
              <a:rPr lang="fr-FR" b="1" dirty="0" err="1">
                <a:solidFill>
                  <a:srgbClr val="FF0000"/>
                </a:solidFill>
              </a:rPr>
              <a:t>bias</a:t>
            </a:r>
            <a:r>
              <a:rPr lang="fr-FR" b="1" dirty="0">
                <a:solidFill>
                  <a:srgbClr val="FF0000"/>
                </a:solidFill>
              </a:rPr>
              <a:t>, w1 et W2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3F88FE-AA45-4956-BEC1-8570F743D23C}"/>
              </a:ext>
            </a:extLst>
          </p:cNvPr>
          <p:cNvSpPr/>
          <p:nvPr/>
        </p:nvSpPr>
        <p:spPr>
          <a:xfrm>
            <a:off x="7257977" y="4103979"/>
            <a:ext cx="4106152" cy="699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7D53330-E104-4F1F-B7F3-F5566AAEB65A}"/>
                  </a:ext>
                </a:extLst>
              </p:cNvPr>
              <p:cNvSpPr/>
              <p:nvPr/>
            </p:nvSpPr>
            <p:spPr>
              <a:xfrm>
                <a:off x="7209011" y="4248698"/>
                <a:ext cx="764953" cy="497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b="1" dirty="0"/>
                  <a:t>=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7D53330-E104-4F1F-B7F3-F5566AAEB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011" y="4248698"/>
                <a:ext cx="764953" cy="497059"/>
              </a:xfrm>
              <a:prstGeom prst="rect">
                <a:avLst/>
              </a:prstGeom>
              <a:blipFill>
                <a:blip r:embed="rId12"/>
                <a:stretch>
                  <a:fillRect r="-6400" b="-731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A2987F-7A69-4CFB-90E8-7D93899098C5}"/>
                  </a:ext>
                </a:extLst>
              </p:cNvPr>
              <p:cNvSpPr/>
              <p:nvPr/>
            </p:nvSpPr>
            <p:spPr>
              <a:xfrm>
                <a:off x="7904726" y="4207468"/>
                <a:ext cx="1202573" cy="5382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A2987F-7A69-4CFB-90E8-7D9389909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726" y="4207468"/>
                <a:ext cx="1202573" cy="538289"/>
              </a:xfrm>
              <a:prstGeom prst="rect">
                <a:avLst/>
              </a:prstGeom>
              <a:blipFill>
                <a:blip r:embed="rId13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4E33D19-1B62-414B-A820-02FFEE4ED1AF}"/>
                  </a:ext>
                </a:extLst>
              </p:cNvPr>
              <p:cNvSpPr/>
              <p:nvPr/>
            </p:nvSpPr>
            <p:spPr>
              <a:xfrm>
                <a:off x="9200032" y="4195644"/>
                <a:ext cx="1205778" cy="5019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4E33D19-1B62-414B-A820-02FFEE4ED1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032" y="4195644"/>
                <a:ext cx="1205778" cy="501997"/>
              </a:xfrm>
              <a:prstGeom prst="rect">
                <a:avLst/>
              </a:prstGeom>
              <a:blipFill>
                <a:blip r:embed="rId14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B7D3D93-EBBC-442D-9C2D-943B4FB68116}"/>
                  </a:ext>
                </a:extLst>
              </p:cNvPr>
              <p:cNvSpPr/>
              <p:nvPr/>
            </p:nvSpPr>
            <p:spPr>
              <a:xfrm>
                <a:off x="10549067" y="4157773"/>
                <a:ext cx="636713" cy="560538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B7D3D93-EBBC-442D-9C2D-943B4FB68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067" y="4157773"/>
                <a:ext cx="636713" cy="56053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144">
            <a:extLst>
              <a:ext uri="{FF2B5EF4-FFF2-40B4-BE49-F238E27FC236}">
                <a16:creationId xmlns:a16="http://schemas.microsoft.com/office/drawing/2014/main" id="{47D928ED-15A1-448E-ADE9-99C3A384D678}"/>
              </a:ext>
            </a:extLst>
          </p:cNvPr>
          <p:cNvSpPr txBox="1"/>
          <p:nvPr/>
        </p:nvSpPr>
        <p:spPr>
          <a:xfrm>
            <a:off x="9011759" y="4343985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35" name="ZoneTexte 145">
            <a:extLst>
              <a:ext uri="{FF2B5EF4-FFF2-40B4-BE49-F238E27FC236}">
                <a16:creationId xmlns:a16="http://schemas.microsoft.com/office/drawing/2014/main" id="{28747152-D262-4B56-8BE6-6205D07AA0AD}"/>
              </a:ext>
            </a:extLst>
          </p:cNvPr>
          <p:cNvSpPr txBox="1"/>
          <p:nvPr/>
        </p:nvSpPr>
        <p:spPr>
          <a:xfrm>
            <a:off x="10314353" y="4300999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B356D6-778F-4947-93CC-27DB4F3F4347}"/>
              </a:ext>
            </a:extLst>
          </p:cNvPr>
          <p:cNvSpPr/>
          <p:nvPr/>
        </p:nvSpPr>
        <p:spPr>
          <a:xfrm>
            <a:off x="7338416" y="5834156"/>
            <a:ext cx="4106152" cy="701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75C7231-17A1-4E7C-8207-360854298221}"/>
                  </a:ext>
                </a:extLst>
              </p:cNvPr>
              <p:cNvSpPr/>
              <p:nvPr/>
            </p:nvSpPr>
            <p:spPr>
              <a:xfrm>
                <a:off x="7286553" y="5971921"/>
                <a:ext cx="764953" cy="497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b="1" dirty="0"/>
                  <a:t>=</a:t>
                </a: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75C7231-17A1-4E7C-8207-3608542982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553" y="5971921"/>
                <a:ext cx="764953" cy="497059"/>
              </a:xfrm>
              <a:prstGeom prst="rect">
                <a:avLst/>
              </a:prstGeom>
              <a:blipFill>
                <a:blip r:embed="rId16"/>
                <a:stretch>
                  <a:fillRect r="-6349" b="-8642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9C5D7A9-075A-4DD4-BD7E-7CB0ADB7F1D6}"/>
                  </a:ext>
                </a:extLst>
              </p:cNvPr>
              <p:cNvSpPr/>
              <p:nvPr/>
            </p:nvSpPr>
            <p:spPr>
              <a:xfrm>
                <a:off x="7985165" y="5937646"/>
                <a:ext cx="1202573" cy="5382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9C5D7A9-075A-4DD4-BD7E-7CB0ADB7F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165" y="5937646"/>
                <a:ext cx="1202573" cy="538289"/>
              </a:xfrm>
              <a:prstGeom prst="rect">
                <a:avLst/>
              </a:prstGeom>
              <a:blipFill>
                <a:blip r:embed="rId17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2241E35-9F89-4D1A-853C-DDCF9F6C2B70}"/>
                  </a:ext>
                </a:extLst>
              </p:cNvPr>
              <p:cNvSpPr/>
              <p:nvPr/>
            </p:nvSpPr>
            <p:spPr>
              <a:xfrm>
                <a:off x="9280471" y="5925822"/>
                <a:ext cx="1205778" cy="5019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2241E35-9F89-4D1A-853C-DDCF9F6C2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471" y="5925822"/>
                <a:ext cx="1205778" cy="501997"/>
              </a:xfrm>
              <a:prstGeom prst="rect">
                <a:avLst/>
              </a:prstGeom>
              <a:blipFill>
                <a:blip r:embed="rId18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E61A92F-3A03-4100-B17B-EF050EACDE11}"/>
                  </a:ext>
                </a:extLst>
              </p:cNvPr>
              <p:cNvSpPr/>
              <p:nvPr/>
            </p:nvSpPr>
            <p:spPr>
              <a:xfrm>
                <a:off x="10609193" y="5903854"/>
                <a:ext cx="784189" cy="560538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E61A92F-3A03-4100-B17B-EF050EACD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193" y="5903854"/>
                <a:ext cx="784189" cy="5605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ZoneTexte 108">
            <a:extLst>
              <a:ext uri="{FF2B5EF4-FFF2-40B4-BE49-F238E27FC236}">
                <a16:creationId xmlns:a16="http://schemas.microsoft.com/office/drawing/2014/main" id="{D9EA520D-1DA5-461C-96F9-34A85F3226AC}"/>
              </a:ext>
            </a:extLst>
          </p:cNvPr>
          <p:cNvSpPr txBox="1"/>
          <p:nvPr/>
        </p:nvSpPr>
        <p:spPr>
          <a:xfrm>
            <a:off x="9092198" y="6074163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44" name="ZoneTexte 109">
            <a:extLst>
              <a:ext uri="{FF2B5EF4-FFF2-40B4-BE49-F238E27FC236}">
                <a16:creationId xmlns:a16="http://schemas.microsoft.com/office/drawing/2014/main" id="{6E63F9CA-4113-4440-AD15-6BDAE9DE4C95}"/>
              </a:ext>
            </a:extLst>
          </p:cNvPr>
          <p:cNvSpPr txBox="1"/>
          <p:nvPr/>
        </p:nvSpPr>
        <p:spPr>
          <a:xfrm>
            <a:off x="10394792" y="6031177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854C02-6882-4016-86DB-52ED17288E9F}"/>
              </a:ext>
            </a:extLst>
          </p:cNvPr>
          <p:cNvSpPr/>
          <p:nvPr/>
        </p:nvSpPr>
        <p:spPr>
          <a:xfrm>
            <a:off x="7309840" y="4992630"/>
            <a:ext cx="4106152" cy="727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0E35811-713F-4D3B-82B9-24B60F62D08C}"/>
                  </a:ext>
                </a:extLst>
              </p:cNvPr>
              <p:cNvSpPr/>
              <p:nvPr/>
            </p:nvSpPr>
            <p:spPr>
              <a:xfrm>
                <a:off x="7257977" y="5130394"/>
                <a:ext cx="764953" cy="497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b="1" dirty="0"/>
                  <a:t>=</a:t>
                </a: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0E35811-713F-4D3B-82B9-24B60F62D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977" y="5130394"/>
                <a:ext cx="764953" cy="497059"/>
              </a:xfrm>
              <a:prstGeom prst="rect">
                <a:avLst/>
              </a:prstGeom>
              <a:blipFill>
                <a:blip r:embed="rId20"/>
                <a:stretch>
                  <a:fillRect r="-6400" b="-8642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9584941-DB4E-4938-806A-FDF30D011220}"/>
                  </a:ext>
                </a:extLst>
              </p:cNvPr>
              <p:cNvSpPr/>
              <p:nvPr/>
            </p:nvSpPr>
            <p:spPr>
              <a:xfrm>
                <a:off x="7956589" y="5096119"/>
                <a:ext cx="1202573" cy="5382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9584941-DB4E-4938-806A-FDF30D011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589" y="5096119"/>
                <a:ext cx="1202573" cy="538289"/>
              </a:xfrm>
              <a:prstGeom prst="rect">
                <a:avLst/>
              </a:prstGeom>
              <a:blipFill>
                <a:blip r:embed="rId21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04F7F78-2069-442F-9875-17BD88AE2CBA}"/>
                  </a:ext>
                </a:extLst>
              </p:cNvPr>
              <p:cNvSpPr/>
              <p:nvPr/>
            </p:nvSpPr>
            <p:spPr>
              <a:xfrm>
                <a:off x="9251895" y="5084295"/>
                <a:ext cx="1205778" cy="5019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04F7F78-2069-442F-9875-17BD88AE2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895" y="5084295"/>
                <a:ext cx="1205778" cy="501997"/>
              </a:xfrm>
              <a:prstGeom prst="rect">
                <a:avLst/>
              </a:prstGeom>
              <a:blipFill>
                <a:blip r:embed="rId22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0AD0681-E92D-4502-B121-FF4C19239DD1}"/>
                  </a:ext>
                </a:extLst>
              </p:cNvPr>
              <p:cNvSpPr/>
              <p:nvPr/>
            </p:nvSpPr>
            <p:spPr>
              <a:xfrm>
                <a:off x="10600930" y="5046424"/>
                <a:ext cx="636713" cy="560538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0AD0681-E92D-4502-B121-FF4C19239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930" y="5046424"/>
                <a:ext cx="636713" cy="56053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ZoneTexte 151">
            <a:extLst>
              <a:ext uri="{FF2B5EF4-FFF2-40B4-BE49-F238E27FC236}">
                <a16:creationId xmlns:a16="http://schemas.microsoft.com/office/drawing/2014/main" id="{FBF4783D-F8E6-4143-8862-0DF01F756041}"/>
              </a:ext>
            </a:extLst>
          </p:cNvPr>
          <p:cNvSpPr txBox="1"/>
          <p:nvPr/>
        </p:nvSpPr>
        <p:spPr>
          <a:xfrm>
            <a:off x="9063622" y="5232636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56" name="ZoneTexte 152">
            <a:extLst>
              <a:ext uri="{FF2B5EF4-FFF2-40B4-BE49-F238E27FC236}">
                <a16:creationId xmlns:a16="http://schemas.microsoft.com/office/drawing/2014/main" id="{FC3529E2-2299-4DCB-A58F-6608AB1C6A2A}"/>
              </a:ext>
            </a:extLst>
          </p:cNvPr>
          <p:cNvSpPr txBox="1"/>
          <p:nvPr/>
        </p:nvSpPr>
        <p:spPr>
          <a:xfrm>
            <a:off x="10366216" y="5189650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A712036-4874-4239-852B-8166653CC31F}"/>
                  </a:ext>
                </a:extLst>
              </p:cNvPr>
              <p:cNvSpPr/>
              <p:nvPr/>
            </p:nvSpPr>
            <p:spPr>
              <a:xfrm>
                <a:off x="2935288" y="74096"/>
                <a:ext cx="985335" cy="496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b="1" dirty="0"/>
                  <a:t>=?</a:t>
                </a: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A712036-4874-4239-852B-8166653CC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288" y="74096"/>
                <a:ext cx="985335" cy="496996"/>
              </a:xfrm>
              <a:prstGeom prst="rect">
                <a:avLst/>
              </a:prstGeom>
              <a:blipFill>
                <a:blip r:embed="rId2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7E41E08-07D4-42C7-93A5-66FA04EA7E6F}"/>
                  </a:ext>
                </a:extLst>
              </p:cNvPr>
              <p:cNvSpPr/>
              <p:nvPr/>
            </p:nvSpPr>
            <p:spPr>
              <a:xfrm>
                <a:off x="1391500" y="51033"/>
                <a:ext cx="985335" cy="496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b="1" dirty="0"/>
                  <a:t>=?</a:t>
                </a: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7E41E08-07D4-42C7-93A5-66FA04EA7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500" y="51033"/>
                <a:ext cx="985335" cy="496996"/>
              </a:xfrm>
              <a:prstGeom prst="rect">
                <a:avLst/>
              </a:prstGeom>
              <a:blipFill>
                <a:blip r:embed="rId2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D826FB9-5AC8-4A78-AE05-F28B57D1A5B0}"/>
                  </a:ext>
                </a:extLst>
              </p:cNvPr>
              <p:cNvSpPr/>
              <p:nvPr/>
            </p:nvSpPr>
            <p:spPr>
              <a:xfrm>
                <a:off x="126938" y="51033"/>
                <a:ext cx="985335" cy="496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b="1" dirty="0"/>
                  <a:t>=?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D826FB9-5AC8-4A78-AE05-F28B57D1A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8" y="51033"/>
                <a:ext cx="985335" cy="496996"/>
              </a:xfrm>
              <a:prstGeom prst="rect">
                <a:avLst/>
              </a:prstGeom>
              <a:blipFill>
                <a:blip r:embed="rId26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21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/>
      <p:bldP spid="35" grpId="0"/>
      <p:bldP spid="38" grpId="0" animBg="1"/>
      <p:bldP spid="39" grpId="0"/>
      <p:bldP spid="40" grpId="0" animBg="1"/>
      <p:bldP spid="41" grpId="0" animBg="1"/>
      <p:bldP spid="42" grpId="0" animBg="1"/>
      <p:bldP spid="43" grpId="0"/>
      <p:bldP spid="44" grpId="0"/>
      <p:bldP spid="46" grpId="0" animBg="1"/>
      <p:bldP spid="47" grpId="0"/>
      <p:bldP spid="52" grpId="0" animBg="1"/>
      <p:bldP spid="53" grpId="0" animBg="1"/>
      <p:bldP spid="54" grpId="0" animBg="1"/>
      <p:bldP spid="55" grpId="0"/>
      <p:bldP spid="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3950892" y="1434561"/>
                <a:ext cx="3890296" cy="6109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5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5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5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fr-FR" sz="1500" b="1" i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fr-FR" sz="1500" b="1" i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5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fr-FR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892" y="1434561"/>
                <a:ext cx="3890296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8197308" y="867472"/>
                <a:ext cx="3206327" cy="4956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4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308" y="867472"/>
                <a:ext cx="3206327" cy="495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197308" y="1471345"/>
                <a:ext cx="3206327" cy="53828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4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308" y="1471345"/>
                <a:ext cx="3206327" cy="538289"/>
              </a:xfrm>
              <a:prstGeom prst="rect">
                <a:avLst/>
              </a:prstGeom>
              <a:blipFill>
                <a:blip r:embed="rId4"/>
                <a:stretch>
                  <a:fillRect b="-439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Rectangle 136"/>
              <p:cNvSpPr/>
              <p:nvPr/>
            </p:nvSpPr>
            <p:spPr>
              <a:xfrm>
                <a:off x="3936273" y="828771"/>
                <a:ext cx="3907233" cy="52982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𝒑𝒓𝒆𝒅𝒊𝒄𝒕</m:t>
                      </m:r>
                      <m:r>
                        <a:rPr lang="fr-FR" sz="15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𝐞𝐝</m:t>
                      </m:r>
                      <m:r>
                        <a:rPr lang="fr-FR" sz="15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5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sz="15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5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sz="15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5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5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5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15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5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5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7" name="Rectangle 1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273" y="828771"/>
                <a:ext cx="3907233" cy="529825"/>
              </a:xfrm>
              <a:prstGeom prst="rect">
                <a:avLst/>
              </a:prstGeom>
              <a:blipFill>
                <a:blip r:embed="rId5"/>
                <a:stretch>
                  <a:fillRect b="-112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Rectangle 137"/>
              <p:cNvSpPr/>
              <p:nvPr/>
            </p:nvSpPr>
            <p:spPr>
              <a:xfrm>
                <a:off x="627200" y="932481"/>
                <a:ext cx="2960490" cy="338554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fr-F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MA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b="1" i="1" smtClean="0">
                          <a:latin typeface="Cambria Math" panose="02040503050406030204" pitchFamily="18" charset="0"/>
                        </a:rPr>
                        <m:t>𝒃𝒊𝒂𝒔</m:t>
                      </m:r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38" name="Rectangle 1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00" y="932481"/>
                <a:ext cx="296049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41983" y="2647455"/>
                <a:ext cx="2957053" cy="501997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3" y="2647455"/>
                <a:ext cx="2957053" cy="501997"/>
              </a:xfrm>
              <a:prstGeom prst="rect">
                <a:avLst/>
              </a:prstGeom>
              <a:blipFill>
                <a:blip r:embed="rId7"/>
                <a:stretch>
                  <a:fillRect b="-117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Rectangle 154"/>
              <p:cNvSpPr/>
              <p:nvPr/>
            </p:nvSpPr>
            <p:spPr>
              <a:xfrm>
                <a:off x="650064" y="1371813"/>
                <a:ext cx="2931404" cy="501997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155" name="Rectangle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64" y="1371813"/>
                <a:ext cx="2931404" cy="501997"/>
              </a:xfrm>
              <a:prstGeom prst="rect">
                <a:avLst/>
              </a:prstGeom>
              <a:blipFill>
                <a:blip r:embed="rId8"/>
                <a:stretch>
                  <a:fillRect b="-11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Rectangle 155"/>
              <p:cNvSpPr/>
              <p:nvPr/>
            </p:nvSpPr>
            <p:spPr>
              <a:xfrm>
                <a:off x="650064" y="2009634"/>
                <a:ext cx="2931404" cy="501997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4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156" name="Rectangle 1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64" y="2009634"/>
                <a:ext cx="2931404" cy="501997"/>
              </a:xfrm>
              <a:prstGeom prst="rect">
                <a:avLst/>
              </a:prstGeom>
              <a:blipFill>
                <a:blip r:embed="rId9"/>
                <a:stretch>
                  <a:fillRect b="-11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D826FF0-C014-46DA-9EAF-119B57B3CD43}"/>
                  </a:ext>
                </a:extLst>
              </p:cNvPr>
              <p:cNvSpPr/>
              <p:nvPr/>
            </p:nvSpPr>
            <p:spPr>
              <a:xfrm>
                <a:off x="3950892" y="2098382"/>
                <a:ext cx="3907233" cy="57637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4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4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4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4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4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  <m: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4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4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4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e>
                      </m:d>
                    </m:oMath>
                  </m:oMathPara>
                </a14:m>
                <a:endParaRPr lang="fr-FR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D826FF0-C014-46DA-9EAF-119B57B3C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892" y="2098382"/>
                <a:ext cx="3907233" cy="576376"/>
              </a:xfrm>
              <a:prstGeom prst="rect">
                <a:avLst/>
              </a:prstGeom>
              <a:blipFill>
                <a:blip r:embed="rId10"/>
                <a:stretch>
                  <a:fillRect t="-177320" r="-23484" b="-25773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A32DB15-9623-4D6E-9298-B4BE48A66399}"/>
              </a:ext>
            </a:extLst>
          </p:cNvPr>
          <p:cNvSpPr txBox="1"/>
          <p:nvPr/>
        </p:nvSpPr>
        <p:spPr>
          <a:xfrm>
            <a:off x="4211836" y="3429000"/>
            <a:ext cx="376832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sigmoid</a:t>
            </a:r>
            <a:r>
              <a:rPr lang="fr-MA" dirty="0"/>
              <a:t> (z):</a:t>
            </a:r>
          </a:p>
          <a:p>
            <a:r>
              <a:rPr lang="fr-MA" dirty="0"/>
              <a:t>    return 1/(1 + </a:t>
            </a:r>
            <a:r>
              <a:rPr lang="fr-MA" dirty="0" err="1"/>
              <a:t>np.exp</a:t>
            </a:r>
            <a:r>
              <a:rPr lang="fr-MA" dirty="0"/>
              <a:t>(-z))</a:t>
            </a:r>
          </a:p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sigmoid_derivative</a:t>
            </a:r>
            <a:r>
              <a:rPr lang="fr-MA" dirty="0"/>
              <a:t>(</a:t>
            </a:r>
            <a:r>
              <a:rPr lang="fr-MA" dirty="0" err="1">
                <a:solidFill>
                  <a:srgbClr val="FF0000"/>
                </a:solidFill>
              </a:rPr>
              <a:t>predicted</a:t>
            </a:r>
            <a:r>
              <a:rPr lang="fr-MA" dirty="0"/>
              <a:t>):</a:t>
            </a:r>
          </a:p>
          <a:p>
            <a:r>
              <a:rPr lang="fr-MA" dirty="0"/>
              <a:t>    return </a:t>
            </a:r>
            <a:r>
              <a:rPr lang="fr-MA" dirty="0" err="1">
                <a:solidFill>
                  <a:srgbClr val="FF0000"/>
                </a:solidFill>
              </a:rPr>
              <a:t>predicted</a:t>
            </a:r>
            <a:r>
              <a:rPr lang="fr-MA" dirty="0"/>
              <a:t> * (1 - </a:t>
            </a:r>
            <a:r>
              <a:rPr lang="fr-MA" dirty="0" err="1">
                <a:solidFill>
                  <a:srgbClr val="FF0000"/>
                </a:solidFill>
              </a:rPr>
              <a:t>predicted</a:t>
            </a:r>
            <a:r>
              <a:rPr lang="fr-M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2420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6803D-A4CD-4FD5-9A61-E113D27A84A6}"/>
              </a:ext>
            </a:extLst>
          </p:cNvPr>
          <p:cNvSpPr txBox="1"/>
          <p:nvPr/>
        </p:nvSpPr>
        <p:spPr>
          <a:xfrm>
            <a:off x="171248" y="1114421"/>
            <a:ext cx="411500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/>
              <a:t>De 1 à </a:t>
            </a:r>
            <a:r>
              <a:rPr lang="fr-MA" b="1" dirty="0" err="1"/>
              <a:t>n_epochs</a:t>
            </a:r>
            <a:r>
              <a:rPr lang="fr-MA" b="1" dirty="0"/>
              <a:t> faire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Forward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66FF"/>
                </a:solidFill>
              </a:rPr>
              <a:t>Backward</a:t>
            </a:r>
            <a:r>
              <a:rPr lang="fr-MA" dirty="0">
                <a:solidFill>
                  <a:srgbClr val="0066FF"/>
                </a:solidFill>
              </a:rPr>
              <a:t> </a:t>
            </a:r>
            <a:r>
              <a:rPr lang="fr-MA" dirty="0" err="1">
                <a:solidFill>
                  <a:srgbClr val="0066FF"/>
                </a:solidFill>
              </a:rPr>
              <a:t>pass</a:t>
            </a:r>
            <a:endParaRPr lang="fr-MA" dirty="0">
              <a:solidFill>
                <a:srgbClr val="00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1BCE8-50C9-4630-A694-3F7D89E29C38}"/>
              </a:ext>
            </a:extLst>
          </p:cNvPr>
          <p:cNvSpPr txBox="1"/>
          <p:nvPr/>
        </p:nvSpPr>
        <p:spPr>
          <a:xfrm>
            <a:off x="15024" y="9685"/>
            <a:ext cx="41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Algorithme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/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rgbClr val="0070C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latin typeface="Cambria Math" panose="02040503050406030204" pitchFamily="18" charset="0"/>
                        </a:rPr>
                        <m:t>𝒔𝒖𝒎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  <m:r>
                            <a:rPr lang="fr-FR" sz="16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fr-MA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18FD5B-6981-431E-8F34-82BCB7E94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1139874"/>
                <a:ext cx="1896096" cy="763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77">
            <a:extLst>
              <a:ext uri="{FF2B5EF4-FFF2-40B4-BE49-F238E27FC236}">
                <a16:creationId xmlns:a16="http://schemas.microsoft.com/office/drawing/2014/main" id="{B4840F2B-DDF6-417C-A86B-26CA631E058F}"/>
              </a:ext>
            </a:extLst>
          </p:cNvPr>
          <p:cNvSpPr txBox="1"/>
          <p:nvPr/>
        </p:nvSpPr>
        <p:spPr>
          <a:xfrm>
            <a:off x="5733371" y="364789"/>
            <a:ext cx="201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weights</a:t>
            </a:r>
            <a:endParaRPr lang="fr-FR" b="1" dirty="0"/>
          </a:p>
        </p:txBody>
      </p:sp>
      <p:sp>
        <p:nvSpPr>
          <p:cNvPr id="7" name="ZoneTexte 79">
            <a:extLst>
              <a:ext uri="{FF2B5EF4-FFF2-40B4-BE49-F238E27FC236}">
                <a16:creationId xmlns:a16="http://schemas.microsoft.com/office/drawing/2014/main" id="{D58EDABE-7073-4B9C-8C4C-89874D100887}"/>
              </a:ext>
            </a:extLst>
          </p:cNvPr>
          <p:cNvSpPr txBox="1"/>
          <p:nvPr/>
        </p:nvSpPr>
        <p:spPr>
          <a:xfrm>
            <a:off x="5819727" y="2050065"/>
            <a:ext cx="301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Activation 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 output</a:t>
            </a: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ZoneTexte 80">
            <a:extLst>
              <a:ext uri="{FF2B5EF4-FFF2-40B4-BE49-F238E27FC236}">
                <a16:creationId xmlns:a16="http://schemas.microsoft.com/office/drawing/2014/main" id="{4C7F9280-C181-409E-9E7C-110D9EEBC4B2}"/>
              </a:ext>
            </a:extLst>
          </p:cNvPr>
          <p:cNvSpPr txBox="1"/>
          <p:nvPr/>
        </p:nvSpPr>
        <p:spPr>
          <a:xfrm>
            <a:off x="5876907" y="3052333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error</a:t>
            </a:r>
            <a:r>
              <a:rPr lang="fr-MA" b="1" dirty="0">
                <a:solidFill>
                  <a:srgbClr val="FF3300"/>
                </a:solidFill>
              </a:rPr>
              <a:t>= </a:t>
            </a:r>
            <a:r>
              <a:rPr lang="fr-MA" b="1" dirty="0" err="1">
                <a:solidFill>
                  <a:srgbClr val="FF3300"/>
                </a:solidFill>
              </a:rPr>
              <a:t>desired-predicted</a:t>
            </a:r>
            <a:endParaRPr lang="fr-FR" b="1" dirty="0"/>
          </a:p>
        </p:txBody>
      </p:sp>
      <p:sp>
        <p:nvSpPr>
          <p:cNvPr id="9" name="ZoneTexte 81">
            <a:extLst>
              <a:ext uri="{FF2B5EF4-FFF2-40B4-BE49-F238E27FC236}">
                <a16:creationId xmlns:a16="http://schemas.microsoft.com/office/drawing/2014/main" id="{B3B59A7F-72C1-4EAE-8AEC-7FF5790A9F80}"/>
              </a:ext>
            </a:extLst>
          </p:cNvPr>
          <p:cNvSpPr txBox="1"/>
          <p:nvPr/>
        </p:nvSpPr>
        <p:spPr>
          <a:xfrm>
            <a:off x="5901153" y="3967092"/>
            <a:ext cx="28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Weights</a:t>
            </a:r>
            <a:r>
              <a:rPr lang="fr-MA" b="1" dirty="0"/>
              <a:t> update</a:t>
            </a:r>
            <a:endParaRPr lang="fr-FR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CE118-117A-40EE-B39F-BB22E2E91D4A}"/>
              </a:ext>
            </a:extLst>
          </p:cNvPr>
          <p:cNvSpPr/>
          <p:nvPr/>
        </p:nvSpPr>
        <p:spPr>
          <a:xfrm>
            <a:off x="4471989" y="64224"/>
            <a:ext cx="7215186" cy="66108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/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z="1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2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2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sz="1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2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FR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97B24E-1695-48E3-AF12-386AB4CAF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615" y="3452458"/>
                <a:ext cx="2706391" cy="4380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/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590D97E-EC4D-4D70-A378-50273480FB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98" y="2415122"/>
                <a:ext cx="3515144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86">
            <a:extLst>
              <a:ext uri="{FF2B5EF4-FFF2-40B4-BE49-F238E27FC236}">
                <a16:creationId xmlns:a16="http://schemas.microsoft.com/office/drawing/2014/main" id="{B0E1634D-7B0A-45C1-BB52-BA59943A1B54}"/>
              </a:ext>
            </a:extLst>
          </p:cNvPr>
          <p:cNvSpPr/>
          <p:nvPr/>
        </p:nvSpPr>
        <p:spPr>
          <a:xfrm>
            <a:off x="5447051" y="144888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  <a:endParaRPr lang="fr-FR" dirty="0"/>
          </a:p>
        </p:txBody>
      </p:sp>
      <p:sp>
        <p:nvSpPr>
          <p:cNvPr id="15" name="Ellipse 87">
            <a:extLst>
              <a:ext uri="{FF2B5EF4-FFF2-40B4-BE49-F238E27FC236}">
                <a16:creationId xmlns:a16="http://schemas.microsoft.com/office/drawing/2014/main" id="{E28629DA-5EEC-46BC-9965-4E713183A8B7}"/>
              </a:ext>
            </a:extLst>
          </p:cNvPr>
          <p:cNvSpPr/>
          <p:nvPr/>
        </p:nvSpPr>
        <p:spPr>
          <a:xfrm>
            <a:off x="5382673" y="45680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  <a:endParaRPr lang="fr-FR" dirty="0"/>
          </a:p>
        </p:txBody>
      </p:sp>
      <p:sp>
        <p:nvSpPr>
          <p:cNvPr id="16" name="Ellipse 88">
            <a:extLst>
              <a:ext uri="{FF2B5EF4-FFF2-40B4-BE49-F238E27FC236}">
                <a16:creationId xmlns:a16="http://schemas.microsoft.com/office/drawing/2014/main" id="{917CC3BB-D740-4921-80D4-099EF22DF4A0}"/>
              </a:ext>
            </a:extLst>
          </p:cNvPr>
          <p:cNvSpPr/>
          <p:nvPr/>
        </p:nvSpPr>
        <p:spPr>
          <a:xfrm>
            <a:off x="5465786" y="2156631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  <a:endParaRPr lang="fr-FR" dirty="0"/>
          </a:p>
        </p:txBody>
      </p:sp>
      <p:sp>
        <p:nvSpPr>
          <p:cNvPr id="17" name="Ellipse 89">
            <a:extLst>
              <a:ext uri="{FF2B5EF4-FFF2-40B4-BE49-F238E27FC236}">
                <a16:creationId xmlns:a16="http://schemas.microsoft.com/office/drawing/2014/main" id="{B72EFD78-B45C-49CE-844B-066477BC1CC7}"/>
              </a:ext>
            </a:extLst>
          </p:cNvPr>
          <p:cNvSpPr/>
          <p:nvPr/>
        </p:nvSpPr>
        <p:spPr>
          <a:xfrm>
            <a:off x="5460057" y="3179718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  <a:endParaRPr lang="fr-FR" dirty="0"/>
          </a:p>
        </p:txBody>
      </p:sp>
      <p:sp>
        <p:nvSpPr>
          <p:cNvPr id="18" name="Ellipse 90">
            <a:extLst>
              <a:ext uri="{FF2B5EF4-FFF2-40B4-BE49-F238E27FC236}">
                <a16:creationId xmlns:a16="http://schemas.microsoft.com/office/drawing/2014/main" id="{231C2AED-C8A3-4051-9AB3-FAE57742475E}"/>
              </a:ext>
            </a:extLst>
          </p:cNvPr>
          <p:cNvSpPr/>
          <p:nvPr/>
        </p:nvSpPr>
        <p:spPr>
          <a:xfrm>
            <a:off x="5450617" y="4020707"/>
            <a:ext cx="360000" cy="3600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AAC62-4710-4AB7-AD28-2734200EC2AC}"/>
              </a:ext>
            </a:extLst>
          </p:cNvPr>
          <p:cNvSpPr txBox="1"/>
          <p:nvPr/>
        </p:nvSpPr>
        <p:spPr>
          <a:xfrm>
            <a:off x="5348081" y="809871"/>
            <a:ext cx="613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De 1 à </a:t>
            </a:r>
            <a:r>
              <a:rPr lang="fr-MA" b="1" dirty="0" err="1">
                <a:solidFill>
                  <a:srgbClr val="FF3300"/>
                </a:solidFill>
              </a:rPr>
              <a:t>n_epochs</a:t>
            </a:r>
            <a:r>
              <a:rPr lang="fr-MA" b="1" dirty="0">
                <a:solidFill>
                  <a:srgbClr val="FF3300"/>
                </a:solidFill>
              </a:rPr>
              <a:t> faire</a:t>
            </a:r>
            <a:endParaRPr lang="fr-MA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/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E0977F-743F-457C-A0E7-05A6C8935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80" y="4451826"/>
                <a:ext cx="3746347" cy="6643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/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001AE3-A3D4-4F97-BFEF-45387CEE47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02" y="5906482"/>
                <a:ext cx="4756237" cy="6643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/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137D409-3FFB-4414-B0BF-7307C7AFB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135" y="5158898"/>
                <a:ext cx="3746347" cy="664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B1EDDE-F92A-40C5-98C9-FA1F1A944171}"/>
              </a:ext>
            </a:extLst>
          </p:cNvPr>
          <p:cNvCxnSpPr/>
          <p:nvPr/>
        </p:nvCxnSpPr>
        <p:spPr>
          <a:xfrm>
            <a:off x="5031162" y="524740"/>
            <a:ext cx="0" cy="3456000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8548F1-BFC4-41D0-BC01-8AB2AFFB74C9}"/>
              </a:ext>
            </a:extLst>
          </p:cNvPr>
          <p:cNvCxnSpPr>
            <a:cxnSpLocks/>
          </p:cNvCxnSpPr>
          <p:nvPr/>
        </p:nvCxnSpPr>
        <p:spPr>
          <a:xfrm flipV="1">
            <a:off x="10987088" y="645316"/>
            <a:ext cx="0" cy="3443286"/>
          </a:xfrm>
          <a:prstGeom prst="straightConnector1">
            <a:avLst/>
          </a:prstGeom>
          <a:ln w="38100"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77">
            <a:extLst>
              <a:ext uri="{FF2B5EF4-FFF2-40B4-BE49-F238E27FC236}">
                <a16:creationId xmlns:a16="http://schemas.microsoft.com/office/drawing/2014/main" id="{C1757018-F147-4F49-8612-356FDA5E737F}"/>
              </a:ext>
            </a:extLst>
          </p:cNvPr>
          <p:cNvSpPr txBox="1"/>
          <p:nvPr/>
        </p:nvSpPr>
        <p:spPr>
          <a:xfrm>
            <a:off x="5562673" y="18504"/>
            <a:ext cx="281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Initialize</a:t>
            </a:r>
            <a:r>
              <a:rPr lang="fr-MA" b="1" dirty="0"/>
              <a:t> </a:t>
            </a:r>
            <a:r>
              <a:rPr lang="fr-MA" b="1" dirty="0" err="1"/>
              <a:t>learning</a:t>
            </a:r>
            <a:r>
              <a:rPr lang="fr-MA" b="1" dirty="0"/>
              <a:t> rate</a:t>
            </a:r>
            <a:endParaRPr lang="fr-FR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AEA926-2E9E-43D1-8B8B-A4027C5C2D79}"/>
              </a:ext>
            </a:extLst>
          </p:cNvPr>
          <p:cNvSpPr/>
          <p:nvPr/>
        </p:nvSpPr>
        <p:spPr>
          <a:xfrm>
            <a:off x="-8082" y="5116175"/>
            <a:ext cx="469519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fr-MA" b="1" dirty="0">
                <a:solidFill>
                  <a:srgbClr val="0070C0"/>
                </a:solidFill>
              </a:rPr>
              <a:t>W</a:t>
            </a:r>
            <a:r>
              <a:rPr lang="fr-MA" b="1" baseline="-25000" dirty="0">
                <a:solidFill>
                  <a:srgbClr val="0070C0"/>
                </a:solidFill>
              </a:rPr>
              <a:t>i</a:t>
            </a:r>
            <a:r>
              <a:rPr lang="fr-MA" b="1" dirty="0"/>
              <a:t> =</a:t>
            </a:r>
            <a:r>
              <a:rPr lang="fr-MA" b="1" dirty="0" err="1">
                <a:solidFill>
                  <a:srgbClr val="0070C0"/>
                </a:solidFill>
              </a:rPr>
              <a:t>w</a:t>
            </a:r>
            <a:r>
              <a:rPr lang="fr-MA" b="1" baseline="-25000" dirty="0" err="1">
                <a:solidFill>
                  <a:srgbClr val="0070C0"/>
                </a:solidFill>
              </a:rPr>
              <a:t>i</a:t>
            </a:r>
            <a:r>
              <a:rPr lang="fr-MA" b="1" dirty="0"/>
              <a:t>+ </a:t>
            </a:r>
            <a:r>
              <a:rPr lang="fr-MA" b="1" dirty="0">
                <a:solidFill>
                  <a:srgbClr val="FF0000"/>
                </a:solidFill>
              </a:rPr>
              <a:t>(</a:t>
            </a:r>
            <a:r>
              <a:rPr lang="fr-MA" b="1" dirty="0" err="1">
                <a:solidFill>
                  <a:srgbClr val="FF0000"/>
                </a:solidFill>
              </a:rPr>
              <a:t>desired-predicted</a:t>
            </a:r>
            <a:r>
              <a:rPr lang="fr-MA" b="1" dirty="0">
                <a:solidFill>
                  <a:srgbClr val="FF0000"/>
                </a:solidFill>
              </a:rPr>
              <a:t>)</a:t>
            </a:r>
            <a:r>
              <a:rPr lang="fr-MA" b="1" dirty="0"/>
              <a:t>* Xi * </a:t>
            </a:r>
            <a:r>
              <a:rPr lang="fr-MA" b="1" dirty="0" err="1">
                <a:solidFill>
                  <a:srgbClr val="0070C0"/>
                </a:solidFill>
              </a:rPr>
              <a:t>learning_rate</a:t>
            </a:r>
            <a:endParaRPr lang="fr-MA" b="1" dirty="0">
              <a:solidFill>
                <a:srgbClr val="0070C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41E09C-94BE-413E-AF81-9F4B4BAA3DA9}"/>
              </a:ext>
            </a:extLst>
          </p:cNvPr>
          <p:cNvSpPr/>
          <p:nvPr/>
        </p:nvSpPr>
        <p:spPr>
          <a:xfrm>
            <a:off x="51863" y="4047164"/>
            <a:ext cx="4106152" cy="6995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425D46D-DBB6-4457-BE05-105A0B2F33D0}"/>
                  </a:ext>
                </a:extLst>
              </p:cNvPr>
              <p:cNvSpPr/>
              <p:nvPr/>
            </p:nvSpPr>
            <p:spPr>
              <a:xfrm>
                <a:off x="0" y="4184928"/>
                <a:ext cx="764953" cy="497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b="1" dirty="0"/>
                  <a:t>=</a:t>
                </a: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425D46D-DBB6-4457-BE05-105A0B2F3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84928"/>
                <a:ext cx="764953" cy="497059"/>
              </a:xfrm>
              <a:prstGeom prst="rect">
                <a:avLst/>
              </a:prstGeom>
              <a:blipFill>
                <a:blip r:embed="rId8"/>
                <a:stretch>
                  <a:fillRect r="-6400" b="-8642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447BEA2-D907-43F9-B7D0-20BC33E4177C}"/>
                  </a:ext>
                </a:extLst>
              </p:cNvPr>
              <p:cNvSpPr/>
              <p:nvPr/>
            </p:nvSpPr>
            <p:spPr>
              <a:xfrm>
                <a:off x="698612" y="4150653"/>
                <a:ext cx="1202573" cy="5382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4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447BEA2-D907-43F9-B7D0-20BC33E41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12" y="4150653"/>
                <a:ext cx="1202573" cy="538289"/>
              </a:xfrm>
              <a:prstGeom prst="rect">
                <a:avLst/>
              </a:prstGeom>
              <a:blipFill>
                <a:blip r:embed="rId9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DA9A7B7-58F8-44E7-87D1-F9A71CB7316D}"/>
                  </a:ext>
                </a:extLst>
              </p:cNvPr>
              <p:cNvSpPr/>
              <p:nvPr/>
            </p:nvSpPr>
            <p:spPr>
              <a:xfrm>
                <a:off x="1993918" y="4138829"/>
                <a:ext cx="1205778" cy="50199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400" b="1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DA9A7B7-58F8-44E7-87D1-F9A71CB73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918" y="4138829"/>
                <a:ext cx="1205778" cy="501997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3659C72-6F71-4516-8F69-4C55E7D9A957}"/>
                  </a:ext>
                </a:extLst>
              </p:cNvPr>
              <p:cNvSpPr/>
              <p:nvPr/>
            </p:nvSpPr>
            <p:spPr>
              <a:xfrm>
                <a:off x="3342953" y="4100958"/>
                <a:ext cx="636713" cy="560538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3659C72-6F71-4516-8F69-4C55E7D9A9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953" y="4100958"/>
                <a:ext cx="636713" cy="5605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ZoneTexte 144">
            <a:extLst>
              <a:ext uri="{FF2B5EF4-FFF2-40B4-BE49-F238E27FC236}">
                <a16:creationId xmlns:a16="http://schemas.microsoft.com/office/drawing/2014/main" id="{DABD2D8B-542C-4B2C-B6D5-3E8EA3D13F77}"/>
              </a:ext>
            </a:extLst>
          </p:cNvPr>
          <p:cNvSpPr txBox="1"/>
          <p:nvPr/>
        </p:nvSpPr>
        <p:spPr>
          <a:xfrm>
            <a:off x="1805645" y="4287170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  <p:sp>
        <p:nvSpPr>
          <p:cNvPr id="36" name="ZoneTexte 145">
            <a:extLst>
              <a:ext uri="{FF2B5EF4-FFF2-40B4-BE49-F238E27FC236}">
                <a16:creationId xmlns:a16="http://schemas.microsoft.com/office/drawing/2014/main" id="{31435BF4-851A-4547-AD1E-AB59F8F35D1F}"/>
              </a:ext>
            </a:extLst>
          </p:cNvPr>
          <p:cNvSpPr txBox="1"/>
          <p:nvPr/>
        </p:nvSpPr>
        <p:spPr>
          <a:xfrm>
            <a:off x="3108239" y="4244184"/>
            <a:ext cx="2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08280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 animBg="1"/>
      <p:bldP spid="33" grpId="0" animBg="1"/>
      <p:bldP spid="34" grpId="0" animBg="1"/>
      <p:bldP spid="35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9285" y="0"/>
            <a:ext cx="12182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 propagation </a:t>
            </a:r>
            <a:r>
              <a:rPr lang="fr-MA" sz="3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algorithm</a:t>
            </a:r>
            <a:endParaRPr lang="fr-MA" sz="3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fr-MA" sz="3200" b="1" dirty="0">
                <a:solidFill>
                  <a:srgbClr val="0065FA"/>
                </a:solidFill>
              </a:rPr>
              <a:t>Exemple d’application numérique:</a:t>
            </a:r>
            <a:endParaRPr lang="fr-FR" sz="3200" b="1" dirty="0">
              <a:solidFill>
                <a:srgbClr val="0065FA"/>
              </a:solidFill>
            </a:endParaRPr>
          </a:p>
        </p:txBody>
      </p:sp>
      <p:graphicFrame>
        <p:nvGraphicFramePr>
          <p:cNvPr id="47" name="Tableau 109">
            <a:extLst>
              <a:ext uri="{FF2B5EF4-FFF2-40B4-BE49-F238E27FC236}">
                <a16:creationId xmlns:a16="http://schemas.microsoft.com/office/drawing/2014/main" id="{B48F3B6D-76D3-4558-A437-431F572CF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288532"/>
              </p:ext>
            </p:extLst>
          </p:nvPr>
        </p:nvGraphicFramePr>
        <p:xfrm>
          <a:off x="280747" y="1503574"/>
          <a:ext cx="2902593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1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35" name="ZoneTexte 14">
            <a:extLst>
              <a:ext uri="{FF2B5EF4-FFF2-40B4-BE49-F238E27FC236}">
                <a16:creationId xmlns:a16="http://schemas.microsoft.com/office/drawing/2014/main" id="{78256D64-C9A0-45AD-B50B-10DF6B8CA85A}"/>
              </a:ext>
            </a:extLst>
          </p:cNvPr>
          <p:cNvSpPr txBox="1"/>
          <p:nvPr/>
        </p:nvSpPr>
        <p:spPr>
          <a:xfrm>
            <a:off x="9285" y="3705864"/>
            <a:ext cx="1023485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Initialiser les poids de manière aléatoire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Mettre à jour les poids en appliquant l’algorithme de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backpropabation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pour minimiser la fonction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Loss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Tourner l’algorithme en deux itérations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256535-5048-4219-8F46-57843D0B51BB}"/>
              </a:ext>
            </a:extLst>
          </p:cNvPr>
          <p:cNvSpPr txBox="1"/>
          <p:nvPr/>
        </p:nvSpPr>
        <p:spPr>
          <a:xfrm>
            <a:off x="157163" y="2695070"/>
            <a:ext cx="3026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  <p:sp>
        <p:nvSpPr>
          <p:cNvPr id="30" name="Ellipse 76">
            <a:extLst>
              <a:ext uri="{FF2B5EF4-FFF2-40B4-BE49-F238E27FC236}">
                <a16:creationId xmlns:a16="http://schemas.microsoft.com/office/drawing/2014/main" id="{A0C8A953-BE01-4BAB-9107-0091337E485E}"/>
              </a:ext>
            </a:extLst>
          </p:cNvPr>
          <p:cNvSpPr/>
          <p:nvPr/>
        </p:nvSpPr>
        <p:spPr>
          <a:xfrm>
            <a:off x="6480667" y="163543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Ellipse 94">
            <a:extLst>
              <a:ext uri="{FF2B5EF4-FFF2-40B4-BE49-F238E27FC236}">
                <a16:creationId xmlns:a16="http://schemas.microsoft.com/office/drawing/2014/main" id="{AA615842-9A17-44D4-9868-3D79566CA3F4}"/>
              </a:ext>
            </a:extLst>
          </p:cNvPr>
          <p:cNvSpPr/>
          <p:nvPr/>
        </p:nvSpPr>
        <p:spPr>
          <a:xfrm>
            <a:off x="9082214" y="1692225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2" name="Connecteur droit avec flèche 95">
            <a:extLst>
              <a:ext uri="{FF2B5EF4-FFF2-40B4-BE49-F238E27FC236}">
                <a16:creationId xmlns:a16="http://schemas.microsoft.com/office/drawing/2014/main" id="{5B3EB4B5-16E2-48C1-B271-85E32D836B38}"/>
              </a:ext>
            </a:extLst>
          </p:cNvPr>
          <p:cNvCxnSpPr/>
          <p:nvPr/>
        </p:nvCxnSpPr>
        <p:spPr>
          <a:xfrm flipV="1">
            <a:off x="10037557" y="21220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96">
            <a:extLst>
              <a:ext uri="{FF2B5EF4-FFF2-40B4-BE49-F238E27FC236}">
                <a16:creationId xmlns:a16="http://schemas.microsoft.com/office/drawing/2014/main" id="{7697D68A-9099-4D3B-BAD0-A03F194AD460}"/>
              </a:ext>
            </a:extLst>
          </p:cNvPr>
          <p:cNvCxnSpPr>
            <a:stCxn id="31" idx="0"/>
            <a:endCxn id="31" idx="4"/>
          </p:cNvCxnSpPr>
          <p:nvPr/>
        </p:nvCxnSpPr>
        <p:spPr>
          <a:xfrm>
            <a:off x="9559886" y="1692225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97">
            <a:extLst>
              <a:ext uri="{FF2B5EF4-FFF2-40B4-BE49-F238E27FC236}">
                <a16:creationId xmlns:a16="http://schemas.microsoft.com/office/drawing/2014/main" id="{9DC652B8-40C5-479D-AAFD-97CC70C943C5}"/>
              </a:ext>
            </a:extLst>
          </p:cNvPr>
          <p:cNvSpPr txBox="1"/>
          <p:nvPr/>
        </p:nvSpPr>
        <p:spPr>
          <a:xfrm>
            <a:off x="9528575" y="1989254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7" name="ZoneTexte 98">
            <a:extLst>
              <a:ext uri="{FF2B5EF4-FFF2-40B4-BE49-F238E27FC236}">
                <a16:creationId xmlns:a16="http://schemas.microsoft.com/office/drawing/2014/main" id="{4D102DD8-FA71-429A-8C08-47A46E7C7F2F}"/>
              </a:ext>
            </a:extLst>
          </p:cNvPr>
          <p:cNvSpPr txBox="1"/>
          <p:nvPr/>
        </p:nvSpPr>
        <p:spPr>
          <a:xfrm>
            <a:off x="9122909" y="1987143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rgbClr val="0070C0"/>
                </a:solidFill>
              </a:rPr>
              <a:t>sum</a:t>
            </a:r>
            <a:endParaRPr lang="fr-FR" sz="1200" b="1" dirty="0">
              <a:solidFill>
                <a:srgbClr val="0070C0"/>
              </a:solidFill>
            </a:endParaRPr>
          </a:p>
        </p:txBody>
      </p:sp>
      <p:sp>
        <p:nvSpPr>
          <p:cNvPr id="38" name="Ellipse 101">
            <a:extLst>
              <a:ext uri="{FF2B5EF4-FFF2-40B4-BE49-F238E27FC236}">
                <a16:creationId xmlns:a16="http://schemas.microsoft.com/office/drawing/2014/main" id="{33F75187-FAC3-4535-A0C0-3AEA0E7A7936}"/>
              </a:ext>
            </a:extLst>
          </p:cNvPr>
          <p:cNvSpPr/>
          <p:nvPr/>
        </p:nvSpPr>
        <p:spPr>
          <a:xfrm>
            <a:off x="6494315" y="26567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ZoneTexte 102">
            <a:extLst>
              <a:ext uri="{FF2B5EF4-FFF2-40B4-BE49-F238E27FC236}">
                <a16:creationId xmlns:a16="http://schemas.microsoft.com/office/drawing/2014/main" id="{9E2DF91D-E519-4A98-ACF8-0F5D9F33F5AA}"/>
              </a:ext>
            </a:extLst>
          </p:cNvPr>
          <p:cNvSpPr txBox="1"/>
          <p:nvPr/>
        </p:nvSpPr>
        <p:spPr>
          <a:xfrm>
            <a:off x="9121681" y="1298859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03224B-0AB7-4A42-8028-41A23E5D9559}"/>
              </a:ext>
            </a:extLst>
          </p:cNvPr>
          <p:cNvSpPr/>
          <p:nvPr/>
        </p:nvSpPr>
        <p:spPr>
          <a:xfrm>
            <a:off x="6518470" y="1653589"/>
            <a:ext cx="6887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ADFCEE-6778-44B9-A655-C5C950BB81B3}"/>
              </a:ext>
            </a:extLst>
          </p:cNvPr>
          <p:cNvSpPr/>
          <p:nvPr/>
        </p:nvSpPr>
        <p:spPr>
          <a:xfrm>
            <a:off x="6569278" y="269912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2" name="Connecteur droit 106">
            <a:extLst>
              <a:ext uri="{FF2B5EF4-FFF2-40B4-BE49-F238E27FC236}">
                <a16:creationId xmlns:a16="http://schemas.microsoft.com/office/drawing/2014/main" id="{101CD29F-EE69-4B5A-AF76-F417849E3A24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8301359" y="1568872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107">
            <a:extLst>
              <a:ext uri="{FF2B5EF4-FFF2-40B4-BE49-F238E27FC236}">
                <a16:creationId xmlns:a16="http://schemas.microsoft.com/office/drawing/2014/main" id="{D65AD0E0-2B82-49C7-A3C6-28AF77281185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7092667" y="1869433"/>
            <a:ext cx="1989547" cy="27316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108">
            <a:extLst>
              <a:ext uri="{FF2B5EF4-FFF2-40B4-BE49-F238E27FC236}">
                <a16:creationId xmlns:a16="http://schemas.microsoft.com/office/drawing/2014/main" id="{BAB5911F-B4FB-4ECE-9D88-337F2D65B8BB}"/>
              </a:ext>
            </a:extLst>
          </p:cNvPr>
          <p:cNvCxnSpPr>
            <a:cxnSpLocks/>
            <a:stCxn id="38" idx="6"/>
            <a:endCxn id="31" idx="2"/>
          </p:cNvCxnSpPr>
          <p:nvPr/>
        </p:nvCxnSpPr>
        <p:spPr>
          <a:xfrm flipV="1">
            <a:off x="7106315" y="2142601"/>
            <a:ext cx="1975899" cy="74818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21F7EF7-5DAE-4C0D-A615-4E16D0D8B045}"/>
              </a:ext>
            </a:extLst>
          </p:cNvPr>
          <p:cNvSpPr/>
          <p:nvPr/>
        </p:nvSpPr>
        <p:spPr>
          <a:xfrm>
            <a:off x="6245870" y="1205477"/>
            <a:ext cx="5018252" cy="1969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105">
            <a:extLst>
              <a:ext uri="{FF2B5EF4-FFF2-40B4-BE49-F238E27FC236}">
                <a16:creationId xmlns:a16="http://schemas.microsoft.com/office/drawing/2014/main" id="{43DAADFA-3039-4C07-92AE-718489E06074}"/>
              </a:ext>
            </a:extLst>
          </p:cNvPr>
          <p:cNvSpPr txBox="1"/>
          <p:nvPr/>
        </p:nvSpPr>
        <p:spPr>
          <a:xfrm>
            <a:off x="9977474" y="1658522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F506F6-D775-44D8-8B8A-2533F40541CA}"/>
              </a:ext>
            </a:extLst>
          </p:cNvPr>
          <p:cNvSpPr txBox="1"/>
          <p:nvPr/>
        </p:nvSpPr>
        <p:spPr>
          <a:xfrm>
            <a:off x="7651203" y="1199966"/>
            <a:ext cx="1106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8EA993-5EEA-41A4-9874-BA0EFD4244AA}"/>
              </a:ext>
            </a:extLst>
          </p:cNvPr>
          <p:cNvSpPr txBox="1"/>
          <p:nvPr/>
        </p:nvSpPr>
        <p:spPr>
          <a:xfrm>
            <a:off x="7302235" y="1638040"/>
            <a:ext cx="14018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6FE93F-6F54-403D-8222-A2269F0A05D8}"/>
              </a:ext>
            </a:extLst>
          </p:cNvPr>
          <p:cNvSpPr txBox="1"/>
          <p:nvPr/>
        </p:nvSpPr>
        <p:spPr>
          <a:xfrm>
            <a:off x="7245636" y="2282671"/>
            <a:ext cx="112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b="1" dirty="0">
                <a:solidFill>
                  <a:srgbClr val="0070C0"/>
                </a:solidFill>
              </a:rPr>
              <a:t>w2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21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AFA1C-0160-4CB8-B359-837D6B8D78EE}"/>
              </a:ext>
            </a:extLst>
          </p:cNvPr>
          <p:cNvSpPr/>
          <p:nvPr/>
        </p:nvSpPr>
        <p:spPr>
          <a:xfrm>
            <a:off x="4575261" y="3440570"/>
            <a:ext cx="3363193" cy="6995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/>
              <p:nvPr/>
            </p:nvSpPr>
            <p:spPr>
              <a:xfrm>
                <a:off x="4523398" y="3578334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3578334"/>
                <a:ext cx="734369" cy="407099"/>
              </a:xfrm>
              <a:prstGeom prst="rect">
                <a:avLst/>
              </a:prstGeom>
              <a:blipFill>
                <a:blip r:embed="rId2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/>
              <p:nvPr/>
            </p:nvSpPr>
            <p:spPr>
              <a:xfrm>
                <a:off x="5121994" y="3544059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994" y="3544059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/>
              <p:nvPr/>
            </p:nvSpPr>
            <p:spPr>
              <a:xfrm>
                <a:off x="6217273" y="3532235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273" y="3532235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/>
              <p:nvPr/>
            </p:nvSpPr>
            <p:spPr>
              <a:xfrm>
                <a:off x="7351989" y="3494364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989" y="3494364"/>
                <a:ext cx="501994" cy="443455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144">
            <a:extLst>
              <a:ext uri="{FF2B5EF4-FFF2-40B4-BE49-F238E27FC236}">
                <a16:creationId xmlns:a16="http://schemas.microsoft.com/office/drawing/2014/main" id="{3CF9FA88-3CFD-4F25-85FF-44310EAB013F}"/>
              </a:ext>
            </a:extLst>
          </p:cNvPr>
          <p:cNvSpPr txBox="1"/>
          <p:nvPr/>
        </p:nvSpPr>
        <p:spPr>
          <a:xfrm>
            <a:off x="6028999" y="3680576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0" name="ZoneTexte 145">
            <a:extLst>
              <a:ext uri="{FF2B5EF4-FFF2-40B4-BE49-F238E27FC236}">
                <a16:creationId xmlns:a16="http://schemas.microsoft.com/office/drawing/2014/main" id="{1DA6A01D-970E-400B-AD1D-4051F2CB9C1D}"/>
              </a:ext>
            </a:extLst>
          </p:cNvPr>
          <p:cNvSpPr txBox="1"/>
          <p:nvPr/>
        </p:nvSpPr>
        <p:spPr>
          <a:xfrm>
            <a:off x="7117275" y="3637590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6A05-BACC-4BDB-B86C-0ECD9D5E90AA}"/>
              </a:ext>
            </a:extLst>
          </p:cNvPr>
          <p:cNvSpPr/>
          <p:nvPr/>
        </p:nvSpPr>
        <p:spPr>
          <a:xfrm>
            <a:off x="4575261" y="5469608"/>
            <a:ext cx="3363193" cy="7013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/>
              <p:nvPr/>
            </p:nvSpPr>
            <p:spPr>
              <a:xfrm>
                <a:off x="4523398" y="560737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5607373"/>
                <a:ext cx="734369" cy="407099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/>
              <p:nvPr/>
            </p:nvSpPr>
            <p:spPr>
              <a:xfrm>
                <a:off x="5136282" y="557309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82" y="5573098"/>
                <a:ext cx="943661" cy="442750"/>
              </a:xfrm>
              <a:prstGeom prst="rect">
                <a:avLst/>
              </a:prstGeom>
              <a:blipFill>
                <a:blip r:embed="rId7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/>
              <p:nvPr/>
            </p:nvSpPr>
            <p:spPr>
              <a:xfrm>
                <a:off x="6188698" y="556127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698" y="556127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/>
              <p:nvPr/>
            </p:nvSpPr>
            <p:spPr>
              <a:xfrm>
                <a:off x="7303103" y="5539306"/>
                <a:ext cx="608178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103" y="5539306"/>
                <a:ext cx="608178" cy="443455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08">
            <a:extLst>
              <a:ext uri="{FF2B5EF4-FFF2-40B4-BE49-F238E27FC236}">
                <a16:creationId xmlns:a16="http://schemas.microsoft.com/office/drawing/2014/main" id="{275C56FC-AC9A-46EA-AF19-6E203C791CF7}"/>
              </a:ext>
            </a:extLst>
          </p:cNvPr>
          <p:cNvSpPr txBox="1"/>
          <p:nvPr/>
        </p:nvSpPr>
        <p:spPr>
          <a:xfrm>
            <a:off x="6000424" y="570961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7" name="ZoneTexte 109">
            <a:extLst>
              <a:ext uri="{FF2B5EF4-FFF2-40B4-BE49-F238E27FC236}">
                <a16:creationId xmlns:a16="http://schemas.microsoft.com/office/drawing/2014/main" id="{A7C2FE6C-D6DA-49A9-9913-5DC420BB2301}"/>
              </a:ext>
            </a:extLst>
          </p:cNvPr>
          <p:cNvSpPr txBox="1"/>
          <p:nvPr/>
        </p:nvSpPr>
        <p:spPr>
          <a:xfrm>
            <a:off x="7088701" y="566662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AC7AF-5D22-4762-B95F-D4B99C2F4E7E}"/>
              </a:ext>
            </a:extLst>
          </p:cNvPr>
          <p:cNvSpPr/>
          <p:nvPr/>
        </p:nvSpPr>
        <p:spPr>
          <a:xfrm>
            <a:off x="4575261" y="4475639"/>
            <a:ext cx="3363193" cy="727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/>
              <p:nvPr/>
            </p:nvSpPr>
            <p:spPr>
              <a:xfrm>
                <a:off x="4523398" y="461340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398" y="4613403"/>
                <a:ext cx="734369" cy="407099"/>
              </a:xfrm>
              <a:prstGeom prst="rect">
                <a:avLst/>
              </a:prstGeom>
              <a:blipFill>
                <a:blip r:embed="rId9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/>
              <p:nvPr/>
            </p:nvSpPr>
            <p:spPr>
              <a:xfrm>
                <a:off x="5107708" y="457912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708" y="4579128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/>
              <p:nvPr/>
            </p:nvSpPr>
            <p:spPr>
              <a:xfrm>
                <a:off x="6202986" y="456730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986" y="456730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/>
              <p:nvPr/>
            </p:nvSpPr>
            <p:spPr>
              <a:xfrm>
                <a:off x="7294839" y="4529433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839" y="4529433"/>
                <a:ext cx="501994" cy="443455"/>
              </a:xfrm>
              <a:prstGeom prst="rect">
                <a:avLst/>
              </a:prstGeom>
              <a:blipFill>
                <a:blip r:embed="rId1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151">
            <a:extLst>
              <a:ext uri="{FF2B5EF4-FFF2-40B4-BE49-F238E27FC236}">
                <a16:creationId xmlns:a16="http://schemas.microsoft.com/office/drawing/2014/main" id="{F5653B02-C89A-456B-8677-C46AC8B4EE1B}"/>
              </a:ext>
            </a:extLst>
          </p:cNvPr>
          <p:cNvSpPr txBox="1"/>
          <p:nvPr/>
        </p:nvSpPr>
        <p:spPr>
          <a:xfrm>
            <a:off x="6014712" y="471564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24" name="ZoneTexte 152">
            <a:extLst>
              <a:ext uri="{FF2B5EF4-FFF2-40B4-BE49-F238E27FC236}">
                <a16:creationId xmlns:a16="http://schemas.microsoft.com/office/drawing/2014/main" id="{48BBAD94-13AF-4A30-A9A5-A3AB52AB810D}"/>
              </a:ext>
            </a:extLst>
          </p:cNvPr>
          <p:cNvSpPr txBox="1"/>
          <p:nvPr/>
        </p:nvSpPr>
        <p:spPr>
          <a:xfrm>
            <a:off x="7060125" y="467265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/>
              <p:nvPr/>
            </p:nvSpPr>
            <p:spPr>
              <a:xfrm>
                <a:off x="159911" y="3524546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3524546"/>
                <a:ext cx="2959977" cy="5371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/>
              <p:nvPr/>
            </p:nvSpPr>
            <p:spPr>
              <a:xfrm>
                <a:off x="159911" y="5089082"/>
                <a:ext cx="3657860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5089082"/>
                <a:ext cx="3657860" cy="537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/>
              <p:nvPr/>
            </p:nvSpPr>
            <p:spPr>
              <a:xfrm>
                <a:off x="159911" y="4333330"/>
                <a:ext cx="2959977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333330"/>
                <a:ext cx="2959977" cy="537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llipse 76">
            <a:extLst>
              <a:ext uri="{FF2B5EF4-FFF2-40B4-BE49-F238E27FC236}">
                <a16:creationId xmlns:a16="http://schemas.microsoft.com/office/drawing/2014/main" id="{22C6FCDE-ADAA-40BC-988C-34E1F02E9242}"/>
              </a:ext>
            </a:extLst>
          </p:cNvPr>
          <p:cNvSpPr/>
          <p:nvPr/>
        </p:nvSpPr>
        <p:spPr>
          <a:xfrm>
            <a:off x="4835355" y="114030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Ellipse 77">
            <a:extLst>
              <a:ext uri="{FF2B5EF4-FFF2-40B4-BE49-F238E27FC236}">
                <a16:creationId xmlns:a16="http://schemas.microsoft.com/office/drawing/2014/main" id="{0A3C950A-8E43-42E9-8A87-65403A533899}"/>
              </a:ext>
            </a:extLst>
          </p:cNvPr>
          <p:cNvSpPr/>
          <p:nvPr/>
        </p:nvSpPr>
        <p:spPr>
          <a:xfrm>
            <a:off x="5936047" y="562663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 err="1">
                <a:solidFill>
                  <a:srgbClr val="0070C0"/>
                </a:solidFill>
              </a:rPr>
              <a:t>bias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1" name="Ellipse 78">
            <a:extLst>
              <a:ext uri="{FF2B5EF4-FFF2-40B4-BE49-F238E27FC236}">
                <a16:creationId xmlns:a16="http://schemas.microsoft.com/office/drawing/2014/main" id="{CBADF332-DEF9-4C6E-A366-EE9A94817903}"/>
              </a:ext>
            </a:extLst>
          </p:cNvPr>
          <p:cNvSpPr/>
          <p:nvPr/>
        </p:nvSpPr>
        <p:spPr>
          <a:xfrm>
            <a:off x="5969481" y="1115457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w1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2" name="Ellipse 80">
            <a:extLst>
              <a:ext uri="{FF2B5EF4-FFF2-40B4-BE49-F238E27FC236}">
                <a16:creationId xmlns:a16="http://schemas.microsoft.com/office/drawing/2014/main" id="{F8E7EE9D-82C5-4B28-A43D-E6E7BEE21E2F}"/>
              </a:ext>
            </a:extLst>
          </p:cNvPr>
          <p:cNvSpPr/>
          <p:nvPr/>
        </p:nvSpPr>
        <p:spPr>
          <a:xfrm>
            <a:off x="6010425" y="1711225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w2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3" name="Ellipse 94">
            <a:extLst>
              <a:ext uri="{FF2B5EF4-FFF2-40B4-BE49-F238E27FC236}">
                <a16:creationId xmlns:a16="http://schemas.microsoft.com/office/drawing/2014/main" id="{7ADFE418-34A4-4FC0-B8F6-A4103F5A1DEE}"/>
              </a:ext>
            </a:extLst>
          </p:cNvPr>
          <p:cNvSpPr/>
          <p:nvPr/>
        </p:nvSpPr>
        <p:spPr>
          <a:xfrm>
            <a:off x="7436902" y="938016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4" name="Connecteur droit avec flèche 95">
            <a:extLst>
              <a:ext uri="{FF2B5EF4-FFF2-40B4-BE49-F238E27FC236}">
                <a16:creationId xmlns:a16="http://schemas.microsoft.com/office/drawing/2014/main" id="{83E38475-278C-451D-B289-64453630F5A9}"/>
              </a:ext>
            </a:extLst>
          </p:cNvPr>
          <p:cNvCxnSpPr/>
          <p:nvPr/>
        </p:nvCxnSpPr>
        <p:spPr>
          <a:xfrm flipV="1">
            <a:off x="8392245" y="136787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96">
            <a:extLst>
              <a:ext uri="{FF2B5EF4-FFF2-40B4-BE49-F238E27FC236}">
                <a16:creationId xmlns:a16="http://schemas.microsoft.com/office/drawing/2014/main" id="{24246B42-7D81-453C-BE7A-131F5F734251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7914574" y="938016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97">
            <a:extLst>
              <a:ext uri="{FF2B5EF4-FFF2-40B4-BE49-F238E27FC236}">
                <a16:creationId xmlns:a16="http://schemas.microsoft.com/office/drawing/2014/main" id="{0C06CCA3-2C79-4BBC-A27A-8670ADCA33BF}"/>
              </a:ext>
            </a:extLst>
          </p:cNvPr>
          <p:cNvSpPr txBox="1"/>
          <p:nvPr/>
        </p:nvSpPr>
        <p:spPr>
          <a:xfrm>
            <a:off x="7883263" y="1235045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7" name="ZoneTexte 98">
            <a:extLst>
              <a:ext uri="{FF2B5EF4-FFF2-40B4-BE49-F238E27FC236}">
                <a16:creationId xmlns:a16="http://schemas.microsoft.com/office/drawing/2014/main" id="{2B6F50B3-74E8-4293-819B-90246597F258}"/>
              </a:ext>
            </a:extLst>
          </p:cNvPr>
          <p:cNvSpPr txBox="1"/>
          <p:nvPr/>
        </p:nvSpPr>
        <p:spPr>
          <a:xfrm>
            <a:off x="7477597" y="1232934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38" name="Connecteur droit avec flèche 99">
            <a:extLst>
              <a:ext uri="{FF2B5EF4-FFF2-40B4-BE49-F238E27FC236}">
                <a16:creationId xmlns:a16="http://schemas.microsoft.com/office/drawing/2014/main" id="{4BB4B97F-7E00-4DB9-A783-7EDAE33A6F08}"/>
              </a:ext>
            </a:extLst>
          </p:cNvPr>
          <p:cNvCxnSpPr>
            <a:stCxn id="29" idx="6"/>
            <a:endCxn id="31" idx="2"/>
          </p:cNvCxnSpPr>
          <p:nvPr/>
        </p:nvCxnSpPr>
        <p:spPr>
          <a:xfrm flipV="1">
            <a:off x="5447355" y="1367457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00">
            <a:extLst>
              <a:ext uri="{FF2B5EF4-FFF2-40B4-BE49-F238E27FC236}">
                <a16:creationId xmlns:a16="http://schemas.microsoft.com/office/drawing/2014/main" id="{1A23C056-1107-41F9-B99D-331BE3F11C94}"/>
              </a:ext>
            </a:extLst>
          </p:cNvPr>
          <p:cNvCxnSpPr>
            <a:stCxn id="40" idx="6"/>
            <a:endCxn id="32" idx="2"/>
          </p:cNvCxnSpPr>
          <p:nvPr/>
        </p:nvCxnSpPr>
        <p:spPr>
          <a:xfrm flipV="1">
            <a:off x="5461003" y="1963225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01">
            <a:extLst>
              <a:ext uri="{FF2B5EF4-FFF2-40B4-BE49-F238E27FC236}">
                <a16:creationId xmlns:a16="http://schemas.microsoft.com/office/drawing/2014/main" id="{25052131-321E-4CE1-B662-A527FC560DA1}"/>
              </a:ext>
            </a:extLst>
          </p:cNvPr>
          <p:cNvSpPr/>
          <p:nvPr/>
        </p:nvSpPr>
        <p:spPr>
          <a:xfrm>
            <a:off x="4849003" y="173493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ZoneTexte 102">
            <a:extLst>
              <a:ext uri="{FF2B5EF4-FFF2-40B4-BE49-F238E27FC236}">
                <a16:creationId xmlns:a16="http://schemas.microsoft.com/office/drawing/2014/main" id="{C5230C8F-7A89-4D8D-BA4E-6D0237B32BA7}"/>
              </a:ext>
            </a:extLst>
          </p:cNvPr>
          <p:cNvSpPr txBox="1"/>
          <p:nvPr/>
        </p:nvSpPr>
        <p:spPr>
          <a:xfrm>
            <a:off x="6933269" y="573351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235E59-D1C8-4C69-94D6-8AFB4CB664A7}"/>
              </a:ext>
            </a:extLst>
          </p:cNvPr>
          <p:cNvSpPr/>
          <p:nvPr/>
        </p:nvSpPr>
        <p:spPr>
          <a:xfrm>
            <a:off x="4922800" y="1158461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E9DEF8-4C26-4EAA-BEA3-FC32B0CDC055}"/>
              </a:ext>
            </a:extLst>
          </p:cNvPr>
          <p:cNvSpPr/>
          <p:nvPr/>
        </p:nvSpPr>
        <p:spPr>
          <a:xfrm>
            <a:off x="4984926" y="1777280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4" name="Connecteur droit 106">
            <a:extLst>
              <a:ext uri="{FF2B5EF4-FFF2-40B4-BE49-F238E27FC236}">
                <a16:creationId xmlns:a16="http://schemas.microsoft.com/office/drawing/2014/main" id="{BCB271E6-1E8A-4752-8C61-9C5E744629E1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91032" y="847774"/>
            <a:ext cx="945870" cy="54061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07">
            <a:extLst>
              <a:ext uri="{FF2B5EF4-FFF2-40B4-BE49-F238E27FC236}">
                <a16:creationId xmlns:a16="http://schemas.microsoft.com/office/drawing/2014/main" id="{4F02100B-6958-4605-BE04-4CB2B0B20FB1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72357" y="1388392"/>
            <a:ext cx="964545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108">
            <a:extLst>
              <a:ext uri="{FF2B5EF4-FFF2-40B4-BE49-F238E27FC236}">
                <a16:creationId xmlns:a16="http://schemas.microsoft.com/office/drawing/2014/main" id="{71A7084D-7F2A-4155-9EAE-DA591040C361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6550425" y="1388392"/>
            <a:ext cx="886477" cy="57769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93BCA-1CC0-4461-89EB-8BE4A6CE0DA5}"/>
              </a:ext>
            </a:extLst>
          </p:cNvPr>
          <p:cNvSpPr/>
          <p:nvPr/>
        </p:nvSpPr>
        <p:spPr>
          <a:xfrm>
            <a:off x="4600558" y="9686"/>
            <a:ext cx="5018252" cy="3260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105">
            <a:extLst>
              <a:ext uri="{FF2B5EF4-FFF2-40B4-BE49-F238E27FC236}">
                <a16:creationId xmlns:a16="http://schemas.microsoft.com/office/drawing/2014/main" id="{09F4ACB3-7C5D-4096-8C4F-F7C7135A8960}"/>
              </a:ext>
            </a:extLst>
          </p:cNvPr>
          <p:cNvSpPr txBox="1"/>
          <p:nvPr/>
        </p:nvSpPr>
        <p:spPr>
          <a:xfrm>
            <a:off x="8332162" y="904313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9011DA8E-5F4B-4FCF-82EF-6C2CB9D5482C}"/>
              </a:ext>
            </a:extLst>
          </p:cNvPr>
          <p:cNvSpPr/>
          <p:nvPr/>
        </p:nvSpPr>
        <p:spPr>
          <a:xfrm>
            <a:off x="8932245" y="1042381"/>
            <a:ext cx="657225" cy="663845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?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7367F84-D09D-4B97-8ED0-60E007AC8805}"/>
              </a:ext>
            </a:extLst>
          </p:cNvPr>
          <p:cNvCxnSpPr>
            <a:stCxn id="49" idx="2"/>
          </p:cNvCxnSpPr>
          <p:nvPr/>
        </p:nvCxnSpPr>
        <p:spPr>
          <a:xfrm rot="5400000">
            <a:off x="7805256" y="1101862"/>
            <a:ext cx="851239" cy="20599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CF6F9E7-621A-44C4-B34F-C24075DA39FB}"/>
              </a:ext>
            </a:extLst>
          </p:cNvPr>
          <p:cNvSpPr/>
          <p:nvPr/>
        </p:nvSpPr>
        <p:spPr>
          <a:xfrm>
            <a:off x="6291906" y="2334221"/>
            <a:ext cx="925675" cy="42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C17BBC-9F17-49C7-8FB3-621954FD86CA}"/>
              </a:ext>
            </a:extLst>
          </p:cNvPr>
          <p:cNvCxnSpPr>
            <a:cxnSpLocks/>
          </p:cNvCxnSpPr>
          <p:nvPr/>
        </p:nvCxnSpPr>
        <p:spPr>
          <a:xfrm>
            <a:off x="4786625" y="286459"/>
            <a:ext cx="4313163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C5A3E72-80EE-49AC-80B1-411E722EEFA4}"/>
              </a:ext>
            </a:extLst>
          </p:cNvPr>
          <p:cNvSpPr/>
          <p:nvPr/>
        </p:nvSpPr>
        <p:spPr>
          <a:xfrm>
            <a:off x="5959024" y="81808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3258DE-2FC7-40E7-8C21-62E348A90D39}"/>
              </a:ext>
            </a:extLst>
          </p:cNvPr>
          <p:cNvCxnSpPr>
            <a:cxnSpLocks/>
          </p:cNvCxnSpPr>
          <p:nvPr/>
        </p:nvCxnSpPr>
        <p:spPr>
          <a:xfrm flipH="1">
            <a:off x="5141355" y="2996087"/>
            <a:ext cx="4136783" cy="34281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86CDC0F-46C1-4864-AE2A-25B8BBB444B4}"/>
              </a:ext>
            </a:extLst>
          </p:cNvPr>
          <p:cNvSpPr/>
          <p:nvPr/>
        </p:nvSpPr>
        <p:spPr>
          <a:xfrm>
            <a:off x="5818734" y="2848825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/>
              <p:nvPr/>
            </p:nvSpPr>
            <p:spPr>
              <a:xfrm>
                <a:off x="47396" y="1669715"/>
                <a:ext cx="3597820" cy="104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=w1*x1+w2*x2+bias</a:t>
                </a:r>
              </a:p>
              <a:p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Predicted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output=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sigmoid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fr-MA" sz="16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6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6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ZoneTexte 105">
                <a:extLst>
                  <a:ext uri="{FF2B5EF4-FFF2-40B4-BE49-F238E27FC236}">
                    <a16:creationId xmlns:a16="http://schemas.microsoft.com/office/drawing/2014/main" id="{54CA9904-3A5F-42FA-8107-C19D2677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6" y="1669715"/>
                <a:ext cx="3597820" cy="1045799"/>
              </a:xfrm>
              <a:prstGeom prst="rect">
                <a:avLst/>
              </a:prstGeom>
              <a:blipFill>
                <a:blip r:embed="rId14"/>
                <a:stretch>
                  <a:fillRect l="-1017" t="-1754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71F048C1-971F-41CC-9213-1B61A5F93FAC}"/>
              </a:ext>
            </a:extLst>
          </p:cNvPr>
          <p:cNvSpPr/>
          <p:nvPr/>
        </p:nvSpPr>
        <p:spPr>
          <a:xfrm>
            <a:off x="112551" y="1223367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A81024-C513-4F0F-8961-3803C3BECDFF}"/>
              </a:ext>
            </a:extLst>
          </p:cNvPr>
          <p:cNvSpPr/>
          <p:nvPr/>
        </p:nvSpPr>
        <p:spPr>
          <a:xfrm>
            <a:off x="84454" y="2896111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/>
              <p:nvPr/>
            </p:nvSpPr>
            <p:spPr>
              <a:xfrm>
                <a:off x="8499499" y="5680351"/>
                <a:ext cx="918644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499" y="5680351"/>
                <a:ext cx="918644" cy="44345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/>
              <p:nvPr/>
            </p:nvSpPr>
            <p:spPr>
              <a:xfrm>
                <a:off x="8513994" y="4579128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994" y="4579128"/>
                <a:ext cx="910676" cy="44345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/>
              <p:nvPr/>
            </p:nvSpPr>
            <p:spPr>
              <a:xfrm>
                <a:off x="8507467" y="5095851"/>
                <a:ext cx="910676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467" y="5095851"/>
                <a:ext cx="910676" cy="44345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/>
              <p:nvPr/>
            </p:nvSpPr>
            <p:spPr>
              <a:xfrm>
                <a:off x="8476401" y="3347336"/>
                <a:ext cx="2775119" cy="474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2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1" y="3347336"/>
                <a:ext cx="2775119" cy="474553"/>
              </a:xfrm>
              <a:prstGeom prst="rect">
                <a:avLst/>
              </a:prstGeom>
              <a:blipFill>
                <a:blip r:embed="rId18"/>
                <a:stretch>
                  <a:fillRect b="-37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/>
              <p:nvPr/>
            </p:nvSpPr>
            <p:spPr>
              <a:xfrm>
                <a:off x="8476402" y="3935232"/>
                <a:ext cx="2775119" cy="50731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402" y="3935232"/>
                <a:ext cx="2775119" cy="507318"/>
              </a:xfrm>
              <a:prstGeom prst="rect">
                <a:avLst/>
              </a:prstGeom>
              <a:blipFill>
                <a:blip r:embed="rId19"/>
                <a:stretch>
                  <a:fillRect t="-174118" r="-23362" b="-2541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Tableau 109">
            <a:extLst>
              <a:ext uri="{FF2B5EF4-FFF2-40B4-BE49-F238E27FC236}">
                <a16:creationId xmlns:a16="http://schemas.microsoft.com/office/drawing/2014/main" id="{50A4764C-9A28-47DE-918C-24832813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46290"/>
              </p:ext>
            </p:extLst>
          </p:nvPr>
        </p:nvGraphicFramePr>
        <p:xfrm>
          <a:off x="2108592" y="51941"/>
          <a:ext cx="2291023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58A7CD8-DAE3-4AA3-8EA9-6322B6B96A97}"/>
              </a:ext>
            </a:extLst>
          </p:cNvPr>
          <p:cNvSpPr txBox="1"/>
          <p:nvPr/>
        </p:nvSpPr>
        <p:spPr>
          <a:xfrm>
            <a:off x="2302832" y="1031826"/>
            <a:ext cx="21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</p:spTree>
    <p:extLst>
      <p:ext uri="{BB962C8B-B14F-4D97-AF65-F5344CB8AC3E}">
        <p14:creationId xmlns:p14="http://schemas.microsoft.com/office/powerpoint/2010/main" val="24494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 animBg="1"/>
      <p:bldP spid="62" grpId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AFA1C-0160-4CB8-B359-837D6B8D78EE}"/>
              </a:ext>
            </a:extLst>
          </p:cNvPr>
          <p:cNvSpPr/>
          <p:nvPr/>
        </p:nvSpPr>
        <p:spPr>
          <a:xfrm>
            <a:off x="4060899" y="3440570"/>
            <a:ext cx="3363193" cy="6995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/>
              <p:nvPr/>
            </p:nvSpPr>
            <p:spPr>
              <a:xfrm>
                <a:off x="4009036" y="3578334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3578334"/>
                <a:ext cx="734369" cy="407099"/>
              </a:xfrm>
              <a:prstGeom prst="rect">
                <a:avLst/>
              </a:prstGeom>
              <a:blipFill>
                <a:blip r:embed="rId2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/>
              <p:nvPr/>
            </p:nvSpPr>
            <p:spPr>
              <a:xfrm>
                <a:off x="4607632" y="3544059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632" y="3544059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/>
              <p:nvPr/>
            </p:nvSpPr>
            <p:spPr>
              <a:xfrm>
                <a:off x="5702911" y="3532235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911" y="3532235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/>
              <p:nvPr/>
            </p:nvSpPr>
            <p:spPr>
              <a:xfrm>
                <a:off x="6837627" y="3494364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27" y="3494364"/>
                <a:ext cx="501994" cy="443455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144">
            <a:extLst>
              <a:ext uri="{FF2B5EF4-FFF2-40B4-BE49-F238E27FC236}">
                <a16:creationId xmlns:a16="http://schemas.microsoft.com/office/drawing/2014/main" id="{3CF9FA88-3CFD-4F25-85FF-44310EAB013F}"/>
              </a:ext>
            </a:extLst>
          </p:cNvPr>
          <p:cNvSpPr txBox="1"/>
          <p:nvPr/>
        </p:nvSpPr>
        <p:spPr>
          <a:xfrm>
            <a:off x="5514637" y="3680576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0" name="ZoneTexte 145">
            <a:extLst>
              <a:ext uri="{FF2B5EF4-FFF2-40B4-BE49-F238E27FC236}">
                <a16:creationId xmlns:a16="http://schemas.microsoft.com/office/drawing/2014/main" id="{1DA6A01D-970E-400B-AD1D-4051F2CB9C1D}"/>
              </a:ext>
            </a:extLst>
          </p:cNvPr>
          <p:cNvSpPr txBox="1"/>
          <p:nvPr/>
        </p:nvSpPr>
        <p:spPr>
          <a:xfrm>
            <a:off x="6602913" y="3637590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6A05-BACC-4BDB-B86C-0ECD9D5E90AA}"/>
              </a:ext>
            </a:extLst>
          </p:cNvPr>
          <p:cNvSpPr/>
          <p:nvPr/>
        </p:nvSpPr>
        <p:spPr>
          <a:xfrm>
            <a:off x="4060899" y="5469608"/>
            <a:ext cx="3363193" cy="7013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/>
              <p:nvPr/>
            </p:nvSpPr>
            <p:spPr>
              <a:xfrm>
                <a:off x="4009036" y="560737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5607373"/>
                <a:ext cx="734369" cy="407099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/>
              <p:nvPr/>
            </p:nvSpPr>
            <p:spPr>
              <a:xfrm>
                <a:off x="4621920" y="557309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920" y="5573098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/>
              <p:nvPr/>
            </p:nvSpPr>
            <p:spPr>
              <a:xfrm>
                <a:off x="5674336" y="556127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36" y="556127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/>
              <p:nvPr/>
            </p:nvSpPr>
            <p:spPr>
              <a:xfrm>
                <a:off x="6788741" y="5539306"/>
                <a:ext cx="608178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41" y="5539306"/>
                <a:ext cx="608178" cy="443455"/>
              </a:xfrm>
              <a:prstGeom prst="rect">
                <a:avLst/>
              </a:prstGeom>
              <a:blipFill>
                <a:blip r:embed="rId7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08">
            <a:extLst>
              <a:ext uri="{FF2B5EF4-FFF2-40B4-BE49-F238E27FC236}">
                <a16:creationId xmlns:a16="http://schemas.microsoft.com/office/drawing/2014/main" id="{275C56FC-AC9A-46EA-AF19-6E203C791CF7}"/>
              </a:ext>
            </a:extLst>
          </p:cNvPr>
          <p:cNvSpPr txBox="1"/>
          <p:nvPr/>
        </p:nvSpPr>
        <p:spPr>
          <a:xfrm>
            <a:off x="5486062" y="570961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7" name="ZoneTexte 109">
            <a:extLst>
              <a:ext uri="{FF2B5EF4-FFF2-40B4-BE49-F238E27FC236}">
                <a16:creationId xmlns:a16="http://schemas.microsoft.com/office/drawing/2014/main" id="{A7C2FE6C-D6DA-49A9-9913-5DC420BB2301}"/>
              </a:ext>
            </a:extLst>
          </p:cNvPr>
          <p:cNvSpPr txBox="1"/>
          <p:nvPr/>
        </p:nvSpPr>
        <p:spPr>
          <a:xfrm>
            <a:off x="6574339" y="566662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AC7AF-5D22-4762-B95F-D4B99C2F4E7E}"/>
              </a:ext>
            </a:extLst>
          </p:cNvPr>
          <p:cNvSpPr/>
          <p:nvPr/>
        </p:nvSpPr>
        <p:spPr>
          <a:xfrm>
            <a:off x="4060899" y="4475639"/>
            <a:ext cx="3363193" cy="727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/>
              <p:nvPr/>
            </p:nvSpPr>
            <p:spPr>
              <a:xfrm>
                <a:off x="4009036" y="461340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4613403"/>
                <a:ext cx="734369" cy="407099"/>
              </a:xfrm>
              <a:prstGeom prst="rect">
                <a:avLst/>
              </a:prstGeom>
              <a:blipFill>
                <a:blip r:embed="rId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/>
              <p:nvPr/>
            </p:nvSpPr>
            <p:spPr>
              <a:xfrm>
                <a:off x="4593346" y="457912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346" y="4579128"/>
                <a:ext cx="943661" cy="442750"/>
              </a:xfrm>
              <a:prstGeom prst="rect">
                <a:avLst/>
              </a:prstGeom>
              <a:blipFill>
                <a:blip r:embed="rId9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/>
              <p:nvPr/>
            </p:nvSpPr>
            <p:spPr>
              <a:xfrm>
                <a:off x="5688624" y="456730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624" y="456730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/>
              <p:nvPr/>
            </p:nvSpPr>
            <p:spPr>
              <a:xfrm>
                <a:off x="6780477" y="4529433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77" y="4529433"/>
                <a:ext cx="501994" cy="443455"/>
              </a:xfrm>
              <a:prstGeom prst="rect">
                <a:avLst/>
              </a:prstGeom>
              <a:blipFill>
                <a:blip r:embed="rId1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151">
            <a:extLst>
              <a:ext uri="{FF2B5EF4-FFF2-40B4-BE49-F238E27FC236}">
                <a16:creationId xmlns:a16="http://schemas.microsoft.com/office/drawing/2014/main" id="{F5653B02-C89A-456B-8677-C46AC8B4EE1B}"/>
              </a:ext>
            </a:extLst>
          </p:cNvPr>
          <p:cNvSpPr txBox="1"/>
          <p:nvPr/>
        </p:nvSpPr>
        <p:spPr>
          <a:xfrm>
            <a:off x="5500350" y="471564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24" name="ZoneTexte 152">
            <a:extLst>
              <a:ext uri="{FF2B5EF4-FFF2-40B4-BE49-F238E27FC236}">
                <a16:creationId xmlns:a16="http://schemas.microsoft.com/office/drawing/2014/main" id="{48BBAD94-13AF-4A30-A9A5-A3AB52AB810D}"/>
              </a:ext>
            </a:extLst>
          </p:cNvPr>
          <p:cNvSpPr txBox="1"/>
          <p:nvPr/>
        </p:nvSpPr>
        <p:spPr>
          <a:xfrm>
            <a:off x="6545763" y="467265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/>
              <p:nvPr/>
            </p:nvSpPr>
            <p:spPr>
              <a:xfrm>
                <a:off x="159911" y="3267364"/>
                <a:ext cx="3657858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3267364"/>
                <a:ext cx="3657858" cy="5371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/>
              <p:nvPr/>
            </p:nvSpPr>
            <p:spPr>
              <a:xfrm>
                <a:off x="159911" y="5389118"/>
                <a:ext cx="3657860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5389118"/>
                <a:ext cx="3657860" cy="537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/>
              <p:nvPr/>
            </p:nvSpPr>
            <p:spPr>
              <a:xfrm>
                <a:off x="159911" y="4333326"/>
                <a:ext cx="3657858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333326"/>
                <a:ext cx="3657858" cy="537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llipse 76">
            <a:extLst>
              <a:ext uri="{FF2B5EF4-FFF2-40B4-BE49-F238E27FC236}">
                <a16:creationId xmlns:a16="http://schemas.microsoft.com/office/drawing/2014/main" id="{22C6FCDE-ADAA-40BC-988C-34E1F02E9242}"/>
              </a:ext>
            </a:extLst>
          </p:cNvPr>
          <p:cNvSpPr/>
          <p:nvPr/>
        </p:nvSpPr>
        <p:spPr>
          <a:xfrm>
            <a:off x="4835355" y="114030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Ellipse 77">
            <a:extLst>
              <a:ext uri="{FF2B5EF4-FFF2-40B4-BE49-F238E27FC236}">
                <a16:creationId xmlns:a16="http://schemas.microsoft.com/office/drawing/2014/main" id="{0A3C950A-8E43-42E9-8A87-65403A533899}"/>
              </a:ext>
            </a:extLst>
          </p:cNvPr>
          <p:cNvSpPr/>
          <p:nvPr/>
        </p:nvSpPr>
        <p:spPr>
          <a:xfrm>
            <a:off x="5936047" y="562663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1.83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1" name="Ellipse 78">
            <a:extLst>
              <a:ext uri="{FF2B5EF4-FFF2-40B4-BE49-F238E27FC236}">
                <a16:creationId xmlns:a16="http://schemas.microsoft.com/office/drawing/2014/main" id="{CBADF332-DEF9-4C6E-A366-EE9A94817903}"/>
              </a:ext>
            </a:extLst>
          </p:cNvPr>
          <p:cNvSpPr/>
          <p:nvPr/>
        </p:nvSpPr>
        <p:spPr>
          <a:xfrm>
            <a:off x="5969481" y="1115457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0.5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2" name="Ellipse 80">
            <a:extLst>
              <a:ext uri="{FF2B5EF4-FFF2-40B4-BE49-F238E27FC236}">
                <a16:creationId xmlns:a16="http://schemas.microsoft.com/office/drawing/2014/main" id="{F8E7EE9D-82C5-4B28-A43D-E6E7BEE21E2F}"/>
              </a:ext>
            </a:extLst>
          </p:cNvPr>
          <p:cNvSpPr/>
          <p:nvPr/>
        </p:nvSpPr>
        <p:spPr>
          <a:xfrm>
            <a:off x="6010425" y="1711225"/>
            <a:ext cx="720000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0.2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3" name="Ellipse 94">
            <a:extLst>
              <a:ext uri="{FF2B5EF4-FFF2-40B4-BE49-F238E27FC236}">
                <a16:creationId xmlns:a16="http://schemas.microsoft.com/office/drawing/2014/main" id="{7ADFE418-34A4-4FC0-B8F6-A4103F5A1DEE}"/>
              </a:ext>
            </a:extLst>
          </p:cNvPr>
          <p:cNvSpPr/>
          <p:nvPr/>
        </p:nvSpPr>
        <p:spPr>
          <a:xfrm>
            <a:off x="7436902" y="938016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4" name="Connecteur droit avec flèche 95">
            <a:extLst>
              <a:ext uri="{FF2B5EF4-FFF2-40B4-BE49-F238E27FC236}">
                <a16:creationId xmlns:a16="http://schemas.microsoft.com/office/drawing/2014/main" id="{83E38475-278C-451D-B289-64453630F5A9}"/>
              </a:ext>
            </a:extLst>
          </p:cNvPr>
          <p:cNvCxnSpPr/>
          <p:nvPr/>
        </p:nvCxnSpPr>
        <p:spPr>
          <a:xfrm flipV="1">
            <a:off x="8392245" y="136787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96">
            <a:extLst>
              <a:ext uri="{FF2B5EF4-FFF2-40B4-BE49-F238E27FC236}">
                <a16:creationId xmlns:a16="http://schemas.microsoft.com/office/drawing/2014/main" id="{24246B42-7D81-453C-BE7A-131F5F734251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7914574" y="938016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97">
            <a:extLst>
              <a:ext uri="{FF2B5EF4-FFF2-40B4-BE49-F238E27FC236}">
                <a16:creationId xmlns:a16="http://schemas.microsoft.com/office/drawing/2014/main" id="{0C06CCA3-2C79-4BBC-A27A-8670ADCA33BF}"/>
              </a:ext>
            </a:extLst>
          </p:cNvPr>
          <p:cNvSpPr txBox="1"/>
          <p:nvPr/>
        </p:nvSpPr>
        <p:spPr>
          <a:xfrm>
            <a:off x="7883263" y="1235045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7" name="ZoneTexte 98">
            <a:extLst>
              <a:ext uri="{FF2B5EF4-FFF2-40B4-BE49-F238E27FC236}">
                <a16:creationId xmlns:a16="http://schemas.microsoft.com/office/drawing/2014/main" id="{2B6F50B3-74E8-4293-819B-90246597F258}"/>
              </a:ext>
            </a:extLst>
          </p:cNvPr>
          <p:cNvSpPr txBox="1"/>
          <p:nvPr/>
        </p:nvSpPr>
        <p:spPr>
          <a:xfrm>
            <a:off x="7477597" y="1232934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38" name="Connecteur droit avec flèche 99">
            <a:extLst>
              <a:ext uri="{FF2B5EF4-FFF2-40B4-BE49-F238E27FC236}">
                <a16:creationId xmlns:a16="http://schemas.microsoft.com/office/drawing/2014/main" id="{4BB4B97F-7E00-4DB9-A783-7EDAE33A6F08}"/>
              </a:ext>
            </a:extLst>
          </p:cNvPr>
          <p:cNvCxnSpPr>
            <a:stCxn id="29" idx="6"/>
            <a:endCxn id="31" idx="2"/>
          </p:cNvCxnSpPr>
          <p:nvPr/>
        </p:nvCxnSpPr>
        <p:spPr>
          <a:xfrm flipV="1">
            <a:off x="5447355" y="1367457"/>
            <a:ext cx="522126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00">
            <a:extLst>
              <a:ext uri="{FF2B5EF4-FFF2-40B4-BE49-F238E27FC236}">
                <a16:creationId xmlns:a16="http://schemas.microsoft.com/office/drawing/2014/main" id="{1A23C056-1107-41F9-B99D-331BE3F11C94}"/>
              </a:ext>
            </a:extLst>
          </p:cNvPr>
          <p:cNvCxnSpPr>
            <a:cxnSpLocks/>
          </p:cNvCxnSpPr>
          <p:nvPr/>
        </p:nvCxnSpPr>
        <p:spPr>
          <a:xfrm flipV="1">
            <a:off x="5461003" y="1962128"/>
            <a:ext cx="549422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01">
            <a:extLst>
              <a:ext uri="{FF2B5EF4-FFF2-40B4-BE49-F238E27FC236}">
                <a16:creationId xmlns:a16="http://schemas.microsoft.com/office/drawing/2014/main" id="{25052131-321E-4CE1-B662-A527FC560DA1}"/>
              </a:ext>
            </a:extLst>
          </p:cNvPr>
          <p:cNvSpPr/>
          <p:nvPr/>
        </p:nvSpPr>
        <p:spPr>
          <a:xfrm>
            <a:off x="4849003" y="173493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ZoneTexte 102">
            <a:extLst>
              <a:ext uri="{FF2B5EF4-FFF2-40B4-BE49-F238E27FC236}">
                <a16:creationId xmlns:a16="http://schemas.microsoft.com/office/drawing/2014/main" id="{C5230C8F-7A89-4D8D-BA4E-6D0237B32BA7}"/>
              </a:ext>
            </a:extLst>
          </p:cNvPr>
          <p:cNvSpPr txBox="1"/>
          <p:nvPr/>
        </p:nvSpPr>
        <p:spPr>
          <a:xfrm>
            <a:off x="6933269" y="573351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235E59-D1C8-4C69-94D6-8AFB4CB664A7}"/>
              </a:ext>
            </a:extLst>
          </p:cNvPr>
          <p:cNvSpPr/>
          <p:nvPr/>
        </p:nvSpPr>
        <p:spPr>
          <a:xfrm>
            <a:off x="4922800" y="1158461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E9DEF8-4C26-4EAA-BEA3-FC32B0CDC055}"/>
              </a:ext>
            </a:extLst>
          </p:cNvPr>
          <p:cNvSpPr/>
          <p:nvPr/>
        </p:nvSpPr>
        <p:spPr>
          <a:xfrm>
            <a:off x="4948859" y="1777280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4" name="Connecteur droit 106">
            <a:extLst>
              <a:ext uri="{FF2B5EF4-FFF2-40B4-BE49-F238E27FC236}">
                <a16:creationId xmlns:a16="http://schemas.microsoft.com/office/drawing/2014/main" id="{BCB271E6-1E8A-4752-8C61-9C5E744629E1}"/>
              </a:ext>
            </a:extLst>
          </p:cNvPr>
          <p:cNvCxnSpPr>
            <a:stCxn id="30" idx="6"/>
            <a:endCxn id="33" idx="2"/>
          </p:cNvCxnSpPr>
          <p:nvPr/>
        </p:nvCxnSpPr>
        <p:spPr>
          <a:xfrm>
            <a:off x="6656047" y="814663"/>
            <a:ext cx="780855" cy="573729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07">
            <a:extLst>
              <a:ext uri="{FF2B5EF4-FFF2-40B4-BE49-F238E27FC236}">
                <a16:creationId xmlns:a16="http://schemas.microsoft.com/office/drawing/2014/main" id="{4F02100B-6958-4605-BE04-4CB2B0B20FB1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91607" y="1388392"/>
            <a:ext cx="945295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108">
            <a:extLst>
              <a:ext uri="{FF2B5EF4-FFF2-40B4-BE49-F238E27FC236}">
                <a16:creationId xmlns:a16="http://schemas.microsoft.com/office/drawing/2014/main" id="{71A7084D-7F2A-4155-9EAE-DA591040C361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6515218" y="1388392"/>
            <a:ext cx="921684" cy="593602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93BCA-1CC0-4461-89EB-8BE4A6CE0DA5}"/>
              </a:ext>
            </a:extLst>
          </p:cNvPr>
          <p:cNvSpPr/>
          <p:nvPr/>
        </p:nvSpPr>
        <p:spPr>
          <a:xfrm>
            <a:off x="4600558" y="9686"/>
            <a:ext cx="5018252" cy="3260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105">
            <a:extLst>
              <a:ext uri="{FF2B5EF4-FFF2-40B4-BE49-F238E27FC236}">
                <a16:creationId xmlns:a16="http://schemas.microsoft.com/office/drawing/2014/main" id="{09F4ACB3-7C5D-4096-8C4F-F7C7135A8960}"/>
              </a:ext>
            </a:extLst>
          </p:cNvPr>
          <p:cNvSpPr txBox="1"/>
          <p:nvPr/>
        </p:nvSpPr>
        <p:spPr>
          <a:xfrm>
            <a:off x="8332162" y="904313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9011DA8E-5F4B-4FCF-82EF-6C2CB9D5482C}"/>
              </a:ext>
            </a:extLst>
          </p:cNvPr>
          <p:cNvSpPr/>
          <p:nvPr/>
        </p:nvSpPr>
        <p:spPr>
          <a:xfrm>
            <a:off x="8932245" y="1042381"/>
            <a:ext cx="657225" cy="663845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?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7367F84-D09D-4B97-8ED0-60E007AC8805}"/>
              </a:ext>
            </a:extLst>
          </p:cNvPr>
          <p:cNvCxnSpPr>
            <a:stCxn id="49" idx="2"/>
          </p:cNvCxnSpPr>
          <p:nvPr/>
        </p:nvCxnSpPr>
        <p:spPr>
          <a:xfrm rot="5400000">
            <a:off x="7805256" y="1101862"/>
            <a:ext cx="851239" cy="20599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CF6F9E7-621A-44C4-B34F-C24075DA39FB}"/>
              </a:ext>
            </a:extLst>
          </p:cNvPr>
          <p:cNvSpPr/>
          <p:nvPr/>
        </p:nvSpPr>
        <p:spPr>
          <a:xfrm>
            <a:off x="6291906" y="2334221"/>
            <a:ext cx="925675" cy="42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C17BBC-9F17-49C7-8FB3-621954FD86CA}"/>
              </a:ext>
            </a:extLst>
          </p:cNvPr>
          <p:cNvCxnSpPr>
            <a:cxnSpLocks/>
          </p:cNvCxnSpPr>
          <p:nvPr/>
        </p:nvCxnSpPr>
        <p:spPr>
          <a:xfrm>
            <a:off x="4786625" y="286459"/>
            <a:ext cx="4313163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C5A3E72-80EE-49AC-80B1-411E722EEFA4}"/>
              </a:ext>
            </a:extLst>
          </p:cNvPr>
          <p:cNvSpPr/>
          <p:nvPr/>
        </p:nvSpPr>
        <p:spPr>
          <a:xfrm>
            <a:off x="5959024" y="81808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3258DE-2FC7-40E7-8C21-62E348A90D39}"/>
              </a:ext>
            </a:extLst>
          </p:cNvPr>
          <p:cNvCxnSpPr>
            <a:cxnSpLocks/>
          </p:cNvCxnSpPr>
          <p:nvPr/>
        </p:nvCxnSpPr>
        <p:spPr>
          <a:xfrm flipH="1">
            <a:off x="5141355" y="2996087"/>
            <a:ext cx="4136783" cy="34281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86CDC0F-46C1-4864-AE2A-25B8BBB444B4}"/>
              </a:ext>
            </a:extLst>
          </p:cNvPr>
          <p:cNvSpPr/>
          <p:nvPr/>
        </p:nvSpPr>
        <p:spPr>
          <a:xfrm>
            <a:off x="5818734" y="2848825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F048C1-971F-41CC-9213-1B61A5F93FAC}"/>
              </a:ext>
            </a:extLst>
          </p:cNvPr>
          <p:cNvSpPr/>
          <p:nvPr/>
        </p:nvSpPr>
        <p:spPr>
          <a:xfrm>
            <a:off x="112551" y="1223367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r>
              <a:rPr lang="fr-MA" b="1" dirty="0"/>
              <a:t> 1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A81024-C513-4F0F-8961-3803C3BECDFF}"/>
              </a:ext>
            </a:extLst>
          </p:cNvPr>
          <p:cNvSpPr/>
          <p:nvPr/>
        </p:nvSpPr>
        <p:spPr>
          <a:xfrm>
            <a:off x="84454" y="2824671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r>
              <a:rPr lang="fr-MA" b="1" dirty="0"/>
              <a:t> 1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/>
              <p:nvPr/>
            </p:nvSpPr>
            <p:spPr>
              <a:xfrm>
                <a:off x="8428062" y="5680351"/>
                <a:ext cx="936555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062" y="5680351"/>
                <a:ext cx="936555" cy="44345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/>
              <p:nvPr/>
            </p:nvSpPr>
            <p:spPr>
              <a:xfrm>
                <a:off x="8442557" y="4579128"/>
                <a:ext cx="922061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57" y="4579128"/>
                <a:ext cx="922061" cy="44345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/>
              <p:nvPr/>
            </p:nvSpPr>
            <p:spPr>
              <a:xfrm>
                <a:off x="8436031" y="5095851"/>
                <a:ext cx="922061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095851"/>
                <a:ext cx="922061" cy="44345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/>
              <p:nvPr/>
            </p:nvSpPr>
            <p:spPr>
              <a:xfrm>
                <a:off x="8426312" y="3323751"/>
                <a:ext cx="2775119" cy="474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2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312" y="3323751"/>
                <a:ext cx="2775119" cy="474553"/>
              </a:xfrm>
              <a:prstGeom prst="rect">
                <a:avLst/>
              </a:prstGeom>
              <a:blipFill>
                <a:blip r:embed="rId17"/>
                <a:stretch>
                  <a:fillRect b="-37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/>
              <p:nvPr/>
            </p:nvSpPr>
            <p:spPr>
              <a:xfrm>
                <a:off x="8426312" y="3888493"/>
                <a:ext cx="2775119" cy="50731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312" y="3888493"/>
                <a:ext cx="2775119" cy="507318"/>
              </a:xfrm>
              <a:prstGeom prst="rect">
                <a:avLst/>
              </a:prstGeom>
              <a:blipFill>
                <a:blip r:embed="rId18"/>
                <a:stretch>
                  <a:fillRect t="-174118" r="-23362" b="-2541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16EF2918-FD6D-47E4-BACE-DD14A2AF566D}"/>
              </a:ext>
            </a:extLst>
          </p:cNvPr>
          <p:cNvSpPr/>
          <p:nvPr/>
        </p:nvSpPr>
        <p:spPr>
          <a:xfrm>
            <a:off x="11308446" y="3355745"/>
            <a:ext cx="713657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b="1" dirty="0"/>
              <a:t>0.844</a:t>
            </a:r>
          </a:p>
        </p:txBody>
      </p:sp>
      <p:graphicFrame>
        <p:nvGraphicFramePr>
          <p:cNvPr id="71" name="Tableau 109">
            <a:extLst>
              <a:ext uri="{FF2B5EF4-FFF2-40B4-BE49-F238E27FC236}">
                <a16:creationId xmlns:a16="http://schemas.microsoft.com/office/drawing/2014/main" id="{3ABC30A2-F2BA-470D-ACCA-7D917CB2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733925"/>
              </p:ext>
            </p:extLst>
          </p:nvPr>
        </p:nvGraphicFramePr>
        <p:xfrm>
          <a:off x="2108592" y="51941"/>
          <a:ext cx="2291023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9A051AA5-9BF0-4171-BFA6-120ABDF8D586}"/>
              </a:ext>
            </a:extLst>
          </p:cNvPr>
          <p:cNvSpPr/>
          <p:nvPr/>
        </p:nvSpPr>
        <p:spPr>
          <a:xfrm>
            <a:off x="11308446" y="3973589"/>
            <a:ext cx="71365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/>
              <a:t>0.11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F572E91-5A16-4FB7-972F-30010EAF1A9D}"/>
                  </a:ext>
                </a:extLst>
              </p:cNvPr>
              <p:cNvSpPr txBox="1"/>
              <p:nvPr/>
            </p:nvSpPr>
            <p:spPr>
              <a:xfrm>
                <a:off x="9408734" y="4660696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F572E91-5A16-4FB7-972F-30010EAF1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4660696"/>
                <a:ext cx="56806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46505D-AC24-499B-ADCF-59E146EA8E98}"/>
                  </a:ext>
                </a:extLst>
              </p:cNvPr>
              <p:cNvSpPr txBox="1"/>
              <p:nvPr/>
            </p:nvSpPr>
            <p:spPr>
              <a:xfrm>
                <a:off x="9408734" y="5214539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46505D-AC24-499B-ADCF-59E146EA8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5214539"/>
                <a:ext cx="568062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046E7F-8965-469E-9C6D-B8C5625D3CC7}"/>
                  </a:ext>
                </a:extLst>
              </p:cNvPr>
              <p:cNvSpPr txBox="1"/>
              <p:nvPr/>
            </p:nvSpPr>
            <p:spPr>
              <a:xfrm>
                <a:off x="9408734" y="5788682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046E7F-8965-469E-9C6D-B8C5625D3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5788682"/>
                <a:ext cx="568062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E41E25C4-6996-48B6-BF83-86358D4D51E6}"/>
              </a:ext>
            </a:extLst>
          </p:cNvPr>
          <p:cNvSpPr/>
          <p:nvPr/>
        </p:nvSpPr>
        <p:spPr>
          <a:xfrm>
            <a:off x="7424092" y="5599105"/>
            <a:ext cx="769870" cy="338554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0,0927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C7020A-7EEA-4FB5-B2FD-6C3D859A6349}"/>
              </a:ext>
            </a:extLst>
          </p:cNvPr>
          <p:cNvSpPr/>
          <p:nvPr/>
        </p:nvSpPr>
        <p:spPr>
          <a:xfrm>
            <a:off x="7457863" y="3557530"/>
            <a:ext cx="793774" cy="338554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0,0092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729083C-3D3C-4323-AB66-41705DFE81F5}"/>
              </a:ext>
            </a:extLst>
          </p:cNvPr>
          <p:cNvSpPr/>
          <p:nvPr/>
        </p:nvSpPr>
        <p:spPr>
          <a:xfrm>
            <a:off x="7410422" y="4562760"/>
            <a:ext cx="829073" cy="369332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0,0278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DE2DDB2-D2CD-4708-BDCA-65E068539AA7}"/>
                  </a:ext>
                </a:extLst>
              </p:cNvPr>
              <p:cNvSpPr/>
              <p:nvPr/>
            </p:nvSpPr>
            <p:spPr>
              <a:xfrm>
                <a:off x="159910" y="5924046"/>
                <a:ext cx="3657859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𝒃𝒊𝒂𝒔</m:t>
                    </m:r>
                    <m:r>
                      <a:rPr lang="fr-FR" sz="1600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MA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1.83</m:t>
                    </m:r>
                    <m:r>
                      <a:rPr lang="fr-FR" sz="1600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</m:t>
                    </m:r>
                    <m:r>
                      <a:rPr lang="fr-FR" sz="1600" b="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fr-MA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0.0927</m:t>
                    </m:r>
                  </m:oMath>
                </a14:m>
                <a:r>
                  <a:rPr lang="fr-FR" sz="1600" dirty="0">
                    <a:solidFill>
                      <a:srgbClr val="FF0000"/>
                    </a:solidFill>
                  </a:rPr>
                  <a:t>=</a:t>
                </a:r>
                <a:r>
                  <a:rPr lang="fr-MA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1.821</a:t>
                </a:r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DE2DDB2-D2CD-4708-BDCA-65E068539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0" y="5924046"/>
                <a:ext cx="3657859" cy="338554"/>
              </a:xfrm>
              <a:prstGeom prst="rect">
                <a:avLst/>
              </a:prstGeom>
              <a:blipFill>
                <a:blip r:embed="rId22"/>
                <a:stretch>
                  <a:fillRect t="-3509" b="-2105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093F103-AA0B-40B5-8625-37A9156FD4AB}"/>
                  </a:ext>
                </a:extLst>
              </p:cNvPr>
              <p:cNvSpPr/>
              <p:nvPr/>
            </p:nvSpPr>
            <p:spPr>
              <a:xfrm>
                <a:off x="157350" y="3814732"/>
                <a:ext cx="3657858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0.0092=</m:t>
                      </m:r>
                      <m:r>
                        <m:rPr>
                          <m:nor/>
                        </m:rPr>
                        <a:rPr lang="fr-MA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m:t>0.499</m:t>
                      </m:r>
                    </m:oMath>
                  </m:oMathPara>
                </a14:m>
                <a:endParaRPr lang="fr-F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093F103-AA0B-40B5-8625-37A9156FD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50" y="3814732"/>
                <a:ext cx="3657858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A00BD9C-2981-411F-9CB9-34BD6EA51A6E}"/>
                  </a:ext>
                </a:extLst>
              </p:cNvPr>
              <p:cNvSpPr/>
              <p:nvPr/>
            </p:nvSpPr>
            <p:spPr>
              <a:xfrm>
                <a:off x="156960" y="4889454"/>
                <a:ext cx="3657858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0.0278=</m:t>
                      </m:r>
                      <m:r>
                        <m:rPr>
                          <m:nor/>
                        </m:rPr>
                        <a:rPr lang="fr-MA" sz="16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m:t>0.197</m:t>
                      </m:r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A00BD9C-2981-411F-9CB9-34BD6EA51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0" y="4889454"/>
                <a:ext cx="365785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E1B37D-36B7-4987-BAB8-9DAF7E22E85E}"/>
                  </a:ext>
                </a:extLst>
              </p:cNvPr>
              <p:cNvSpPr txBox="1"/>
              <p:nvPr/>
            </p:nvSpPr>
            <p:spPr>
              <a:xfrm>
                <a:off x="40405" y="1653534"/>
                <a:ext cx="3841014" cy="1164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Sum=w1*x1+w2*x2+bias</a:t>
                </a:r>
              </a:p>
              <a:p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Predicted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output=</a:t>
                </a:r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sigmoid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8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E1B37D-36B7-4987-BAB8-9DAF7E22E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5" y="1653534"/>
                <a:ext cx="3841014" cy="1164934"/>
              </a:xfrm>
              <a:prstGeom prst="rect">
                <a:avLst/>
              </a:prstGeom>
              <a:blipFill>
                <a:blip r:embed="rId25"/>
                <a:stretch>
                  <a:fillRect l="-1429" t="-261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6936B3EA-A6FD-4E87-9601-62C26686DA47}"/>
              </a:ext>
            </a:extLst>
          </p:cNvPr>
          <p:cNvSpPr txBox="1"/>
          <p:nvPr/>
        </p:nvSpPr>
        <p:spPr>
          <a:xfrm>
            <a:off x="2844985" y="1638211"/>
            <a:ext cx="954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=1.940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2507EA-A721-4D85-9F75-CC59449B34F8}"/>
              </a:ext>
            </a:extLst>
          </p:cNvPr>
          <p:cNvSpPr txBox="1"/>
          <p:nvPr/>
        </p:nvSpPr>
        <p:spPr>
          <a:xfrm>
            <a:off x="3232967" y="1964985"/>
            <a:ext cx="924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=0.874</a:t>
            </a:r>
            <a:endParaRPr lang="fr-M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337BFC-CB90-48EC-AE33-7D0CFCCE8083}"/>
                  </a:ext>
                </a:extLst>
              </p:cNvPr>
              <p:cNvSpPr txBox="1"/>
              <p:nvPr/>
            </p:nvSpPr>
            <p:spPr>
              <a:xfrm>
                <a:off x="3589068" y="2379864"/>
                <a:ext cx="9436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MA" sz="1800" b="1" dirty="0">
                          <a:solidFill>
                            <a:srgbClr val="FF0000"/>
                          </a:solidFill>
                        </a:rPr>
                        <m:t>0.3564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337BFC-CB90-48EC-AE33-7D0CFCCE8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068" y="2379864"/>
                <a:ext cx="943661" cy="369332"/>
              </a:xfrm>
              <a:prstGeom prst="rect">
                <a:avLst/>
              </a:prstGeom>
              <a:blipFill>
                <a:blip r:embed="rId26"/>
                <a:stretch>
                  <a:fillRect r="-1096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9565B60B-9B45-42ED-B772-48F2F4A30D52}"/>
              </a:ext>
            </a:extLst>
          </p:cNvPr>
          <p:cNvSpPr txBox="1"/>
          <p:nvPr/>
        </p:nvSpPr>
        <p:spPr>
          <a:xfrm>
            <a:off x="1090325" y="419190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Entree1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8C78C3-0872-4FE3-A275-10523719276A}"/>
              </a:ext>
            </a:extLst>
          </p:cNvPr>
          <p:cNvSpPr txBox="1"/>
          <p:nvPr/>
        </p:nvSpPr>
        <p:spPr>
          <a:xfrm>
            <a:off x="1128423" y="785906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Entreen</a:t>
            </a:r>
            <a:endParaRPr lang="fr-MA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EC0399-D6A0-436D-BED1-C2CC84336FA4}"/>
              </a:ext>
            </a:extLst>
          </p:cNvPr>
          <p:cNvSpPr txBox="1"/>
          <p:nvPr/>
        </p:nvSpPr>
        <p:spPr>
          <a:xfrm>
            <a:off x="15024" y="9685"/>
            <a:ext cx="41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Itération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EC7BB-66B9-498C-9F08-50F1805CE10A}"/>
              </a:ext>
            </a:extLst>
          </p:cNvPr>
          <p:cNvSpPr txBox="1"/>
          <p:nvPr/>
        </p:nvSpPr>
        <p:spPr>
          <a:xfrm>
            <a:off x="2302832" y="1031826"/>
            <a:ext cx="21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 1</a:t>
            </a:r>
          </a:p>
        </p:txBody>
      </p:sp>
    </p:spTree>
    <p:extLst>
      <p:ext uri="{BB962C8B-B14F-4D97-AF65-F5344CB8AC3E}">
        <p14:creationId xmlns:p14="http://schemas.microsoft.com/office/powerpoint/2010/main" val="110263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/>
      <p:bldP spid="85" grpId="0"/>
      <p:bldP spid="8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7AFA1C-0160-4CB8-B359-837D6B8D78EE}"/>
              </a:ext>
            </a:extLst>
          </p:cNvPr>
          <p:cNvSpPr/>
          <p:nvPr/>
        </p:nvSpPr>
        <p:spPr>
          <a:xfrm>
            <a:off x="4060899" y="3440570"/>
            <a:ext cx="3363193" cy="6995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/>
              <p:nvPr/>
            </p:nvSpPr>
            <p:spPr>
              <a:xfrm>
                <a:off x="4009036" y="3578334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3D2FB7-F99B-43DF-9330-37861B8E3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3578334"/>
                <a:ext cx="734369" cy="407099"/>
              </a:xfrm>
              <a:prstGeom prst="rect">
                <a:avLst/>
              </a:prstGeom>
              <a:blipFill>
                <a:blip r:embed="rId2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/>
              <p:nvPr/>
            </p:nvSpPr>
            <p:spPr>
              <a:xfrm>
                <a:off x="4607632" y="3544059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8019920-B064-491D-BD7A-3BE13F0F7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632" y="3544059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/>
              <p:nvPr/>
            </p:nvSpPr>
            <p:spPr>
              <a:xfrm>
                <a:off x="5702911" y="3532235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C48833-C57A-4D50-85CE-BA82A65668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911" y="3532235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/>
              <p:nvPr/>
            </p:nvSpPr>
            <p:spPr>
              <a:xfrm>
                <a:off x="6837627" y="3494364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B616A70-EC27-4695-BF19-6945CC053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627" y="3494364"/>
                <a:ext cx="501994" cy="443455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144">
            <a:extLst>
              <a:ext uri="{FF2B5EF4-FFF2-40B4-BE49-F238E27FC236}">
                <a16:creationId xmlns:a16="http://schemas.microsoft.com/office/drawing/2014/main" id="{3CF9FA88-3CFD-4F25-85FF-44310EAB013F}"/>
              </a:ext>
            </a:extLst>
          </p:cNvPr>
          <p:cNvSpPr txBox="1"/>
          <p:nvPr/>
        </p:nvSpPr>
        <p:spPr>
          <a:xfrm>
            <a:off x="5514637" y="3680576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0" name="ZoneTexte 145">
            <a:extLst>
              <a:ext uri="{FF2B5EF4-FFF2-40B4-BE49-F238E27FC236}">
                <a16:creationId xmlns:a16="http://schemas.microsoft.com/office/drawing/2014/main" id="{1DA6A01D-970E-400B-AD1D-4051F2CB9C1D}"/>
              </a:ext>
            </a:extLst>
          </p:cNvPr>
          <p:cNvSpPr txBox="1"/>
          <p:nvPr/>
        </p:nvSpPr>
        <p:spPr>
          <a:xfrm>
            <a:off x="6602913" y="3637590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6A05-BACC-4BDB-B86C-0ECD9D5E90AA}"/>
              </a:ext>
            </a:extLst>
          </p:cNvPr>
          <p:cNvSpPr/>
          <p:nvPr/>
        </p:nvSpPr>
        <p:spPr>
          <a:xfrm>
            <a:off x="4060899" y="5469608"/>
            <a:ext cx="3363193" cy="7013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/>
              <p:nvPr/>
            </p:nvSpPr>
            <p:spPr>
              <a:xfrm>
                <a:off x="4009036" y="560737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𝒃𝒊𝒂𝒔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2195D2-A8C6-4E48-9F3C-F9443373EE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5607373"/>
                <a:ext cx="734369" cy="407099"/>
              </a:xfrm>
              <a:prstGeom prst="rect">
                <a:avLst/>
              </a:prstGeom>
              <a:blipFill>
                <a:blip r:embed="rId6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/>
              <p:nvPr/>
            </p:nvSpPr>
            <p:spPr>
              <a:xfrm>
                <a:off x="4621920" y="557309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39D3A33-1C16-4A31-BF16-90B0320B9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920" y="5573098"/>
                <a:ext cx="943661" cy="442750"/>
              </a:xfrm>
              <a:prstGeom prst="rect">
                <a:avLst/>
              </a:prstGeom>
              <a:blipFill>
                <a:blip r:embed="rId3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/>
              <p:nvPr/>
            </p:nvSpPr>
            <p:spPr>
              <a:xfrm>
                <a:off x="5674336" y="556127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7CBB15A-0054-4A26-AD47-8D149ECF18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336" y="556127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/>
              <p:nvPr/>
            </p:nvSpPr>
            <p:spPr>
              <a:xfrm>
                <a:off x="6788741" y="5539306"/>
                <a:ext cx="608178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E0BF47-D8D9-4470-A467-5A545DAD2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41" y="5539306"/>
                <a:ext cx="608178" cy="443455"/>
              </a:xfrm>
              <a:prstGeom prst="rect">
                <a:avLst/>
              </a:prstGeom>
              <a:blipFill>
                <a:blip r:embed="rId7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08">
            <a:extLst>
              <a:ext uri="{FF2B5EF4-FFF2-40B4-BE49-F238E27FC236}">
                <a16:creationId xmlns:a16="http://schemas.microsoft.com/office/drawing/2014/main" id="{275C56FC-AC9A-46EA-AF19-6E203C791CF7}"/>
              </a:ext>
            </a:extLst>
          </p:cNvPr>
          <p:cNvSpPr txBox="1"/>
          <p:nvPr/>
        </p:nvSpPr>
        <p:spPr>
          <a:xfrm>
            <a:off x="5486062" y="570961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7" name="ZoneTexte 109">
            <a:extLst>
              <a:ext uri="{FF2B5EF4-FFF2-40B4-BE49-F238E27FC236}">
                <a16:creationId xmlns:a16="http://schemas.microsoft.com/office/drawing/2014/main" id="{A7C2FE6C-D6DA-49A9-9913-5DC420BB2301}"/>
              </a:ext>
            </a:extLst>
          </p:cNvPr>
          <p:cNvSpPr txBox="1"/>
          <p:nvPr/>
        </p:nvSpPr>
        <p:spPr>
          <a:xfrm>
            <a:off x="6574339" y="566662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AC7AF-5D22-4762-B95F-D4B99C2F4E7E}"/>
              </a:ext>
            </a:extLst>
          </p:cNvPr>
          <p:cNvSpPr/>
          <p:nvPr/>
        </p:nvSpPr>
        <p:spPr>
          <a:xfrm>
            <a:off x="4060899" y="4475639"/>
            <a:ext cx="3363193" cy="7272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/>
              <p:nvPr/>
            </p:nvSpPr>
            <p:spPr>
              <a:xfrm>
                <a:off x="4009036" y="4613403"/>
                <a:ext cx="734369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</a:rPr>
                          <m:t>𝝏</m:t>
                        </m:r>
                        <m:r>
                          <a:rPr lang="fr-MA" sz="1400" b="1" i="1" smtClean="0">
                            <a:latin typeface="Cambria Math" panose="02040503050406030204" pitchFamily="18" charset="0"/>
                          </a:rPr>
                          <m:t>𝑳𝒐𝒔𝒔</m:t>
                        </m:r>
                      </m:num>
                      <m:den>
                        <m:r>
                          <a:rPr lang="fr-FR" sz="1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𝛛</m:t>
                        </m:r>
                        <m:r>
                          <a:rPr lang="fr-F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fr-MA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fr-FR" sz="1400" b="1" dirty="0"/>
                  <a:t>=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460705-524C-429F-9FE7-2622BF2FF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036" y="4613403"/>
                <a:ext cx="734369" cy="407099"/>
              </a:xfrm>
              <a:prstGeom prst="rect">
                <a:avLst/>
              </a:prstGeom>
              <a:blipFill>
                <a:blip r:embed="rId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/>
              <p:nvPr/>
            </p:nvSpPr>
            <p:spPr>
              <a:xfrm>
                <a:off x="4593346" y="4579128"/>
                <a:ext cx="943661" cy="44275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MA" sz="11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6FDC17-8879-436D-8598-87087FF9E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346" y="4579128"/>
                <a:ext cx="943661" cy="442750"/>
              </a:xfrm>
              <a:prstGeom prst="rect">
                <a:avLst/>
              </a:prstGeom>
              <a:blipFill>
                <a:blip r:embed="rId9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/>
              <p:nvPr/>
            </p:nvSpPr>
            <p:spPr>
              <a:xfrm>
                <a:off x="5688624" y="4567304"/>
                <a:ext cx="945200" cy="41421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100" b="1" i="1" smtClean="0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num>
                        <m:den>
                          <m:r>
                            <a:rPr lang="fr-FR" sz="11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52D8D5-EECE-4C93-8C7B-26CCD0CC5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624" y="4567304"/>
                <a:ext cx="945200" cy="41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/>
              <p:nvPr/>
            </p:nvSpPr>
            <p:spPr>
              <a:xfrm>
                <a:off x="6780477" y="4529433"/>
                <a:ext cx="501994" cy="443455"/>
              </a:xfrm>
              <a:prstGeom prst="rect">
                <a:avLst/>
              </a:prstGeom>
              <a:solidFill>
                <a:srgbClr val="9BE5FF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C80692-D88E-45B7-BAB8-11233D900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477" y="4529433"/>
                <a:ext cx="501994" cy="443455"/>
              </a:xfrm>
              <a:prstGeom prst="rect">
                <a:avLst/>
              </a:prstGeom>
              <a:blipFill>
                <a:blip r:embed="rId1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151">
            <a:extLst>
              <a:ext uri="{FF2B5EF4-FFF2-40B4-BE49-F238E27FC236}">
                <a16:creationId xmlns:a16="http://schemas.microsoft.com/office/drawing/2014/main" id="{F5653B02-C89A-456B-8677-C46AC8B4EE1B}"/>
              </a:ext>
            </a:extLst>
          </p:cNvPr>
          <p:cNvSpPr txBox="1"/>
          <p:nvPr/>
        </p:nvSpPr>
        <p:spPr>
          <a:xfrm>
            <a:off x="5500350" y="4715645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p:sp>
        <p:nvSpPr>
          <p:cNvPr id="24" name="ZoneTexte 152">
            <a:extLst>
              <a:ext uri="{FF2B5EF4-FFF2-40B4-BE49-F238E27FC236}">
                <a16:creationId xmlns:a16="http://schemas.microsoft.com/office/drawing/2014/main" id="{48BBAD94-13AF-4A30-A9A5-A3AB52AB810D}"/>
              </a:ext>
            </a:extLst>
          </p:cNvPr>
          <p:cNvSpPr txBox="1"/>
          <p:nvPr/>
        </p:nvSpPr>
        <p:spPr>
          <a:xfrm>
            <a:off x="6545763" y="4672659"/>
            <a:ext cx="2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/>
              <p:nvPr/>
            </p:nvSpPr>
            <p:spPr>
              <a:xfrm>
                <a:off x="159911" y="3267364"/>
                <a:ext cx="3657858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6A8FD5-F0B7-47F7-A807-F93EB34C0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3267364"/>
                <a:ext cx="3657858" cy="5371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/>
              <p:nvPr/>
            </p:nvSpPr>
            <p:spPr>
              <a:xfrm>
                <a:off x="159911" y="5389118"/>
                <a:ext cx="3657860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e>
                        <m:sub/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𝑏𝑖𝑎𝑠</m:t>
                              </m:r>
                            </m:e>
                            <m:sub/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551CED-B5B1-4DB8-9FAE-F76767EEA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5389118"/>
                <a:ext cx="3657860" cy="537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/>
              <p:nvPr/>
            </p:nvSpPr>
            <p:spPr>
              <a:xfrm>
                <a:off x="159911" y="4333326"/>
                <a:ext cx="3657858" cy="53719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4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𝒆𝒂</m:t>
                      </m:r>
                      <m:r>
                        <a:rPr lang="fr-FR" sz="14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𝒏𝒊𝒏𝒈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MA" sz="14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𝒓𝒂𝒕𝒆</m:t>
                      </m:r>
                      <m:r>
                        <a:rPr lang="fr-FR" sz="14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MA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sSub>
                            <m:sSubPr>
                              <m:ctrlP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MA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391155E-3D1A-42D5-9BAE-DA2A6BAC42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1" y="4333326"/>
                <a:ext cx="3657858" cy="5371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llipse 76">
            <a:extLst>
              <a:ext uri="{FF2B5EF4-FFF2-40B4-BE49-F238E27FC236}">
                <a16:creationId xmlns:a16="http://schemas.microsoft.com/office/drawing/2014/main" id="{22C6FCDE-ADAA-40BC-988C-34E1F02E9242}"/>
              </a:ext>
            </a:extLst>
          </p:cNvPr>
          <p:cNvSpPr/>
          <p:nvPr/>
        </p:nvSpPr>
        <p:spPr>
          <a:xfrm>
            <a:off x="4835355" y="114030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Ellipse 77">
            <a:extLst>
              <a:ext uri="{FF2B5EF4-FFF2-40B4-BE49-F238E27FC236}">
                <a16:creationId xmlns:a16="http://schemas.microsoft.com/office/drawing/2014/main" id="{0A3C950A-8E43-42E9-8A87-65403A533899}"/>
              </a:ext>
            </a:extLst>
          </p:cNvPr>
          <p:cNvSpPr/>
          <p:nvPr/>
        </p:nvSpPr>
        <p:spPr>
          <a:xfrm>
            <a:off x="5746793" y="562663"/>
            <a:ext cx="909254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1.821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1" name="Ellipse 78">
            <a:extLst>
              <a:ext uri="{FF2B5EF4-FFF2-40B4-BE49-F238E27FC236}">
                <a16:creationId xmlns:a16="http://schemas.microsoft.com/office/drawing/2014/main" id="{CBADF332-DEF9-4C6E-A366-EE9A94817903}"/>
              </a:ext>
            </a:extLst>
          </p:cNvPr>
          <p:cNvSpPr/>
          <p:nvPr/>
        </p:nvSpPr>
        <p:spPr>
          <a:xfrm>
            <a:off x="5856209" y="1115457"/>
            <a:ext cx="932532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0.499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2" name="Ellipse 80">
            <a:extLst>
              <a:ext uri="{FF2B5EF4-FFF2-40B4-BE49-F238E27FC236}">
                <a16:creationId xmlns:a16="http://schemas.microsoft.com/office/drawing/2014/main" id="{F8E7EE9D-82C5-4B28-A43D-E6E7BEE21E2F}"/>
              </a:ext>
            </a:extLst>
          </p:cNvPr>
          <p:cNvSpPr/>
          <p:nvPr/>
        </p:nvSpPr>
        <p:spPr>
          <a:xfrm>
            <a:off x="5818734" y="1711225"/>
            <a:ext cx="911691" cy="504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400" b="1" dirty="0">
                <a:solidFill>
                  <a:srgbClr val="0070C0"/>
                </a:solidFill>
              </a:rPr>
              <a:t>0.197</a:t>
            </a:r>
            <a:endParaRPr lang="fr-FR" sz="1400" b="1" baseline="-25000" dirty="0">
              <a:solidFill>
                <a:srgbClr val="0070C0"/>
              </a:solidFill>
            </a:endParaRPr>
          </a:p>
        </p:txBody>
      </p:sp>
      <p:sp>
        <p:nvSpPr>
          <p:cNvPr id="33" name="Ellipse 94">
            <a:extLst>
              <a:ext uri="{FF2B5EF4-FFF2-40B4-BE49-F238E27FC236}">
                <a16:creationId xmlns:a16="http://schemas.microsoft.com/office/drawing/2014/main" id="{7ADFE418-34A4-4FC0-B8F6-A4103F5A1DEE}"/>
              </a:ext>
            </a:extLst>
          </p:cNvPr>
          <p:cNvSpPr/>
          <p:nvPr/>
        </p:nvSpPr>
        <p:spPr>
          <a:xfrm>
            <a:off x="7436902" y="938016"/>
            <a:ext cx="955343" cy="900752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cxnSp>
        <p:nvCxnSpPr>
          <p:cNvPr id="34" name="Connecteur droit avec flèche 95">
            <a:extLst>
              <a:ext uri="{FF2B5EF4-FFF2-40B4-BE49-F238E27FC236}">
                <a16:creationId xmlns:a16="http://schemas.microsoft.com/office/drawing/2014/main" id="{83E38475-278C-451D-B289-64453630F5A9}"/>
              </a:ext>
            </a:extLst>
          </p:cNvPr>
          <p:cNvCxnSpPr/>
          <p:nvPr/>
        </p:nvCxnSpPr>
        <p:spPr>
          <a:xfrm flipV="1">
            <a:off x="8392245" y="136787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96">
            <a:extLst>
              <a:ext uri="{FF2B5EF4-FFF2-40B4-BE49-F238E27FC236}">
                <a16:creationId xmlns:a16="http://schemas.microsoft.com/office/drawing/2014/main" id="{24246B42-7D81-453C-BE7A-131F5F734251}"/>
              </a:ext>
            </a:extLst>
          </p:cNvPr>
          <p:cNvCxnSpPr>
            <a:stCxn id="33" idx="0"/>
            <a:endCxn id="33" idx="4"/>
          </p:cNvCxnSpPr>
          <p:nvPr/>
        </p:nvCxnSpPr>
        <p:spPr>
          <a:xfrm>
            <a:off x="7914574" y="938016"/>
            <a:ext cx="0" cy="90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97">
            <a:extLst>
              <a:ext uri="{FF2B5EF4-FFF2-40B4-BE49-F238E27FC236}">
                <a16:creationId xmlns:a16="http://schemas.microsoft.com/office/drawing/2014/main" id="{0C06CCA3-2C79-4BBC-A27A-8670ADCA33BF}"/>
              </a:ext>
            </a:extLst>
          </p:cNvPr>
          <p:cNvSpPr txBox="1"/>
          <p:nvPr/>
        </p:nvSpPr>
        <p:spPr>
          <a:xfrm>
            <a:off x="7883263" y="1235045"/>
            <a:ext cx="543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OUT</a:t>
            </a:r>
          </a:p>
        </p:txBody>
      </p:sp>
      <p:sp>
        <p:nvSpPr>
          <p:cNvPr id="37" name="ZoneTexte 98">
            <a:extLst>
              <a:ext uri="{FF2B5EF4-FFF2-40B4-BE49-F238E27FC236}">
                <a16:creationId xmlns:a16="http://schemas.microsoft.com/office/drawing/2014/main" id="{2B6F50B3-74E8-4293-819B-90246597F258}"/>
              </a:ext>
            </a:extLst>
          </p:cNvPr>
          <p:cNvSpPr txBox="1"/>
          <p:nvPr/>
        </p:nvSpPr>
        <p:spPr>
          <a:xfrm>
            <a:off x="7477597" y="1232934"/>
            <a:ext cx="46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IN</a:t>
            </a:r>
          </a:p>
        </p:txBody>
      </p:sp>
      <p:cxnSp>
        <p:nvCxnSpPr>
          <p:cNvPr id="38" name="Connecteur droit avec flèche 99">
            <a:extLst>
              <a:ext uri="{FF2B5EF4-FFF2-40B4-BE49-F238E27FC236}">
                <a16:creationId xmlns:a16="http://schemas.microsoft.com/office/drawing/2014/main" id="{4BB4B97F-7E00-4DB9-A783-7EDAE33A6F08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 flipV="1">
            <a:off x="5447355" y="1367457"/>
            <a:ext cx="408854" cy="6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00">
            <a:extLst>
              <a:ext uri="{FF2B5EF4-FFF2-40B4-BE49-F238E27FC236}">
                <a16:creationId xmlns:a16="http://schemas.microsoft.com/office/drawing/2014/main" id="{1A23C056-1107-41F9-B99D-331BE3F11C94}"/>
              </a:ext>
            </a:extLst>
          </p:cNvPr>
          <p:cNvCxnSpPr>
            <a:cxnSpLocks/>
            <a:stCxn id="40" idx="6"/>
            <a:endCxn id="32" idx="2"/>
          </p:cNvCxnSpPr>
          <p:nvPr/>
        </p:nvCxnSpPr>
        <p:spPr>
          <a:xfrm flipV="1">
            <a:off x="5461003" y="1963225"/>
            <a:ext cx="357731" cy="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01">
            <a:extLst>
              <a:ext uri="{FF2B5EF4-FFF2-40B4-BE49-F238E27FC236}">
                <a16:creationId xmlns:a16="http://schemas.microsoft.com/office/drawing/2014/main" id="{25052131-321E-4CE1-B662-A527FC560DA1}"/>
              </a:ext>
            </a:extLst>
          </p:cNvPr>
          <p:cNvSpPr/>
          <p:nvPr/>
        </p:nvSpPr>
        <p:spPr>
          <a:xfrm>
            <a:off x="4849003" y="173493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ZoneTexte 102">
            <a:extLst>
              <a:ext uri="{FF2B5EF4-FFF2-40B4-BE49-F238E27FC236}">
                <a16:creationId xmlns:a16="http://schemas.microsoft.com/office/drawing/2014/main" id="{C5230C8F-7A89-4D8D-BA4E-6D0237B32BA7}"/>
              </a:ext>
            </a:extLst>
          </p:cNvPr>
          <p:cNvSpPr txBox="1"/>
          <p:nvPr/>
        </p:nvSpPr>
        <p:spPr>
          <a:xfrm>
            <a:off x="6933269" y="573351"/>
            <a:ext cx="1998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sigmoid</a:t>
            </a:r>
            <a:r>
              <a:rPr lang="fr-FR" b="1" dirty="0"/>
              <a:t>(</a:t>
            </a:r>
            <a:r>
              <a:rPr lang="fr-FR" b="1" dirty="0" err="1"/>
              <a:t>sum</a:t>
            </a:r>
            <a:r>
              <a:rPr lang="fr-FR" b="1" dirty="0"/>
              <a:t>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235E59-D1C8-4C69-94D6-8AFB4CB664A7}"/>
              </a:ext>
            </a:extLst>
          </p:cNvPr>
          <p:cNvSpPr/>
          <p:nvPr/>
        </p:nvSpPr>
        <p:spPr>
          <a:xfrm>
            <a:off x="4922800" y="1158461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0.1</a:t>
            </a:r>
            <a:endParaRPr lang="fr-FR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E9DEF8-4C26-4EAA-BEA3-FC32B0CDC055}"/>
              </a:ext>
            </a:extLst>
          </p:cNvPr>
          <p:cNvSpPr/>
          <p:nvPr/>
        </p:nvSpPr>
        <p:spPr>
          <a:xfrm>
            <a:off x="4948859" y="1777280"/>
            <a:ext cx="479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0.3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4" name="Connecteur droit 106">
            <a:extLst>
              <a:ext uri="{FF2B5EF4-FFF2-40B4-BE49-F238E27FC236}">
                <a16:creationId xmlns:a16="http://schemas.microsoft.com/office/drawing/2014/main" id="{BCB271E6-1E8A-4752-8C61-9C5E744629E1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74413" y="811741"/>
            <a:ext cx="962489" cy="576651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107">
            <a:extLst>
              <a:ext uri="{FF2B5EF4-FFF2-40B4-BE49-F238E27FC236}">
                <a16:creationId xmlns:a16="http://schemas.microsoft.com/office/drawing/2014/main" id="{4F02100B-6958-4605-BE04-4CB2B0B20FB1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545763" y="1338877"/>
            <a:ext cx="891139" cy="4951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108">
            <a:extLst>
              <a:ext uri="{FF2B5EF4-FFF2-40B4-BE49-F238E27FC236}">
                <a16:creationId xmlns:a16="http://schemas.microsoft.com/office/drawing/2014/main" id="{71A7084D-7F2A-4155-9EAE-DA591040C361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6574041" y="1388392"/>
            <a:ext cx="862861" cy="57987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1693BCA-1CC0-4461-89EB-8BE4A6CE0DA5}"/>
              </a:ext>
            </a:extLst>
          </p:cNvPr>
          <p:cNvSpPr/>
          <p:nvPr/>
        </p:nvSpPr>
        <p:spPr>
          <a:xfrm>
            <a:off x="4600558" y="9686"/>
            <a:ext cx="5018252" cy="3260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105">
            <a:extLst>
              <a:ext uri="{FF2B5EF4-FFF2-40B4-BE49-F238E27FC236}">
                <a16:creationId xmlns:a16="http://schemas.microsoft.com/office/drawing/2014/main" id="{09F4ACB3-7C5D-4096-8C4F-F7C7135A8960}"/>
              </a:ext>
            </a:extLst>
          </p:cNvPr>
          <p:cNvSpPr txBox="1"/>
          <p:nvPr/>
        </p:nvSpPr>
        <p:spPr>
          <a:xfrm>
            <a:off x="8332162" y="904313"/>
            <a:ext cx="8215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050" b="1" dirty="0" err="1">
                <a:solidFill>
                  <a:srgbClr val="FF3300"/>
                </a:solidFill>
              </a:rPr>
              <a:t>Predicted</a:t>
            </a:r>
            <a:r>
              <a:rPr lang="fr-MA" sz="1050" b="1" dirty="0">
                <a:solidFill>
                  <a:srgbClr val="FF3300"/>
                </a:solidFill>
              </a:rPr>
              <a:t> </a:t>
            </a:r>
          </a:p>
          <a:p>
            <a:pPr algn="ctr"/>
            <a:r>
              <a:rPr lang="fr-MA" sz="1050" b="1" dirty="0">
                <a:solidFill>
                  <a:srgbClr val="FF3300"/>
                </a:solidFill>
              </a:rPr>
              <a:t>output</a:t>
            </a:r>
            <a:endParaRPr lang="fr-FR" sz="1050" b="1" dirty="0">
              <a:solidFill>
                <a:srgbClr val="FF3300"/>
              </a:solidFill>
            </a:endParaRP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9011DA8E-5F4B-4FCF-82EF-6C2CB9D5482C}"/>
              </a:ext>
            </a:extLst>
          </p:cNvPr>
          <p:cNvSpPr/>
          <p:nvPr/>
        </p:nvSpPr>
        <p:spPr>
          <a:xfrm>
            <a:off x="8932245" y="1042381"/>
            <a:ext cx="657225" cy="663845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?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7367F84-D09D-4B97-8ED0-60E007AC8805}"/>
              </a:ext>
            </a:extLst>
          </p:cNvPr>
          <p:cNvCxnSpPr>
            <a:stCxn id="49" idx="2"/>
          </p:cNvCxnSpPr>
          <p:nvPr/>
        </p:nvCxnSpPr>
        <p:spPr>
          <a:xfrm rot="5400000">
            <a:off x="7805256" y="1101862"/>
            <a:ext cx="851239" cy="20599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CF6F9E7-621A-44C4-B34F-C24075DA39FB}"/>
              </a:ext>
            </a:extLst>
          </p:cNvPr>
          <p:cNvSpPr/>
          <p:nvPr/>
        </p:nvSpPr>
        <p:spPr>
          <a:xfrm>
            <a:off x="6291906" y="2334221"/>
            <a:ext cx="925675" cy="42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Update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C17BBC-9F17-49C7-8FB3-621954FD86CA}"/>
              </a:ext>
            </a:extLst>
          </p:cNvPr>
          <p:cNvCxnSpPr>
            <a:cxnSpLocks/>
          </p:cNvCxnSpPr>
          <p:nvPr/>
        </p:nvCxnSpPr>
        <p:spPr>
          <a:xfrm>
            <a:off x="4786625" y="286459"/>
            <a:ext cx="4313163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1C5A3E72-80EE-49AC-80B1-411E722EEFA4}"/>
              </a:ext>
            </a:extLst>
          </p:cNvPr>
          <p:cNvSpPr/>
          <p:nvPr/>
        </p:nvSpPr>
        <p:spPr>
          <a:xfrm>
            <a:off x="5959024" y="81808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3258DE-2FC7-40E7-8C21-62E348A90D39}"/>
              </a:ext>
            </a:extLst>
          </p:cNvPr>
          <p:cNvCxnSpPr>
            <a:cxnSpLocks/>
          </p:cNvCxnSpPr>
          <p:nvPr/>
        </p:nvCxnSpPr>
        <p:spPr>
          <a:xfrm flipH="1">
            <a:off x="5141355" y="2996087"/>
            <a:ext cx="4136783" cy="34281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86CDC0F-46C1-4864-AE2A-25B8BBB444B4}"/>
              </a:ext>
            </a:extLst>
          </p:cNvPr>
          <p:cNvSpPr/>
          <p:nvPr/>
        </p:nvSpPr>
        <p:spPr>
          <a:xfrm>
            <a:off x="5818734" y="2848825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endParaRPr lang="fr-FR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F048C1-971F-41CC-9213-1B61A5F93FAC}"/>
              </a:ext>
            </a:extLst>
          </p:cNvPr>
          <p:cNvSpPr/>
          <p:nvPr/>
        </p:nvSpPr>
        <p:spPr>
          <a:xfrm>
            <a:off x="112551" y="1223367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Forward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r>
              <a:rPr lang="fr-MA" b="1" dirty="0"/>
              <a:t> 2</a:t>
            </a:r>
            <a:endParaRPr lang="fr-FR" b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A81024-C513-4F0F-8961-3803C3BECDFF}"/>
              </a:ext>
            </a:extLst>
          </p:cNvPr>
          <p:cNvSpPr/>
          <p:nvPr/>
        </p:nvSpPr>
        <p:spPr>
          <a:xfrm>
            <a:off x="84454" y="2824671"/>
            <a:ext cx="1955549" cy="3802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 err="1"/>
              <a:t>Backward</a:t>
            </a:r>
            <a:r>
              <a:rPr lang="fr-MA" b="1" dirty="0"/>
              <a:t> </a:t>
            </a:r>
            <a:r>
              <a:rPr lang="fr-MA" b="1" dirty="0" err="1"/>
              <a:t>pass</a:t>
            </a:r>
            <a:r>
              <a:rPr lang="fr-MA" b="1" dirty="0"/>
              <a:t> 2</a:t>
            </a:r>
            <a:endParaRPr lang="fr-F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/>
              <p:nvPr/>
            </p:nvSpPr>
            <p:spPr>
              <a:xfrm>
                <a:off x="8428062" y="5680351"/>
                <a:ext cx="936555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𝒃𝒊𝒂𝒔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EC35E9-3672-4D9F-9C26-4F01E7DFC0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062" y="5680351"/>
                <a:ext cx="936555" cy="44345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/>
              <p:nvPr/>
            </p:nvSpPr>
            <p:spPr>
              <a:xfrm>
                <a:off x="8442557" y="4579128"/>
                <a:ext cx="922061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9B06553-B4F3-4D79-9449-4C92C8C4A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557" y="4579128"/>
                <a:ext cx="922061" cy="44345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/>
              <p:nvPr/>
            </p:nvSpPr>
            <p:spPr>
              <a:xfrm>
                <a:off x="8436031" y="5095851"/>
                <a:ext cx="922061" cy="443455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fr-MA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AABD92D-C2F3-4CB7-BBC9-E4E8A542AB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031" y="5095851"/>
                <a:ext cx="922061" cy="44345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/>
              <p:nvPr/>
            </p:nvSpPr>
            <p:spPr>
              <a:xfrm>
                <a:off x="8426312" y="3323751"/>
                <a:ext cx="2775119" cy="4745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𝛛</m:t>
                          </m:r>
                          <m:r>
                            <a:rPr lang="fr-FR" sz="1200" b="1" i="1">
                              <a:latin typeface="Cambria Math" panose="02040503050406030204" pitchFamily="18" charset="0"/>
                            </a:rPr>
                            <m:t>𝒑𝒓𝒆𝒅𝒊𝒄𝒕𝒆𝒅</m:t>
                          </m:r>
                        </m:den>
                      </m:f>
                      <m:r>
                        <a:rPr lang="fr-FR" sz="12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𝒑𝒓𝒆𝒅𝒊𝒄𝒕𝒆𝒅</m:t>
                      </m:r>
                      <m:r>
                        <a:rPr lang="fr-FR" sz="1200" b="1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1" i="1">
                          <a:latin typeface="Cambria Math" panose="02040503050406030204" pitchFamily="18" charset="0"/>
                        </a:rPr>
                        <m:t>𝒅𝒆𝒔𝒊𝒓𝒆𝒅</m:t>
                      </m:r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64E3468-F109-4022-8065-91C9AF46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312" y="3323751"/>
                <a:ext cx="2775119" cy="474553"/>
              </a:xfrm>
              <a:prstGeom prst="rect">
                <a:avLst/>
              </a:prstGeom>
              <a:blipFill>
                <a:blip r:embed="rId17"/>
                <a:stretch>
                  <a:fillRect b="-37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/>
              <p:nvPr/>
            </p:nvSpPr>
            <p:spPr>
              <a:xfrm>
                <a:off x="8426312" y="3888493"/>
                <a:ext cx="2775119" cy="50731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fr-F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num>
                            <m:den>
                              <m:r>
                                <a:rPr lang="fr-FR" sz="1200" b="1" i="1"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fr-FR" sz="12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12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fr-MA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0C5643-5E70-41CF-BEFF-57CA8390B9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312" y="3888493"/>
                <a:ext cx="2775119" cy="507318"/>
              </a:xfrm>
              <a:prstGeom prst="rect">
                <a:avLst/>
              </a:prstGeom>
              <a:blipFill>
                <a:blip r:embed="rId18"/>
                <a:stretch>
                  <a:fillRect t="-174118" r="-23362" b="-254118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>
            <a:extLst>
              <a:ext uri="{FF2B5EF4-FFF2-40B4-BE49-F238E27FC236}">
                <a16:creationId xmlns:a16="http://schemas.microsoft.com/office/drawing/2014/main" id="{16EF2918-FD6D-47E4-BACE-DD14A2AF566D}"/>
              </a:ext>
            </a:extLst>
          </p:cNvPr>
          <p:cNvSpPr/>
          <p:nvPr/>
        </p:nvSpPr>
        <p:spPr>
          <a:xfrm>
            <a:off x="11308446" y="3355745"/>
            <a:ext cx="292068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b="1" dirty="0"/>
              <a:t>?</a:t>
            </a:r>
          </a:p>
        </p:txBody>
      </p:sp>
      <p:graphicFrame>
        <p:nvGraphicFramePr>
          <p:cNvPr id="71" name="Tableau 109">
            <a:extLst>
              <a:ext uri="{FF2B5EF4-FFF2-40B4-BE49-F238E27FC236}">
                <a16:creationId xmlns:a16="http://schemas.microsoft.com/office/drawing/2014/main" id="{3ABC30A2-F2BA-470D-ACCA-7D917CB2CF1E}"/>
              </a:ext>
            </a:extLst>
          </p:cNvPr>
          <p:cNvGraphicFramePr>
            <a:graphicFrameLocks noGrp="1"/>
          </p:cNvGraphicFramePr>
          <p:nvPr/>
        </p:nvGraphicFramePr>
        <p:xfrm>
          <a:off x="2108592" y="51941"/>
          <a:ext cx="2291023" cy="98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MA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0.03</a:t>
                      </a:r>
                      <a:endParaRPr lang="fr-FR" sz="14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94521"/>
                  </a:ext>
                </a:extLst>
              </a:tr>
            </a:tbl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9A051AA5-9BF0-4171-BFA6-120ABDF8D586}"/>
              </a:ext>
            </a:extLst>
          </p:cNvPr>
          <p:cNvSpPr/>
          <p:nvPr/>
        </p:nvSpPr>
        <p:spPr>
          <a:xfrm>
            <a:off x="11308446" y="3973589"/>
            <a:ext cx="71365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F572E91-5A16-4FB7-972F-30010EAF1A9D}"/>
                  </a:ext>
                </a:extLst>
              </p:cNvPr>
              <p:cNvSpPr txBox="1"/>
              <p:nvPr/>
            </p:nvSpPr>
            <p:spPr>
              <a:xfrm>
                <a:off x="9408734" y="4660696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F572E91-5A16-4FB7-972F-30010EAF1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4660696"/>
                <a:ext cx="568062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46505D-AC24-499B-ADCF-59E146EA8E98}"/>
                  </a:ext>
                </a:extLst>
              </p:cNvPr>
              <p:cNvSpPr txBox="1"/>
              <p:nvPr/>
            </p:nvSpPr>
            <p:spPr>
              <a:xfrm>
                <a:off x="9408734" y="5214539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MA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46505D-AC24-499B-ADCF-59E146EA8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5214539"/>
                <a:ext cx="568062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046E7F-8965-469E-9C6D-B8C5625D3CC7}"/>
                  </a:ext>
                </a:extLst>
              </p:cNvPr>
              <p:cNvSpPr txBox="1"/>
              <p:nvPr/>
            </p:nvSpPr>
            <p:spPr>
              <a:xfrm>
                <a:off x="9408734" y="5788682"/>
                <a:ext cx="568062" cy="276999"/>
              </a:xfrm>
              <a:prstGeom prst="rect">
                <a:avLst/>
              </a:prstGeom>
              <a:solidFill>
                <a:srgbClr val="9BE5FF"/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>
                  <a:defRPr sz="12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046E7F-8965-469E-9C6D-B8C5625D3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734" y="5788682"/>
                <a:ext cx="568062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E41E25C4-6996-48B6-BF83-86358D4D51E6}"/>
              </a:ext>
            </a:extLst>
          </p:cNvPr>
          <p:cNvSpPr/>
          <p:nvPr/>
        </p:nvSpPr>
        <p:spPr>
          <a:xfrm>
            <a:off x="7424092" y="5599105"/>
            <a:ext cx="769870" cy="338554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?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C7020A-7EEA-4FB5-B2FD-6C3D859A6349}"/>
              </a:ext>
            </a:extLst>
          </p:cNvPr>
          <p:cNvSpPr/>
          <p:nvPr/>
        </p:nvSpPr>
        <p:spPr>
          <a:xfrm>
            <a:off x="7457863" y="3557530"/>
            <a:ext cx="793774" cy="338554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?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729083C-3D3C-4323-AB66-41705DFE81F5}"/>
              </a:ext>
            </a:extLst>
          </p:cNvPr>
          <p:cNvSpPr/>
          <p:nvPr/>
        </p:nvSpPr>
        <p:spPr>
          <a:xfrm>
            <a:off x="7410422" y="4562760"/>
            <a:ext cx="829073" cy="369332"/>
          </a:xfrm>
          <a:prstGeom prst="rect">
            <a:avLst/>
          </a:prstGeom>
          <a:ln>
            <a:solidFill>
              <a:srgbClr val="FF3300"/>
            </a:solidFill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DE2DDB2-D2CD-4708-BDCA-65E068539AA7}"/>
                  </a:ext>
                </a:extLst>
              </p:cNvPr>
              <p:cNvSpPr/>
              <p:nvPr/>
            </p:nvSpPr>
            <p:spPr>
              <a:xfrm>
                <a:off x="159910" y="5924046"/>
                <a:ext cx="3657859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DE2DDB2-D2CD-4708-BDCA-65E068539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10" y="5924046"/>
                <a:ext cx="3657859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093F103-AA0B-40B5-8625-37A9156FD4AB}"/>
                  </a:ext>
                </a:extLst>
              </p:cNvPr>
              <p:cNvSpPr/>
              <p:nvPr/>
            </p:nvSpPr>
            <p:spPr>
              <a:xfrm>
                <a:off x="157350" y="3814732"/>
                <a:ext cx="3657858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fr-F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093F103-AA0B-40B5-8625-37A9156FD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50" y="3814732"/>
                <a:ext cx="3657858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A00BD9C-2981-411F-9CB9-34BD6EA51A6E}"/>
                  </a:ext>
                </a:extLst>
              </p:cNvPr>
              <p:cNvSpPr/>
              <p:nvPr/>
            </p:nvSpPr>
            <p:spPr>
              <a:xfrm>
                <a:off x="156960" y="4889454"/>
                <a:ext cx="3657858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fr-MA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sz="16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fr-FR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A00BD9C-2981-411F-9CB9-34BD6EA51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60" y="4889454"/>
                <a:ext cx="3657858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E1B37D-36B7-4987-BAB8-9DAF7E22E85E}"/>
                  </a:ext>
                </a:extLst>
              </p:cNvPr>
              <p:cNvSpPr txBox="1"/>
              <p:nvPr/>
            </p:nvSpPr>
            <p:spPr>
              <a:xfrm>
                <a:off x="40405" y="1653534"/>
                <a:ext cx="3841014" cy="1164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Sum=w1*x1+w2*x2+bias</a:t>
                </a:r>
              </a:p>
              <a:p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Predicted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output=</a:t>
                </a:r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sigmoid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</a:t>
                </a:r>
                <a:r>
                  <a:rPr lang="fr-MA" sz="1800" b="1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sum</a:t>
                </a:r>
                <a:r>
                  <a:rPr lang="fr-MA" sz="1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800" b="1" i="1" smtClean="0"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fr-FR" sz="18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fr-FR" sz="1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1" i="1">
                                  <a:latin typeface="Cambria Math" panose="02040503050406030204" pitchFamily="18" charset="0"/>
                                </a:rPr>
                                <m:t>𝒅𝒆𝒔𝒊𝒓𝒆𝒅</m:t>
                              </m:r>
                              <m:r>
                                <a:rPr lang="fr-FR" sz="18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𝒑𝒓𝒆𝒅𝒊𝒄𝒕𝒆𝒅</m:t>
                              </m:r>
                            </m:e>
                          </m:d>
                        </m:e>
                        <m:sup>
                          <m:r>
                            <a:rPr lang="fr-FR" sz="18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fr-MA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CE1B37D-36B7-4987-BAB8-9DAF7E22E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5" y="1653534"/>
                <a:ext cx="3841014" cy="1164934"/>
              </a:xfrm>
              <a:prstGeom prst="rect">
                <a:avLst/>
              </a:prstGeom>
              <a:blipFill>
                <a:blip r:embed="rId25"/>
                <a:stretch>
                  <a:fillRect l="-1429" t="-261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6936B3EA-A6FD-4E87-9601-62C26686DA47}"/>
              </a:ext>
            </a:extLst>
          </p:cNvPr>
          <p:cNvSpPr txBox="1"/>
          <p:nvPr/>
        </p:nvSpPr>
        <p:spPr>
          <a:xfrm>
            <a:off x="2844985" y="1638211"/>
            <a:ext cx="954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=1.929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2507EA-A721-4D85-9F75-CC59449B34F8}"/>
              </a:ext>
            </a:extLst>
          </p:cNvPr>
          <p:cNvSpPr txBox="1"/>
          <p:nvPr/>
        </p:nvSpPr>
        <p:spPr>
          <a:xfrm>
            <a:off x="3232967" y="1964985"/>
            <a:ext cx="924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=0.873</a:t>
            </a:r>
            <a:endParaRPr lang="fr-M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337BFC-CB90-48EC-AE33-7D0CFCCE8083}"/>
                  </a:ext>
                </a:extLst>
              </p:cNvPr>
              <p:cNvSpPr txBox="1"/>
              <p:nvPr/>
            </p:nvSpPr>
            <p:spPr>
              <a:xfrm>
                <a:off x="3589068" y="2379864"/>
                <a:ext cx="9436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MA" sz="1800" b="1" dirty="0">
                          <a:solidFill>
                            <a:srgbClr val="FF0000"/>
                          </a:solidFill>
                        </a:rPr>
                        <m:t>0.35</m:t>
                      </m:r>
                      <m:r>
                        <m:rPr>
                          <m:nor/>
                        </m:rPr>
                        <a:rPr lang="fr-MA" sz="1800" b="1" i="0" dirty="0" smtClean="0">
                          <a:solidFill>
                            <a:srgbClr val="FF0000"/>
                          </a:solidFill>
                        </a:rPr>
                        <m:t>55</m:t>
                      </m:r>
                    </m:oMath>
                  </m:oMathPara>
                </a14:m>
                <a:endParaRPr lang="fr-MA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2337BFC-CB90-48EC-AE33-7D0CFCCE8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068" y="2379864"/>
                <a:ext cx="943661" cy="369332"/>
              </a:xfrm>
              <a:prstGeom prst="rect">
                <a:avLst/>
              </a:prstGeom>
              <a:blipFill>
                <a:blip r:embed="rId26"/>
                <a:stretch>
                  <a:fillRect r="-10968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9565B60B-9B45-42ED-B772-48F2F4A30D52}"/>
              </a:ext>
            </a:extLst>
          </p:cNvPr>
          <p:cNvSpPr txBox="1"/>
          <p:nvPr/>
        </p:nvSpPr>
        <p:spPr>
          <a:xfrm>
            <a:off x="1090325" y="419190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Entree1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8C78C3-0872-4FE3-A275-10523719276A}"/>
              </a:ext>
            </a:extLst>
          </p:cNvPr>
          <p:cNvSpPr txBox="1"/>
          <p:nvPr/>
        </p:nvSpPr>
        <p:spPr>
          <a:xfrm>
            <a:off x="1128423" y="785906"/>
            <a:ext cx="97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Entreen</a:t>
            </a:r>
            <a:endParaRPr lang="fr-MA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EC0399-D6A0-436D-BED1-C2CC84336FA4}"/>
              </a:ext>
            </a:extLst>
          </p:cNvPr>
          <p:cNvSpPr txBox="1"/>
          <p:nvPr/>
        </p:nvSpPr>
        <p:spPr>
          <a:xfrm>
            <a:off x="15024" y="9685"/>
            <a:ext cx="41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5FA"/>
                </a:solidFill>
              </a:rPr>
              <a:t>Itération 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8BD872-3CB5-4BDB-A1D7-FCF36B362ACF}"/>
              </a:ext>
            </a:extLst>
          </p:cNvPr>
          <p:cNvSpPr txBox="1"/>
          <p:nvPr/>
        </p:nvSpPr>
        <p:spPr>
          <a:xfrm>
            <a:off x="2302832" y="1031826"/>
            <a:ext cx="211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3300"/>
                </a:solidFill>
              </a:rPr>
              <a:t>learning_rate</a:t>
            </a:r>
            <a:r>
              <a:rPr lang="fr-MA" b="1" dirty="0">
                <a:solidFill>
                  <a:srgbClr val="FF3300"/>
                </a:solidFill>
              </a:rPr>
              <a:t>=0.01</a:t>
            </a:r>
          </a:p>
        </p:txBody>
      </p:sp>
    </p:spTree>
    <p:extLst>
      <p:ext uri="{BB962C8B-B14F-4D97-AF65-F5344CB8AC3E}">
        <p14:creationId xmlns:p14="http://schemas.microsoft.com/office/powerpoint/2010/main" val="237372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/>
      <p:bldP spid="85" grpId="0"/>
      <p:bldP spid="8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7726" y="1544757"/>
            <a:ext cx="104166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Epoch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10000: ------------------------------------ </a:t>
            </a:r>
          </a:p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:-3.2627453450687973</a:t>
            </a:r>
          </a:p>
          <a:p>
            <a:r>
              <a:rPr lang="fr-FR" sz="2400" b="1" dirty="0" err="1">
                <a:solidFill>
                  <a:srgbClr val="0065FA"/>
                </a:solidFill>
                <a:latin typeface="Consolas" panose="020B0609020204030204" pitchFamily="49" charset="0"/>
              </a:rPr>
              <a:t>prediction</a:t>
            </a:r>
            <a:r>
              <a:rPr lang="fr-FR" sz="2400" b="1" dirty="0">
                <a:solidFill>
                  <a:srgbClr val="0065FA"/>
                </a:solidFill>
                <a:latin typeface="Consolas" panose="020B0609020204030204" pitchFamily="49" charset="0"/>
              </a:rPr>
              <a:t>: 0.036871592334909074</a:t>
            </a:r>
          </a:p>
          <a:p>
            <a:r>
              <a:rPr lang="fr-FR" sz="2400" b="1" dirty="0" err="1">
                <a:solidFill>
                  <a:srgbClr val="FF3300"/>
                </a:solidFill>
                <a:latin typeface="Consolas" panose="020B0609020204030204" pitchFamily="49" charset="0"/>
              </a:rPr>
              <a:t>Loss-quadr</a:t>
            </a:r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: 2.360939060859058E-5</a:t>
            </a:r>
          </a:p>
          <a:p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0,027   -1,219 -2,900 </a:t>
            </a:r>
          </a:p>
          <a:p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-------------------------------------------------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636000" y="2394963"/>
            <a:ext cx="186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backpropagation</a:t>
            </a:r>
            <a:endParaRPr lang="fr-FR" b="1" dirty="0"/>
          </a:p>
        </p:txBody>
      </p:sp>
      <p:sp>
        <p:nvSpPr>
          <p:cNvPr id="5" name="ZoneTexte 14">
            <a:extLst>
              <a:ext uri="{FF2B5EF4-FFF2-40B4-BE49-F238E27FC236}">
                <a16:creationId xmlns:a16="http://schemas.microsoft.com/office/drawing/2014/main" id="{9D00DEB8-79F4-4F51-9393-F678702BD0AF}"/>
              </a:ext>
            </a:extLst>
          </p:cNvPr>
          <p:cNvSpPr txBox="1"/>
          <p:nvPr/>
        </p:nvSpPr>
        <p:spPr>
          <a:xfrm>
            <a:off x="9284" y="-42862"/>
            <a:ext cx="12182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Algorithm</a:t>
            </a:r>
            <a:r>
              <a:rPr lang="fr-MA" sz="3200" b="1" dirty="0">
                <a:solidFill>
                  <a:srgbClr val="0065FA"/>
                </a:solidFill>
              </a:rPr>
              <a:t> 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(version1: utiliser des variables simples)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432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7726" y="1544757"/>
            <a:ext cx="104166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Epoch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10000: ------------------------------------ </a:t>
            </a:r>
          </a:p>
          <a:p>
            <a:r>
              <a:rPr lang="fr-FR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:-3.2627453450687973</a:t>
            </a:r>
          </a:p>
          <a:p>
            <a:r>
              <a:rPr lang="fr-FR" sz="2400" b="1" dirty="0" err="1">
                <a:solidFill>
                  <a:srgbClr val="0065FA"/>
                </a:solidFill>
                <a:latin typeface="Consolas" panose="020B0609020204030204" pitchFamily="49" charset="0"/>
              </a:rPr>
              <a:t>prediction</a:t>
            </a:r>
            <a:r>
              <a:rPr lang="fr-FR" sz="2400" b="1" dirty="0">
                <a:solidFill>
                  <a:srgbClr val="0065FA"/>
                </a:solidFill>
                <a:latin typeface="Consolas" panose="020B0609020204030204" pitchFamily="49" charset="0"/>
              </a:rPr>
              <a:t>: 0.036871592334909074</a:t>
            </a:r>
          </a:p>
          <a:p>
            <a:r>
              <a:rPr lang="fr-FR" sz="2400" b="1" dirty="0" err="1">
                <a:solidFill>
                  <a:srgbClr val="FF3300"/>
                </a:solidFill>
                <a:latin typeface="Consolas" panose="020B0609020204030204" pitchFamily="49" charset="0"/>
              </a:rPr>
              <a:t>Loss-quadr</a:t>
            </a:r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: 2.360939060859058E-5</a:t>
            </a:r>
          </a:p>
          <a:p>
            <a:r>
              <a:rPr lang="fr-FR" sz="2400" b="1" dirty="0">
                <a:solidFill>
                  <a:srgbClr val="FF3300"/>
                </a:solidFill>
                <a:latin typeface="Consolas" panose="020B0609020204030204" pitchFamily="49" charset="0"/>
              </a:rPr>
              <a:t>0,027   -1,219 -2,900 </a:t>
            </a:r>
          </a:p>
          <a:p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-------------------------------------------------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8636000" y="2394963"/>
            <a:ext cx="186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backpropagation</a:t>
            </a:r>
            <a:endParaRPr lang="fr-FR" b="1" dirty="0"/>
          </a:p>
        </p:txBody>
      </p:sp>
      <p:sp>
        <p:nvSpPr>
          <p:cNvPr id="5" name="ZoneTexte 14">
            <a:extLst>
              <a:ext uri="{FF2B5EF4-FFF2-40B4-BE49-F238E27FC236}">
                <a16:creationId xmlns:a16="http://schemas.microsoft.com/office/drawing/2014/main" id="{9D00DEB8-79F4-4F51-9393-F678702BD0AF}"/>
              </a:ext>
            </a:extLst>
          </p:cNvPr>
          <p:cNvSpPr txBox="1"/>
          <p:nvPr/>
        </p:nvSpPr>
        <p:spPr>
          <a:xfrm>
            <a:off x="9284" y="-42862"/>
            <a:ext cx="12182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200" b="1" dirty="0" err="1">
                <a:solidFill>
                  <a:srgbClr val="0065FA"/>
                </a:solidFill>
              </a:rPr>
              <a:t>Backpropagation</a:t>
            </a:r>
            <a:r>
              <a:rPr lang="fr-MA" sz="3200" b="1" dirty="0">
                <a:solidFill>
                  <a:srgbClr val="0065FA"/>
                </a:solidFill>
              </a:rPr>
              <a:t> – </a:t>
            </a:r>
            <a:r>
              <a:rPr lang="fr-MA" sz="3200" b="1" dirty="0" err="1">
                <a:solidFill>
                  <a:srgbClr val="0065FA"/>
                </a:solidFill>
              </a:rPr>
              <a:t>Algorithm</a:t>
            </a:r>
            <a:r>
              <a:rPr lang="fr-MA" sz="3200" b="1" dirty="0">
                <a:solidFill>
                  <a:srgbClr val="0065FA"/>
                </a:solidFill>
              </a:rPr>
              <a:t> </a:t>
            </a:r>
            <a:r>
              <a:rPr lang="fr-M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(version1: utiliser des matrices)</a:t>
            </a:r>
            <a:endParaRPr lang="fr-FR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150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38516</TotalTime>
  <Words>4194</Words>
  <Application>Microsoft Office PowerPoint</Application>
  <PresentationFormat>Widescreen</PresentationFormat>
  <Paragraphs>829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charter</vt:lpstr>
      <vt:lpstr>Consolas</vt:lpstr>
      <vt:lpstr>Lucida Sans Unicode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Backpropagation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594</cp:revision>
  <dcterms:created xsi:type="dcterms:W3CDTF">2019-09-13T15:50:46Z</dcterms:created>
  <dcterms:modified xsi:type="dcterms:W3CDTF">2023-10-28T15:45:24Z</dcterms:modified>
</cp:coreProperties>
</file>