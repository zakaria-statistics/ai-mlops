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582" r:id="rId3"/>
    <p:sldId id="599" r:id="rId4"/>
    <p:sldId id="593" r:id="rId5"/>
    <p:sldId id="596" r:id="rId6"/>
    <p:sldId id="607" r:id="rId7"/>
    <p:sldId id="643" r:id="rId8"/>
    <p:sldId id="657" r:id="rId9"/>
    <p:sldId id="641" r:id="rId10"/>
    <p:sldId id="644" r:id="rId11"/>
    <p:sldId id="631" r:id="rId12"/>
    <p:sldId id="621" r:id="rId13"/>
    <p:sldId id="620" r:id="rId14"/>
    <p:sldId id="622" r:id="rId15"/>
    <p:sldId id="623" r:id="rId16"/>
    <p:sldId id="624" r:id="rId17"/>
    <p:sldId id="629" r:id="rId18"/>
    <p:sldId id="626" r:id="rId19"/>
    <p:sldId id="627" r:id="rId20"/>
    <p:sldId id="628" r:id="rId21"/>
    <p:sldId id="632" r:id="rId22"/>
    <p:sldId id="646" r:id="rId23"/>
    <p:sldId id="633" r:id="rId24"/>
    <p:sldId id="634" r:id="rId25"/>
    <p:sldId id="635" r:id="rId26"/>
    <p:sldId id="636" r:id="rId27"/>
    <p:sldId id="637" r:id="rId28"/>
    <p:sldId id="638" r:id="rId29"/>
    <p:sldId id="639" r:id="rId30"/>
    <p:sldId id="640" r:id="rId31"/>
    <p:sldId id="647" r:id="rId32"/>
    <p:sldId id="648" r:id="rId33"/>
    <p:sldId id="654" r:id="rId34"/>
    <p:sldId id="655" r:id="rId35"/>
    <p:sldId id="656" r:id="rId36"/>
    <p:sldId id="653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FA"/>
    <a:srgbClr val="FFFF99"/>
    <a:srgbClr val="9BE5FF"/>
    <a:srgbClr val="0066FF"/>
    <a:srgbClr val="FF3300"/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20" units="cm"/>
          <inkml:channel name="T" type="integer" max="2.14748E9" units="dev"/>
        </inkml:traceFormat>
        <inkml:channelProperties>
          <inkml:channelProperty channel="X" name="resolution" value="43.53741" units="1/cm"/>
          <inkml:channelProperty channel="Y" name="resolution" value="43.63636" units="1/cm"/>
          <inkml:channelProperty channel="T" name="resolution" value="1" units="1/dev"/>
        </inkml:channelProperties>
      </inkml:inkSource>
      <inkml:timestamp xml:id="ts0" timeString="2022-01-21T10:52:15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23521 635 0,'0'26'172,"-26"1"-156,0-1-16,-1 27 15,1 0 1,26-26 0,0-1-16,-53 80 15,53 0 1,-27-27-1,1 1 1,26-1 0,0 0-1,0-26 1,0-26 0,26-1-1,1 1 1,26-1 15,0-26-15,-1 0-1,28 0 1,26-53 0,-53 0-1,26 0 1,-26-26-1,-27 26 1,27-26 0,-26 26-1,-1 0 1,-26 0 0,0 0-1,0 0 16,0 27-15,0-27 0,0 26-1,-26-26 1,26 0 0,-27 27-1,1 26 1,-1-27-1,-26 1 1,0 0 0,27-1-1,-27 1 1,27-1 0,-1 27-1,1 0 16,-1 0-15</inkml:trace>
  <inkml:trace contextRef="#ctx0" brushRef="#br0" timeOffset="1858.3">23680 1164 0,'0'-53'141,"0"0"-141,0 0 15,0 0-15,0 27 16,0-27 0,0-26-16,0 52 15,0 1 1,0-27 0,0 26-1,0 1 1,0 0-1,0-1 1,0 1 15,0 52 110,-26 1-125,-1-1-1,27 0 1,-26 27-1,-1-26-15,-26 79 16,1-53 0,-1 26-1,26-26 1,1-27-16,-1 27 16,27 0-1,-53 0 16,53-26-15,0-1 0,-26 0-1</inkml:trace>
  <inkml:trace contextRef="#ctx0" brushRef="#br0" timeOffset="3497.01">24818 1376 0,'-27'0'141,"1"0"-125,0 0-16,26-27 15,-27 27-15,-26 0 16,-26-53 15,-1 27-15,28 26-1,25-26 1,1 26-16,-1 0 16,1-27-1,-1 27 1,-26-26-1,27-1 1,-27 27 0,26-26-1,1 26 1,0-27 0,-1 27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/AbdelwahabNaji" TargetMode="External"/><Relationship Id="rId2" Type="http://schemas.openxmlformats.org/officeDocument/2006/relationships/hyperlink" Target="mailto:Abdelwahab.naji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4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7" Type="http://schemas.openxmlformats.org/officeDocument/2006/relationships/customXml" Target="../ink/ink1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6.png"/><Relationship Id="rId4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7.png"/><Relationship Id="rId4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1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2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5052071"/>
            <a:ext cx="12192000" cy="1446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2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Laboratoire Signaux, Systèmes Distribués et Intelligence Artificielle (SSDIA)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ENSET de Mohammedia, Université Hassan II de Casablanca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0" y="251500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 Layer Neural Network</a:t>
            </a:r>
          </a:p>
          <a:p>
            <a:pPr algn="ctr"/>
            <a:r>
              <a:rPr lang="fr-FR" sz="3200" b="1" dirty="0" err="1">
                <a:solidFill>
                  <a:srgbClr val="00B0F0"/>
                </a:solidFill>
              </a:rPr>
              <a:t>BackPropagation</a:t>
            </a:r>
            <a:r>
              <a:rPr lang="fr-FR" sz="3200" b="1" dirty="0">
                <a:solidFill>
                  <a:srgbClr val="00B0F0"/>
                </a:solidFill>
              </a:rPr>
              <a:t> </a:t>
            </a:r>
            <a:r>
              <a:rPr lang="fr-FR" sz="3200" b="1" dirty="0" err="1">
                <a:solidFill>
                  <a:srgbClr val="00B0F0"/>
                </a:solidFill>
              </a:rPr>
              <a:t>Algorithm</a:t>
            </a:r>
            <a:endParaRPr lang="fr-FR" sz="3200" b="1" dirty="0">
              <a:solidFill>
                <a:srgbClr val="00B0F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54034" y="4669426"/>
            <a:ext cx="1285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dirty="0">
                <a:solidFill>
                  <a:srgbClr val="FF3300"/>
                </a:solidFill>
              </a:rPr>
              <a:t>Version 2023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2974" y="413536"/>
            <a:ext cx="2583407" cy="19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6">
            <a:extLst>
              <a:ext uri="{FF2B5EF4-FFF2-40B4-BE49-F238E27FC236}">
                <a16:creationId xmlns:a16="http://schemas.microsoft.com/office/drawing/2014/main" id="{043EB5AF-162E-42B0-B53E-160087CAEC25}"/>
              </a:ext>
            </a:extLst>
          </p:cNvPr>
          <p:cNvSpPr txBox="1"/>
          <p:nvPr/>
        </p:nvSpPr>
        <p:spPr>
          <a:xfrm>
            <a:off x="91440" y="32954"/>
            <a:ext cx="10896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 err="1">
                <a:solidFill>
                  <a:srgbClr val="0070C0"/>
                </a:solidFill>
              </a:rPr>
              <a:t>Backpropagation</a:t>
            </a:r>
            <a:r>
              <a:rPr lang="fr-MA" sz="2000" b="1" dirty="0">
                <a:solidFill>
                  <a:srgbClr val="0070C0"/>
                </a:solidFill>
              </a:rPr>
              <a:t> </a:t>
            </a:r>
            <a:r>
              <a:rPr lang="fr-MA" sz="2000" b="1" dirty="0" err="1">
                <a:solidFill>
                  <a:srgbClr val="0070C0"/>
                </a:solidFill>
              </a:rPr>
              <a:t>Algorithm</a:t>
            </a:r>
            <a:endParaRPr lang="fr-MA" sz="2000" b="1" dirty="0">
              <a:solidFill>
                <a:srgbClr val="0070C0"/>
              </a:solidFill>
            </a:endParaRP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Après chaque passage en avant (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Forward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à travers un réseau, la rétropropagation effectue un passage en arrière (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Backward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tout en ajustant les paramètres du modèle (poids et biais).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L'algorithme est utilisé pour entraîner efficacement un réseau de neurones à l’aide d’une méthode appelée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chain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rule</a:t>
            </a:r>
            <a:endParaRPr lang="fr-FR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Image 13">
            <a:extLst>
              <a:ext uri="{FF2B5EF4-FFF2-40B4-BE49-F238E27FC236}">
                <a16:creationId xmlns:a16="http://schemas.microsoft.com/office/drawing/2014/main" id="{3409558D-FF4D-45A1-81DA-69AF5D3F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06" y="2759009"/>
            <a:ext cx="6076379" cy="2427077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DA2D71-2A6B-4188-8170-27D8989D6361}"/>
              </a:ext>
            </a:extLst>
          </p:cNvPr>
          <p:cNvSpPr txBox="1"/>
          <p:nvPr/>
        </p:nvSpPr>
        <p:spPr>
          <a:xfrm>
            <a:off x="314325" y="5712359"/>
            <a:ext cx="42576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Forward</a:t>
            </a:r>
            <a:r>
              <a:rPr lang="fr-MA" dirty="0"/>
              <a:t> </a:t>
            </a:r>
            <a:r>
              <a:rPr lang="fr-MA" dirty="0" err="1"/>
              <a:t>pass</a:t>
            </a:r>
            <a:r>
              <a:rPr lang="fr-MA" dirty="0"/>
              <a:t>: pour la prédiction</a:t>
            </a:r>
          </a:p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Backward</a:t>
            </a:r>
            <a:r>
              <a:rPr lang="fr-MA" dirty="0"/>
              <a:t> </a:t>
            </a:r>
            <a:r>
              <a:rPr lang="fr-MA" dirty="0" err="1"/>
              <a:t>pass</a:t>
            </a:r>
            <a:r>
              <a:rPr lang="fr-MA" dirty="0"/>
              <a:t>: pour la correction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52C40-262E-4182-986A-BFB49C5CCBAF}"/>
              </a:ext>
            </a:extLst>
          </p:cNvPr>
          <p:cNvSpPr/>
          <p:nvPr/>
        </p:nvSpPr>
        <p:spPr>
          <a:xfrm>
            <a:off x="8015005" y="3318680"/>
            <a:ext cx="3204927" cy="1835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56C32-2A2E-4D65-9FD9-6F9ECF5EC01A}"/>
              </a:ext>
            </a:extLst>
          </p:cNvPr>
          <p:cNvSpPr/>
          <p:nvPr/>
        </p:nvSpPr>
        <p:spPr>
          <a:xfrm>
            <a:off x="8421810" y="3608295"/>
            <a:ext cx="2432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y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=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f(u)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 et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u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=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g(x)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</a:t>
            </a:r>
            <a:endParaRPr lang="fr-FR" dirty="0"/>
          </a:p>
        </p:txBody>
      </p:sp>
      <p:pic>
        <p:nvPicPr>
          <p:cNvPr id="9" name="Picture 2" descr="https://www.onlinemathlearning.com/image-files/chain-rule1.gif">
            <a:extLst>
              <a:ext uri="{FF2B5EF4-FFF2-40B4-BE49-F238E27FC236}">
                <a16:creationId xmlns:a16="http://schemas.microsoft.com/office/drawing/2014/main" id="{3FE857B5-90A7-46FA-95E6-236A442AF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166" y="4008138"/>
            <a:ext cx="1655334" cy="81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111">
            <a:extLst>
              <a:ext uri="{FF2B5EF4-FFF2-40B4-BE49-F238E27FC236}">
                <a16:creationId xmlns:a16="http://schemas.microsoft.com/office/drawing/2014/main" id="{D6757C47-4D8E-471E-8BDB-4586B0B053E8}"/>
              </a:ext>
            </a:extLst>
          </p:cNvPr>
          <p:cNvSpPr txBox="1"/>
          <p:nvPr/>
        </p:nvSpPr>
        <p:spPr>
          <a:xfrm>
            <a:off x="8421810" y="2991535"/>
            <a:ext cx="236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chain</a:t>
            </a:r>
            <a:r>
              <a:rPr lang="fr-FR" b="1" dirty="0"/>
              <a:t> </a:t>
            </a:r>
            <a:r>
              <a:rPr lang="fr-FR" b="1" dirty="0" err="1"/>
              <a:t>rule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799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36803D-A4CD-4FD5-9A61-E113D27A84A6}"/>
              </a:ext>
            </a:extLst>
          </p:cNvPr>
          <p:cNvSpPr txBox="1"/>
          <p:nvPr/>
        </p:nvSpPr>
        <p:spPr>
          <a:xfrm>
            <a:off x="171248" y="2725797"/>
            <a:ext cx="411500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/>
              <a:t>De 1 à </a:t>
            </a:r>
            <a:r>
              <a:rPr lang="fr-MA" b="1" dirty="0" err="1"/>
              <a:t>n_epochs</a:t>
            </a:r>
            <a:r>
              <a:rPr lang="fr-MA" b="1" dirty="0"/>
              <a:t> faire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66FF"/>
                </a:solidFill>
              </a:rPr>
              <a:t>Forward</a:t>
            </a:r>
            <a:r>
              <a:rPr lang="fr-MA" dirty="0">
                <a:solidFill>
                  <a:srgbClr val="0066FF"/>
                </a:solidFill>
              </a:rPr>
              <a:t> </a:t>
            </a:r>
            <a:r>
              <a:rPr lang="fr-MA" dirty="0" err="1">
                <a:solidFill>
                  <a:srgbClr val="0066FF"/>
                </a:solidFill>
              </a:rPr>
              <a:t>pass</a:t>
            </a:r>
            <a:endParaRPr lang="fr-MA" dirty="0">
              <a:solidFill>
                <a:srgbClr val="0066FF"/>
              </a:solidFill>
            </a:endParaRP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66FF"/>
                </a:solidFill>
              </a:rPr>
              <a:t>Backward</a:t>
            </a:r>
            <a:r>
              <a:rPr lang="fr-MA" dirty="0">
                <a:solidFill>
                  <a:srgbClr val="0066FF"/>
                </a:solidFill>
              </a:rPr>
              <a:t> </a:t>
            </a:r>
            <a:r>
              <a:rPr lang="fr-MA" dirty="0" err="1">
                <a:solidFill>
                  <a:srgbClr val="0066FF"/>
                </a:solidFill>
              </a:rPr>
              <a:t>pass</a:t>
            </a:r>
            <a:endParaRPr lang="fr-MA" dirty="0">
              <a:solidFill>
                <a:srgbClr val="0066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1BCE8-50C9-4630-A694-3F7D89E29C38}"/>
              </a:ext>
            </a:extLst>
          </p:cNvPr>
          <p:cNvSpPr txBox="1"/>
          <p:nvPr/>
        </p:nvSpPr>
        <p:spPr>
          <a:xfrm>
            <a:off x="15024" y="9685"/>
            <a:ext cx="410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5FA"/>
                </a:solidFill>
              </a:rPr>
              <a:t>Algorithme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18FD5B-6981-431E-8F34-82BCB7E94B07}"/>
                  </a:ext>
                </a:extLst>
              </p:cNvPr>
              <p:cNvSpPr/>
              <p:nvPr/>
            </p:nvSpPr>
            <p:spPr>
              <a:xfrm>
                <a:off x="5956135" y="1139874"/>
                <a:ext cx="1896096" cy="76341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rgbClr val="0070C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𝒔𝒖𝒎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fr-MA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fr-FR" sz="16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fr-MA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18FD5B-6981-431E-8F34-82BCB7E94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135" y="1139874"/>
                <a:ext cx="1896096" cy="763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77">
            <a:extLst>
              <a:ext uri="{FF2B5EF4-FFF2-40B4-BE49-F238E27FC236}">
                <a16:creationId xmlns:a16="http://schemas.microsoft.com/office/drawing/2014/main" id="{B4840F2B-DDF6-417C-A86B-26CA631E058F}"/>
              </a:ext>
            </a:extLst>
          </p:cNvPr>
          <p:cNvSpPr txBox="1"/>
          <p:nvPr/>
        </p:nvSpPr>
        <p:spPr>
          <a:xfrm>
            <a:off x="5733371" y="364789"/>
            <a:ext cx="201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Initialize</a:t>
            </a:r>
            <a:r>
              <a:rPr lang="fr-MA" b="1" dirty="0"/>
              <a:t> </a:t>
            </a:r>
            <a:r>
              <a:rPr lang="fr-MA" b="1" dirty="0" err="1"/>
              <a:t>weights</a:t>
            </a:r>
            <a:endParaRPr lang="fr-FR" b="1" dirty="0"/>
          </a:p>
        </p:txBody>
      </p:sp>
      <p:sp>
        <p:nvSpPr>
          <p:cNvPr id="7" name="ZoneTexte 79">
            <a:extLst>
              <a:ext uri="{FF2B5EF4-FFF2-40B4-BE49-F238E27FC236}">
                <a16:creationId xmlns:a16="http://schemas.microsoft.com/office/drawing/2014/main" id="{D58EDABE-7073-4B9C-8C4C-89874D100887}"/>
              </a:ext>
            </a:extLst>
          </p:cNvPr>
          <p:cNvSpPr txBox="1"/>
          <p:nvPr/>
        </p:nvSpPr>
        <p:spPr>
          <a:xfrm>
            <a:off x="5819727" y="2050065"/>
            <a:ext cx="301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Activation </a:t>
            </a: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function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 output</a:t>
            </a:r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ZoneTexte 80">
            <a:extLst>
              <a:ext uri="{FF2B5EF4-FFF2-40B4-BE49-F238E27FC236}">
                <a16:creationId xmlns:a16="http://schemas.microsoft.com/office/drawing/2014/main" id="{4C7F9280-C181-409E-9E7C-110D9EEBC4B2}"/>
              </a:ext>
            </a:extLst>
          </p:cNvPr>
          <p:cNvSpPr txBox="1"/>
          <p:nvPr/>
        </p:nvSpPr>
        <p:spPr>
          <a:xfrm>
            <a:off x="5876907" y="3052333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error</a:t>
            </a:r>
            <a:r>
              <a:rPr lang="fr-MA" b="1" dirty="0">
                <a:solidFill>
                  <a:srgbClr val="FF3300"/>
                </a:solidFill>
              </a:rPr>
              <a:t>= </a:t>
            </a:r>
            <a:r>
              <a:rPr lang="fr-MA" b="1" dirty="0" err="1">
                <a:solidFill>
                  <a:srgbClr val="FF3300"/>
                </a:solidFill>
              </a:rPr>
              <a:t>desired-predicted</a:t>
            </a:r>
            <a:endParaRPr lang="fr-FR" b="1" dirty="0"/>
          </a:p>
        </p:txBody>
      </p:sp>
      <p:sp>
        <p:nvSpPr>
          <p:cNvPr id="9" name="ZoneTexte 81">
            <a:extLst>
              <a:ext uri="{FF2B5EF4-FFF2-40B4-BE49-F238E27FC236}">
                <a16:creationId xmlns:a16="http://schemas.microsoft.com/office/drawing/2014/main" id="{B3B59A7F-72C1-4EAE-8AEC-7FF5790A9F80}"/>
              </a:ext>
            </a:extLst>
          </p:cNvPr>
          <p:cNvSpPr txBox="1"/>
          <p:nvPr/>
        </p:nvSpPr>
        <p:spPr>
          <a:xfrm>
            <a:off x="5901153" y="3967092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Weights</a:t>
            </a:r>
            <a:r>
              <a:rPr lang="fr-MA" b="1" dirty="0"/>
              <a:t> update</a:t>
            </a:r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CE118-117A-40EE-B39F-BB22E2E91D4A}"/>
              </a:ext>
            </a:extLst>
          </p:cNvPr>
          <p:cNvSpPr/>
          <p:nvPr/>
        </p:nvSpPr>
        <p:spPr>
          <a:xfrm>
            <a:off x="4471989" y="467592"/>
            <a:ext cx="7215186" cy="6161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E97B24E-1695-48E3-AF12-386AB4CAFF16}"/>
                  </a:ext>
                </a:extLst>
              </p:cNvPr>
              <p:cNvSpPr/>
              <p:nvPr/>
            </p:nvSpPr>
            <p:spPr>
              <a:xfrm>
                <a:off x="6338615" y="3452458"/>
                <a:ext cx="2706391" cy="43800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2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E97B24E-1695-48E3-AF12-386AB4CAF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615" y="3452458"/>
                <a:ext cx="2706391" cy="438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590D97E-EC4D-4D70-A378-50273480FBAF}"/>
                  </a:ext>
                </a:extLst>
              </p:cNvPr>
              <p:cNvSpPr/>
              <p:nvPr/>
            </p:nvSpPr>
            <p:spPr>
              <a:xfrm>
                <a:off x="5996998" y="2415122"/>
                <a:ext cx="3515144" cy="617348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𝒐𝒖𝒕𝒑𝒖𝒕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590D97E-EC4D-4D70-A378-50273480FB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998" y="2415122"/>
                <a:ext cx="3515144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86">
            <a:extLst>
              <a:ext uri="{FF2B5EF4-FFF2-40B4-BE49-F238E27FC236}">
                <a16:creationId xmlns:a16="http://schemas.microsoft.com/office/drawing/2014/main" id="{B0E1634D-7B0A-45C1-BB52-BA59943A1B54}"/>
              </a:ext>
            </a:extLst>
          </p:cNvPr>
          <p:cNvSpPr/>
          <p:nvPr/>
        </p:nvSpPr>
        <p:spPr>
          <a:xfrm>
            <a:off x="5447051" y="144888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  <a:endParaRPr lang="fr-FR" dirty="0"/>
          </a:p>
        </p:txBody>
      </p:sp>
      <p:sp>
        <p:nvSpPr>
          <p:cNvPr id="15" name="Ellipse 87">
            <a:extLst>
              <a:ext uri="{FF2B5EF4-FFF2-40B4-BE49-F238E27FC236}">
                <a16:creationId xmlns:a16="http://schemas.microsoft.com/office/drawing/2014/main" id="{E28629DA-5EEC-46BC-9965-4E713183A8B7}"/>
              </a:ext>
            </a:extLst>
          </p:cNvPr>
          <p:cNvSpPr/>
          <p:nvPr/>
        </p:nvSpPr>
        <p:spPr>
          <a:xfrm>
            <a:off x="5382673" y="45680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  <a:endParaRPr lang="fr-FR" dirty="0"/>
          </a:p>
        </p:txBody>
      </p:sp>
      <p:sp>
        <p:nvSpPr>
          <p:cNvPr id="16" name="Ellipse 88">
            <a:extLst>
              <a:ext uri="{FF2B5EF4-FFF2-40B4-BE49-F238E27FC236}">
                <a16:creationId xmlns:a16="http://schemas.microsoft.com/office/drawing/2014/main" id="{917CC3BB-D740-4921-80D4-099EF22DF4A0}"/>
              </a:ext>
            </a:extLst>
          </p:cNvPr>
          <p:cNvSpPr/>
          <p:nvPr/>
        </p:nvSpPr>
        <p:spPr>
          <a:xfrm>
            <a:off x="5465786" y="215663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  <a:endParaRPr lang="fr-FR" dirty="0"/>
          </a:p>
        </p:txBody>
      </p:sp>
      <p:sp>
        <p:nvSpPr>
          <p:cNvPr id="17" name="Ellipse 89">
            <a:extLst>
              <a:ext uri="{FF2B5EF4-FFF2-40B4-BE49-F238E27FC236}">
                <a16:creationId xmlns:a16="http://schemas.microsoft.com/office/drawing/2014/main" id="{B72EFD78-B45C-49CE-844B-066477BC1CC7}"/>
              </a:ext>
            </a:extLst>
          </p:cNvPr>
          <p:cNvSpPr/>
          <p:nvPr/>
        </p:nvSpPr>
        <p:spPr>
          <a:xfrm>
            <a:off x="5460057" y="3179718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  <a:endParaRPr lang="fr-FR" dirty="0"/>
          </a:p>
        </p:txBody>
      </p:sp>
      <p:sp>
        <p:nvSpPr>
          <p:cNvPr id="18" name="Ellipse 90">
            <a:extLst>
              <a:ext uri="{FF2B5EF4-FFF2-40B4-BE49-F238E27FC236}">
                <a16:creationId xmlns:a16="http://schemas.microsoft.com/office/drawing/2014/main" id="{231C2AED-C8A3-4051-9AB3-FAE57742475E}"/>
              </a:ext>
            </a:extLst>
          </p:cNvPr>
          <p:cNvSpPr/>
          <p:nvPr/>
        </p:nvSpPr>
        <p:spPr>
          <a:xfrm>
            <a:off x="5450617" y="4020707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AAC62-4710-4AB7-AD28-2734200EC2AC}"/>
              </a:ext>
            </a:extLst>
          </p:cNvPr>
          <p:cNvSpPr txBox="1"/>
          <p:nvPr/>
        </p:nvSpPr>
        <p:spPr>
          <a:xfrm>
            <a:off x="5348081" y="809871"/>
            <a:ext cx="613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De 1 à </a:t>
            </a:r>
            <a:r>
              <a:rPr lang="fr-MA" b="1" dirty="0" err="1">
                <a:solidFill>
                  <a:srgbClr val="FF3300"/>
                </a:solidFill>
              </a:rPr>
              <a:t>n_epochs</a:t>
            </a:r>
            <a:r>
              <a:rPr lang="fr-MA" b="1" dirty="0">
                <a:solidFill>
                  <a:srgbClr val="FF3300"/>
                </a:solidFill>
              </a:rPr>
              <a:t> faire</a:t>
            </a:r>
            <a:endParaRPr lang="fr-MA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E0977F-743F-457C-A0E7-05A6C8935B80}"/>
                  </a:ext>
                </a:extLst>
              </p:cNvPr>
              <p:cNvSpPr/>
              <p:nvPr/>
            </p:nvSpPr>
            <p:spPr>
              <a:xfrm>
                <a:off x="5959680" y="4451826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E0977F-743F-457C-A0E7-05A6C8935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680" y="4451826"/>
                <a:ext cx="3746347" cy="664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7001AE3-A3D4-4F97-BFEF-45387CEE47DD}"/>
                  </a:ext>
                </a:extLst>
              </p:cNvPr>
              <p:cNvSpPr/>
              <p:nvPr/>
            </p:nvSpPr>
            <p:spPr>
              <a:xfrm>
                <a:off x="5952802" y="5906482"/>
                <a:ext cx="475623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7001AE3-A3D4-4F97-BFEF-45387CEE4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02" y="5906482"/>
                <a:ext cx="4756237" cy="6643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137D409-3FFB-4414-B0BF-7307C7AFB9D2}"/>
                  </a:ext>
                </a:extLst>
              </p:cNvPr>
              <p:cNvSpPr/>
              <p:nvPr/>
            </p:nvSpPr>
            <p:spPr>
              <a:xfrm>
                <a:off x="5956135" y="5158898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137D409-3FFB-4414-B0BF-7307C7AFB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135" y="5158898"/>
                <a:ext cx="3746347" cy="6643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B1EDDE-F92A-40C5-98C9-FA1F1A944171}"/>
              </a:ext>
            </a:extLst>
          </p:cNvPr>
          <p:cNvCxnSpPr/>
          <p:nvPr/>
        </p:nvCxnSpPr>
        <p:spPr>
          <a:xfrm>
            <a:off x="5031162" y="524740"/>
            <a:ext cx="0" cy="3456000"/>
          </a:xfrm>
          <a:prstGeom prst="straightConnector1">
            <a:avLst/>
          </a:prstGeom>
          <a:ln w="38100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8548F1-BFC4-41D0-BC01-8AB2AFFB74C9}"/>
              </a:ext>
            </a:extLst>
          </p:cNvPr>
          <p:cNvCxnSpPr>
            <a:cxnSpLocks/>
          </p:cNvCxnSpPr>
          <p:nvPr/>
        </p:nvCxnSpPr>
        <p:spPr>
          <a:xfrm flipV="1">
            <a:off x="10987088" y="645316"/>
            <a:ext cx="0" cy="3443286"/>
          </a:xfrm>
          <a:prstGeom prst="straightConnector1">
            <a:avLst/>
          </a:prstGeom>
          <a:ln w="38100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77">
            <a:extLst>
              <a:ext uri="{FF2B5EF4-FFF2-40B4-BE49-F238E27FC236}">
                <a16:creationId xmlns:a16="http://schemas.microsoft.com/office/drawing/2014/main" id="{C1757018-F147-4F49-8612-356FDA5E737F}"/>
              </a:ext>
            </a:extLst>
          </p:cNvPr>
          <p:cNvSpPr txBox="1"/>
          <p:nvPr/>
        </p:nvSpPr>
        <p:spPr>
          <a:xfrm>
            <a:off x="7675452" y="430608"/>
            <a:ext cx="281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Initialize</a:t>
            </a:r>
            <a:r>
              <a:rPr lang="fr-MA" b="1" dirty="0"/>
              <a:t> </a:t>
            </a:r>
            <a:r>
              <a:rPr lang="fr-MA" b="1" dirty="0" err="1"/>
              <a:t>learning</a:t>
            </a:r>
            <a:r>
              <a:rPr lang="fr-MA" b="1" dirty="0"/>
              <a:t> rate</a:t>
            </a:r>
            <a:endParaRPr lang="fr-FR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A35A5-2562-486F-AEA7-0491D3E33C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20" y="645316"/>
            <a:ext cx="3994731" cy="178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9284" y="14288"/>
            <a:ext cx="12182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Exemple</a:t>
            </a:r>
            <a:endParaRPr lang="fr-FR" sz="3200" b="1" dirty="0">
              <a:solidFill>
                <a:srgbClr val="0065FA"/>
              </a:solidFill>
            </a:endParaRPr>
          </a:p>
        </p:txBody>
      </p:sp>
      <p:graphicFrame>
        <p:nvGraphicFramePr>
          <p:cNvPr id="47" name="Tableau 109">
            <a:extLst>
              <a:ext uri="{FF2B5EF4-FFF2-40B4-BE49-F238E27FC236}">
                <a16:creationId xmlns:a16="http://schemas.microsoft.com/office/drawing/2014/main" id="{B48F3B6D-76D3-4558-A437-431F572CF26F}"/>
              </a:ext>
            </a:extLst>
          </p:cNvPr>
          <p:cNvGraphicFramePr>
            <a:graphicFrameLocks noGrp="1"/>
          </p:cNvGraphicFramePr>
          <p:nvPr/>
        </p:nvGraphicFramePr>
        <p:xfrm>
          <a:off x="280747" y="1012253"/>
          <a:ext cx="2902593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9" name="Ellipse 76">
            <a:extLst>
              <a:ext uri="{FF2B5EF4-FFF2-40B4-BE49-F238E27FC236}">
                <a16:creationId xmlns:a16="http://schemas.microsoft.com/office/drawing/2014/main" id="{22B91321-5C33-4DBC-B1F6-3DE5BED31F24}"/>
              </a:ext>
            </a:extLst>
          </p:cNvPr>
          <p:cNvSpPr/>
          <p:nvPr/>
        </p:nvSpPr>
        <p:spPr>
          <a:xfrm>
            <a:off x="5635462" y="154035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Ellipse 77">
            <a:extLst>
              <a:ext uri="{FF2B5EF4-FFF2-40B4-BE49-F238E27FC236}">
                <a16:creationId xmlns:a16="http://schemas.microsoft.com/office/drawing/2014/main" id="{3D3726F0-0B43-4847-9A02-FB8D2FA5ED8F}"/>
              </a:ext>
            </a:extLst>
          </p:cNvPr>
          <p:cNvSpPr/>
          <p:nvPr/>
        </p:nvSpPr>
        <p:spPr>
          <a:xfrm>
            <a:off x="6736154" y="962716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 err="1">
                <a:solidFill>
                  <a:srgbClr val="0070C0"/>
                </a:solidFill>
              </a:rPr>
              <a:t>bias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11" name="Ellipse 78">
            <a:extLst>
              <a:ext uri="{FF2B5EF4-FFF2-40B4-BE49-F238E27FC236}">
                <a16:creationId xmlns:a16="http://schemas.microsoft.com/office/drawing/2014/main" id="{CDD2145D-9C0D-4796-BF78-95000408DBC6}"/>
              </a:ext>
            </a:extLst>
          </p:cNvPr>
          <p:cNvSpPr/>
          <p:nvPr/>
        </p:nvSpPr>
        <p:spPr>
          <a:xfrm>
            <a:off x="6769588" y="1515510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W1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12" name="Ellipse 80">
            <a:extLst>
              <a:ext uri="{FF2B5EF4-FFF2-40B4-BE49-F238E27FC236}">
                <a16:creationId xmlns:a16="http://schemas.microsoft.com/office/drawing/2014/main" id="{6A47EDAD-2A42-4295-A4A3-C62DA2AA33C2}"/>
              </a:ext>
            </a:extLst>
          </p:cNvPr>
          <p:cNvSpPr/>
          <p:nvPr/>
        </p:nvSpPr>
        <p:spPr>
          <a:xfrm>
            <a:off x="6810532" y="2111278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W2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13" name="Ellipse 94">
            <a:extLst>
              <a:ext uri="{FF2B5EF4-FFF2-40B4-BE49-F238E27FC236}">
                <a16:creationId xmlns:a16="http://schemas.microsoft.com/office/drawing/2014/main" id="{DE225BA3-FA0F-4C86-A60C-E68A574378F8}"/>
              </a:ext>
            </a:extLst>
          </p:cNvPr>
          <p:cNvSpPr/>
          <p:nvPr/>
        </p:nvSpPr>
        <p:spPr>
          <a:xfrm>
            <a:off x="8237009" y="1338069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14" name="Connecteur droit avec flèche 95">
            <a:extLst>
              <a:ext uri="{FF2B5EF4-FFF2-40B4-BE49-F238E27FC236}">
                <a16:creationId xmlns:a16="http://schemas.microsoft.com/office/drawing/2014/main" id="{79A338BF-76F5-4DE6-9E49-0E10D0F78305}"/>
              </a:ext>
            </a:extLst>
          </p:cNvPr>
          <p:cNvCxnSpPr/>
          <p:nvPr/>
        </p:nvCxnSpPr>
        <p:spPr>
          <a:xfrm flipV="1">
            <a:off x="9192352" y="17679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96">
            <a:extLst>
              <a:ext uri="{FF2B5EF4-FFF2-40B4-BE49-F238E27FC236}">
                <a16:creationId xmlns:a16="http://schemas.microsoft.com/office/drawing/2014/main" id="{9A044F43-FF68-4B94-BCF0-567FC66DDC5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8714681" y="1338069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97">
            <a:extLst>
              <a:ext uri="{FF2B5EF4-FFF2-40B4-BE49-F238E27FC236}">
                <a16:creationId xmlns:a16="http://schemas.microsoft.com/office/drawing/2014/main" id="{45CD693B-0F68-4E9A-B351-2D9E84E37864}"/>
              </a:ext>
            </a:extLst>
          </p:cNvPr>
          <p:cNvSpPr txBox="1"/>
          <p:nvPr/>
        </p:nvSpPr>
        <p:spPr>
          <a:xfrm>
            <a:off x="8683370" y="1635098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18" name="ZoneTexte 98">
            <a:extLst>
              <a:ext uri="{FF2B5EF4-FFF2-40B4-BE49-F238E27FC236}">
                <a16:creationId xmlns:a16="http://schemas.microsoft.com/office/drawing/2014/main" id="{6F10F3C0-B907-43AD-BA76-6EB815F30887}"/>
              </a:ext>
            </a:extLst>
          </p:cNvPr>
          <p:cNvSpPr txBox="1"/>
          <p:nvPr/>
        </p:nvSpPr>
        <p:spPr>
          <a:xfrm>
            <a:off x="8277704" y="1632987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IN</a:t>
            </a:r>
          </a:p>
        </p:txBody>
      </p:sp>
      <p:cxnSp>
        <p:nvCxnSpPr>
          <p:cNvPr id="19" name="Connecteur droit avec flèche 99">
            <a:extLst>
              <a:ext uri="{FF2B5EF4-FFF2-40B4-BE49-F238E27FC236}">
                <a16:creationId xmlns:a16="http://schemas.microsoft.com/office/drawing/2014/main" id="{87D94F50-5E60-4DDD-80AC-B609EBF74E76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6247462" y="1767510"/>
            <a:ext cx="522126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00">
            <a:extLst>
              <a:ext uri="{FF2B5EF4-FFF2-40B4-BE49-F238E27FC236}">
                <a16:creationId xmlns:a16="http://schemas.microsoft.com/office/drawing/2014/main" id="{AF785359-C217-4D04-9492-65FAB0A6A8B4}"/>
              </a:ext>
            </a:extLst>
          </p:cNvPr>
          <p:cNvCxnSpPr>
            <a:stCxn id="21" idx="6"/>
            <a:endCxn id="12" idx="2"/>
          </p:cNvCxnSpPr>
          <p:nvPr/>
        </p:nvCxnSpPr>
        <p:spPr>
          <a:xfrm flipV="1">
            <a:off x="6261110" y="2363278"/>
            <a:ext cx="549422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101">
            <a:extLst>
              <a:ext uri="{FF2B5EF4-FFF2-40B4-BE49-F238E27FC236}">
                <a16:creationId xmlns:a16="http://schemas.microsoft.com/office/drawing/2014/main" id="{31DD5673-2C43-45E3-8DA0-AD7CAFE1BB3E}"/>
              </a:ext>
            </a:extLst>
          </p:cNvPr>
          <p:cNvSpPr/>
          <p:nvPr/>
        </p:nvSpPr>
        <p:spPr>
          <a:xfrm>
            <a:off x="5649110" y="213499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ZoneTexte 102">
            <a:extLst>
              <a:ext uri="{FF2B5EF4-FFF2-40B4-BE49-F238E27FC236}">
                <a16:creationId xmlns:a16="http://schemas.microsoft.com/office/drawing/2014/main" id="{DBFEBB8E-6D99-444D-B5AF-C0B4B129B36C}"/>
              </a:ext>
            </a:extLst>
          </p:cNvPr>
          <p:cNvSpPr txBox="1"/>
          <p:nvPr/>
        </p:nvSpPr>
        <p:spPr>
          <a:xfrm>
            <a:off x="7733376" y="973404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51E28D-92A5-43A9-A943-3620E25CCB3E}"/>
              </a:ext>
            </a:extLst>
          </p:cNvPr>
          <p:cNvSpPr/>
          <p:nvPr/>
        </p:nvSpPr>
        <p:spPr>
          <a:xfrm>
            <a:off x="5722907" y="1558514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2D6E99-6DA2-4CAE-A704-F64ADE44B4DB}"/>
              </a:ext>
            </a:extLst>
          </p:cNvPr>
          <p:cNvSpPr/>
          <p:nvPr/>
        </p:nvSpPr>
        <p:spPr>
          <a:xfrm>
            <a:off x="5785033" y="2177333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6" name="Connecteur droit 106">
            <a:extLst>
              <a:ext uri="{FF2B5EF4-FFF2-40B4-BE49-F238E27FC236}">
                <a16:creationId xmlns:a16="http://schemas.microsoft.com/office/drawing/2014/main" id="{0863E266-B442-4D0D-A05C-91AD9458BCC6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>
            <a:off x="7456154" y="1214716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107">
            <a:extLst>
              <a:ext uri="{FF2B5EF4-FFF2-40B4-BE49-F238E27FC236}">
                <a16:creationId xmlns:a16="http://schemas.microsoft.com/office/drawing/2014/main" id="{9514C61B-7525-4D05-9EAE-3D9356359152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>
            <a:off x="7489588" y="1767510"/>
            <a:ext cx="747421" cy="2093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108">
            <a:extLst>
              <a:ext uri="{FF2B5EF4-FFF2-40B4-BE49-F238E27FC236}">
                <a16:creationId xmlns:a16="http://schemas.microsoft.com/office/drawing/2014/main" id="{105C67E3-5B61-41B4-B1BE-9485FDD27F4D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 flipV="1">
            <a:off x="7530532" y="1788445"/>
            <a:ext cx="706477" cy="574833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CF9AEBB-DE20-4D38-866C-47506DE94408}"/>
              </a:ext>
            </a:extLst>
          </p:cNvPr>
          <p:cNvSpPr/>
          <p:nvPr/>
        </p:nvSpPr>
        <p:spPr>
          <a:xfrm>
            <a:off x="5477701" y="771525"/>
            <a:ext cx="4766437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14">
            <a:extLst>
              <a:ext uri="{FF2B5EF4-FFF2-40B4-BE49-F238E27FC236}">
                <a16:creationId xmlns:a16="http://schemas.microsoft.com/office/drawing/2014/main" id="{78256D64-C9A0-45AD-B50B-10DF6B8CA85A}"/>
              </a:ext>
            </a:extLst>
          </p:cNvPr>
          <p:cNvSpPr txBox="1"/>
          <p:nvPr/>
        </p:nvSpPr>
        <p:spPr>
          <a:xfrm>
            <a:off x="9285" y="3214543"/>
            <a:ext cx="1023485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Initialiser les poids de manière aléatoire</a:t>
            </a: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Mettre à jour les poids en appliquant l’algorithme de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backpropabation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pour minimiser la fonction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Loss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Tourner l’algorithme en deux itérations</a:t>
            </a:r>
            <a:endParaRPr lang="fr-F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ZoneTexte 105">
            <a:extLst>
              <a:ext uri="{FF2B5EF4-FFF2-40B4-BE49-F238E27FC236}">
                <a16:creationId xmlns:a16="http://schemas.microsoft.com/office/drawing/2014/main" id="{8F677B4E-35A4-4B16-AC5E-BC72E70AEB5E}"/>
              </a:ext>
            </a:extLst>
          </p:cNvPr>
          <p:cNvSpPr txBox="1"/>
          <p:nvPr/>
        </p:nvSpPr>
        <p:spPr>
          <a:xfrm>
            <a:off x="9194524" y="1304118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256535-5048-4219-8F46-57843D0B51BB}"/>
              </a:ext>
            </a:extLst>
          </p:cNvPr>
          <p:cNvSpPr txBox="1"/>
          <p:nvPr/>
        </p:nvSpPr>
        <p:spPr>
          <a:xfrm>
            <a:off x="157163" y="2203749"/>
            <a:ext cx="302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=0.01</a:t>
            </a:r>
          </a:p>
        </p:txBody>
      </p:sp>
    </p:spTree>
    <p:extLst>
      <p:ext uri="{BB962C8B-B14F-4D97-AF65-F5344CB8AC3E}">
        <p14:creationId xmlns:p14="http://schemas.microsoft.com/office/powerpoint/2010/main" val="402182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7AFA1C-0160-4CB8-B359-837D6B8D78EE}"/>
              </a:ext>
            </a:extLst>
          </p:cNvPr>
          <p:cNvSpPr/>
          <p:nvPr/>
        </p:nvSpPr>
        <p:spPr>
          <a:xfrm>
            <a:off x="4575261" y="3440570"/>
            <a:ext cx="3363193" cy="6995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/>
              <p:nvPr/>
            </p:nvSpPr>
            <p:spPr>
              <a:xfrm>
                <a:off x="4523398" y="3578334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3578334"/>
                <a:ext cx="734369" cy="407099"/>
              </a:xfrm>
              <a:prstGeom prst="rect">
                <a:avLst/>
              </a:prstGeom>
              <a:blipFill>
                <a:blip r:embed="rId2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/>
              <p:nvPr/>
            </p:nvSpPr>
            <p:spPr>
              <a:xfrm>
                <a:off x="5121994" y="3544059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994" y="3544059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/>
              <p:nvPr/>
            </p:nvSpPr>
            <p:spPr>
              <a:xfrm>
                <a:off x="6217273" y="3532235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273" y="3532235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/>
              <p:nvPr/>
            </p:nvSpPr>
            <p:spPr>
              <a:xfrm>
                <a:off x="7351989" y="3494364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989" y="3494364"/>
                <a:ext cx="501994" cy="443455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144">
            <a:extLst>
              <a:ext uri="{FF2B5EF4-FFF2-40B4-BE49-F238E27FC236}">
                <a16:creationId xmlns:a16="http://schemas.microsoft.com/office/drawing/2014/main" id="{3CF9FA88-3CFD-4F25-85FF-44310EAB013F}"/>
              </a:ext>
            </a:extLst>
          </p:cNvPr>
          <p:cNvSpPr txBox="1"/>
          <p:nvPr/>
        </p:nvSpPr>
        <p:spPr>
          <a:xfrm>
            <a:off x="6028999" y="3680576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0" name="ZoneTexte 145">
            <a:extLst>
              <a:ext uri="{FF2B5EF4-FFF2-40B4-BE49-F238E27FC236}">
                <a16:creationId xmlns:a16="http://schemas.microsoft.com/office/drawing/2014/main" id="{1DA6A01D-970E-400B-AD1D-4051F2CB9C1D}"/>
              </a:ext>
            </a:extLst>
          </p:cNvPr>
          <p:cNvSpPr txBox="1"/>
          <p:nvPr/>
        </p:nvSpPr>
        <p:spPr>
          <a:xfrm>
            <a:off x="7117275" y="3637590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C6A05-BACC-4BDB-B86C-0ECD9D5E90AA}"/>
              </a:ext>
            </a:extLst>
          </p:cNvPr>
          <p:cNvSpPr/>
          <p:nvPr/>
        </p:nvSpPr>
        <p:spPr>
          <a:xfrm>
            <a:off x="4575261" y="5469608"/>
            <a:ext cx="3363193" cy="70136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/>
              <p:nvPr/>
            </p:nvSpPr>
            <p:spPr>
              <a:xfrm>
                <a:off x="4523398" y="560737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5607373"/>
                <a:ext cx="734369" cy="407099"/>
              </a:xfrm>
              <a:prstGeom prst="rect">
                <a:avLst/>
              </a:prstGeom>
              <a:blipFill>
                <a:blip r:embed="rId6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/>
              <p:nvPr/>
            </p:nvSpPr>
            <p:spPr>
              <a:xfrm>
                <a:off x="5136282" y="557309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282" y="5573098"/>
                <a:ext cx="943661" cy="442750"/>
              </a:xfrm>
              <a:prstGeom prst="rect">
                <a:avLst/>
              </a:prstGeom>
              <a:blipFill>
                <a:blip r:embed="rId7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/>
              <p:nvPr/>
            </p:nvSpPr>
            <p:spPr>
              <a:xfrm>
                <a:off x="6188698" y="556127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698" y="556127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/>
              <p:nvPr/>
            </p:nvSpPr>
            <p:spPr>
              <a:xfrm>
                <a:off x="7303103" y="5539306"/>
                <a:ext cx="608178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103" y="5539306"/>
                <a:ext cx="608178" cy="443455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08">
            <a:extLst>
              <a:ext uri="{FF2B5EF4-FFF2-40B4-BE49-F238E27FC236}">
                <a16:creationId xmlns:a16="http://schemas.microsoft.com/office/drawing/2014/main" id="{275C56FC-AC9A-46EA-AF19-6E203C791CF7}"/>
              </a:ext>
            </a:extLst>
          </p:cNvPr>
          <p:cNvSpPr txBox="1"/>
          <p:nvPr/>
        </p:nvSpPr>
        <p:spPr>
          <a:xfrm>
            <a:off x="6000424" y="570961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7" name="ZoneTexte 109">
            <a:extLst>
              <a:ext uri="{FF2B5EF4-FFF2-40B4-BE49-F238E27FC236}">
                <a16:creationId xmlns:a16="http://schemas.microsoft.com/office/drawing/2014/main" id="{A7C2FE6C-D6DA-49A9-9913-5DC420BB2301}"/>
              </a:ext>
            </a:extLst>
          </p:cNvPr>
          <p:cNvSpPr txBox="1"/>
          <p:nvPr/>
        </p:nvSpPr>
        <p:spPr>
          <a:xfrm>
            <a:off x="7088701" y="566662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AC7AF-5D22-4762-B95F-D4B99C2F4E7E}"/>
              </a:ext>
            </a:extLst>
          </p:cNvPr>
          <p:cNvSpPr/>
          <p:nvPr/>
        </p:nvSpPr>
        <p:spPr>
          <a:xfrm>
            <a:off x="4575261" y="4475639"/>
            <a:ext cx="3363193" cy="7272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/>
              <p:nvPr/>
            </p:nvSpPr>
            <p:spPr>
              <a:xfrm>
                <a:off x="4523398" y="461340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4613403"/>
                <a:ext cx="734369" cy="407099"/>
              </a:xfrm>
              <a:prstGeom prst="rect">
                <a:avLst/>
              </a:prstGeom>
              <a:blipFill>
                <a:blip r:embed="rId9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/>
              <p:nvPr/>
            </p:nvSpPr>
            <p:spPr>
              <a:xfrm>
                <a:off x="5107708" y="457912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708" y="4579128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/>
              <p:nvPr/>
            </p:nvSpPr>
            <p:spPr>
              <a:xfrm>
                <a:off x="6202986" y="456730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986" y="456730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/>
              <p:nvPr/>
            </p:nvSpPr>
            <p:spPr>
              <a:xfrm>
                <a:off x="7294839" y="4529433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839" y="4529433"/>
                <a:ext cx="501994" cy="443455"/>
              </a:xfrm>
              <a:prstGeom prst="rect">
                <a:avLst/>
              </a:prstGeom>
              <a:blipFill>
                <a:blip r:embed="rId10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151">
            <a:extLst>
              <a:ext uri="{FF2B5EF4-FFF2-40B4-BE49-F238E27FC236}">
                <a16:creationId xmlns:a16="http://schemas.microsoft.com/office/drawing/2014/main" id="{F5653B02-C89A-456B-8677-C46AC8B4EE1B}"/>
              </a:ext>
            </a:extLst>
          </p:cNvPr>
          <p:cNvSpPr txBox="1"/>
          <p:nvPr/>
        </p:nvSpPr>
        <p:spPr>
          <a:xfrm>
            <a:off x="6014712" y="471564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24" name="ZoneTexte 152">
            <a:extLst>
              <a:ext uri="{FF2B5EF4-FFF2-40B4-BE49-F238E27FC236}">
                <a16:creationId xmlns:a16="http://schemas.microsoft.com/office/drawing/2014/main" id="{48BBAD94-13AF-4A30-A9A5-A3AB52AB810D}"/>
              </a:ext>
            </a:extLst>
          </p:cNvPr>
          <p:cNvSpPr txBox="1"/>
          <p:nvPr/>
        </p:nvSpPr>
        <p:spPr>
          <a:xfrm>
            <a:off x="7060125" y="467265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/>
              <p:nvPr/>
            </p:nvSpPr>
            <p:spPr>
              <a:xfrm>
                <a:off x="159911" y="3524546"/>
                <a:ext cx="2959977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3524546"/>
                <a:ext cx="2959977" cy="5371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/>
              <p:nvPr/>
            </p:nvSpPr>
            <p:spPr>
              <a:xfrm>
                <a:off x="159911" y="5089082"/>
                <a:ext cx="3657860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5089082"/>
                <a:ext cx="3657860" cy="5371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/>
              <p:nvPr/>
            </p:nvSpPr>
            <p:spPr>
              <a:xfrm>
                <a:off x="159911" y="4333330"/>
                <a:ext cx="2959977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4333330"/>
                <a:ext cx="2959977" cy="5371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105">
                <a:extLst>
                  <a:ext uri="{FF2B5EF4-FFF2-40B4-BE49-F238E27FC236}">
                    <a16:creationId xmlns:a16="http://schemas.microsoft.com/office/drawing/2014/main" id="{54CA9904-3A5F-42FA-8107-C19D2677D29C}"/>
                  </a:ext>
                </a:extLst>
              </p:cNvPr>
              <p:cNvSpPr txBox="1"/>
              <p:nvPr/>
            </p:nvSpPr>
            <p:spPr>
              <a:xfrm>
                <a:off x="47396" y="1669715"/>
                <a:ext cx="3597820" cy="1045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=w1*x1+w2*x2+bias</a:t>
                </a:r>
              </a:p>
              <a:p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Predicted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output=</a:t>
                </a:r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sigmoid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</a:t>
                </a:r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6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ZoneTexte 105">
                <a:extLst>
                  <a:ext uri="{FF2B5EF4-FFF2-40B4-BE49-F238E27FC236}">
                    <a16:creationId xmlns:a16="http://schemas.microsoft.com/office/drawing/2014/main" id="{54CA9904-3A5F-42FA-8107-C19D2677D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6" y="1669715"/>
                <a:ext cx="3597820" cy="1045799"/>
              </a:xfrm>
              <a:prstGeom prst="rect">
                <a:avLst/>
              </a:prstGeom>
              <a:blipFill>
                <a:blip r:embed="rId14"/>
                <a:stretch>
                  <a:fillRect l="-1017" t="-175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71F048C1-971F-41CC-9213-1B61A5F93FAC}"/>
              </a:ext>
            </a:extLst>
          </p:cNvPr>
          <p:cNvSpPr/>
          <p:nvPr/>
        </p:nvSpPr>
        <p:spPr>
          <a:xfrm>
            <a:off x="112551" y="1223367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7A81024-C513-4F0F-8961-3803C3BECDFF}"/>
              </a:ext>
            </a:extLst>
          </p:cNvPr>
          <p:cNvSpPr/>
          <p:nvPr/>
        </p:nvSpPr>
        <p:spPr>
          <a:xfrm>
            <a:off x="84454" y="2896111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/>
              <p:nvPr/>
            </p:nvSpPr>
            <p:spPr>
              <a:xfrm>
                <a:off x="8499499" y="5680351"/>
                <a:ext cx="918644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499" y="5680351"/>
                <a:ext cx="918644" cy="44345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/>
              <p:nvPr/>
            </p:nvSpPr>
            <p:spPr>
              <a:xfrm>
                <a:off x="8513994" y="4579128"/>
                <a:ext cx="910676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994" y="4579128"/>
                <a:ext cx="910676" cy="44345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/>
              <p:nvPr/>
            </p:nvSpPr>
            <p:spPr>
              <a:xfrm>
                <a:off x="8507467" y="5095851"/>
                <a:ext cx="910676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467" y="5095851"/>
                <a:ext cx="910676" cy="44345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/>
              <p:nvPr/>
            </p:nvSpPr>
            <p:spPr>
              <a:xfrm>
                <a:off x="8476401" y="3347336"/>
                <a:ext cx="2775119" cy="4745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𝒑𝒓𝒆𝒅𝒊𝒄𝒕𝒆𝒅</m:t>
                      </m:r>
                      <m:r>
                        <a:rPr lang="fr-FR" sz="12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𝒅𝒆𝒔𝒊𝒓𝒆𝒅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401" y="3347336"/>
                <a:ext cx="2775119" cy="474553"/>
              </a:xfrm>
              <a:prstGeom prst="rect">
                <a:avLst/>
              </a:prstGeom>
              <a:blipFill>
                <a:blip r:embed="rId18"/>
                <a:stretch>
                  <a:fillRect b="-375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/>
              <p:nvPr/>
            </p:nvSpPr>
            <p:spPr>
              <a:xfrm>
                <a:off x="8476402" y="3935232"/>
                <a:ext cx="2775119" cy="50731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num>
                            <m:den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402" y="3935232"/>
                <a:ext cx="2775119" cy="507318"/>
              </a:xfrm>
              <a:prstGeom prst="rect">
                <a:avLst/>
              </a:prstGeom>
              <a:blipFill>
                <a:blip r:embed="rId19"/>
                <a:stretch>
                  <a:fillRect t="-174118" r="-23362" b="-25411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" name="Tableau 109">
            <a:extLst>
              <a:ext uri="{FF2B5EF4-FFF2-40B4-BE49-F238E27FC236}">
                <a16:creationId xmlns:a16="http://schemas.microsoft.com/office/drawing/2014/main" id="{50A4764C-9A28-47DE-918C-248328134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946290"/>
              </p:ext>
            </p:extLst>
          </p:nvPr>
        </p:nvGraphicFramePr>
        <p:xfrm>
          <a:off x="2108592" y="51941"/>
          <a:ext cx="2291023" cy="98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sz="1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058A7CD8-DAE3-4AA3-8EA9-6322B6B96A97}"/>
              </a:ext>
            </a:extLst>
          </p:cNvPr>
          <p:cNvSpPr txBox="1"/>
          <p:nvPr/>
        </p:nvSpPr>
        <p:spPr>
          <a:xfrm>
            <a:off x="2302832" y="1031826"/>
            <a:ext cx="211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=0.01</a:t>
            </a:r>
          </a:p>
        </p:txBody>
      </p:sp>
      <p:sp>
        <p:nvSpPr>
          <p:cNvPr id="72" name="Ellipse 76">
            <a:extLst>
              <a:ext uri="{FF2B5EF4-FFF2-40B4-BE49-F238E27FC236}">
                <a16:creationId xmlns:a16="http://schemas.microsoft.com/office/drawing/2014/main" id="{F0FCDE1A-6BF9-4EEB-A9AD-7A2AA6DF954A}"/>
              </a:ext>
            </a:extLst>
          </p:cNvPr>
          <p:cNvSpPr/>
          <p:nvPr/>
        </p:nvSpPr>
        <p:spPr>
          <a:xfrm>
            <a:off x="7063189" y="148438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3" name="Ellipse 77">
            <a:extLst>
              <a:ext uri="{FF2B5EF4-FFF2-40B4-BE49-F238E27FC236}">
                <a16:creationId xmlns:a16="http://schemas.microsoft.com/office/drawing/2014/main" id="{1E501990-4414-4F0B-9D1F-597FD0C24E13}"/>
              </a:ext>
            </a:extLst>
          </p:cNvPr>
          <p:cNvSpPr/>
          <p:nvPr/>
        </p:nvSpPr>
        <p:spPr>
          <a:xfrm>
            <a:off x="8163881" y="906739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1.83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74" name="Ellipse 78">
            <a:extLst>
              <a:ext uri="{FF2B5EF4-FFF2-40B4-BE49-F238E27FC236}">
                <a16:creationId xmlns:a16="http://schemas.microsoft.com/office/drawing/2014/main" id="{8AD3E410-B688-491B-9C9A-F3132E6BBD44}"/>
              </a:ext>
            </a:extLst>
          </p:cNvPr>
          <p:cNvSpPr/>
          <p:nvPr/>
        </p:nvSpPr>
        <p:spPr>
          <a:xfrm>
            <a:off x="8197315" y="1459533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0.5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75" name="Ellipse 80">
            <a:extLst>
              <a:ext uri="{FF2B5EF4-FFF2-40B4-BE49-F238E27FC236}">
                <a16:creationId xmlns:a16="http://schemas.microsoft.com/office/drawing/2014/main" id="{6C5B41D5-5C55-4DDC-85A5-D32A621818F8}"/>
              </a:ext>
            </a:extLst>
          </p:cNvPr>
          <p:cNvSpPr/>
          <p:nvPr/>
        </p:nvSpPr>
        <p:spPr>
          <a:xfrm>
            <a:off x="8238259" y="2055301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0.2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76" name="Ellipse 94">
            <a:extLst>
              <a:ext uri="{FF2B5EF4-FFF2-40B4-BE49-F238E27FC236}">
                <a16:creationId xmlns:a16="http://schemas.microsoft.com/office/drawing/2014/main" id="{DC9045A9-84E4-4699-9BA4-5217A70F2BC8}"/>
              </a:ext>
            </a:extLst>
          </p:cNvPr>
          <p:cNvSpPr/>
          <p:nvPr/>
        </p:nvSpPr>
        <p:spPr>
          <a:xfrm>
            <a:off x="9664736" y="1282092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77" name="Connecteur droit avec flèche 95">
            <a:extLst>
              <a:ext uri="{FF2B5EF4-FFF2-40B4-BE49-F238E27FC236}">
                <a16:creationId xmlns:a16="http://schemas.microsoft.com/office/drawing/2014/main" id="{5BE939E7-DE71-4A54-9803-01CA7DD783EB}"/>
              </a:ext>
            </a:extLst>
          </p:cNvPr>
          <p:cNvCxnSpPr/>
          <p:nvPr/>
        </p:nvCxnSpPr>
        <p:spPr>
          <a:xfrm flipV="1">
            <a:off x="10620079" y="1711955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96">
            <a:extLst>
              <a:ext uri="{FF2B5EF4-FFF2-40B4-BE49-F238E27FC236}">
                <a16:creationId xmlns:a16="http://schemas.microsoft.com/office/drawing/2014/main" id="{25A39429-9883-48CB-A958-D3E0828D7DB4}"/>
              </a:ext>
            </a:extLst>
          </p:cNvPr>
          <p:cNvCxnSpPr>
            <a:stCxn id="76" idx="0"/>
            <a:endCxn id="76" idx="4"/>
          </p:cNvCxnSpPr>
          <p:nvPr/>
        </p:nvCxnSpPr>
        <p:spPr>
          <a:xfrm>
            <a:off x="10142408" y="1282092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ZoneTexte 97">
            <a:extLst>
              <a:ext uri="{FF2B5EF4-FFF2-40B4-BE49-F238E27FC236}">
                <a16:creationId xmlns:a16="http://schemas.microsoft.com/office/drawing/2014/main" id="{B6A5D05B-0FE9-4EA7-910F-63C598E5166F}"/>
              </a:ext>
            </a:extLst>
          </p:cNvPr>
          <p:cNvSpPr txBox="1"/>
          <p:nvPr/>
        </p:nvSpPr>
        <p:spPr>
          <a:xfrm>
            <a:off x="10111097" y="1579121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80" name="ZoneTexte 98">
            <a:extLst>
              <a:ext uri="{FF2B5EF4-FFF2-40B4-BE49-F238E27FC236}">
                <a16:creationId xmlns:a16="http://schemas.microsoft.com/office/drawing/2014/main" id="{2A8E588A-5C2F-4397-898E-1766FED1166B}"/>
              </a:ext>
            </a:extLst>
          </p:cNvPr>
          <p:cNvSpPr txBox="1"/>
          <p:nvPr/>
        </p:nvSpPr>
        <p:spPr>
          <a:xfrm>
            <a:off x="9705431" y="1577010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rgbClr val="0070C0"/>
                </a:solidFill>
              </a:rPr>
              <a:t>sum</a:t>
            </a:r>
            <a:endParaRPr lang="fr-FR" sz="1200" b="1" dirty="0">
              <a:solidFill>
                <a:srgbClr val="0070C0"/>
              </a:solidFill>
            </a:endParaRPr>
          </a:p>
        </p:txBody>
      </p:sp>
      <p:cxnSp>
        <p:nvCxnSpPr>
          <p:cNvPr id="81" name="Connecteur droit avec flèche 99">
            <a:extLst>
              <a:ext uri="{FF2B5EF4-FFF2-40B4-BE49-F238E27FC236}">
                <a16:creationId xmlns:a16="http://schemas.microsoft.com/office/drawing/2014/main" id="{CE7238AB-65CF-4151-8AE0-E0D232A72C96}"/>
              </a:ext>
            </a:extLst>
          </p:cNvPr>
          <p:cNvCxnSpPr>
            <a:cxnSpLocks/>
            <a:stCxn id="72" idx="6"/>
            <a:endCxn id="74" idx="2"/>
          </p:cNvCxnSpPr>
          <p:nvPr/>
        </p:nvCxnSpPr>
        <p:spPr>
          <a:xfrm flipV="1">
            <a:off x="7675189" y="1711533"/>
            <a:ext cx="522126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100">
            <a:extLst>
              <a:ext uri="{FF2B5EF4-FFF2-40B4-BE49-F238E27FC236}">
                <a16:creationId xmlns:a16="http://schemas.microsoft.com/office/drawing/2014/main" id="{43A45BF8-BA6D-47E8-90BD-14F876EDCCDF}"/>
              </a:ext>
            </a:extLst>
          </p:cNvPr>
          <p:cNvCxnSpPr>
            <a:stCxn id="83" idx="6"/>
            <a:endCxn id="75" idx="2"/>
          </p:cNvCxnSpPr>
          <p:nvPr/>
        </p:nvCxnSpPr>
        <p:spPr>
          <a:xfrm flipV="1">
            <a:off x="7688837" y="2307301"/>
            <a:ext cx="549422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101">
            <a:extLst>
              <a:ext uri="{FF2B5EF4-FFF2-40B4-BE49-F238E27FC236}">
                <a16:creationId xmlns:a16="http://schemas.microsoft.com/office/drawing/2014/main" id="{7EEBA350-4D52-42DD-89E7-BFCE65FCFB0D}"/>
              </a:ext>
            </a:extLst>
          </p:cNvPr>
          <p:cNvSpPr/>
          <p:nvPr/>
        </p:nvSpPr>
        <p:spPr>
          <a:xfrm>
            <a:off x="7076837" y="207901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4" name="ZoneTexte 102">
            <a:extLst>
              <a:ext uri="{FF2B5EF4-FFF2-40B4-BE49-F238E27FC236}">
                <a16:creationId xmlns:a16="http://schemas.microsoft.com/office/drawing/2014/main" id="{D94EE4E8-6D37-42A8-B145-1D9DE6721502}"/>
              </a:ext>
            </a:extLst>
          </p:cNvPr>
          <p:cNvSpPr txBox="1"/>
          <p:nvPr/>
        </p:nvSpPr>
        <p:spPr>
          <a:xfrm>
            <a:off x="9704203" y="629646"/>
            <a:ext cx="211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Activation:</a:t>
            </a:r>
          </a:p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F46631D-6617-4BCC-8139-3FDDCE94D17A}"/>
              </a:ext>
            </a:extLst>
          </p:cNvPr>
          <p:cNvSpPr/>
          <p:nvPr/>
        </p:nvSpPr>
        <p:spPr>
          <a:xfrm>
            <a:off x="7150634" y="1502537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F90337A-4AC1-49DD-BCE9-134C9C402EFE}"/>
              </a:ext>
            </a:extLst>
          </p:cNvPr>
          <p:cNvSpPr/>
          <p:nvPr/>
        </p:nvSpPr>
        <p:spPr>
          <a:xfrm>
            <a:off x="7176693" y="2121356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7" name="Connecteur droit 106">
            <a:extLst>
              <a:ext uri="{FF2B5EF4-FFF2-40B4-BE49-F238E27FC236}">
                <a16:creationId xmlns:a16="http://schemas.microsoft.com/office/drawing/2014/main" id="{87F99320-32A5-4C89-83D3-496475CFD6E5}"/>
              </a:ext>
            </a:extLst>
          </p:cNvPr>
          <p:cNvCxnSpPr>
            <a:cxnSpLocks/>
            <a:stCxn id="73" idx="6"/>
            <a:endCxn id="76" idx="2"/>
          </p:cNvCxnSpPr>
          <p:nvPr/>
        </p:nvCxnSpPr>
        <p:spPr>
          <a:xfrm>
            <a:off x="8883881" y="1158739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107">
            <a:extLst>
              <a:ext uri="{FF2B5EF4-FFF2-40B4-BE49-F238E27FC236}">
                <a16:creationId xmlns:a16="http://schemas.microsoft.com/office/drawing/2014/main" id="{287D9899-C8F7-4A61-A555-94815F4F7002}"/>
              </a:ext>
            </a:extLst>
          </p:cNvPr>
          <p:cNvCxnSpPr>
            <a:cxnSpLocks/>
            <a:endCxn id="76" idx="2"/>
          </p:cNvCxnSpPr>
          <p:nvPr/>
        </p:nvCxnSpPr>
        <p:spPr>
          <a:xfrm>
            <a:off x="8719441" y="1687203"/>
            <a:ext cx="945295" cy="4526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108">
            <a:extLst>
              <a:ext uri="{FF2B5EF4-FFF2-40B4-BE49-F238E27FC236}">
                <a16:creationId xmlns:a16="http://schemas.microsoft.com/office/drawing/2014/main" id="{B79DE579-123F-4D68-92F6-0C935E6EEA32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8787257" y="1732468"/>
            <a:ext cx="877479" cy="573554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2A4D308D-E2AF-44C1-B642-69653D781945}"/>
              </a:ext>
            </a:extLst>
          </p:cNvPr>
          <p:cNvSpPr/>
          <p:nvPr/>
        </p:nvSpPr>
        <p:spPr>
          <a:xfrm>
            <a:off x="6477000" y="582063"/>
            <a:ext cx="5343286" cy="2183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ZoneTexte 105">
            <a:extLst>
              <a:ext uri="{FF2B5EF4-FFF2-40B4-BE49-F238E27FC236}">
                <a16:creationId xmlns:a16="http://schemas.microsoft.com/office/drawing/2014/main" id="{EADF2399-376C-45A7-9F7B-3DE971D9DDA6}"/>
              </a:ext>
            </a:extLst>
          </p:cNvPr>
          <p:cNvSpPr txBox="1"/>
          <p:nvPr/>
        </p:nvSpPr>
        <p:spPr>
          <a:xfrm>
            <a:off x="10559996" y="1248389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1FB3F59-0A3E-4C79-9A11-F3CD04A83BCE}"/>
              </a:ext>
            </a:extLst>
          </p:cNvPr>
          <p:cNvSpPr txBox="1"/>
          <p:nvPr/>
        </p:nvSpPr>
        <p:spPr>
          <a:xfrm>
            <a:off x="6665699" y="1525169"/>
            <a:ext cx="56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B09E23D-D53F-49FF-B2F5-7BD2605D78FA}"/>
              </a:ext>
            </a:extLst>
          </p:cNvPr>
          <p:cNvSpPr txBox="1"/>
          <p:nvPr/>
        </p:nvSpPr>
        <p:spPr>
          <a:xfrm>
            <a:off x="6727909" y="2103619"/>
            <a:ext cx="56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1F449E0-12CD-4EB9-9463-0B346799D649}"/>
              </a:ext>
            </a:extLst>
          </p:cNvPr>
          <p:cNvSpPr txBox="1"/>
          <p:nvPr/>
        </p:nvSpPr>
        <p:spPr>
          <a:xfrm>
            <a:off x="8275037" y="748476"/>
            <a:ext cx="67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bias</a:t>
            </a:r>
            <a:endParaRPr lang="fr-MA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3E81AEF-74FB-4DC7-8ED7-DCD9C19440EE}"/>
              </a:ext>
            </a:extLst>
          </p:cNvPr>
          <p:cNvSpPr txBox="1"/>
          <p:nvPr/>
        </p:nvSpPr>
        <p:spPr>
          <a:xfrm>
            <a:off x="8275037" y="1345431"/>
            <a:ext cx="67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B204D8-1719-41A1-B81E-344971BAF367}"/>
              </a:ext>
            </a:extLst>
          </p:cNvPr>
          <p:cNvSpPr txBox="1"/>
          <p:nvPr/>
        </p:nvSpPr>
        <p:spPr>
          <a:xfrm>
            <a:off x="8335997" y="1937196"/>
            <a:ext cx="67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w2</a:t>
            </a:r>
          </a:p>
        </p:txBody>
      </p:sp>
    </p:spTree>
    <p:extLst>
      <p:ext uri="{BB962C8B-B14F-4D97-AF65-F5344CB8AC3E}">
        <p14:creationId xmlns:p14="http://schemas.microsoft.com/office/powerpoint/2010/main" val="24494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7726" y="1544757"/>
            <a:ext cx="104166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Epoch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10000: ------------------------------------ </a:t>
            </a:r>
          </a:p>
          <a:p>
            <a:r>
              <a:rPr lang="fr-FR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:-3.2627453450687973</a:t>
            </a:r>
          </a:p>
          <a:p>
            <a:r>
              <a:rPr lang="fr-FR" sz="2400" b="1" dirty="0" err="1">
                <a:solidFill>
                  <a:srgbClr val="0065FA"/>
                </a:solidFill>
                <a:latin typeface="Consolas" panose="020B0609020204030204" pitchFamily="49" charset="0"/>
              </a:rPr>
              <a:t>prediction</a:t>
            </a:r>
            <a:r>
              <a:rPr lang="fr-FR" sz="2400" b="1" dirty="0">
                <a:solidFill>
                  <a:srgbClr val="0065FA"/>
                </a:solidFill>
                <a:latin typeface="Consolas" panose="020B0609020204030204" pitchFamily="49" charset="0"/>
              </a:rPr>
              <a:t>: </a:t>
            </a:r>
            <a:r>
              <a:rPr lang="fr-FR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0.036871592334909074</a:t>
            </a:r>
          </a:p>
          <a:p>
            <a:r>
              <a:rPr lang="fr-FR" sz="2400" b="1" dirty="0" err="1">
                <a:solidFill>
                  <a:srgbClr val="FF3300"/>
                </a:solidFill>
                <a:latin typeface="Consolas" panose="020B0609020204030204" pitchFamily="49" charset="0"/>
              </a:rPr>
              <a:t>Loss-quadr</a:t>
            </a:r>
            <a:r>
              <a:rPr lang="fr-FR" sz="2400" b="1" dirty="0">
                <a:solidFill>
                  <a:srgbClr val="FF3300"/>
                </a:solidFill>
                <a:latin typeface="Consolas" panose="020B0609020204030204" pitchFamily="49" charset="0"/>
              </a:rPr>
              <a:t>: 2.360939060859058E-5</a:t>
            </a:r>
          </a:p>
          <a:p>
            <a:r>
              <a:rPr lang="fr-FR" sz="2400" b="1" dirty="0">
                <a:solidFill>
                  <a:srgbClr val="FF3300"/>
                </a:solidFill>
                <a:latin typeface="Consolas" panose="020B0609020204030204" pitchFamily="49" charset="0"/>
              </a:rPr>
              <a:t>0,027   -1,219 -2,900 </a:t>
            </a:r>
          </a:p>
          <a:p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-------------------------------------------------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8636000" y="2394963"/>
            <a:ext cx="186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backpropagation</a:t>
            </a:r>
            <a:endParaRPr lang="fr-FR" b="1" dirty="0"/>
          </a:p>
        </p:txBody>
      </p:sp>
      <p:sp>
        <p:nvSpPr>
          <p:cNvPr id="5" name="ZoneTexte 14">
            <a:extLst>
              <a:ext uri="{FF2B5EF4-FFF2-40B4-BE49-F238E27FC236}">
                <a16:creationId xmlns:a16="http://schemas.microsoft.com/office/drawing/2014/main" id="{9D00DEB8-79F4-4F51-9393-F678702BD0AF}"/>
              </a:ext>
            </a:extLst>
          </p:cNvPr>
          <p:cNvSpPr txBox="1"/>
          <p:nvPr/>
        </p:nvSpPr>
        <p:spPr>
          <a:xfrm>
            <a:off x="9284" y="-42862"/>
            <a:ext cx="12182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Algorithm</a:t>
            </a:r>
            <a:r>
              <a:rPr lang="fr-MA" sz="3200" b="1" dirty="0">
                <a:solidFill>
                  <a:srgbClr val="0065FA"/>
                </a:solidFill>
              </a:rPr>
              <a:t> 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(version1: utiliser des matrices)</a:t>
            </a:r>
            <a:endParaRPr lang="fr-FR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51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138D255-6776-4F49-90CA-9E86E93D58E8}"/>
              </a:ext>
            </a:extLst>
          </p:cNvPr>
          <p:cNvSpPr/>
          <p:nvPr/>
        </p:nvSpPr>
        <p:spPr>
          <a:xfrm>
            <a:off x="4271963" y="1828806"/>
            <a:ext cx="1385887" cy="8001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9B520D-3C4C-4288-BC7A-53B9E0A16D6A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4964907" y="1828806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9969A9-8720-4299-AB09-A9F6085E4746}"/>
              </a:ext>
            </a:extLst>
          </p:cNvPr>
          <p:cNvSpPr txBox="1"/>
          <p:nvPr/>
        </p:nvSpPr>
        <p:spPr>
          <a:xfrm>
            <a:off x="4271963" y="2044190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BF92E-BD06-482D-A012-739DA28BA3ED}"/>
              </a:ext>
            </a:extLst>
          </p:cNvPr>
          <p:cNvSpPr txBox="1"/>
          <p:nvPr/>
        </p:nvSpPr>
        <p:spPr>
          <a:xfrm>
            <a:off x="4947048" y="2044190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52EF33-2B42-4953-B553-80A8C3B729D8}"/>
              </a:ext>
            </a:extLst>
          </p:cNvPr>
          <p:cNvSpPr/>
          <p:nvPr/>
        </p:nvSpPr>
        <p:spPr>
          <a:xfrm>
            <a:off x="4225528" y="3138498"/>
            <a:ext cx="1385887" cy="8001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E5E38-2366-40C2-BA43-D7492DFC838B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4918472" y="3138498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ED8A83-2390-4DE8-AA3E-EE97AB91A7FA}"/>
              </a:ext>
            </a:extLst>
          </p:cNvPr>
          <p:cNvSpPr txBox="1"/>
          <p:nvPr/>
        </p:nvSpPr>
        <p:spPr>
          <a:xfrm>
            <a:off x="4225528" y="3353882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0498B-3FC0-405F-8CF6-F5B9BD3C4D27}"/>
              </a:ext>
            </a:extLst>
          </p:cNvPr>
          <p:cNvSpPr txBox="1"/>
          <p:nvPr/>
        </p:nvSpPr>
        <p:spPr>
          <a:xfrm>
            <a:off x="4900613" y="3353882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529C1C-747A-461E-9CA3-E90F7D72E06C}"/>
              </a:ext>
            </a:extLst>
          </p:cNvPr>
          <p:cNvSpPr/>
          <p:nvPr/>
        </p:nvSpPr>
        <p:spPr>
          <a:xfrm>
            <a:off x="1257300" y="1885954"/>
            <a:ext cx="657225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221045-C211-4092-A9D7-0B7B73CE948E}"/>
              </a:ext>
            </a:extLst>
          </p:cNvPr>
          <p:cNvSpPr/>
          <p:nvPr/>
        </p:nvSpPr>
        <p:spPr>
          <a:xfrm>
            <a:off x="1257300" y="3195648"/>
            <a:ext cx="657225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571E33-648A-4709-A040-58EBCAD4A857}"/>
              </a:ext>
            </a:extLst>
          </p:cNvPr>
          <p:cNvCxnSpPr>
            <a:stCxn id="10" idx="6"/>
            <a:endCxn id="4" idx="1"/>
          </p:cNvCxnSpPr>
          <p:nvPr/>
        </p:nvCxnSpPr>
        <p:spPr>
          <a:xfrm>
            <a:off x="1914525" y="2228854"/>
            <a:ext cx="2357438" cy="2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5AA70A-B31B-43A1-952F-6288D2B18A78}"/>
              </a:ext>
            </a:extLst>
          </p:cNvPr>
          <p:cNvCxnSpPr>
            <a:cxnSpLocks/>
            <a:stCxn id="11" idx="6"/>
            <a:endCxn id="8" idx="1"/>
          </p:cNvCxnSpPr>
          <p:nvPr/>
        </p:nvCxnSpPr>
        <p:spPr>
          <a:xfrm>
            <a:off x="1914525" y="3538548"/>
            <a:ext cx="2311003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D361FD-612A-4108-883B-322CF737F9B2}"/>
              </a:ext>
            </a:extLst>
          </p:cNvPr>
          <p:cNvCxnSpPr>
            <a:cxnSpLocks/>
            <a:stCxn id="11" idx="6"/>
            <a:endCxn id="4" idx="1"/>
          </p:cNvCxnSpPr>
          <p:nvPr/>
        </p:nvCxnSpPr>
        <p:spPr>
          <a:xfrm flipV="1">
            <a:off x="1914525" y="2228856"/>
            <a:ext cx="2357438" cy="1309692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B2318A-B8B8-4DC8-BEC4-D3287442A05F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1914525" y="2228854"/>
            <a:ext cx="2311003" cy="13096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45EBB5-C38F-45C9-A2FD-673C98B7AFC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790826" y="1294749"/>
            <a:ext cx="1481137" cy="934107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2BDB9F-DB6F-4A06-8778-2728600421AF}"/>
              </a:ext>
            </a:extLst>
          </p:cNvPr>
          <p:cNvSpPr txBox="1"/>
          <p:nvPr/>
        </p:nvSpPr>
        <p:spPr>
          <a:xfrm>
            <a:off x="2556273" y="86982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bias1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992A3F-C558-46EA-9E70-A96ED29F9A85}"/>
              </a:ext>
            </a:extLst>
          </p:cNvPr>
          <p:cNvSpPr txBox="1"/>
          <p:nvPr/>
        </p:nvSpPr>
        <p:spPr>
          <a:xfrm>
            <a:off x="2584847" y="456462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bias2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E4B27F4-ED34-476D-BC62-2D38EF97C9BD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046810" y="3538548"/>
            <a:ext cx="1178718" cy="1494358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73DB8D4-0D12-4849-A566-A3D07A7685AE}"/>
              </a:ext>
            </a:extLst>
          </p:cNvPr>
          <p:cNvSpPr/>
          <p:nvPr/>
        </p:nvSpPr>
        <p:spPr>
          <a:xfrm>
            <a:off x="6981837" y="2424122"/>
            <a:ext cx="1385887" cy="800100"/>
          </a:xfrm>
          <a:prstGeom prst="ellipse">
            <a:avLst/>
          </a:prstGeom>
          <a:solidFill>
            <a:srgbClr val="9BE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4401B3-4E05-48F1-80D3-1ED022E31E72}"/>
              </a:ext>
            </a:extLst>
          </p:cNvPr>
          <p:cNvCxnSpPr>
            <a:cxnSpLocks/>
            <a:stCxn id="34" idx="0"/>
            <a:endCxn id="34" idx="4"/>
          </p:cNvCxnSpPr>
          <p:nvPr/>
        </p:nvCxnSpPr>
        <p:spPr>
          <a:xfrm>
            <a:off x="7674781" y="2424122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D3439CD-967E-43E9-806E-4683B88C5198}"/>
              </a:ext>
            </a:extLst>
          </p:cNvPr>
          <p:cNvSpPr txBox="1"/>
          <p:nvPr/>
        </p:nvSpPr>
        <p:spPr>
          <a:xfrm>
            <a:off x="6981837" y="2639506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7EB101-C28B-4E6E-86F0-9700B9AC7310}"/>
              </a:ext>
            </a:extLst>
          </p:cNvPr>
          <p:cNvSpPr txBox="1"/>
          <p:nvPr/>
        </p:nvSpPr>
        <p:spPr>
          <a:xfrm>
            <a:off x="7656922" y="2639506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3965C5-7A87-49D2-AA77-94BB28A00772}"/>
              </a:ext>
            </a:extLst>
          </p:cNvPr>
          <p:cNvSpPr txBox="1"/>
          <p:nvPr/>
        </p:nvSpPr>
        <p:spPr>
          <a:xfrm>
            <a:off x="2712243" y="1883429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672321-4812-4D5F-89B1-55D2585E820C}"/>
              </a:ext>
            </a:extLst>
          </p:cNvPr>
          <p:cNvSpPr txBox="1"/>
          <p:nvPr/>
        </p:nvSpPr>
        <p:spPr>
          <a:xfrm>
            <a:off x="3173611" y="2309161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3B2E5F-77B7-47F7-8594-4A82AC111448}"/>
              </a:ext>
            </a:extLst>
          </p:cNvPr>
          <p:cNvSpPr txBox="1"/>
          <p:nvPr/>
        </p:nvSpPr>
        <p:spPr>
          <a:xfrm>
            <a:off x="3201606" y="306066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w3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12D22E-DE02-4C27-828C-1445FA972057}"/>
              </a:ext>
            </a:extLst>
          </p:cNvPr>
          <p:cNvSpPr txBox="1"/>
          <p:nvPr/>
        </p:nvSpPr>
        <p:spPr>
          <a:xfrm>
            <a:off x="2624735" y="349493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w4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757C65-F3F5-4F3E-8DE6-C2F1E472C6C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657850" y="2286003"/>
            <a:ext cx="1323987" cy="538169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9346076-3C68-4D93-9BE7-019066F2917E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5564982" y="2824172"/>
            <a:ext cx="1416855" cy="724976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3EE8B-2E53-4E32-B988-AD9A4768FDCE}"/>
              </a:ext>
            </a:extLst>
          </p:cNvPr>
          <p:cNvCxnSpPr>
            <a:cxnSpLocks/>
          </p:cNvCxnSpPr>
          <p:nvPr/>
        </p:nvCxnSpPr>
        <p:spPr>
          <a:xfrm>
            <a:off x="8399871" y="2824172"/>
            <a:ext cx="692944" cy="0"/>
          </a:xfrm>
          <a:prstGeom prst="straightConnector1">
            <a:avLst/>
          </a:prstGeom>
          <a:ln w="28575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3CB7F08-0109-46FC-93DB-1815D3479B83}"/>
              </a:ext>
            </a:extLst>
          </p:cNvPr>
          <p:cNvSpPr txBox="1"/>
          <p:nvPr/>
        </p:nvSpPr>
        <p:spPr>
          <a:xfrm>
            <a:off x="6274009" y="1268198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bias3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59DC889-3342-430B-A288-AA713FA591F0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6240067" y="1496507"/>
            <a:ext cx="741770" cy="1327665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216A12-7483-4504-927B-ED57EFBC7D30}"/>
              </a:ext>
            </a:extLst>
          </p:cNvPr>
          <p:cNvSpPr txBox="1"/>
          <p:nvPr/>
        </p:nvSpPr>
        <p:spPr>
          <a:xfrm>
            <a:off x="5750718" y="2044495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EE36E7-A0AF-4016-8C55-0BD899433D5B}"/>
              </a:ext>
            </a:extLst>
          </p:cNvPr>
          <p:cNvSpPr txBox="1"/>
          <p:nvPr/>
        </p:nvSpPr>
        <p:spPr>
          <a:xfrm>
            <a:off x="5738217" y="295383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8874F8-BFD6-4F98-80F3-5E972FA68931}"/>
              </a:ext>
            </a:extLst>
          </p:cNvPr>
          <p:cNvSpPr txBox="1"/>
          <p:nvPr/>
        </p:nvSpPr>
        <p:spPr>
          <a:xfrm>
            <a:off x="6453782" y="1591745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0.25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C67CA1-61E0-4208-A23E-D80E46BA8AFE}"/>
              </a:ext>
            </a:extLst>
          </p:cNvPr>
          <p:cNvSpPr txBox="1"/>
          <p:nvPr/>
        </p:nvSpPr>
        <p:spPr>
          <a:xfrm>
            <a:off x="5591188" y="237042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0.35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AD3399-D5DE-494B-918C-06B7EC0F8367}"/>
              </a:ext>
            </a:extLst>
          </p:cNvPr>
          <p:cNvSpPr txBox="1"/>
          <p:nvPr/>
        </p:nvSpPr>
        <p:spPr>
          <a:xfrm>
            <a:off x="5948367" y="3309476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-0.45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D5301B-0A66-4D5D-A280-DAAC557D7DB3}"/>
              </a:ext>
            </a:extLst>
          </p:cNvPr>
          <p:cNvSpPr txBox="1"/>
          <p:nvPr/>
        </p:nvSpPr>
        <p:spPr>
          <a:xfrm>
            <a:off x="2742010" y="2192247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w1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EC1157-3FA4-4152-8844-0F01ABF86495}"/>
              </a:ext>
            </a:extLst>
          </p:cNvPr>
          <p:cNvSpPr txBox="1"/>
          <p:nvPr/>
        </p:nvSpPr>
        <p:spPr>
          <a:xfrm>
            <a:off x="2235399" y="112184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5E6953-BE4C-4048-9D22-FA40E6DAD66D}"/>
              </a:ext>
            </a:extLst>
          </p:cNvPr>
          <p:cNvSpPr txBox="1"/>
          <p:nvPr/>
        </p:nvSpPr>
        <p:spPr>
          <a:xfrm>
            <a:off x="3437638" y="2592296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w2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5C0533-D9C6-4A19-8977-932E26751928}"/>
              </a:ext>
            </a:extLst>
          </p:cNvPr>
          <p:cNvSpPr txBox="1"/>
          <p:nvPr/>
        </p:nvSpPr>
        <p:spPr>
          <a:xfrm>
            <a:off x="3639742" y="2969708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-0.7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65DBDC-3D86-4A12-8F73-E93D941CEA14}"/>
              </a:ext>
            </a:extLst>
          </p:cNvPr>
          <p:cNvSpPr txBox="1"/>
          <p:nvPr/>
        </p:nvSpPr>
        <p:spPr>
          <a:xfrm>
            <a:off x="2577109" y="3219449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5A6E29-40C5-4A9C-8144-9FFFD91DC956}"/>
              </a:ext>
            </a:extLst>
          </p:cNvPr>
          <p:cNvSpPr txBox="1"/>
          <p:nvPr/>
        </p:nvSpPr>
        <p:spPr>
          <a:xfrm>
            <a:off x="3099792" y="4772367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A5C03-E35B-49A3-B076-670342178C17}"/>
              </a:ext>
            </a:extLst>
          </p:cNvPr>
          <p:cNvSpPr txBox="1"/>
          <p:nvPr/>
        </p:nvSpPr>
        <p:spPr>
          <a:xfrm>
            <a:off x="8414159" y="2953832"/>
            <a:ext cx="692944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bg1"/>
                </a:solidFill>
              </a:rPr>
              <a:t>0.03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F964022-910C-4619-973B-CDA304908FB5}"/>
              </a:ext>
            </a:extLst>
          </p:cNvPr>
          <p:cNvCxnSpPr>
            <a:cxnSpLocks/>
          </p:cNvCxnSpPr>
          <p:nvPr/>
        </p:nvCxnSpPr>
        <p:spPr>
          <a:xfrm>
            <a:off x="1369051" y="869823"/>
            <a:ext cx="58930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3833572-6024-4FFE-B81B-E80073E58948}"/>
              </a:ext>
            </a:extLst>
          </p:cNvPr>
          <p:cNvSpPr txBox="1"/>
          <p:nvPr/>
        </p:nvSpPr>
        <p:spPr>
          <a:xfrm>
            <a:off x="2914055" y="5364855"/>
            <a:ext cx="30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MA" b="1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868F09F-7E06-4265-A62D-A4EA25A1EE4B}"/>
              </a:ext>
            </a:extLst>
          </p:cNvPr>
          <p:cNvCxnSpPr>
            <a:cxnSpLocks/>
          </p:cNvCxnSpPr>
          <p:nvPr/>
        </p:nvCxnSpPr>
        <p:spPr>
          <a:xfrm flipH="1">
            <a:off x="1509452" y="5402496"/>
            <a:ext cx="68751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B710569-A7E0-4A3D-AB2F-FDE2C9F6CD16}"/>
              </a:ext>
            </a:extLst>
          </p:cNvPr>
          <p:cNvSpPr txBox="1"/>
          <p:nvPr/>
        </p:nvSpPr>
        <p:spPr>
          <a:xfrm>
            <a:off x="3252192" y="567079"/>
            <a:ext cx="30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MA" b="1" dirty="0"/>
          </a:p>
        </p:txBody>
      </p:sp>
      <p:sp>
        <p:nvSpPr>
          <p:cNvPr id="81" name="ZoneTexte 14">
            <a:extLst>
              <a:ext uri="{FF2B5EF4-FFF2-40B4-BE49-F238E27FC236}">
                <a16:creationId xmlns:a16="http://schemas.microsoft.com/office/drawing/2014/main" id="{80BFE4BC-D19A-4FC6-9495-A9CD9AE46126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r>
              <a:rPr lang="fr-MA" sz="3200" b="1" dirty="0">
                <a:solidFill>
                  <a:srgbClr val="0065FA"/>
                </a:solidFill>
              </a:rPr>
              <a:t> and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r>
              <a:rPr lang="fr-MA" sz="3200" b="1" dirty="0">
                <a:solidFill>
                  <a:srgbClr val="0065FA"/>
                </a:solidFill>
              </a:rPr>
              <a:t> for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7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138D255-6776-4F49-90CA-9E86E93D58E8}"/>
              </a:ext>
            </a:extLst>
          </p:cNvPr>
          <p:cNvSpPr/>
          <p:nvPr/>
        </p:nvSpPr>
        <p:spPr>
          <a:xfrm>
            <a:off x="4271963" y="1828806"/>
            <a:ext cx="1385887" cy="8001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9B520D-3C4C-4288-BC7A-53B9E0A16D6A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4964907" y="1828806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9969A9-8720-4299-AB09-A9F6085E4746}"/>
              </a:ext>
            </a:extLst>
          </p:cNvPr>
          <p:cNvSpPr txBox="1"/>
          <p:nvPr/>
        </p:nvSpPr>
        <p:spPr>
          <a:xfrm>
            <a:off x="4271963" y="2044190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BF92E-BD06-482D-A012-739DA28BA3ED}"/>
              </a:ext>
            </a:extLst>
          </p:cNvPr>
          <p:cNvSpPr txBox="1"/>
          <p:nvPr/>
        </p:nvSpPr>
        <p:spPr>
          <a:xfrm>
            <a:off x="4947048" y="2044190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52EF33-2B42-4953-B553-80A8C3B729D8}"/>
              </a:ext>
            </a:extLst>
          </p:cNvPr>
          <p:cNvSpPr/>
          <p:nvPr/>
        </p:nvSpPr>
        <p:spPr>
          <a:xfrm>
            <a:off x="4225528" y="3138498"/>
            <a:ext cx="1385887" cy="8001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E5E38-2366-40C2-BA43-D7492DFC838B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4918472" y="3138498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ED8A83-2390-4DE8-AA3E-EE97AB91A7FA}"/>
              </a:ext>
            </a:extLst>
          </p:cNvPr>
          <p:cNvSpPr txBox="1"/>
          <p:nvPr/>
        </p:nvSpPr>
        <p:spPr>
          <a:xfrm>
            <a:off x="4225528" y="3353882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0498B-3FC0-405F-8CF6-F5B9BD3C4D27}"/>
              </a:ext>
            </a:extLst>
          </p:cNvPr>
          <p:cNvSpPr txBox="1"/>
          <p:nvPr/>
        </p:nvSpPr>
        <p:spPr>
          <a:xfrm>
            <a:off x="4900613" y="3353882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529C1C-747A-461E-9CA3-E90F7D72E06C}"/>
              </a:ext>
            </a:extLst>
          </p:cNvPr>
          <p:cNvSpPr/>
          <p:nvPr/>
        </p:nvSpPr>
        <p:spPr>
          <a:xfrm>
            <a:off x="1257300" y="1885954"/>
            <a:ext cx="657225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221045-C211-4092-A9D7-0B7B73CE948E}"/>
              </a:ext>
            </a:extLst>
          </p:cNvPr>
          <p:cNvSpPr/>
          <p:nvPr/>
        </p:nvSpPr>
        <p:spPr>
          <a:xfrm>
            <a:off x="1257300" y="3195648"/>
            <a:ext cx="657225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571E33-648A-4709-A040-58EBCAD4A857}"/>
              </a:ext>
            </a:extLst>
          </p:cNvPr>
          <p:cNvCxnSpPr>
            <a:stCxn id="10" idx="6"/>
            <a:endCxn id="4" idx="1"/>
          </p:cNvCxnSpPr>
          <p:nvPr/>
        </p:nvCxnSpPr>
        <p:spPr>
          <a:xfrm>
            <a:off x="1914525" y="2228854"/>
            <a:ext cx="2357438" cy="2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5AA70A-B31B-43A1-952F-6288D2B18A78}"/>
              </a:ext>
            </a:extLst>
          </p:cNvPr>
          <p:cNvCxnSpPr>
            <a:cxnSpLocks/>
            <a:stCxn id="11" idx="6"/>
            <a:endCxn id="8" idx="1"/>
          </p:cNvCxnSpPr>
          <p:nvPr/>
        </p:nvCxnSpPr>
        <p:spPr>
          <a:xfrm>
            <a:off x="1914525" y="3538548"/>
            <a:ext cx="2311003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D361FD-612A-4108-883B-322CF737F9B2}"/>
              </a:ext>
            </a:extLst>
          </p:cNvPr>
          <p:cNvCxnSpPr>
            <a:cxnSpLocks/>
            <a:stCxn id="11" idx="6"/>
            <a:endCxn id="4" idx="1"/>
          </p:cNvCxnSpPr>
          <p:nvPr/>
        </p:nvCxnSpPr>
        <p:spPr>
          <a:xfrm flipV="1">
            <a:off x="1914525" y="2228856"/>
            <a:ext cx="2357438" cy="1309692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B2318A-B8B8-4DC8-BEC4-D3287442A05F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1914525" y="2228854"/>
            <a:ext cx="2311003" cy="13096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45EBB5-C38F-45C9-A2FD-673C98B7AFC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790826" y="1294749"/>
            <a:ext cx="1481137" cy="934107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2BDB9F-DB6F-4A06-8778-2728600421AF}"/>
              </a:ext>
            </a:extLst>
          </p:cNvPr>
          <p:cNvSpPr txBox="1"/>
          <p:nvPr/>
        </p:nvSpPr>
        <p:spPr>
          <a:xfrm>
            <a:off x="2556273" y="86982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bias1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992A3F-C558-46EA-9E70-A96ED29F9A85}"/>
              </a:ext>
            </a:extLst>
          </p:cNvPr>
          <p:cNvSpPr txBox="1"/>
          <p:nvPr/>
        </p:nvSpPr>
        <p:spPr>
          <a:xfrm>
            <a:off x="2584847" y="456462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bias2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E4B27F4-ED34-476D-BC62-2D38EF97C9BD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046810" y="3538548"/>
            <a:ext cx="1178718" cy="1494358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73DB8D4-0D12-4849-A566-A3D07A7685AE}"/>
              </a:ext>
            </a:extLst>
          </p:cNvPr>
          <p:cNvSpPr/>
          <p:nvPr/>
        </p:nvSpPr>
        <p:spPr>
          <a:xfrm>
            <a:off x="6981837" y="2424122"/>
            <a:ext cx="1385887" cy="800100"/>
          </a:xfrm>
          <a:prstGeom prst="ellipse">
            <a:avLst/>
          </a:prstGeom>
          <a:solidFill>
            <a:srgbClr val="9BE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4401B3-4E05-48F1-80D3-1ED022E31E72}"/>
              </a:ext>
            </a:extLst>
          </p:cNvPr>
          <p:cNvCxnSpPr>
            <a:cxnSpLocks/>
            <a:stCxn id="34" idx="0"/>
            <a:endCxn id="34" idx="4"/>
          </p:cNvCxnSpPr>
          <p:nvPr/>
        </p:nvCxnSpPr>
        <p:spPr>
          <a:xfrm>
            <a:off x="7674781" y="2424122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D3439CD-967E-43E9-806E-4683B88C5198}"/>
              </a:ext>
            </a:extLst>
          </p:cNvPr>
          <p:cNvSpPr txBox="1"/>
          <p:nvPr/>
        </p:nvSpPr>
        <p:spPr>
          <a:xfrm>
            <a:off x="6981837" y="2639506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7EB101-C28B-4E6E-86F0-9700B9AC7310}"/>
              </a:ext>
            </a:extLst>
          </p:cNvPr>
          <p:cNvSpPr txBox="1"/>
          <p:nvPr/>
        </p:nvSpPr>
        <p:spPr>
          <a:xfrm>
            <a:off x="7656922" y="2639506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3965C5-7A87-49D2-AA77-94BB28A00772}"/>
              </a:ext>
            </a:extLst>
          </p:cNvPr>
          <p:cNvSpPr txBox="1"/>
          <p:nvPr/>
        </p:nvSpPr>
        <p:spPr>
          <a:xfrm>
            <a:off x="2712243" y="1883429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672321-4812-4D5F-89B1-55D2585E820C}"/>
              </a:ext>
            </a:extLst>
          </p:cNvPr>
          <p:cNvSpPr txBox="1"/>
          <p:nvPr/>
        </p:nvSpPr>
        <p:spPr>
          <a:xfrm>
            <a:off x="3173611" y="2309161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3B2E5F-77B7-47F7-8594-4A82AC111448}"/>
              </a:ext>
            </a:extLst>
          </p:cNvPr>
          <p:cNvSpPr txBox="1"/>
          <p:nvPr/>
        </p:nvSpPr>
        <p:spPr>
          <a:xfrm>
            <a:off x="3201606" y="306066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w3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12D22E-DE02-4C27-828C-1445FA972057}"/>
              </a:ext>
            </a:extLst>
          </p:cNvPr>
          <p:cNvSpPr txBox="1"/>
          <p:nvPr/>
        </p:nvSpPr>
        <p:spPr>
          <a:xfrm>
            <a:off x="2624735" y="349493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w4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757C65-F3F5-4F3E-8DE6-C2F1E472C6C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657850" y="2286003"/>
            <a:ext cx="1323987" cy="538169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9346076-3C68-4D93-9BE7-019066F2917E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5564982" y="2824172"/>
            <a:ext cx="1416855" cy="724976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3EE8B-2E53-4E32-B988-AD9A4768FDCE}"/>
              </a:ext>
            </a:extLst>
          </p:cNvPr>
          <p:cNvCxnSpPr>
            <a:cxnSpLocks/>
          </p:cNvCxnSpPr>
          <p:nvPr/>
        </p:nvCxnSpPr>
        <p:spPr>
          <a:xfrm>
            <a:off x="8399871" y="2824172"/>
            <a:ext cx="692944" cy="0"/>
          </a:xfrm>
          <a:prstGeom prst="straightConnector1">
            <a:avLst/>
          </a:prstGeom>
          <a:ln w="28575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3CB7F08-0109-46FC-93DB-1815D3479B83}"/>
              </a:ext>
            </a:extLst>
          </p:cNvPr>
          <p:cNvSpPr txBox="1"/>
          <p:nvPr/>
        </p:nvSpPr>
        <p:spPr>
          <a:xfrm>
            <a:off x="6274009" y="1268198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bias3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59DC889-3342-430B-A288-AA713FA591F0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6240067" y="1496507"/>
            <a:ext cx="741770" cy="1327665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216A12-7483-4504-927B-ED57EFBC7D30}"/>
              </a:ext>
            </a:extLst>
          </p:cNvPr>
          <p:cNvSpPr txBox="1"/>
          <p:nvPr/>
        </p:nvSpPr>
        <p:spPr>
          <a:xfrm>
            <a:off x="5750718" y="2044495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EE36E7-A0AF-4016-8C55-0BD899433D5B}"/>
              </a:ext>
            </a:extLst>
          </p:cNvPr>
          <p:cNvSpPr txBox="1"/>
          <p:nvPr/>
        </p:nvSpPr>
        <p:spPr>
          <a:xfrm>
            <a:off x="5738217" y="295383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8874F8-BFD6-4F98-80F3-5E972FA68931}"/>
              </a:ext>
            </a:extLst>
          </p:cNvPr>
          <p:cNvSpPr txBox="1"/>
          <p:nvPr/>
        </p:nvSpPr>
        <p:spPr>
          <a:xfrm>
            <a:off x="6453782" y="1591745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0.25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C67CA1-61E0-4208-A23E-D80E46BA8AFE}"/>
              </a:ext>
            </a:extLst>
          </p:cNvPr>
          <p:cNvSpPr txBox="1"/>
          <p:nvPr/>
        </p:nvSpPr>
        <p:spPr>
          <a:xfrm>
            <a:off x="5591188" y="237042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0.35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AD3399-D5DE-494B-918C-06B7EC0F8367}"/>
              </a:ext>
            </a:extLst>
          </p:cNvPr>
          <p:cNvSpPr txBox="1"/>
          <p:nvPr/>
        </p:nvSpPr>
        <p:spPr>
          <a:xfrm>
            <a:off x="5948367" y="3309476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-0.45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D5301B-0A66-4D5D-A280-DAAC557D7DB3}"/>
              </a:ext>
            </a:extLst>
          </p:cNvPr>
          <p:cNvSpPr txBox="1"/>
          <p:nvPr/>
        </p:nvSpPr>
        <p:spPr>
          <a:xfrm>
            <a:off x="2742010" y="2192247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w1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EC1157-3FA4-4152-8844-0F01ABF86495}"/>
              </a:ext>
            </a:extLst>
          </p:cNvPr>
          <p:cNvSpPr txBox="1"/>
          <p:nvPr/>
        </p:nvSpPr>
        <p:spPr>
          <a:xfrm>
            <a:off x="2235399" y="112184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5E6953-BE4C-4048-9D22-FA40E6DAD66D}"/>
              </a:ext>
            </a:extLst>
          </p:cNvPr>
          <p:cNvSpPr txBox="1"/>
          <p:nvPr/>
        </p:nvSpPr>
        <p:spPr>
          <a:xfrm>
            <a:off x="3437638" y="2592296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w2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5C0533-D9C6-4A19-8977-932E26751928}"/>
              </a:ext>
            </a:extLst>
          </p:cNvPr>
          <p:cNvSpPr txBox="1"/>
          <p:nvPr/>
        </p:nvSpPr>
        <p:spPr>
          <a:xfrm>
            <a:off x="3639742" y="2969708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-0.7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65DBDC-3D86-4A12-8F73-E93D941CEA14}"/>
              </a:ext>
            </a:extLst>
          </p:cNvPr>
          <p:cNvSpPr txBox="1"/>
          <p:nvPr/>
        </p:nvSpPr>
        <p:spPr>
          <a:xfrm>
            <a:off x="2577109" y="3219449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5A6E29-40C5-4A9C-8144-9FFFD91DC956}"/>
              </a:ext>
            </a:extLst>
          </p:cNvPr>
          <p:cNvSpPr txBox="1"/>
          <p:nvPr/>
        </p:nvSpPr>
        <p:spPr>
          <a:xfrm>
            <a:off x="3099792" y="4772367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A5C03-E35B-49A3-B076-670342178C17}"/>
              </a:ext>
            </a:extLst>
          </p:cNvPr>
          <p:cNvSpPr txBox="1"/>
          <p:nvPr/>
        </p:nvSpPr>
        <p:spPr>
          <a:xfrm>
            <a:off x="8414159" y="2953832"/>
            <a:ext cx="692944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bg1"/>
                </a:solidFill>
              </a:rPr>
              <a:t>0.03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F964022-910C-4619-973B-CDA304908FB5}"/>
              </a:ext>
            </a:extLst>
          </p:cNvPr>
          <p:cNvCxnSpPr>
            <a:cxnSpLocks/>
          </p:cNvCxnSpPr>
          <p:nvPr/>
        </p:nvCxnSpPr>
        <p:spPr>
          <a:xfrm>
            <a:off x="1369051" y="869823"/>
            <a:ext cx="58930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3833572-6024-4FFE-B81B-E80073E58948}"/>
              </a:ext>
            </a:extLst>
          </p:cNvPr>
          <p:cNvSpPr txBox="1"/>
          <p:nvPr/>
        </p:nvSpPr>
        <p:spPr>
          <a:xfrm>
            <a:off x="2914055" y="5364855"/>
            <a:ext cx="30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MA" b="1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868F09F-7E06-4265-A62D-A4EA25A1EE4B}"/>
              </a:ext>
            </a:extLst>
          </p:cNvPr>
          <p:cNvCxnSpPr>
            <a:cxnSpLocks/>
          </p:cNvCxnSpPr>
          <p:nvPr/>
        </p:nvCxnSpPr>
        <p:spPr>
          <a:xfrm flipH="1">
            <a:off x="1509452" y="5402496"/>
            <a:ext cx="68751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B710569-A7E0-4A3D-AB2F-FDE2C9F6CD16}"/>
              </a:ext>
            </a:extLst>
          </p:cNvPr>
          <p:cNvSpPr txBox="1"/>
          <p:nvPr/>
        </p:nvSpPr>
        <p:spPr>
          <a:xfrm>
            <a:off x="3252192" y="567079"/>
            <a:ext cx="30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MA" b="1" dirty="0"/>
          </a:p>
        </p:txBody>
      </p:sp>
      <p:sp>
        <p:nvSpPr>
          <p:cNvPr id="81" name="ZoneTexte 14">
            <a:extLst>
              <a:ext uri="{FF2B5EF4-FFF2-40B4-BE49-F238E27FC236}">
                <a16:creationId xmlns:a16="http://schemas.microsoft.com/office/drawing/2014/main" id="{80BFE4BC-D19A-4FC6-9495-A9CD9AE46126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r>
              <a:rPr lang="fr-MA" sz="3200" b="1" dirty="0">
                <a:solidFill>
                  <a:srgbClr val="0065FA"/>
                </a:solidFill>
              </a:rPr>
              <a:t> and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r>
              <a:rPr lang="fr-MA" sz="3200" b="1" dirty="0">
                <a:solidFill>
                  <a:srgbClr val="0065FA"/>
                </a:solidFill>
              </a:rPr>
              <a:t> for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52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0BB8B4-3544-483C-94CD-AA07E5F25B2F}"/>
                  </a:ext>
                </a:extLst>
              </p:cNvPr>
              <p:cNvSpPr/>
              <p:nvPr/>
            </p:nvSpPr>
            <p:spPr>
              <a:xfrm>
                <a:off x="445661" y="938338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0BB8B4-3544-483C-94CD-AA07E5F25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938338"/>
                <a:ext cx="3657858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8A4185B-45A5-4E58-9E37-48615AE29A41}"/>
                  </a:ext>
                </a:extLst>
              </p:cNvPr>
              <p:cNvSpPr/>
              <p:nvPr/>
            </p:nvSpPr>
            <p:spPr>
              <a:xfrm>
                <a:off x="445661" y="1576513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8A4185B-45A5-4E58-9E37-48615AE29A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1576513"/>
                <a:ext cx="3657858" cy="537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DE5409-1498-485F-894D-8FB47369F319}"/>
                  </a:ext>
                </a:extLst>
              </p:cNvPr>
              <p:cNvSpPr/>
              <p:nvPr/>
            </p:nvSpPr>
            <p:spPr>
              <a:xfrm>
                <a:off x="445661" y="2348038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DE5409-1498-485F-894D-8FB47369F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2348038"/>
                <a:ext cx="3657858" cy="537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F57935-EF2D-41E2-B1D3-FFA457D71736}"/>
                  </a:ext>
                </a:extLst>
              </p:cNvPr>
              <p:cNvSpPr/>
              <p:nvPr/>
            </p:nvSpPr>
            <p:spPr>
              <a:xfrm>
                <a:off x="445661" y="3060225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F57935-EF2D-41E2-B1D3-FFA457D71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3060225"/>
                <a:ext cx="3657858" cy="5371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8786FD-C00D-4FA3-9668-C6A819B208F8}"/>
                  </a:ext>
                </a:extLst>
              </p:cNvPr>
              <p:cNvSpPr/>
              <p:nvPr/>
            </p:nvSpPr>
            <p:spPr>
              <a:xfrm>
                <a:off x="445661" y="4469816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8786FD-C00D-4FA3-9668-C6A819B20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4469816"/>
                <a:ext cx="3657858" cy="537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72ED9-ABD6-433F-88A9-62CAA818CB8D}"/>
                  </a:ext>
                </a:extLst>
              </p:cNvPr>
              <p:cNvSpPr/>
              <p:nvPr/>
            </p:nvSpPr>
            <p:spPr>
              <a:xfrm>
                <a:off x="445661" y="5207714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72ED9-ABD6-433F-88A9-62CAA818C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5207714"/>
                <a:ext cx="3657858" cy="5371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B3636EF-A03C-4132-9DAB-CF5174444F47}"/>
                  </a:ext>
                </a:extLst>
              </p:cNvPr>
              <p:cNvSpPr/>
              <p:nvPr/>
            </p:nvSpPr>
            <p:spPr>
              <a:xfrm>
                <a:off x="7588298" y="3418160"/>
                <a:ext cx="3657858" cy="537198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B3636EF-A03C-4132-9DAB-CF5174444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298" y="3418160"/>
                <a:ext cx="3657858" cy="5371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8BF53F-17DB-4CFB-A15F-155A6AC8D7CB}"/>
                  </a:ext>
                </a:extLst>
              </p:cNvPr>
              <p:cNvSpPr/>
              <p:nvPr/>
            </p:nvSpPr>
            <p:spPr>
              <a:xfrm>
                <a:off x="7588298" y="4056335"/>
                <a:ext cx="3657858" cy="537198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8BF53F-17DB-4CFB-A15F-155A6AC8D7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298" y="4056335"/>
                <a:ext cx="3657858" cy="5371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E313A14-F018-4E00-B3B1-8500A0D11588}"/>
                  </a:ext>
                </a:extLst>
              </p:cNvPr>
              <p:cNvSpPr/>
              <p:nvPr/>
            </p:nvSpPr>
            <p:spPr>
              <a:xfrm>
                <a:off x="7588298" y="5370795"/>
                <a:ext cx="3657858" cy="537198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E313A14-F018-4E00-B3B1-8500A0D11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298" y="5370795"/>
                <a:ext cx="3657858" cy="5371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14">
            <a:extLst>
              <a:ext uri="{FF2B5EF4-FFF2-40B4-BE49-F238E27FC236}">
                <a16:creationId xmlns:a16="http://schemas.microsoft.com/office/drawing/2014/main" id="{85B17C97-21EF-4A40-A3BB-BEA9BA3FA740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Comment?</a:t>
            </a:r>
            <a:endParaRPr lang="fr-FR" sz="3200" b="1" dirty="0">
              <a:solidFill>
                <a:srgbClr val="0065FA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2EED93F-7ACE-4855-9E59-5EB93FA1CD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6812" y="73392"/>
            <a:ext cx="4874052" cy="3227964"/>
          </a:xfrm>
          <a:prstGeom prst="rect">
            <a:avLst/>
          </a:prstGeom>
          <a:ln>
            <a:solidFill>
              <a:srgbClr val="0065FA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9C85D20-2537-404F-A5FC-5ABBD7535239}"/>
                  </a:ext>
                </a:extLst>
              </p:cNvPr>
              <p:cNvSpPr/>
              <p:nvPr/>
            </p:nvSpPr>
            <p:spPr>
              <a:xfrm>
                <a:off x="755222" y="3730605"/>
                <a:ext cx="4874052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9C85D20-2537-404F-A5FC-5ABBD7535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22" y="3730605"/>
                <a:ext cx="4874052" cy="5383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A5609D8-33A2-44E2-A653-F88426D85CB7}"/>
                  </a:ext>
                </a:extLst>
              </p:cNvPr>
              <p:cNvSpPr/>
              <p:nvPr/>
            </p:nvSpPr>
            <p:spPr>
              <a:xfrm>
                <a:off x="755221" y="5840756"/>
                <a:ext cx="4874053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A5609D8-33A2-44E2-A653-F88426D85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21" y="5840756"/>
                <a:ext cx="4874053" cy="5383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CA58A8DB-E960-4250-AB20-D9434A5C4425}"/>
              </a:ext>
            </a:extLst>
          </p:cNvPr>
          <p:cNvSpPr/>
          <p:nvPr/>
        </p:nvSpPr>
        <p:spPr>
          <a:xfrm>
            <a:off x="138481" y="3782540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E9D83A2-05A3-4E66-9146-8F67CE7DB285}"/>
              </a:ext>
            </a:extLst>
          </p:cNvPr>
          <p:cNvSpPr/>
          <p:nvPr/>
        </p:nvSpPr>
        <p:spPr>
          <a:xfrm>
            <a:off x="138481" y="5921535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5AEF698-F2C9-4AB5-87DA-4897E781586F}"/>
                  </a:ext>
                </a:extLst>
              </p:cNvPr>
              <p:cNvSpPr/>
              <p:nvPr/>
            </p:nvSpPr>
            <p:spPr>
              <a:xfrm>
                <a:off x="8088483" y="4670516"/>
                <a:ext cx="3657858" cy="537198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5AEF698-F2C9-4AB5-87DA-4897E78158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483" y="4670516"/>
                <a:ext cx="3657858" cy="5371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row: Right 34">
            <a:extLst>
              <a:ext uri="{FF2B5EF4-FFF2-40B4-BE49-F238E27FC236}">
                <a16:creationId xmlns:a16="http://schemas.microsoft.com/office/drawing/2014/main" id="{15A33592-3779-4845-A96B-185E2DB6D50A}"/>
              </a:ext>
            </a:extLst>
          </p:cNvPr>
          <p:cNvSpPr/>
          <p:nvPr/>
        </p:nvSpPr>
        <p:spPr>
          <a:xfrm>
            <a:off x="7386639" y="4659942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E895127-1C2F-41EB-8D27-E55A1C395C12}"/>
                  </a:ext>
                </a:extLst>
              </p:cNvPr>
              <p:cNvSpPr/>
              <p:nvPr/>
            </p:nvSpPr>
            <p:spPr>
              <a:xfrm>
                <a:off x="7970800" y="5991365"/>
                <a:ext cx="3916531" cy="538353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E895127-1C2F-41EB-8D27-E55A1C395C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800" y="5991365"/>
                <a:ext cx="3916531" cy="5383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row: Right 36">
            <a:extLst>
              <a:ext uri="{FF2B5EF4-FFF2-40B4-BE49-F238E27FC236}">
                <a16:creationId xmlns:a16="http://schemas.microsoft.com/office/drawing/2014/main" id="{928D16AB-6F9B-4CAC-ABA9-1301621BFEB1}"/>
              </a:ext>
            </a:extLst>
          </p:cNvPr>
          <p:cNvSpPr/>
          <p:nvPr/>
        </p:nvSpPr>
        <p:spPr>
          <a:xfrm>
            <a:off x="7424735" y="6026783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26906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1580910" y="2657475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 Update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hidden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layer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weights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endParaRPr lang="fr-FR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78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7623573" y="1243699"/>
                <a:ext cx="2877737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2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573" y="1243699"/>
                <a:ext cx="2877737" cy="828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r>
              <a:rPr lang="fr-MA" sz="3200" b="1" dirty="0">
                <a:solidFill>
                  <a:srgbClr val="0065FA"/>
                </a:solidFill>
              </a:rPr>
              <a:t> and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F10DCC-A102-4794-9336-4BFA76CCF762}"/>
                  </a:ext>
                </a:extLst>
              </p:cNvPr>
              <p:cNvSpPr txBox="1"/>
              <p:nvPr/>
            </p:nvSpPr>
            <p:spPr>
              <a:xfrm>
                <a:off x="7328298" y="3447801"/>
                <a:ext cx="3444478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2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F10DCC-A102-4794-9336-4BFA76CCF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298" y="3447801"/>
                <a:ext cx="3444478" cy="828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11A38DA-2FDA-498B-BBD4-133F632B81B2}"/>
                  </a:ext>
                </a:extLst>
              </p:cNvPr>
              <p:cNvSpPr/>
              <p:nvPr/>
            </p:nvSpPr>
            <p:spPr>
              <a:xfrm>
                <a:off x="155147" y="1429855"/>
                <a:ext cx="4874052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11A38DA-2FDA-498B-BBD4-133F632B81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47" y="1429855"/>
                <a:ext cx="4874052" cy="5383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4A66D61-5659-4711-B170-139663790F47}"/>
                  </a:ext>
                </a:extLst>
              </p:cNvPr>
              <p:cNvSpPr/>
              <p:nvPr/>
            </p:nvSpPr>
            <p:spPr>
              <a:xfrm>
                <a:off x="37859" y="3633956"/>
                <a:ext cx="4874053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4A66D61-5659-4711-B170-139663790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9" y="3633956"/>
                <a:ext cx="4874053" cy="5383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5743079-23D3-46D4-BCDA-61B1C426EDF2}"/>
              </a:ext>
            </a:extLst>
          </p:cNvPr>
          <p:cNvSpPr/>
          <p:nvPr/>
        </p:nvSpPr>
        <p:spPr>
          <a:xfrm>
            <a:off x="5724897" y="1466277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6E973-462E-4085-A13A-485D902C1015}"/>
              </a:ext>
            </a:extLst>
          </p:cNvPr>
          <p:cNvSpPr txBox="1"/>
          <p:nvPr/>
        </p:nvSpPr>
        <p:spPr>
          <a:xfrm>
            <a:off x="6577236" y="1562452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F26180-D7ED-4564-93FC-5EEF75295356}"/>
              </a:ext>
            </a:extLst>
          </p:cNvPr>
          <p:cNvSpPr/>
          <p:nvPr/>
        </p:nvSpPr>
        <p:spPr>
          <a:xfrm>
            <a:off x="5724897" y="3706802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D833B-6D96-4CFF-B148-8F0B33CC5D20}"/>
              </a:ext>
            </a:extLst>
          </p:cNvPr>
          <p:cNvSpPr txBox="1"/>
          <p:nvPr/>
        </p:nvSpPr>
        <p:spPr>
          <a:xfrm>
            <a:off x="6577236" y="3802977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</p:spTree>
    <p:extLst>
      <p:ext uri="{BB962C8B-B14F-4D97-AF65-F5344CB8AC3E}">
        <p14:creationId xmlns:p14="http://schemas.microsoft.com/office/powerpoint/2010/main" val="128571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 animBg="1"/>
      <p:bldP spid="2" grpId="0"/>
      <p:bldP spid="9" grpId="0" animBg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480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647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812618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3443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344361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5B49E-669B-4C7D-817A-2234931C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0" y="1622391"/>
            <a:ext cx="7503315" cy="9379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97419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4037943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sum3_dout1= w5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8854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88545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=w1*x1+w2*x2+bias1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d_sum1_dw1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chain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66220B7-3535-49DB-84B9-459CD8A9CEC9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5D25DA1-7463-4F86-A7E8-676CAF6E7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923" y="120773"/>
            <a:ext cx="3687042" cy="2441837"/>
          </a:xfrm>
          <a:prstGeom prst="rect">
            <a:avLst/>
          </a:prstGeom>
          <a:ln>
            <a:solidFill>
              <a:srgbClr val="0065FA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C1191B-A613-40A4-90A5-7AEAA0D87E8A}"/>
                  </a:ext>
                </a:extLst>
              </p:cNvPr>
              <p:cNvSpPr txBox="1"/>
              <p:nvPr/>
            </p:nvSpPr>
            <p:spPr>
              <a:xfrm>
                <a:off x="9742883" y="1785880"/>
                <a:ext cx="2259808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2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C1191B-A613-40A4-90A5-7AEAA0D87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883" y="1785880"/>
                <a:ext cx="2259808" cy="4380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FD90087-86A2-40EF-AD32-2116E9D1165A}"/>
              </a:ext>
            </a:extLst>
          </p:cNvPr>
          <p:cNvSpPr txBox="1"/>
          <p:nvPr/>
        </p:nvSpPr>
        <p:spPr>
          <a:xfrm>
            <a:off x="189309" y="1223249"/>
            <a:ext cx="2386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out3=</a:t>
            </a:r>
            <a:r>
              <a:rPr lang="fr-MA" b="1" dirty="0" err="1"/>
              <a:t>Predicted_y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132269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1" grpId="0"/>
      <p:bldP spid="12" grpId="0"/>
      <p:bldP spid="14" grpId="0"/>
      <p:bldP spid="15" grpId="0"/>
      <p:bldP spid="16" grpId="0"/>
      <p:bldP spid="17" grpId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509183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509183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626875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158618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158618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3911676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3852200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sum3_dout1= w5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40280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402802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0106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=w1*x1+w2*x2+bias1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0106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d_sum1_dw2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2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CCED287-7AD6-44D7-BB4D-E2D54A62F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27" y="1646068"/>
            <a:ext cx="6743700" cy="7334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377826-EB65-460A-9436-D84470DC9EB0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5A0C89-983B-4BD5-BCC5-0C82A2A1A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012" y="56699"/>
            <a:ext cx="3782615" cy="2505133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23434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52347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52347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64116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17290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17290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392596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3866489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sum3_dout2= w6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41709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417091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d_out2_dsum2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124958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=w3*x1+w4*x2+bias2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124958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d_sum2_dw3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A31015-B5A8-4DC9-BD64-105C4D97D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10" y="1646560"/>
            <a:ext cx="7171730" cy="77371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21B6D79-3980-4CEE-929D-AF4F2353FD70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D796960-8697-4345-8270-C933ACA02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BB4FBB-23B2-45F1-A45F-CAFCBAEBAE2B}"/>
                  </a:ext>
                </a:extLst>
              </p14:cNvPr>
              <p14:cNvContentPartPr/>
              <p14:nvPr/>
            </p14:nvContentPartPr>
            <p14:xfrm>
              <a:off x="8372520" y="190440"/>
              <a:ext cx="562320" cy="371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BB4FBB-23B2-45F1-A45F-CAFCBAEBAE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63160" y="181080"/>
                <a:ext cx="581040" cy="39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476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2597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3966499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sum3_dout2= w6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1710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17101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d_out2_dsum2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06780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=w3*x1+w4*x2+bias2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06780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d_sum2_dw4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E01A2B2-9283-4150-A1DF-8F68F14FB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99" y="1642944"/>
            <a:ext cx="6867525" cy="8667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dloss_dw4=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11E1A7D-AB21-4C00-9B6F-4FDF3A032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292885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4E299-0E29-451F-BD06-6E790C7BCFB8}"/>
              </a:ext>
            </a:extLst>
          </p:cNvPr>
          <p:cNvSpPr txBox="1"/>
          <p:nvPr/>
        </p:nvSpPr>
        <p:spPr>
          <a:xfrm>
            <a:off x="175021" y="1657350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ABADC-D894-4B3A-A8AF-15A509157007}"/>
              </a:ext>
            </a:extLst>
          </p:cNvPr>
          <p:cNvSpPr txBox="1"/>
          <p:nvPr/>
        </p:nvSpPr>
        <p:spPr>
          <a:xfrm>
            <a:off x="175021" y="2328862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755E6-47B9-45BD-B861-D053A9C92351}"/>
              </a:ext>
            </a:extLst>
          </p:cNvPr>
          <p:cNvSpPr txBox="1"/>
          <p:nvPr/>
        </p:nvSpPr>
        <p:spPr>
          <a:xfrm>
            <a:off x="175021" y="3000374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2C301-0301-4631-890C-BB95F5F1211E}"/>
              </a:ext>
            </a:extLst>
          </p:cNvPr>
          <p:cNvSpPr txBox="1"/>
          <p:nvPr/>
        </p:nvSpPr>
        <p:spPr>
          <a:xfrm>
            <a:off x="175021" y="3671886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dloss_dw4=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2F808-C218-407C-BEE4-15B3825D43C2}"/>
              </a:ext>
            </a:extLst>
          </p:cNvPr>
          <p:cNvSpPr txBox="1"/>
          <p:nvPr/>
        </p:nvSpPr>
        <p:spPr>
          <a:xfrm>
            <a:off x="0" y="5971419"/>
            <a:ext cx="12072937" cy="338554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dloss_dw_h</a:t>
            </a:r>
            <a:r>
              <a:rPr lang="fr-MA" sz="1600" b="1" dirty="0"/>
              <a:t>= </a:t>
            </a:r>
            <a:r>
              <a:rPr lang="fr-MA" sz="1600" b="1" dirty="0">
                <a:solidFill>
                  <a:srgbClr val="00B050"/>
                </a:solidFill>
              </a:rPr>
              <a:t>X.T</a:t>
            </a:r>
            <a:r>
              <a:rPr lang="fr-MA" sz="1600" b="1" dirty="0"/>
              <a:t>.dot(</a:t>
            </a:r>
            <a:r>
              <a:rPr lang="fr-MA" sz="1600" b="1" dirty="0">
                <a:solidFill>
                  <a:srgbClr val="0065FA"/>
                </a:solidFill>
              </a:rPr>
              <a:t>(</a:t>
            </a:r>
            <a:r>
              <a:rPr lang="fr-MA" sz="1600" b="1" dirty="0" err="1">
                <a:solidFill>
                  <a:srgbClr val="0065FA"/>
                </a:solidFill>
              </a:rPr>
              <a:t>predicted_y</a:t>
            </a:r>
            <a:r>
              <a:rPr lang="fr-MA" sz="1600" b="1" dirty="0">
                <a:solidFill>
                  <a:srgbClr val="0065FA"/>
                </a:solidFill>
              </a:rPr>
              <a:t>-y)* </a:t>
            </a:r>
            <a:r>
              <a:rPr lang="fr-MA" sz="1600" b="1" dirty="0" err="1">
                <a:solidFill>
                  <a:srgbClr val="0065FA"/>
                </a:solidFill>
              </a:rPr>
              <a:t>sigmoid_derivative</a:t>
            </a:r>
            <a:r>
              <a:rPr lang="fr-MA" sz="1600" b="1" dirty="0">
                <a:solidFill>
                  <a:srgbClr val="0065FA"/>
                </a:solidFill>
              </a:rPr>
              <a:t>(</a:t>
            </a:r>
            <a:r>
              <a:rPr lang="fr-MA" sz="1600" b="1" dirty="0" err="1">
                <a:solidFill>
                  <a:srgbClr val="0065FA"/>
                </a:solidFill>
              </a:rPr>
              <a:t>predicted_y</a:t>
            </a:r>
            <a:r>
              <a:rPr lang="fr-MA" sz="1600" b="1" dirty="0">
                <a:solidFill>
                  <a:srgbClr val="0065FA"/>
                </a:solidFill>
              </a:rPr>
              <a:t>)</a:t>
            </a:r>
            <a:r>
              <a:rPr lang="fr-MA" sz="1600" b="1" dirty="0"/>
              <a:t>.dot(</a:t>
            </a:r>
            <a:r>
              <a:rPr lang="fr-MA" sz="1600" b="1" dirty="0" err="1">
                <a:solidFill>
                  <a:srgbClr val="FF0000"/>
                </a:solidFill>
              </a:rPr>
              <a:t>output_weights.T</a:t>
            </a:r>
            <a:r>
              <a:rPr lang="fr-MA" sz="1600" b="1" dirty="0"/>
              <a:t>)*</a:t>
            </a:r>
            <a:r>
              <a:rPr lang="fr-MA" sz="1600" b="1" dirty="0" err="1"/>
              <a:t>sigmoid_derivative</a:t>
            </a:r>
            <a:r>
              <a:rPr lang="fr-MA" sz="1600" b="1" dirty="0"/>
              <a:t>(</a:t>
            </a:r>
            <a:r>
              <a:rPr lang="fr-MA" sz="1600" b="1" dirty="0" err="1"/>
              <a:t>hidden_layer_out</a:t>
            </a:r>
            <a:r>
              <a:rPr lang="fr-MA" sz="1600" b="1" dirty="0"/>
              <a:t>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314D9-D9CE-407D-9931-8C2A3B12DD32}"/>
              </a:ext>
            </a:extLst>
          </p:cNvPr>
          <p:cNvSpPr txBox="1"/>
          <p:nvPr/>
        </p:nvSpPr>
        <p:spPr>
          <a:xfrm>
            <a:off x="175021" y="4600486"/>
            <a:ext cx="11197829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dloss_dw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output_W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h_out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</a:t>
            </a:r>
            <a:endParaRPr lang="fr-M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48E32-3BDE-4B59-971D-5D7002BADD7E}"/>
                  </a:ext>
                </a:extLst>
              </p:cNvPr>
              <p:cNvSpPr txBox="1"/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48E32-3BDE-4B59-971D-5D7002BAD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4">
            <a:extLst>
              <a:ext uri="{FF2B5EF4-FFF2-40B4-BE49-F238E27FC236}">
                <a16:creationId xmlns:a16="http://schemas.microsoft.com/office/drawing/2014/main" id="{6A83935B-EEC9-481B-9666-C8D3BB5F533F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endParaRPr lang="fr-FR" sz="3200" b="1" dirty="0">
              <a:solidFill>
                <a:srgbClr val="0065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390F3-F2A1-47D5-8F8C-075202DB986A}"/>
              </a:ext>
            </a:extLst>
          </p:cNvPr>
          <p:cNvSpPr txBox="1"/>
          <p:nvPr/>
        </p:nvSpPr>
        <p:spPr>
          <a:xfrm>
            <a:off x="1779" y="5523757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5CFC4B-66AC-4D0E-8C92-53B8F150C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010" y="-23574"/>
            <a:ext cx="2684765" cy="1778054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09787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7754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19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812618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3443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344361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97419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4037943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sum3_dout1= w5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8854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88545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=w1*x1+w2*x2+bias1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d_sum1_bias1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𝒃𝒊𝒂𝒔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66220B7-3535-49DB-84B9-459CD8A9CEC9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F3103A-169D-41DC-8558-236902D0C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20" y="1637517"/>
            <a:ext cx="6800850" cy="6953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582CFC-DD67-43E5-96CD-D96B2CE4D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404345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1" grpId="0"/>
      <p:bldP spid="12" grpId="0"/>
      <p:bldP spid="14" grpId="0"/>
      <p:bldP spid="15" grpId="0"/>
      <p:bldP spid="16" grpId="0"/>
      <p:bldP spid="17" grpId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812618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3443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344361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97419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4037943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sum3_dout2= w6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8854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88545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=w3*x1+w4*x2+bias2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d_sum2_bias2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𝒃𝒊𝒂𝒔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66220B7-3535-49DB-84B9-459CD8A9CEC9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EE2E4-711D-4FD8-9383-AF858C478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08" y="1502118"/>
            <a:ext cx="6877050" cy="7429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02930B-1616-49CD-B809-09E1870A5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89462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5C1EA9-5D56-4C77-955F-F7CE2DDFCDDB}"/>
              </a:ext>
            </a:extLst>
          </p:cNvPr>
          <p:cNvSpPr txBox="1"/>
          <p:nvPr/>
        </p:nvSpPr>
        <p:spPr>
          <a:xfrm>
            <a:off x="175021" y="17430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99B1C-B682-4208-98B6-AC2D5F50F285}"/>
              </a:ext>
            </a:extLst>
          </p:cNvPr>
          <p:cNvSpPr txBox="1"/>
          <p:nvPr/>
        </p:nvSpPr>
        <p:spPr>
          <a:xfrm>
            <a:off x="175021" y="2300257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EC3B37-3D43-4EC2-BBA3-A8963DD1B9BD}"/>
                  </a:ext>
                </a:extLst>
              </p:cNvPr>
              <p:cNvSpPr txBox="1"/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EC3B37-3D43-4EC2-BBA3-A8963DD1B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14">
            <a:extLst>
              <a:ext uri="{FF2B5EF4-FFF2-40B4-BE49-F238E27FC236}">
                <a16:creationId xmlns:a16="http://schemas.microsoft.com/office/drawing/2014/main" id="{AEE33F90-92A9-4612-8E14-E5A27A6EC4AB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3F4BF-D48F-47F5-A212-B1FC1CE30EAD}"/>
              </a:ext>
            </a:extLst>
          </p:cNvPr>
          <p:cNvSpPr txBox="1"/>
          <p:nvPr/>
        </p:nvSpPr>
        <p:spPr>
          <a:xfrm>
            <a:off x="0" y="3129977"/>
            <a:ext cx="12058650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dloss_bias_h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output_W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h_out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33B32-27CF-4DB0-BC8C-12DE0F8F5313}"/>
              </a:ext>
            </a:extLst>
          </p:cNvPr>
          <p:cNvSpPr txBox="1"/>
          <p:nvPr/>
        </p:nvSpPr>
        <p:spPr>
          <a:xfrm>
            <a:off x="9285" y="5103765"/>
            <a:ext cx="1218271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dloss_dbias_h</a:t>
            </a:r>
            <a:r>
              <a:rPr lang="fr-MA" dirty="0"/>
              <a:t>=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-y)* </a:t>
            </a:r>
            <a:r>
              <a:rPr lang="fr-MA" b="1" dirty="0" err="1">
                <a:solidFill>
                  <a:srgbClr val="0066FF"/>
                </a:solidFill>
              </a:rPr>
              <a:t>sigmoid_derivative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)</a:t>
            </a:r>
            <a:r>
              <a:rPr lang="fr-MA" dirty="0"/>
              <a:t>.dot(</a:t>
            </a:r>
            <a:r>
              <a:rPr lang="fr-MA" b="1" dirty="0" err="1">
                <a:solidFill>
                  <a:srgbClr val="FF3300"/>
                </a:solidFill>
              </a:rPr>
              <a:t>output_weights</a:t>
            </a:r>
            <a:r>
              <a:rPr lang="fr-MA" dirty="0" err="1"/>
              <a:t>.T</a:t>
            </a:r>
            <a:r>
              <a:rPr lang="fr-MA" dirty="0"/>
              <a:t>)*</a:t>
            </a:r>
            <a:r>
              <a:rPr lang="fr-MA" b="1" dirty="0" err="1">
                <a:solidFill>
                  <a:srgbClr val="FF3300"/>
                </a:solidFill>
              </a:rPr>
              <a:t>sigmoid_derivative</a:t>
            </a:r>
            <a:r>
              <a:rPr lang="fr-MA" b="1" dirty="0">
                <a:solidFill>
                  <a:srgbClr val="FF3300"/>
                </a:solidFill>
              </a:rPr>
              <a:t>(</a:t>
            </a:r>
            <a:r>
              <a:rPr lang="fr-MA" b="1" dirty="0" err="1">
                <a:solidFill>
                  <a:srgbClr val="FF3300"/>
                </a:solidFill>
              </a:rPr>
              <a:t>hidden_layer_out</a:t>
            </a:r>
            <a:r>
              <a:rPr lang="fr-MA" b="1" dirty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A74BF-8C1C-4FE1-BFE3-BC2579C9607B}"/>
              </a:ext>
            </a:extLst>
          </p:cNvPr>
          <p:cNvSpPr txBox="1"/>
          <p:nvPr/>
        </p:nvSpPr>
        <p:spPr>
          <a:xfrm>
            <a:off x="187519" y="4595061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</p:spTree>
    <p:extLst>
      <p:ext uri="{BB962C8B-B14F-4D97-AF65-F5344CB8AC3E}">
        <p14:creationId xmlns:p14="http://schemas.microsoft.com/office/powerpoint/2010/main" val="62421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1580910" y="2657475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2) Update output layer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weights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endParaRPr lang="fr-FR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214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1584722" y="954565"/>
                <a:ext cx="1739503" cy="114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722" y="954565"/>
                <a:ext cx="1739503" cy="1145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output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r>
              <a:rPr lang="fr-MA" sz="3200" b="1" dirty="0">
                <a:solidFill>
                  <a:srgbClr val="0065FA"/>
                </a:solidFill>
              </a:rPr>
              <a:t> and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093CC-15A4-42BE-A2A4-4FCE89B6AB01}"/>
                  </a:ext>
                </a:extLst>
              </p:cNvPr>
              <p:cNvSpPr txBox="1"/>
              <p:nvPr/>
            </p:nvSpPr>
            <p:spPr>
              <a:xfrm>
                <a:off x="1541858" y="3384796"/>
                <a:ext cx="2372916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093CC-15A4-42BE-A2A4-4FCE89B6A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858" y="3384796"/>
                <a:ext cx="2372916" cy="1196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0AB3C1-D62C-4E3E-BE2E-E93C4452F5F5}"/>
                  </a:ext>
                </a:extLst>
              </p:cNvPr>
              <p:cNvSpPr/>
              <p:nvPr/>
            </p:nvSpPr>
            <p:spPr>
              <a:xfrm>
                <a:off x="7045502" y="1563065"/>
                <a:ext cx="3657858" cy="537198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0AB3C1-D62C-4E3E-BE2E-E93C4452F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502" y="1563065"/>
                <a:ext cx="3657858" cy="537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85D6FC-9C1D-497B-B605-F77454D5AD12}"/>
                  </a:ext>
                </a:extLst>
              </p:cNvPr>
              <p:cNvSpPr/>
              <p:nvPr/>
            </p:nvSpPr>
            <p:spPr>
              <a:xfrm>
                <a:off x="6927819" y="3612583"/>
                <a:ext cx="3916531" cy="538353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85D6FC-9C1D-497B-B605-F77454D5AD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819" y="3612583"/>
                <a:ext cx="3916531" cy="5383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8C8A1470-72CF-462C-8B23-89AC30F2A3C6}"/>
              </a:ext>
            </a:extLst>
          </p:cNvPr>
          <p:cNvSpPr/>
          <p:nvPr/>
        </p:nvSpPr>
        <p:spPr>
          <a:xfrm>
            <a:off x="5037956" y="1530133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F6B61-68B4-458A-A968-2C56D85372C3}"/>
              </a:ext>
            </a:extLst>
          </p:cNvPr>
          <p:cNvSpPr txBox="1"/>
          <p:nvPr/>
        </p:nvSpPr>
        <p:spPr>
          <a:xfrm>
            <a:off x="5890295" y="1497719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F701B9B-38C3-4C23-A475-1AA81D895465}"/>
              </a:ext>
            </a:extLst>
          </p:cNvPr>
          <p:cNvSpPr/>
          <p:nvPr/>
        </p:nvSpPr>
        <p:spPr>
          <a:xfrm>
            <a:off x="5037956" y="3642069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F68042-2F7B-46A3-9B8D-2177FC65D4A7}"/>
              </a:ext>
            </a:extLst>
          </p:cNvPr>
          <p:cNvSpPr txBox="1"/>
          <p:nvPr/>
        </p:nvSpPr>
        <p:spPr>
          <a:xfrm>
            <a:off x="5890295" y="3738244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</p:spTree>
    <p:extLst>
      <p:ext uri="{BB962C8B-B14F-4D97-AF65-F5344CB8AC3E}">
        <p14:creationId xmlns:p14="http://schemas.microsoft.com/office/powerpoint/2010/main" val="353875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/>
      <p:bldP spid="12" grpId="0" animBg="1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1268890"/>
                <a:ext cx="1739503" cy="114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1268890"/>
                <a:ext cx="1739503" cy="1145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output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50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158946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=w5*out1+w6*out2+bias3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04692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d_sum3_dw5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=out1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𝑾𝒐𝒖𝒕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blipFill>
                <a:blip r:embed="rId4"/>
                <a:stretch>
                  <a:fillRect l="-909" b="-786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58946" y="4667850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dloss_dw5=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out1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113E4D-5698-4414-90C3-01E36C289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09" y="1439445"/>
            <a:ext cx="4495800" cy="666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AFFDBA-4629-48FC-8F29-F18CD8675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80635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6" grpId="0"/>
      <p:bldP spid="17" grpId="0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158946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=w5*out1+w6*out2+bias3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04692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d_sum3_dw6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=out2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𝑾𝒐𝒖𝒕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blipFill>
                <a:blip r:embed="rId4"/>
                <a:stretch>
                  <a:fillRect l="-909" b="-786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58946" y="4587513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dloss_dw6=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out2</a:t>
            </a:r>
            <a:endParaRPr lang="fr-MA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BBAB2-55CC-4B50-BA15-D9ACF4416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09" y="1386432"/>
            <a:ext cx="4543425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335530-DDD0-4A27-8584-66DDE40C9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355596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/>
              <p:nvPr/>
            </p:nvSpPr>
            <p:spPr>
              <a:xfrm>
                <a:off x="2870597" y="240250"/>
                <a:ext cx="1739503" cy="114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597" y="240250"/>
                <a:ext cx="1739503" cy="1145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145F9EE-555B-48D6-8E6A-55102B2EC462}"/>
              </a:ext>
            </a:extLst>
          </p:cNvPr>
          <p:cNvSpPr txBox="1"/>
          <p:nvPr/>
        </p:nvSpPr>
        <p:spPr>
          <a:xfrm>
            <a:off x="187521" y="2096100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dloss_dw5=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out1</a:t>
            </a:r>
            <a:endParaRPr lang="fr-M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A69A1-89DD-4499-9412-C283E7D4634D}"/>
              </a:ext>
            </a:extLst>
          </p:cNvPr>
          <p:cNvSpPr txBox="1"/>
          <p:nvPr/>
        </p:nvSpPr>
        <p:spPr>
          <a:xfrm>
            <a:off x="187520" y="2806252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dloss_dw6=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out2</a:t>
            </a:r>
            <a:endParaRPr lang="fr-MA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3835A-2EEF-43A3-A6BE-74C4455C7B6A}"/>
              </a:ext>
            </a:extLst>
          </p:cNvPr>
          <p:cNvSpPr txBox="1"/>
          <p:nvPr/>
        </p:nvSpPr>
        <p:spPr>
          <a:xfrm>
            <a:off x="187520" y="3529012"/>
            <a:ext cx="11197829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dloss_dw_out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</a:t>
            </a:r>
            <a:r>
              <a:rPr lang="en-US" sz="20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h_out</a:t>
            </a:r>
            <a:endParaRPr lang="fr-M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023FF-072D-4153-AD55-03CDC3B50981}"/>
              </a:ext>
            </a:extLst>
          </p:cNvPr>
          <p:cNvSpPr txBox="1"/>
          <p:nvPr/>
        </p:nvSpPr>
        <p:spPr>
          <a:xfrm>
            <a:off x="187519" y="5077510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dloss_dw_out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hidden_layer_out</a:t>
            </a:r>
            <a:r>
              <a:rPr lang="fr-MA" b="1" dirty="0"/>
              <a:t>.T</a:t>
            </a:r>
            <a:r>
              <a:rPr lang="fr-MA" dirty="0"/>
              <a:t>.dot(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17D50-450F-4B62-B98A-BFD798D0EFAA}"/>
              </a:ext>
            </a:extLst>
          </p:cNvPr>
          <p:cNvSpPr txBox="1"/>
          <p:nvPr/>
        </p:nvSpPr>
        <p:spPr>
          <a:xfrm>
            <a:off x="187519" y="4595061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</p:spTree>
    <p:extLst>
      <p:ext uri="{BB962C8B-B14F-4D97-AF65-F5344CB8AC3E}">
        <p14:creationId xmlns:p14="http://schemas.microsoft.com/office/powerpoint/2010/main" val="363789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1268890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1268890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29123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output layer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152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158946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=w5*out1+w6*out2+bias3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04692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d_sum3_dbias3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𝑩𝒊𝒂𝒔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𝒐𝒖𝒕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3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58946" y="4587513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D86784-2C49-44FD-85F3-EC0497CA2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" y="1361008"/>
            <a:ext cx="5748576" cy="733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E50E1-4687-44AB-B4DA-13CF7094F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385143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6" grpId="0"/>
      <p:bldP spid="17" grpId="0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/>
              <p:nvPr/>
            </p:nvSpPr>
            <p:spPr>
              <a:xfrm>
                <a:off x="2870597" y="240250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597" y="240250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29123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2E3835A-2EEF-43A3-A6BE-74C4455C7B6A}"/>
              </a:ext>
            </a:extLst>
          </p:cNvPr>
          <p:cNvSpPr txBox="1"/>
          <p:nvPr/>
        </p:nvSpPr>
        <p:spPr>
          <a:xfrm>
            <a:off x="187520" y="3529012"/>
            <a:ext cx="11197829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dloss_dbias_out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023FF-072D-4153-AD55-03CDC3B50981}"/>
              </a:ext>
            </a:extLst>
          </p:cNvPr>
          <p:cNvSpPr txBox="1"/>
          <p:nvPr/>
        </p:nvSpPr>
        <p:spPr>
          <a:xfrm>
            <a:off x="187519" y="5163246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800" dirty="0" err="1"/>
              <a:t>dloss_dbias_out</a:t>
            </a:r>
            <a:r>
              <a:rPr lang="fr-MA" sz="1800" dirty="0"/>
              <a:t> 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 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CC425-CAC8-4C8E-AB0C-7DE05DB63A71}"/>
              </a:ext>
            </a:extLst>
          </p:cNvPr>
          <p:cNvSpPr txBox="1"/>
          <p:nvPr/>
        </p:nvSpPr>
        <p:spPr>
          <a:xfrm>
            <a:off x="187519" y="228278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0F769-131F-4188-9B73-6C90E07CBEDF}"/>
              </a:ext>
            </a:extLst>
          </p:cNvPr>
          <p:cNvSpPr txBox="1"/>
          <p:nvPr/>
        </p:nvSpPr>
        <p:spPr>
          <a:xfrm>
            <a:off x="187519" y="4595061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</p:spTree>
    <p:extLst>
      <p:ext uri="{BB962C8B-B14F-4D97-AF65-F5344CB8AC3E}">
        <p14:creationId xmlns:p14="http://schemas.microsoft.com/office/powerpoint/2010/main" val="136029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1" y="329774"/>
            <a:ext cx="4667250" cy="3539430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b="1" dirty="0">
                <a:solidFill>
                  <a:srgbClr val="00B050"/>
                </a:solidFill>
              </a:rPr>
              <a:t>#inputs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X = </a:t>
            </a:r>
            <a:r>
              <a:rPr lang="fr-MA" sz="1600" dirty="0" err="1"/>
              <a:t>np.array</a:t>
            </a:r>
            <a:r>
              <a:rPr lang="fr-MA" sz="1600" dirty="0"/>
              <a:t>([[0.1,0.2]])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y = </a:t>
            </a:r>
            <a:r>
              <a:rPr lang="fr-MA" sz="1600" dirty="0" err="1"/>
              <a:t>np.array</a:t>
            </a:r>
            <a:r>
              <a:rPr lang="fr-MA" sz="1600" dirty="0"/>
              <a:t>([[0.03]])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learning_rate</a:t>
            </a:r>
            <a:r>
              <a:rPr lang="fr-MA" sz="1600" dirty="0"/>
              <a:t>= 0.1</a:t>
            </a:r>
          </a:p>
          <a:p>
            <a:pPr>
              <a:spcAft>
                <a:spcPts val="1200"/>
              </a:spcAft>
            </a:pPr>
            <a:r>
              <a:rPr lang="fr-MA" sz="1600" b="1" dirty="0">
                <a:solidFill>
                  <a:srgbClr val="00B050"/>
                </a:solidFill>
              </a:rPr>
              <a:t>#weights and </a:t>
            </a:r>
            <a:r>
              <a:rPr lang="fr-MA" sz="1600" b="1" dirty="0" err="1">
                <a:solidFill>
                  <a:srgbClr val="00B050"/>
                </a:solidFill>
              </a:rPr>
              <a:t>bias</a:t>
            </a:r>
            <a:r>
              <a:rPr lang="fr-MA" sz="1600" b="1" dirty="0">
                <a:solidFill>
                  <a:srgbClr val="00B050"/>
                </a:solidFill>
              </a:rPr>
              <a:t> </a:t>
            </a:r>
            <a:r>
              <a:rPr lang="fr-MA" sz="1600" b="1" dirty="0" err="1">
                <a:solidFill>
                  <a:srgbClr val="00B050"/>
                </a:solidFill>
              </a:rPr>
              <a:t>initialization</a:t>
            </a:r>
            <a:endParaRPr lang="fr-MA" sz="1600" b="1" dirty="0">
              <a:solidFill>
                <a:srgbClr val="00B050"/>
              </a:solidFill>
            </a:endParaRPr>
          </a:p>
          <a:p>
            <a:pPr>
              <a:spcAft>
                <a:spcPts val="1200"/>
              </a:spcAft>
            </a:pPr>
            <a:r>
              <a:rPr lang="fr-MA" sz="1600" dirty="0" err="1"/>
              <a:t>hidden_weights</a:t>
            </a:r>
            <a:r>
              <a:rPr lang="fr-MA" sz="1600" dirty="0"/>
              <a:t> = [[0.5,0.6],[-0.7,0.8]]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hidden_bias</a:t>
            </a:r>
            <a:r>
              <a:rPr lang="fr-MA" sz="1600" dirty="0"/>
              <a:t> =[0.4,0.9]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output_weights</a:t>
            </a:r>
            <a:r>
              <a:rPr lang="fr-MA" sz="1600" dirty="0"/>
              <a:t> = </a:t>
            </a:r>
            <a:r>
              <a:rPr lang="fr-MA" sz="1600" dirty="0" err="1"/>
              <a:t>np.array</a:t>
            </a:r>
            <a:r>
              <a:rPr lang="fr-MA" sz="1600" dirty="0"/>
              <a:t>([[0.35],[-0.45]])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output_bias</a:t>
            </a:r>
            <a:r>
              <a:rPr lang="fr-MA" sz="1600" dirty="0"/>
              <a:t> = </a:t>
            </a:r>
            <a:r>
              <a:rPr lang="fr-MA" sz="1600" dirty="0" err="1"/>
              <a:t>np.array</a:t>
            </a:r>
            <a:r>
              <a:rPr lang="fr-MA" sz="1600" dirty="0"/>
              <a:t>([[0.25]])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89006-235F-4D78-BED3-8EF986226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496" y="186284"/>
            <a:ext cx="6428091" cy="4257166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276750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29774"/>
            <a:ext cx="8010525" cy="2523768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B050"/>
                </a:solidFill>
              </a:rPr>
              <a:t>#Learning process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B050"/>
                </a:solidFill>
              </a:rPr>
              <a:t>#Forward </a:t>
            </a:r>
            <a:r>
              <a:rPr lang="fr-MA" b="1" dirty="0" err="1">
                <a:solidFill>
                  <a:srgbClr val="00B050"/>
                </a:solidFill>
              </a:rPr>
              <a:t>Pass</a:t>
            </a:r>
            <a:endParaRPr lang="fr-MA" b="1" dirty="0">
              <a:solidFill>
                <a:srgbClr val="00B050"/>
              </a:solidFill>
            </a:endParaRPr>
          </a:p>
          <a:p>
            <a:pPr>
              <a:spcAft>
                <a:spcPts val="1200"/>
              </a:spcAft>
            </a:pPr>
            <a:r>
              <a:rPr lang="fr-MA" dirty="0" err="1"/>
              <a:t>hidden_layer_sum</a:t>
            </a:r>
            <a:r>
              <a:rPr lang="fr-MA" dirty="0"/>
              <a:t> = np.dot(</a:t>
            </a:r>
            <a:r>
              <a:rPr lang="fr-MA" dirty="0" err="1"/>
              <a:t>X,hidden_weights</a:t>
            </a:r>
            <a:r>
              <a:rPr lang="fr-MA" dirty="0"/>
              <a:t>) + </a:t>
            </a:r>
            <a:r>
              <a:rPr lang="fr-MA" dirty="0" err="1"/>
              <a:t>hidden_bias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hidden_layer_out</a:t>
            </a:r>
            <a:r>
              <a:rPr lang="fr-MA" dirty="0"/>
              <a:t> = 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hidden_layer_sum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output_layer_sum</a:t>
            </a:r>
            <a:r>
              <a:rPr lang="fr-MA" dirty="0"/>
              <a:t> = np.dot(</a:t>
            </a:r>
            <a:r>
              <a:rPr lang="fr-MA" dirty="0" err="1"/>
              <a:t>hidden_layer_out,output_weights</a:t>
            </a:r>
            <a:r>
              <a:rPr lang="fr-MA" dirty="0"/>
              <a:t>) + </a:t>
            </a:r>
            <a:r>
              <a:rPr lang="fr-MA" dirty="0" err="1"/>
              <a:t>output_bias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predicted_y</a:t>
            </a:r>
            <a:r>
              <a:rPr lang="fr-MA" dirty="0"/>
              <a:t> = 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output_layer_sum</a:t>
            </a:r>
            <a:r>
              <a:rPr lang="fr-MA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1B64B-56A6-43A3-87BF-E074F2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09" y="2415134"/>
            <a:ext cx="6428091" cy="4257166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435866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86924"/>
            <a:ext cx="12001500" cy="3139321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#Learning process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#Backward </a:t>
            </a:r>
            <a:r>
              <a:rPr lang="fr-MA" sz="1600" dirty="0" err="1">
                <a:solidFill>
                  <a:srgbClr val="00B050"/>
                </a:solidFill>
              </a:rPr>
              <a:t>pass</a:t>
            </a:r>
            <a:r>
              <a:rPr lang="fr-MA" sz="1600" dirty="0">
                <a:solidFill>
                  <a:srgbClr val="00B050"/>
                </a:solidFill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#hidden layer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dloss_dw_h</a:t>
            </a:r>
            <a:r>
              <a:rPr lang="fr-MA" sz="1600" dirty="0"/>
              <a:t>= X.T.dot((</a:t>
            </a:r>
            <a:r>
              <a:rPr lang="fr-MA" sz="1600" dirty="0" err="1"/>
              <a:t>predicted_y</a:t>
            </a:r>
            <a:r>
              <a:rPr lang="fr-MA" sz="1600" dirty="0"/>
              <a:t>-y)* 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).dot(</a:t>
            </a:r>
            <a:r>
              <a:rPr lang="fr-MA" sz="1600" dirty="0" err="1"/>
              <a:t>output_weights.T</a:t>
            </a:r>
            <a:r>
              <a:rPr lang="fr-MA" sz="1600" dirty="0"/>
              <a:t>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hidden_layer_out</a:t>
            </a:r>
            <a:r>
              <a:rPr lang="fr-MA" sz="1600" dirty="0"/>
              <a:t>))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dloss_dbias_h</a:t>
            </a:r>
            <a:r>
              <a:rPr lang="fr-MA" sz="1600" dirty="0"/>
              <a:t>=(</a:t>
            </a:r>
            <a:r>
              <a:rPr lang="fr-MA" sz="1600" dirty="0" err="1"/>
              <a:t>predicted_y</a:t>
            </a:r>
            <a:r>
              <a:rPr lang="fr-MA" sz="1600" dirty="0"/>
              <a:t>-y)* 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).dot(</a:t>
            </a:r>
            <a:r>
              <a:rPr lang="fr-MA" sz="1600" dirty="0" err="1"/>
              <a:t>output_weights.T</a:t>
            </a:r>
            <a:r>
              <a:rPr lang="fr-MA" sz="1600" dirty="0"/>
              <a:t>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hidden_layer_out</a:t>
            </a:r>
            <a:r>
              <a:rPr lang="fr-MA" sz="1600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#output layer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dloss_dw_out</a:t>
            </a:r>
            <a:r>
              <a:rPr lang="fr-MA" sz="1600" dirty="0"/>
              <a:t>=hidden_layer_out.T.dot((</a:t>
            </a:r>
            <a:r>
              <a:rPr lang="fr-MA" sz="1600" dirty="0" err="1"/>
              <a:t>predicted_y</a:t>
            </a:r>
            <a:r>
              <a:rPr lang="fr-MA" sz="1600" dirty="0"/>
              <a:t>-y)*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dloss_dbias_out</a:t>
            </a:r>
            <a:r>
              <a:rPr lang="fr-MA" sz="1600" dirty="0"/>
              <a:t>=(</a:t>
            </a:r>
            <a:r>
              <a:rPr lang="fr-MA" sz="1600" dirty="0" err="1"/>
              <a:t>predicted_y</a:t>
            </a:r>
            <a:r>
              <a:rPr lang="fr-MA" sz="1600" dirty="0"/>
              <a:t>-y)*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54D8D-1764-49E5-A405-6BB4FE424FBE}"/>
              </a:ext>
            </a:extLst>
          </p:cNvPr>
          <p:cNvSpPr txBox="1"/>
          <p:nvPr/>
        </p:nvSpPr>
        <p:spPr>
          <a:xfrm>
            <a:off x="0" y="4003627"/>
            <a:ext cx="1218271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dloss_dbias_h</a:t>
            </a:r>
            <a:r>
              <a:rPr lang="fr-MA" dirty="0"/>
              <a:t>=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-y)* </a:t>
            </a:r>
            <a:r>
              <a:rPr lang="fr-MA" b="1" dirty="0" err="1">
                <a:solidFill>
                  <a:srgbClr val="0066FF"/>
                </a:solidFill>
              </a:rPr>
              <a:t>sigmoid_derivative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)</a:t>
            </a:r>
            <a:r>
              <a:rPr lang="fr-MA" dirty="0"/>
              <a:t>.dot(</a:t>
            </a:r>
            <a:r>
              <a:rPr lang="fr-MA" b="1" dirty="0" err="1">
                <a:solidFill>
                  <a:srgbClr val="FF3300"/>
                </a:solidFill>
              </a:rPr>
              <a:t>output_weights</a:t>
            </a:r>
            <a:r>
              <a:rPr lang="fr-MA" dirty="0" err="1"/>
              <a:t>.T</a:t>
            </a:r>
            <a:r>
              <a:rPr lang="fr-MA" dirty="0"/>
              <a:t>)*</a:t>
            </a:r>
            <a:r>
              <a:rPr lang="fr-MA" b="1" dirty="0" err="1">
                <a:solidFill>
                  <a:srgbClr val="FF3300"/>
                </a:solidFill>
              </a:rPr>
              <a:t>sigmoid_derivative</a:t>
            </a:r>
            <a:r>
              <a:rPr lang="fr-MA" b="1" dirty="0">
                <a:solidFill>
                  <a:srgbClr val="FF3300"/>
                </a:solidFill>
              </a:rPr>
              <a:t>(</a:t>
            </a:r>
            <a:r>
              <a:rPr lang="fr-MA" b="1" dirty="0" err="1">
                <a:solidFill>
                  <a:srgbClr val="FF3300"/>
                </a:solidFill>
              </a:rPr>
              <a:t>hidden_layer_out</a:t>
            </a:r>
            <a:r>
              <a:rPr lang="fr-MA" b="1" dirty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F0078-BE8B-4D54-8A32-C945E319960B}"/>
              </a:ext>
            </a:extLst>
          </p:cNvPr>
          <p:cNvSpPr txBox="1"/>
          <p:nvPr/>
        </p:nvSpPr>
        <p:spPr>
          <a:xfrm>
            <a:off x="0" y="4481009"/>
            <a:ext cx="1218271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dloss_dbias_h</a:t>
            </a:r>
            <a:r>
              <a:rPr lang="fr-MA" dirty="0"/>
              <a:t>=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-y)* </a:t>
            </a:r>
            <a:r>
              <a:rPr lang="fr-MA" b="1" dirty="0" err="1">
                <a:solidFill>
                  <a:srgbClr val="0066FF"/>
                </a:solidFill>
              </a:rPr>
              <a:t>sigmoid_derivative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)</a:t>
            </a:r>
            <a:r>
              <a:rPr lang="fr-MA" dirty="0"/>
              <a:t>.dot(</a:t>
            </a:r>
            <a:r>
              <a:rPr lang="fr-MA" b="1" dirty="0" err="1">
                <a:solidFill>
                  <a:srgbClr val="FF3300"/>
                </a:solidFill>
              </a:rPr>
              <a:t>output_weights</a:t>
            </a:r>
            <a:r>
              <a:rPr lang="fr-MA" dirty="0" err="1"/>
              <a:t>.T</a:t>
            </a:r>
            <a:r>
              <a:rPr lang="fr-MA" dirty="0"/>
              <a:t>)*</a:t>
            </a:r>
            <a:r>
              <a:rPr lang="fr-MA" b="1" dirty="0" err="1">
                <a:solidFill>
                  <a:srgbClr val="FF3300"/>
                </a:solidFill>
              </a:rPr>
              <a:t>sigmoid_derivative</a:t>
            </a:r>
            <a:r>
              <a:rPr lang="fr-MA" b="1" dirty="0">
                <a:solidFill>
                  <a:srgbClr val="FF3300"/>
                </a:solidFill>
              </a:rPr>
              <a:t>(</a:t>
            </a:r>
            <a:r>
              <a:rPr lang="fr-MA" b="1" dirty="0" err="1">
                <a:solidFill>
                  <a:srgbClr val="FF3300"/>
                </a:solidFill>
              </a:rPr>
              <a:t>hidden_layer_out</a:t>
            </a:r>
            <a:r>
              <a:rPr lang="fr-MA" b="1" dirty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F3E7B-A155-4608-8AE5-5419AB1F7680}"/>
              </a:ext>
            </a:extLst>
          </p:cNvPr>
          <p:cNvSpPr txBox="1"/>
          <p:nvPr/>
        </p:nvSpPr>
        <p:spPr>
          <a:xfrm>
            <a:off x="73215" y="5077510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dloss_dw_out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hidden_layer_out</a:t>
            </a:r>
            <a:r>
              <a:rPr lang="fr-MA" b="1" dirty="0"/>
              <a:t>.T</a:t>
            </a:r>
            <a:r>
              <a:rPr lang="fr-MA" dirty="0"/>
              <a:t>.dot(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C22CC-E873-4975-8A6F-2E33D6EA4DAF}"/>
              </a:ext>
            </a:extLst>
          </p:cNvPr>
          <p:cNvSpPr txBox="1"/>
          <p:nvPr/>
        </p:nvSpPr>
        <p:spPr>
          <a:xfrm>
            <a:off x="73215" y="5691603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800" dirty="0" err="1"/>
              <a:t>dloss_dbias_out</a:t>
            </a:r>
            <a:r>
              <a:rPr lang="fr-MA" sz="1800" dirty="0"/>
              <a:t> 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 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6598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86924"/>
            <a:ext cx="7596188" cy="2523768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>
                <a:solidFill>
                  <a:srgbClr val="00B050"/>
                </a:solidFill>
              </a:rPr>
              <a:t>#update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hidden_weights</a:t>
            </a:r>
            <a:r>
              <a:rPr lang="fr-MA" dirty="0"/>
              <a:t>-=</a:t>
            </a:r>
            <a:r>
              <a:rPr lang="fr-MA" dirty="0" err="1"/>
              <a:t>dloss_dw_h</a:t>
            </a:r>
            <a:r>
              <a:rPr lang="fr-MA" dirty="0"/>
              <a:t>*</a:t>
            </a:r>
            <a:r>
              <a:rPr lang="fr-MA" dirty="0" err="1"/>
              <a:t>learning_rate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hidden_bias</a:t>
            </a:r>
            <a:r>
              <a:rPr lang="fr-MA" dirty="0"/>
              <a:t>-=</a:t>
            </a:r>
            <a:r>
              <a:rPr lang="fr-MA" dirty="0" err="1"/>
              <a:t>dloss_dbias_h</a:t>
            </a:r>
            <a:r>
              <a:rPr lang="fr-MA" dirty="0"/>
              <a:t>*</a:t>
            </a:r>
            <a:r>
              <a:rPr lang="fr-MA" dirty="0" err="1"/>
              <a:t>learning_rate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hidden_bias</a:t>
            </a:r>
            <a:r>
              <a:rPr lang="fr-MA" dirty="0"/>
              <a:t>=</a:t>
            </a:r>
            <a:r>
              <a:rPr lang="fr-MA" dirty="0" err="1"/>
              <a:t>np.sum</a:t>
            </a:r>
            <a:r>
              <a:rPr lang="fr-MA" dirty="0"/>
              <a:t>(</a:t>
            </a:r>
            <a:r>
              <a:rPr lang="fr-MA" dirty="0" err="1"/>
              <a:t>hidden_bias,axis</a:t>
            </a:r>
            <a:r>
              <a:rPr lang="fr-MA" dirty="0"/>
              <a:t>=0,keepdims=</a:t>
            </a:r>
            <a:r>
              <a:rPr lang="fr-MA" dirty="0" err="1"/>
              <a:t>True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output_weights</a:t>
            </a:r>
            <a:r>
              <a:rPr lang="fr-MA" dirty="0"/>
              <a:t>-=</a:t>
            </a:r>
            <a:r>
              <a:rPr lang="fr-MA" dirty="0" err="1"/>
              <a:t>dloss_dw_out</a:t>
            </a:r>
            <a:r>
              <a:rPr lang="fr-MA" dirty="0"/>
              <a:t>*</a:t>
            </a:r>
            <a:r>
              <a:rPr lang="fr-MA" dirty="0" err="1"/>
              <a:t>learning_rate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output_bias</a:t>
            </a:r>
            <a:r>
              <a:rPr lang="fr-MA" dirty="0"/>
              <a:t>-=</a:t>
            </a:r>
            <a:r>
              <a:rPr lang="fr-MA" dirty="0" err="1"/>
              <a:t>np.sum</a:t>
            </a:r>
            <a:r>
              <a:rPr lang="fr-MA" dirty="0"/>
              <a:t>(</a:t>
            </a:r>
            <a:r>
              <a:rPr lang="fr-MA" dirty="0" err="1"/>
              <a:t>dloss_dbias_out,axis</a:t>
            </a:r>
            <a:r>
              <a:rPr lang="fr-MA" dirty="0"/>
              <a:t>=0,keepdims=</a:t>
            </a:r>
            <a:r>
              <a:rPr lang="fr-MA" dirty="0" err="1"/>
              <a:t>True</a:t>
            </a:r>
            <a:r>
              <a:rPr lang="fr-MA" dirty="0"/>
              <a:t>)*</a:t>
            </a:r>
            <a:r>
              <a:rPr lang="fr-MA" dirty="0" err="1"/>
              <a:t>learning_rate</a:t>
            </a:r>
            <a:endParaRPr lang="fr-M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8B729-E857-4BF2-9ED6-53568F1DC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572" y="3084438"/>
            <a:ext cx="5113641" cy="3386638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2862121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86924"/>
            <a:ext cx="6167438" cy="4247317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B050"/>
                </a:solidFill>
              </a:rPr>
              <a:t>#print </a:t>
            </a:r>
            <a:r>
              <a:rPr lang="fr-MA" b="1" dirty="0" err="1">
                <a:solidFill>
                  <a:srgbClr val="00B050"/>
                </a:solidFill>
              </a:rPr>
              <a:t>results</a:t>
            </a:r>
            <a:endParaRPr lang="fr-MA" b="1" dirty="0">
              <a:solidFill>
                <a:srgbClr val="00B050"/>
              </a:solidFill>
            </a:endParaRP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results</a:t>
            </a:r>
            <a:r>
              <a:rPr lang="fr-MA" dirty="0"/>
              <a:t>------------------------------------")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</a:t>
            </a:r>
            <a:r>
              <a:rPr lang="fr-MA" dirty="0" err="1"/>
              <a:t>hidden</a:t>
            </a:r>
            <a:r>
              <a:rPr lang="fr-MA" dirty="0"/>
              <a:t> </a:t>
            </a:r>
            <a:r>
              <a:rPr lang="fr-MA" dirty="0" err="1"/>
              <a:t>weights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hidden_weights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</a:t>
            </a:r>
            <a:r>
              <a:rPr lang="fr-MA" dirty="0" err="1"/>
              <a:t>hidden</a:t>
            </a:r>
            <a:r>
              <a:rPr lang="fr-MA" dirty="0"/>
              <a:t> </a:t>
            </a:r>
            <a:r>
              <a:rPr lang="fr-MA" dirty="0" err="1"/>
              <a:t>biases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hidden_bias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output </a:t>
            </a:r>
            <a:r>
              <a:rPr lang="fr-MA" dirty="0" err="1"/>
              <a:t>weights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output_weights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output </a:t>
            </a:r>
            <a:r>
              <a:rPr lang="fr-MA" dirty="0" err="1"/>
              <a:t>biases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output_bias</a:t>
            </a:r>
            <a:r>
              <a:rPr lang="fr-M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5152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4891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35239</TotalTime>
  <Words>2752</Words>
  <Application>Microsoft Office PowerPoint</Application>
  <PresentationFormat>Widescreen</PresentationFormat>
  <Paragraphs>396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Consolas</vt:lpstr>
      <vt:lpstr>Lucida Sans Unicode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572</cp:revision>
  <dcterms:created xsi:type="dcterms:W3CDTF">2019-09-13T15:50:46Z</dcterms:created>
  <dcterms:modified xsi:type="dcterms:W3CDTF">2023-10-28T18:59:46Z</dcterms:modified>
</cp:coreProperties>
</file>