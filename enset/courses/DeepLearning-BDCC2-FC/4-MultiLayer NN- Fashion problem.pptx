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420" r:id="rId3"/>
    <p:sldId id="668" r:id="rId4"/>
    <p:sldId id="646" r:id="rId5"/>
    <p:sldId id="445" r:id="rId6"/>
    <p:sldId id="651" r:id="rId7"/>
    <p:sldId id="647" r:id="rId8"/>
    <p:sldId id="648" r:id="rId9"/>
    <p:sldId id="452" r:id="rId10"/>
    <p:sldId id="663" r:id="rId11"/>
    <p:sldId id="652" r:id="rId12"/>
    <p:sldId id="653" r:id="rId13"/>
    <p:sldId id="661" r:id="rId14"/>
    <p:sldId id="664" r:id="rId15"/>
    <p:sldId id="654" r:id="rId16"/>
    <p:sldId id="662" r:id="rId17"/>
    <p:sldId id="656" r:id="rId18"/>
    <p:sldId id="659" r:id="rId19"/>
    <p:sldId id="660" r:id="rId20"/>
    <p:sldId id="665" r:id="rId21"/>
    <p:sldId id="666" r:id="rId22"/>
    <p:sldId id="667" r:id="rId23"/>
    <p:sldId id="670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FA"/>
    <a:srgbClr val="0066FF"/>
    <a:srgbClr val="FF3300"/>
    <a:srgbClr val="FFFF99"/>
    <a:srgbClr val="0180FF"/>
    <a:srgbClr val="28659C"/>
    <a:srgbClr val="9BE5FF"/>
    <a:srgbClr val="57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4739A-9817-4881-995B-3535CC16398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820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28/10/2023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/AbdelwahabNaji" TargetMode="External"/><Relationship Id="rId2" Type="http://schemas.openxmlformats.org/officeDocument/2006/relationships/hyperlink" Target="mailto:Abdelwahab.naji@gmail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5052071"/>
            <a:ext cx="12192000" cy="1446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2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Laboratoire Signaux, Systèmes Distribués et Intelligence Artificielle (SSDIA)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ENSET de Mohammedia, Université Hassan II de Casablanca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0" y="251500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Neural Network</a:t>
            </a:r>
          </a:p>
          <a:p>
            <a:pPr algn="ctr"/>
            <a:r>
              <a:rPr lang="fr-FR" sz="3200" b="1" dirty="0" err="1">
                <a:solidFill>
                  <a:srgbClr val="00B0F0"/>
                </a:solidFill>
              </a:rPr>
              <a:t>Multilayer</a:t>
            </a:r>
            <a:r>
              <a:rPr lang="fr-FR" sz="3200" b="1" dirty="0">
                <a:solidFill>
                  <a:srgbClr val="00B0F0"/>
                </a:solidFill>
              </a:rPr>
              <a:t> Neural Network</a:t>
            </a:r>
            <a:endParaRPr lang="fr-FR" sz="4000" b="1" dirty="0">
              <a:solidFill>
                <a:srgbClr val="00B0F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2974" y="413536"/>
            <a:ext cx="2583407" cy="193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15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B6F60AAF-D276-4E9C-8DCF-33C7E6AFA9F8}"/>
              </a:ext>
            </a:extLst>
          </p:cNvPr>
          <p:cNvSpPr/>
          <p:nvPr/>
        </p:nvSpPr>
        <p:spPr>
          <a:xfrm>
            <a:off x="1447800" y="3550920"/>
            <a:ext cx="1813560" cy="12801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025DB2D-D038-4D5F-A5D3-2A806DDAB9A9}"/>
              </a:ext>
            </a:extLst>
          </p:cNvPr>
          <p:cNvSpPr/>
          <p:nvPr/>
        </p:nvSpPr>
        <p:spPr>
          <a:xfrm>
            <a:off x="1310640" y="3017520"/>
            <a:ext cx="2148840" cy="1813560"/>
          </a:xfrm>
          <a:prstGeom prst="ellipse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D6723-48FA-47B0-BDB0-8D7E68C52CFA}"/>
              </a:ext>
            </a:extLst>
          </p:cNvPr>
          <p:cNvSpPr txBox="1"/>
          <p:nvPr/>
        </p:nvSpPr>
        <p:spPr>
          <a:xfrm>
            <a:off x="1706880" y="3550920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400" dirty="0"/>
              <a:t>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7A5E6-2FDC-415B-AB50-1E86F5BF528C}"/>
              </a:ext>
            </a:extLst>
          </p:cNvPr>
          <p:cNvSpPr txBox="1"/>
          <p:nvPr/>
        </p:nvSpPr>
        <p:spPr>
          <a:xfrm>
            <a:off x="1661160" y="2999154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400" dirty="0" err="1"/>
              <a:t>Artificial</a:t>
            </a:r>
            <a:r>
              <a:rPr lang="fr-MA" sz="1400" dirty="0"/>
              <a:t> intelligence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C403EA-B94A-4A81-BDE2-3BD4516EB5F4}"/>
              </a:ext>
            </a:extLst>
          </p:cNvPr>
          <p:cNvSpPr/>
          <p:nvPr/>
        </p:nvSpPr>
        <p:spPr>
          <a:xfrm>
            <a:off x="3200400" y="2209528"/>
            <a:ext cx="1040122" cy="5847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6BBB9-0261-478C-AE09-8E452A868ECA}"/>
              </a:ext>
            </a:extLst>
          </p:cNvPr>
          <p:cNvSpPr txBox="1"/>
          <p:nvPr/>
        </p:nvSpPr>
        <p:spPr>
          <a:xfrm>
            <a:off x="3185160" y="2208006"/>
            <a:ext cx="1071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/>
              <a:t>ML </a:t>
            </a:r>
            <a:r>
              <a:rPr lang="fr-MA" sz="1200" b="1" dirty="0" err="1"/>
              <a:t>problem</a:t>
            </a:r>
            <a:r>
              <a:rPr lang="fr-MA" sz="1200" b="1" dirty="0"/>
              <a:t> </a:t>
            </a:r>
            <a:r>
              <a:rPr lang="fr-MA" sz="1200" b="1" dirty="0" err="1"/>
              <a:t>Domains</a:t>
            </a:r>
            <a:endParaRPr lang="fr-MA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16424-D999-4ACE-A4B3-342A49AAB693}"/>
              </a:ext>
            </a:extLst>
          </p:cNvPr>
          <p:cNvSpPr txBox="1"/>
          <p:nvPr/>
        </p:nvSpPr>
        <p:spPr>
          <a:xfrm>
            <a:off x="3619500" y="871576"/>
            <a:ext cx="986824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/>
              <a:t>Regression</a:t>
            </a:r>
            <a:endParaRPr lang="fr-MA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DBC9C-60D2-4DE2-AC7A-9DA8FC11DC4D}"/>
              </a:ext>
            </a:extLst>
          </p:cNvPr>
          <p:cNvSpPr txBox="1"/>
          <p:nvPr/>
        </p:nvSpPr>
        <p:spPr>
          <a:xfrm>
            <a:off x="5631180" y="1694154"/>
            <a:ext cx="93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0070C0"/>
                </a:solidFill>
              </a:rPr>
              <a:t>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FCC6A9-A885-4A02-9696-9A2C84E89263}"/>
              </a:ext>
            </a:extLst>
          </p:cNvPr>
          <p:cNvSpPr txBox="1"/>
          <p:nvPr/>
        </p:nvSpPr>
        <p:spPr>
          <a:xfrm>
            <a:off x="5739964" y="3750590"/>
            <a:ext cx="9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0070C0"/>
                </a:solidFill>
              </a:rPr>
              <a:t>Techniques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7AF11A-BB78-4122-8674-1FB401FF5E8C}"/>
              </a:ext>
            </a:extLst>
          </p:cNvPr>
          <p:cNvSpPr txBox="1"/>
          <p:nvPr/>
        </p:nvSpPr>
        <p:spPr>
          <a:xfrm>
            <a:off x="4366255" y="4893819"/>
            <a:ext cx="972000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600"/>
            </a:lvl1pPr>
          </a:lstStyle>
          <a:p>
            <a:r>
              <a:rPr lang="fr-MA" sz="1200" dirty="0" err="1"/>
              <a:t>Dimentiality</a:t>
            </a:r>
            <a:r>
              <a:rPr lang="fr-MA" sz="1200" dirty="0"/>
              <a:t> Reduction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8BDE5-BDF7-4C30-B116-099B66C5F3E3}"/>
              </a:ext>
            </a:extLst>
          </p:cNvPr>
          <p:cNvSpPr txBox="1"/>
          <p:nvPr/>
        </p:nvSpPr>
        <p:spPr>
          <a:xfrm>
            <a:off x="5295940" y="29575"/>
            <a:ext cx="1049673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Decision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Tree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D008F4-336A-4724-9B59-EB0A136E8349}"/>
              </a:ext>
            </a:extLst>
          </p:cNvPr>
          <p:cNvSpPr txBox="1"/>
          <p:nvPr/>
        </p:nvSpPr>
        <p:spPr>
          <a:xfrm>
            <a:off x="6469400" y="22995"/>
            <a:ext cx="1296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Linear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Regression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8C676-97A9-4814-A5B2-030BDBE69B6F}"/>
              </a:ext>
            </a:extLst>
          </p:cNvPr>
          <p:cNvSpPr txBox="1"/>
          <p:nvPr/>
        </p:nvSpPr>
        <p:spPr>
          <a:xfrm>
            <a:off x="6530348" y="339083"/>
            <a:ext cx="792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SVR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97CE60-CC01-4A0E-AD83-4FF87A8A0D54}"/>
              </a:ext>
            </a:extLst>
          </p:cNvPr>
          <p:cNvSpPr txBox="1"/>
          <p:nvPr/>
        </p:nvSpPr>
        <p:spPr>
          <a:xfrm>
            <a:off x="6797063" y="651119"/>
            <a:ext cx="1152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fr-MA" dirty="0"/>
              <a:t>Neural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394F26-857C-4F90-BE27-3E32A25EF531}"/>
              </a:ext>
            </a:extLst>
          </p:cNvPr>
          <p:cNvSpPr txBox="1"/>
          <p:nvPr/>
        </p:nvSpPr>
        <p:spPr>
          <a:xfrm>
            <a:off x="6263640" y="1294384"/>
            <a:ext cx="1260000" cy="276999"/>
          </a:xfrm>
          <a:prstGeom prst="rect">
            <a:avLst/>
          </a:prstGeom>
          <a:solidFill>
            <a:srgbClr val="0000FF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Decision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trees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2F0EA-1FFF-4EAD-BD08-205B022C709F}"/>
              </a:ext>
            </a:extLst>
          </p:cNvPr>
          <p:cNvSpPr txBox="1"/>
          <p:nvPr/>
        </p:nvSpPr>
        <p:spPr>
          <a:xfrm>
            <a:off x="7360936" y="1599540"/>
            <a:ext cx="648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fr-MA" dirty="0"/>
              <a:t>KNN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17C6F-1F9E-481D-8226-13E57A60C8FD}"/>
              </a:ext>
            </a:extLst>
          </p:cNvPr>
          <p:cNvSpPr txBox="1"/>
          <p:nvPr/>
        </p:nvSpPr>
        <p:spPr>
          <a:xfrm>
            <a:off x="7330452" y="1912388"/>
            <a:ext cx="1008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Naive</a:t>
            </a:r>
            <a:r>
              <a:rPr lang="fr-MA" sz="1200" dirty="0">
                <a:solidFill>
                  <a:schemeClr val="bg1"/>
                </a:solidFill>
              </a:rPr>
              <a:t> bayes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3C4D8B-A40F-478A-8113-336A7661BCCA}"/>
              </a:ext>
            </a:extLst>
          </p:cNvPr>
          <p:cNvSpPr txBox="1"/>
          <p:nvPr/>
        </p:nvSpPr>
        <p:spPr>
          <a:xfrm>
            <a:off x="7406648" y="2222212"/>
            <a:ext cx="1249684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Neural network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DF5F62-CB1A-4431-A7DC-5318D6F964B1}"/>
              </a:ext>
            </a:extLst>
          </p:cNvPr>
          <p:cNvSpPr txBox="1"/>
          <p:nvPr/>
        </p:nvSpPr>
        <p:spPr>
          <a:xfrm>
            <a:off x="7284744" y="3689778"/>
            <a:ext cx="79246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K-</a:t>
            </a:r>
            <a:r>
              <a:rPr lang="fr-MA" sz="1200" dirty="0" err="1">
                <a:solidFill>
                  <a:schemeClr val="bg1"/>
                </a:solidFill>
              </a:rPr>
              <a:t>means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13EE6B-C845-4499-B712-8C1F47164E68}"/>
              </a:ext>
            </a:extLst>
          </p:cNvPr>
          <p:cNvSpPr txBox="1"/>
          <p:nvPr/>
        </p:nvSpPr>
        <p:spPr>
          <a:xfrm>
            <a:off x="7287858" y="4050374"/>
            <a:ext cx="828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DBScan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43E60AB-A0F9-4295-9027-A55889A2B40B}"/>
              </a:ext>
            </a:extLst>
          </p:cNvPr>
          <p:cNvSpPr txBox="1"/>
          <p:nvPr/>
        </p:nvSpPr>
        <p:spPr>
          <a:xfrm>
            <a:off x="7315216" y="4377749"/>
            <a:ext cx="900000" cy="46166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hierarchical</a:t>
            </a:r>
            <a:r>
              <a:rPr lang="fr-MA" sz="1200" dirty="0">
                <a:solidFill>
                  <a:schemeClr val="bg1"/>
                </a:solidFill>
              </a:rPr>
              <a:t> clustering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31AEB6-2C03-4593-B12D-320DD7BE16B0}"/>
              </a:ext>
            </a:extLst>
          </p:cNvPr>
          <p:cNvSpPr txBox="1"/>
          <p:nvPr/>
        </p:nvSpPr>
        <p:spPr>
          <a:xfrm>
            <a:off x="6789432" y="5330437"/>
            <a:ext cx="1656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Ratio of </a:t>
            </a:r>
            <a:r>
              <a:rPr lang="fr-MA" sz="1200" dirty="0" err="1">
                <a:solidFill>
                  <a:schemeClr val="bg1"/>
                </a:solidFill>
              </a:rPr>
              <a:t>missing</a:t>
            </a:r>
            <a:r>
              <a:rPr lang="fr-MA" sz="1200" dirty="0">
                <a:solidFill>
                  <a:schemeClr val="bg1"/>
                </a:solidFill>
              </a:rPr>
              <a:t> values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100E82-0E02-446F-9FAF-7F16E9AF1FE0}"/>
              </a:ext>
            </a:extLst>
          </p:cNvPr>
          <p:cNvSpPr txBox="1"/>
          <p:nvPr/>
        </p:nvSpPr>
        <p:spPr>
          <a:xfrm>
            <a:off x="6774189" y="6257044"/>
            <a:ext cx="1655999" cy="46166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>
                <a:solidFill>
                  <a:schemeClr val="bg1"/>
                </a:solidFill>
              </a:rPr>
              <a:t>Backward feature elimination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B1D20D-2970-49F6-829B-4E19371CB42A}"/>
              </a:ext>
            </a:extLst>
          </p:cNvPr>
          <p:cNvSpPr txBox="1"/>
          <p:nvPr/>
        </p:nvSpPr>
        <p:spPr>
          <a:xfrm>
            <a:off x="6766575" y="5712336"/>
            <a:ext cx="1655999" cy="46166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Low variance in the </a:t>
            </a:r>
            <a:r>
              <a:rPr lang="fr-MA" sz="1200" dirty="0" err="1">
                <a:solidFill>
                  <a:schemeClr val="bg1"/>
                </a:solidFill>
              </a:rPr>
              <a:t>column</a:t>
            </a:r>
            <a:r>
              <a:rPr lang="fr-MA" sz="1200" dirty="0">
                <a:solidFill>
                  <a:schemeClr val="bg1"/>
                </a:solidFill>
              </a:rPr>
              <a:t> values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E82DFF-1463-469D-8851-09571CAFD5EE}"/>
              </a:ext>
            </a:extLst>
          </p:cNvPr>
          <p:cNvSpPr txBox="1"/>
          <p:nvPr/>
        </p:nvSpPr>
        <p:spPr>
          <a:xfrm>
            <a:off x="4949186" y="684269"/>
            <a:ext cx="9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dirty="0"/>
              <a:t>Techniques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2D3083-D484-4F50-90F8-F19D32F5BD78}"/>
              </a:ext>
            </a:extLst>
          </p:cNvPr>
          <p:cNvSpPr txBox="1"/>
          <p:nvPr/>
        </p:nvSpPr>
        <p:spPr>
          <a:xfrm>
            <a:off x="4039394" y="1247106"/>
            <a:ext cx="9945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FF6565"/>
                </a:solidFill>
              </a:rPr>
              <a:t>Performance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4A4934-A319-49B7-9001-F084EE000C13}"/>
              </a:ext>
            </a:extLst>
          </p:cNvPr>
          <p:cNvSpPr txBox="1"/>
          <p:nvPr/>
        </p:nvSpPr>
        <p:spPr>
          <a:xfrm>
            <a:off x="9682442" y="4623393"/>
            <a:ext cx="199052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/>
              <a:t>How </a:t>
            </a:r>
            <a:r>
              <a:rPr lang="fr-MA" sz="1200" dirty="0" err="1"/>
              <a:t>it</a:t>
            </a:r>
            <a:r>
              <a:rPr lang="fr-MA" sz="1200" dirty="0"/>
              <a:t> </a:t>
            </a:r>
            <a:r>
              <a:rPr lang="fr-MA" sz="1200" dirty="0" err="1"/>
              <a:t>works</a:t>
            </a:r>
            <a:r>
              <a:rPr lang="fr-MA" sz="1200" dirty="0"/>
              <a:t>?</a:t>
            </a:r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Algorithmis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b="1" dirty="0">
                <a:solidFill>
                  <a:srgbClr val="FF6565"/>
                </a:solidFill>
              </a:rPr>
              <a:t>Math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2BA2B4F-D0F0-41F2-80B2-AE4A8339BFD1}"/>
              </a:ext>
            </a:extLst>
          </p:cNvPr>
          <p:cNvSpPr/>
          <p:nvPr/>
        </p:nvSpPr>
        <p:spPr>
          <a:xfrm>
            <a:off x="1927888" y="4135695"/>
            <a:ext cx="936000" cy="64966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6A43F6-157D-4CF3-9685-2AB772FBAA19}"/>
              </a:ext>
            </a:extLst>
          </p:cNvPr>
          <p:cNvSpPr txBox="1"/>
          <p:nvPr/>
        </p:nvSpPr>
        <p:spPr>
          <a:xfrm>
            <a:off x="1901204" y="4179049"/>
            <a:ext cx="1036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200" dirty="0" err="1"/>
              <a:t>Deep</a:t>
            </a:r>
            <a:r>
              <a:rPr lang="fr-MA" sz="1200" dirty="0"/>
              <a:t> Learning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FB00A9-84D5-4267-991C-3E1FB45F5686}"/>
              </a:ext>
            </a:extLst>
          </p:cNvPr>
          <p:cNvSpPr txBox="1"/>
          <p:nvPr/>
        </p:nvSpPr>
        <p:spPr>
          <a:xfrm>
            <a:off x="84008" y="3522459"/>
            <a:ext cx="1375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Calculus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Linear</a:t>
            </a:r>
            <a:r>
              <a:rPr lang="fr-MA" sz="1200" dirty="0"/>
              <a:t> </a:t>
            </a:r>
            <a:r>
              <a:rPr lang="fr-MA" sz="1200" dirty="0" err="1"/>
              <a:t>Algebra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Statictics</a:t>
            </a:r>
            <a:endParaRPr lang="fr-MA" sz="1200" dirty="0"/>
          </a:p>
          <a:p>
            <a:pPr marL="72000" indent="-72000">
              <a:buFont typeface="Calibri" panose="020F0502020204030204" pitchFamily="34" charset="0"/>
              <a:buChar char="⁻"/>
            </a:pPr>
            <a:r>
              <a:rPr lang="fr-MA" sz="1200" dirty="0" err="1"/>
              <a:t>probability</a:t>
            </a:r>
            <a:endParaRPr lang="fr-MA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ACF650-EF1E-4843-80B9-660597CB3F33}"/>
              </a:ext>
            </a:extLst>
          </p:cNvPr>
          <p:cNvSpPr txBox="1"/>
          <p:nvPr/>
        </p:nvSpPr>
        <p:spPr>
          <a:xfrm>
            <a:off x="229687" y="5339046"/>
            <a:ext cx="11468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r>
              <a:rPr lang="fr-MA" b="1" dirty="0">
                <a:solidFill>
                  <a:srgbClr val="00518E"/>
                </a:solidFill>
              </a:rPr>
              <a:t>Python</a:t>
            </a:r>
          </a:p>
          <a:p>
            <a:r>
              <a:rPr lang="fr-MA" b="1" dirty="0">
                <a:solidFill>
                  <a:srgbClr val="0094C8"/>
                </a:solidFill>
              </a:rPr>
              <a:t>Scala</a:t>
            </a:r>
          </a:p>
          <a:p>
            <a:r>
              <a:rPr lang="fr-MA" dirty="0">
                <a:solidFill>
                  <a:srgbClr val="2DC8FF"/>
                </a:solidFill>
              </a:rPr>
              <a:t>Java</a:t>
            </a:r>
          </a:p>
          <a:p>
            <a:r>
              <a:rPr lang="fr-MA" dirty="0">
                <a:solidFill>
                  <a:srgbClr val="00BBFE"/>
                </a:solidFill>
              </a:rPr>
              <a:t>R</a:t>
            </a:r>
          </a:p>
          <a:p>
            <a:r>
              <a:rPr lang="fr-MA" dirty="0"/>
              <a:t>C++</a:t>
            </a:r>
          </a:p>
          <a:p>
            <a:r>
              <a:rPr lang="fr-MA" dirty="0"/>
              <a:t>Matlab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CC089F-7754-4850-8C82-B3544E7A7B31}"/>
              </a:ext>
            </a:extLst>
          </p:cNvPr>
          <p:cNvSpPr txBox="1"/>
          <p:nvPr/>
        </p:nvSpPr>
        <p:spPr>
          <a:xfrm>
            <a:off x="3697120" y="6136476"/>
            <a:ext cx="1633572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b="1" dirty="0" err="1"/>
              <a:t>Visualization</a:t>
            </a:r>
            <a:r>
              <a:rPr lang="fr-MA" b="1" dirty="0"/>
              <a:t> Librairies </a:t>
            </a:r>
            <a:r>
              <a:rPr lang="fr-MA" dirty="0" err="1"/>
              <a:t>Matplotlib</a:t>
            </a:r>
            <a:r>
              <a:rPr lang="fr-MA" dirty="0"/>
              <a:t>, </a:t>
            </a:r>
            <a:r>
              <a:rPr lang="fr-MA" dirty="0" err="1"/>
              <a:t>Seaborn</a:t>
            </a:r>
            <a:endParaRPr lang="fr-MA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797E59-A1F0-47D9-B9B3-6AF3C58A884E}"/>
              </a:ext>
            </a:extLst>
          </p:cNvPr>
          <p:cNvSpPr txBox="1"/>
          <p:nvPr/>
        </p:nvSpPr>
        <p:spPr>
          <a:xfrm>
            <a:off x="9127240" y="3097613"/>
            <a:ext cx="796314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400" b="1" dirty="0"/>
              <a:t>How to </a:t>
            </a:r>
            <a:r>
              <a:rPr lang="fr-MA" sz="1400" b="1" dirty="0" err="1"/>
              <a:t>Learn</a:t>
            </a:r>
            <a:r>
              <a:rPr lang="fr-MA" sz="1400" b="1" dirty="0"/>
              <a:t>?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64867949-0792-4191-A1BA-0512F7B27CAA}"/>
              </a:ext>
            </a:extLst>
          </p:cNvPr>
          <p:cNvCxnSpPr>
            <a:cxnSpLocks/>
            <a:stCxn id="8" idx="3"/>
            <a:endCxn id="21" idx="0"/>
          </p:cNvCxnSpPr>
          <p:nvPr/>
        </p:nvCxnSpPr>
        <p:spPr>
          <a:xfrm flipH="1">
            <a:off x="4536682" y="1010076"/>
            <a:ext cx="69642" cy="237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FD4C5795-E1F3-4760-AEA1-0355D7783DA8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4606324" y="822769"/>
            <a:ext cx="342862" cy="187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9E2510C-B7B9-4B52-9DEC-3E9592F02BF4}"/>
              </a:ext>
            </a:extLst>
          </p:cNvPr>
          <p:cNvCxnSpPr>
            <a:cxnSpLocks/>
            <a:stCxn id="17" idx="3"/>
            <a:endCxn id="11" idx="2"/>
          </p:cNvCxnSpPr>
          <p:nvPr/>
        </p:nvCxnSpPr>
        <p:spPr>
          <a:xfrm flipH="1" flipV="1">
            <a:off x="5820777" y="306574"/>
            <a:ext cx="28409" cy="516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68E554E2-E61F-4943-BAA1-9327993DD275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 flipV="1">
            <a:off x="5849186" y="161495"/>
            <a:ext cx="620214" cy="661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CD3AF77-6812-47D6-A6FE-754C7460E148}"/>
              </a:ext>
            </a:extLst>
          </p:cNvPr>
          <p:cNvCxnSpPr>
            <a:cxnSpLocks/>
            <a:stCxn id="17" idx="3"/>
            <a:endCxn id="14" idx="1"/>
          </p:cNvCxnSpPr>
          <p:nvPr/>
        </p:nvCxnSpPr>
        <p:spPr>
          <a:xfrm flipV="1">
            <a:off x="5849186" y="477583"/>
            <a:ext cx="681162" cy="345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D128DE53-A646-4D74-A1E0-7F0E92576FC1}"/>
              </a:ext>
            </a:extLst>
          </p:cNvPr>
          <p:cNvCxnSpPr>
            <a:stCxn id="17" idx="3"/>
            <a:endCxn id="15" idx="1"/>
          </p:cNvCxnSpPr>
          <p:nvPr/>
        </p:nvCxnSpPr>
        <p:spPr>
          <a:xfrm flipV="1">
            <a:off x="5849186" y="789619"/>
            <a:ext cx="947877" cy="33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F281EC57-4166-4243-9EE2-9C2210CCBB44}"/>
              </a:ext>
            </a:extLst>
          </p:cNvPr>
          <p:cNvCxnSpPr>
            <a:cxnSpLocks/>
            <a:stCxn id="3" idx="3"/>
            <a:endCxn id="266" idx="1"/>
          </p:cNvCxnSpPr>
          <p:nvPr/>
        </p:nvCxnSpPr>
        <p:spPr>
          <a:xfrm flipV="1">
            <a:off x="4240522" y="2363416"/>
            <a:ext cx="201804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2DCB05A3-9510-4D84-B90F-B9CF122BE912}"/>
              </a:ext>
            </a:extLst>
          </p:cNvPr>
          <p:cNvCxnSpPr>
            <a:cxnSpLocks/>
            <a:stCxn id="10" idx="3"/>
            <a:endCxn id="34" idx="1"/>
          </p:cNvCxnSpPr>
          <p:nvPr/>
        </p:nvCxnSpPr>
        <p:spPr>
          <a:xfrm flipV="1">
            <a:off x="6639964" y="3828278"/>
            <a:ext cx="644780" cy="60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D793BAE8-3FC4-43F2-B74D-99EF53A78595}"/>
              </a:ext>
            </a:extLst>
          </p:cNvPr>
          <p:cNvCxnSpPr>
            <a:cxnSpLocks/>
            <a:stCxn id="10" idx="3"/>
            <a:endCxn id="36" idx="1"/>
          </p:cNvCxnSpPr>
          <p:nvPr/>
        </p:nvCxnSpPr>
        <p:spPr>
          <a:xfrm>
            <a:off x="6639964" y="3889090"/>
            <a:ext cx="647894" cy="299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B2C0A453-D668-44CE-8615-52A7EB35BC8A}"/>
              </a:ext>
            </a:extLst>
          </p:cNvPr>
          <p:cNvCxnSpPr>
            <a:cxnSpLocks/>
            <a:stCxn id="10" idx="3"/>
            <a:endCxn id="38" idx="1"/>
          </p:cNvCxnSpPr>
          <p:nvPr/>
        </p:nvCxnSpPr>
        <p:spPr>
          <a:xfrm>
            <a:off x="6639964" y="3889090"/>
            <a:ext cx="675252" cy="719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46C7F55E-0F3D-4E18-89DB-B9BB2A000914}"/>
              </a:ext>
            </a:extLst>
          </p:cNvPr>
          <p:cNvCxnSpPr>
            <a:stCxn id="3" idx="0"/>
          </p:cNvCxnSpPr>
          <p:nvPr/>
        </p:nvCxnSpPr>
        <p:spPr>
          <a:xfrm flipV="1">
            <a:off x="3720461" y="1176009"/>
            <a:ext cx="0" cy="1033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4D975351-301D-4B39-9A85-26DFEF279475}"/>
              </a:ext>
            </a:extLst>
          </p:cNvPr>
          <p:cNvCxnSpPr>
            <a:cxnSpLocks/>
            <a:stCxn id="3" idx="2"/>
            <a:endCxn id="309" idx="1"/>
          </p:cNvCxnSpPr>
          <p:nvPr/>
        </p:nvCxnSpPr>
        <p:spPr>
          <a:xfrm rot="16200000" flipH="1">
            <a:off x="3537884" y="2976879"/>
            <a:ext cx="1292906" cy="9277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23AF210C-8469-44C7-89E0-69DB56FB5763}"/>
              </a:ext>
            </a:extLst>
          </p:cNvPr>
          <p:cNvCxnSpPr>
            <a:cxnSpLocks/>
            <a:stCxn id="3" idx="2"/>
            <a:endCxn id="22" idx="1"/>
          </p:cNvCxnSpPr>
          <p:nvPr/>
        </p:nvCxnSpPr>
        <p:spPr>
          <a:xfrm rot="16200000" flipH="1">
            <a:off x="2878184" y="3636580"/>
            <a:ext cx="2330349" cy="6457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D5B08F18-D8B8-4F27-A789-6D5C542B2C75}"/>
              </a:ext>
            </a:extLst>
          </p:cNvPr>
          <p:cNvCxnSpPr>
            <a:cxnSpLocks/>
            <a:stCxn id="9" idx="3"/>
            <a:endCxn id="16" idx="2"/>
          </p:cNvCxnSpPr>
          <p:nvPr/>
        </p:nvCxnSpPr>
        <p:spPr>
          <a:xfrm flipV="1">
            <a:off x="6567180" y="1571383"/>
            <a:ext cx="326460" cy="261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B1CDD4C-723E-47F0-9781-52358DD54C6C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 flipV="1">
            <a:off x="6567180" y="1738040"/>
            <a:ext cx="793756" cy="94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30A9A4E6-72B3-4962-A58F-E25C9D90D0DF}"/>
              </a:ext>
            </a:extLst>
          </p:cNvPr>
          <p:cNvCxnSpPr>
            <a:cxnSpLocks/>
            <a:stCxn id="9" idx="3"/>
            <a:endCxn id="30" idx="1"/>
          </p:cNvCxnSpPr>
          <p:nvPr/>
        </p:nvCxnSpPr>
        <p:spPr>
          <a:xfrm>
            <a:off x="6567180" y="1832654"/>
            <a:ext cx="763272" cy="21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8432E18D-C63B-45E4-B392-87275894ED26}"/>
              </a:ext>
            </a:extLst>
          </p:cNvPr>
          <p:cNvCxnSpPr>
            <a:cxnSpLocks/>
            <a:stCxn id="9" idx="3"/>
            <a:endCxn id="32" idx="1"/>
          </p:cNvCxnSpPr>
          <p:nvPr/>
        </p:nvCxnSpPr>
        <p:spPr>
          <a:xfrm>
            <a:off x="6567180" y="1832654"/>
            <a:ext cx="839468" cy="528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TextBox 265">
            <a:extLst>
              <a:ext uri="{FF2B5EF4-FFF2-40B4-BE49-F238E27FC236}">
                <a16:creationId xmlns:a16="http://schemas.microsoft.com/office/drawing/2014/main" id="{F65EE324-EF4D-4503-B5D3-5EE7CDCD5FB5}"/>
              </a:ext>
            </a:extLst>
          </p:cNvPr>
          <p:cNvSpPr txBox="1"/>
          <p:nvPr/>
        </p:nvSpPr>
        <p:spPr>
          <a:xfrm>
            <a:off x="4442326" y="2224916"/>
            <a:ext cx="100800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/>
              <a:t>Classification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B8424C67-E1AD-41C2-A8CC-B65AE298AF5F}"/>
              </a:ext>
            </a:extLst>
          </p:cNvPr>
          <p:cNvSpPr txBox="1"/>
          <p:nvPr/>
        </p:nvSpPr>
        <p:spPr>
          <a:xfrm>
            <a:off x="4131119" y="2971640"/>
            <a:ext cx="10401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FF6565"/>
                </a:solidFill>
              </a:rPr>
              <a:t>Performance</a:t>
            </a:r>
          </a:p>
        </p:txBody>
      </p: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AB4DF386-9991-4FEE-80EF-2E7391D773F2}"/>
              </a:ext>
            </a:extLst>
          </p:cNvPr>
          <p:cNvCxnSpPr>
            <a:cxnSpLocks/>
            <a:stCxn id="266" idx="2"/>
            <a:endCxn id="278" idx="0"/>
          </p:cNvCxnSpPr>
          <p:nvPr/>
        </p:nvCxnSpPr>
        <p:spPr>
          <a:xfrm flipH="1">
            <a:off x="4651180" y="2501915"/>
            <a:ext cx="295146" cy="46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BC669000-A321-42F2-80BC-9D342F601FFD}"/>
              </a:ext>
            </a:extLst>
          </p:cNvPr>
          <p:cNvCxnSpPr>
            <a:cxnSpLocks/>
            <a:stCxn id="266" idx="0"/>
            <a:endCxn id="9" idx="1"/>
          </p:cNvCxnSpPr>
          <p:nvPr/>
        </p:nvCxnSpPr>
        <p:spPr>
          <a:xfrm flipV="1">
            <a:off x="4946326" y="1832654"/>
            <a:ext cx="684854" cy="392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TextBox 308">
            <a:extLst>
              <a:ext uri="{FF2B5EF4-FFF2-40B4-BE49-F238E27FC236}">
                <a16:creationId xmlns:a16="http://schemas.microsoft.com/office/drawing/2014/main" id="{D08B262A-F3DB-47FD-B45C-D2D22AFA0D9A}"/>
              </a:ext>
            </a:extLst>
          </p:cNvPr>
          <p:cNvSpPr txBox="1"/>
          <p:nvPr/>
        </p:nvSpPr>
        <p:spPr>
          <a:xfrm>
            <a:off x="4648214" y="3948709"/>
            <a:ext cx="864000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/>
              <a:t>Clustering</a:t>
            </a:r>
          </a:p>
        </p:txBody>
      </p: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44E5C1E5-4BA9-4431-AA6B-9B1D47805A55}"/>
              </a:ext>
            </a:extLst>
          </p:cNvPr>
          <p:cNvCxnSpPr>
            <a:cxnSpLocks/>
            <a:stCxn id="309" idx="3"/>
            <a:endCxn id="10" idx="1"/>
          </p:cNvCxnSpPr>
          <p:nvPr/>
        </p:nvCxnSpPr>
        <p:spPr>
          <a:xfrm flipV="1">
            <a:off x="5512214" y="3889090"/>
            <a:ext cx="227750" cy="198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TextBox 322">
            <a:extLst>
              <a:ext uri="{FF2B5EF4-FFF2-40B4-BE49-F238E27FC236}">
                <a16:creationId xmlns:a16="http://schemas.microsoft.com/office/drawing/2014/main" id="{A665D8C0-08EE-4622-A353-40B9B25494AB}"/>
              </a:ext>
            </a:extLst>
          </p:cNvPr>
          <p:cNvSpPr txBox="1"/>
          <p:nvPr/>
        </p:nvSpPr>
        <p:spPr>
          <a:xfrm>
            <a:off x="4393189" y="4464741"/>
            <a:ext cx="10636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FF6565"/>
                </a:solidFill>
              </a:rPr>
              <a:t>Performance</a:t>
            </a:r>
          </a:p>
        </p:txBody>
      </p: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0CC748EC-B76D-4F9F-880B-591EDE05678D}"/>
              </a:ext>
            </a:extLst>
          </p:cNvPr>
          <p:cNvCxnSpPr>
            <a:cxnSpLocks/>
            <a:stCxn id="309" idx="2"/>
            <a:endCxn id="323" idx="0"/>
          </p:cNvCxnSpPr>
          <p:nvPr/>
        </p:nvCxnSpPr>
        <p:spPr>
          <a:xfrm flipH="1">
            <a:off x="4925022" y="4225708"/>
            <a:ext cx="155192" cy="239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E8D32EBF-CBD6-4B2E-8D40-5E72C6DFA5B9}"/>
              </a:ext>
            </a:extLst>
          </p:cNvPr>
          <p:cNvSpPr txBox="1"/>
          <p:nvPr/>
        </p:nvSpPr>
        <p:spPr>
          <a:xfrm>
            <a:off x="5600827" y="5318987"/>
            <a:ext cx="9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200" b="1" dirty="0">
                <a:solidFill>
                  <a:srgbClr val="0070C0"/>
                </a:solidFill>
              </a:rPr>
              <a:t>Techniques</a:t>
            </a:r>
          </a:p>
        </p:txBody>
      </p: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04143F84-59B2-4512-9C59-2CCA3B2F35B7}"/>
              </a:ext>
            </a:extLst>
          </p:cNvPr>
          <p:cNvCxnSpPr>
            <a:cxnSpLocks/>
            <a:stCxn id="22" idx="3"/>
            <a:endCxn id="335" idx="1"/>
          </p:cNvCxnSpPr>
          <p:nvPr/>
        </p:nvCxnSpPr>
        <p:spPr>
          <a:xfrm>
            <a:off x="5338255" y="5124652"/>
            <a:ext cx="262572" cy="332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D4E374EC-B9F7-4E1D-BF32-961D7B003729}"/>
              </a:ext>
            </a:extLst>
          </p:cNvPr>
          <p:cNvCxnSpPr>
            <a:cxnSpLocks/>
            <a:stCxn id="335" idx="3"/>
            <a:endCxn id="40" idx="1"/>
          </p:cNvCxnSpPr>
          <p:nvPr/>
        </p:nvCxnSpPr>
        <p:spPr>
          <a:xfrm>
            <a:off x="6500827" y="5457487"/>
            <a:ext cx="288605" cy="11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Arrow Connector 364">
            <a:extLst>
              <a:ext uri="{FF2B5EF4-FFF2-40B4-BE49-F238E27FC236}">
                <a16:creationId xmlns:a16="http://schemas.microsoft.com/office/drawing/2014/main" id="{04899228-EA9F-453C-A4D7-81A38CD2887A}"/>
              </a:ext>
            </a:extLst>
          </p:cNvPr>
          <p:cNvCxnSpPr>
            <a:cxnSpLocks/>
            <a:stCxn id="335" idx="3"/>
            <a:endCxn id="46" idx="1"/>
          </p:cNvCxnSpPr>
          <p:nvPr/>
        </p:nvCxnSpPr>
        <p:spPr>
          <a:xfrm>
            <a:off x="6500827" y="5457487"/>
            <a:ext cx="265748" cy="485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Arrow Connector 368">
            <a:extLst>
              <a:ext uri="{FF2B5EF4-FFF2-40B4-BE49-F238E27FC236}">
                <a16:creationId xmlns:a16="http://schemas.microsoft.com/office/drawing/2014/main" id="{832A2D0C-00D3-4365-9D78-2611D158A911}"/>
              </a:ext>
            </a:extLst>
          </p:cNvPr>
          <p:cNvCxnSpPr>
            <a:cxnSpLocks/>
            <a:stCxn id="335" idx="3"/>
            <a:endCxn id="42" idx="1"/>
          </p:cNvCxnSpPr>
          <p:nvPr/>
        </p:nvCxnSpPr>
        <p:spPr>
          <a:xfrm>
            <a:off x="6500827" y="5457487"/>
            <a:ext cx="273362" cy="1030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: Rounded Corners 555">
            <a:extLst>
              <a:ext uri="{FF2B5EF4-FFF2-40B4-BE49-F238E27FC236}">
                <a16:creationId xmlns:a16="http://schemas.microsoft.com/office/drawing/2014/main" id="{8ED9F115-0B10-40E0-BF09-998B6554883F}"/>
              </a:ext>
            </a:extLst>
          </p:cNvPr>
          <p:cNvSpPr/>
          <p:nvPr/>
        </p:nvSpPr>
        <p:spPr>
          <a:xfrm>
            <a:off x="2300293" y="1323375"/>
            <a:ext cx="1369171" cy="65538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A01D0D9D-7C46-4A12-AC9B-C2EB7C00A942}"/>
              </a:ext>
            </a:extLst>
          </p:cNvPr>
          <p:cNvSpPr txBox="1"/>
          <p:nvPr/>
        </p:nvSpPr>
        <p:spPr>
          <a:xfrm>
            <a:off x="2285979" y="1393985"/>
            <a:ext cx="1447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/>
              <a:t>ML -</a:t>
            </a:r>
            <a:r>
              <a:rPr lang="fr-MA" sz="1600" b="1" dirty="0" err="1"/>
              <a:t>Categories</a:t>
            </a:r>
            <a:r>
              <a:rPr lang="fr-MA" sz="1600" b="1" dirty="0"/>
              <a:t> of Learning</a:t>
            </a:r>
          </a:p>
        </p:txBody>
      </p:sp>
      <p:sp>
        <p:nvSpPr>
          <p:cNvPr id="565" name="Rectangle: Rounded Corners 564">
            <a:extLst>
              <a:ext uri="{FF2B5EF4-FFF2-40B4-BE49-F238E27FC236}">
                <a16:creationId xmlns:a16="http://schemas.microsoft.com/office/drawing/2014/main" id="{CD28064B-ECA7-45CF-9EDF-1972D0F2D994}"/>
              </a:ext>
            </a:extLst>
          </p:cNvPr>
          <p:cNvSpPr/>
          <p:nvPr/>
        </p:nvSpPr>
        <p:spPr>
          <a:xfrm>
            <a:off x="1198172" y="5305649"/>
            <a:ext cx="930931" cy="43354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567" name="TextBox 566">
            <a:extLst>
              <a:ext uri="{FF2B5EF4-FFF2-40B4-BE49-F238E27FC236}">
                <a16:creationId xmlns:a16="http://schemas.microsoft.com/office/drawing/2014/main" id="{90DAFEA8-2C7A-41AA-9D1D-55124358D9A8}"/>
              </a:ext>
            </a:extLst>
          </p:cNvPr>
          <p:cNvSpPr txBox="1"/>
          <p:nvPr/>
        </p:nvSpPr>
        <p:spPr>
          <a:xfrm>
            <a:off x="1192540" y="5260811"/>
            <a:ext cx="910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200" b="1" dirty="0"/>
              <a:t>ML</a:t>
            </a:r>
          </a:p>
          <a:p>
            <a:pPr algn="ctr"/>
            <a:r>
              <a:rPr lang="fr-MA" sz="1200" b="1" dirty="0" err="1"/>
              <a:t>LifeCycle</a:t>
            </a:r>
            <a:endParaRPr lang="fr-MA" sz="1200" b="1" dirty="0"/>
          </a:p>
        </p:txBody>
      </p:sp>
      <p:sp>
        <p:nvSpPr>
          <p:cNvPr id="569" name="Rectangle: Rounded Corners 568">
            <a:extLst>
              <a:ext uri="{FF2B5EF4-FFF2-40B4-BE49-F238E27FC236}">
                <a16:creationId xmlns:a16="http://schemas.microsoft.com/office/drawing/2014/main" id="{7C020C7C-8E9F-4D6A-A706-CFDBF9D7AAF7}"/>
              </a:ext>
            </a:extLst>
          </p:cNvPr>
          <p:cNvSpPr/>
          <p:nvPr/>
        </p:nvSpPr>
        <p:spPr>
          <a:xfrm>
            <a:off x="168683" y="3124392"/>
            <a:ext cx="1148609" cy="38187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D8F0CBA7-3439-4979-9A49-A831C15EFA27}"/>
              </a:ext>
            </a:extLst>
          </p:cNvPr>
          <p:cNvSpPr txBox="1"/>
          <p:nvPr/>
        </p:nvSpPr>
        <p:spPr>
          <a:xfrm>
            <a:off x="175239" y="3121989"/>
            <a:ext cx="115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6565"/>
                </a:solidFill>
              </a:rPr>
              <a:t>ML &amp; Math</a:t>
            </a:r>
          </a:p>
        </p:txBody>
      </p:sp>
      <p:sp>
        <p:nvSpPr>
          <p:cNvPr id="591" name="TextBox 590">
            <a:extLst>
              <a:ext uri="{FF2B5EF4-FFF2-40B4-BE49-F238E27FC236}">
                <a16:creationId xmlns:a16="http://schemas.microsoft.com/office/drawing/2014/main" id="{19155187-09AE-4FF8-9F81-CB218E6F861B}"/>
              </a:ext>
            </a:extLst>
          </p:cNvPr>
          <p:cNvSpPr txBox="1"/>
          <p:nvPr/>
        </p:nvSpPr>
        <p:spPr>
          <a:xfrm>
            <a:off x="9651962" y="4265349"/>
            <a:ext cx="2021874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From</a:t>
            </a:r>
            <a:r>
              <a:rPr lang="fr-MA" sz="1400" dirty="0">
                <a:solidFill>
                  <a:schemeClr val="bg1"/>
                </a:solidFill>
              </a:rPr>
              <a:t> scratch &amp; by hand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EDABA87D-27D7-42AA-932F-87B23F3FABEB}"/>
              </a:ext>
            </a:extLst>
          </p:cNvPr>
          <p:cNvSpPr txBox="1"/>
          <p:nvPr/>
        </p:nvSpPr>
        <p:spPr>
          <a:xfrm>
            <a:off x="5113434" y="878471"/>
            <a:ext cx="9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R-</a:t>
            </a:r>
            <a:r>
              <a:rPr lang="fr-MA" sz="1200" dirty="0" err="1">
                <a:solidFill>
                  <a:srgbClr val="FF6565"/>
                </a:solidFill>
              </a:rPr>
              <a:t>squared</a:t>
            </a:r>
            <a:endParaRPr lang="fr-MA" sz="1200" dirty="0">
              <a:solidFill>
                <a:srgbClr val="FF6565"/>
              </a:solidFill>
            </a:endParaRP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MSE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RSE</a:t>
            </a:r>
          </a:p>
          <a:p>
            <a:pPr marL="36000" indent="-36000">
              <a:buFont typeface="Calibri" panose="020F0502020204030204" pitchFamily="34" charset="0"/>
              <a:buChar char="—"/>
            </a:pPr>
            <a:r>
              <a:rPr lang="fr-MA" sz="1200" dirty="0">
                <a:solidFill>
                  <a:srgbClr val="FF6565"/>
                </a:solidFill>
              </a:rPr>
              <a:t>AIC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AC65FC6C-398B-4267-89BD-46079F1AB423}"/>
              </a:ext>
            </a:extLst>
          </p:cNvPr>
          <p:cNvSpPr txBox="1"/>
          <p:nvPr/>
        </p:nvSpPr>
        <p:spPr>
          <a:xfrm>
            <a:off x="5231236" y="2656022"/>
            <a:ext cx="16560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200">
                <a:solidFill>
                  <a:srgbClr val="FF6565"/>
                </a:solidFill>
              </a:defRPr>
            </a:lvl1pPr>
          </a:lstStyle>
          <a:p>
            <a:r>
              <a:rPr lang="fr-MA" sz="1100" dirty="0"/>
              <a:t>Classification </a:t>
            </a:r>
            <a:r>
              <a:rPr lang="fr-MA" sz="1100" dirty="0" err="1"/>
              <a:t>Accuracy</a:t>
            </a:r>
            <a:endParaRPr lang="fr-MA" sz="1100" dirty="0"/>
          </a:p>
          <a:p>
            <a:r>
              <a:rPr lang="fr-MA" sz="1100" dirty="0" err="1"/>
              <a:t>Logarithmic</a:t>
            </a:r>
            <a:r>
              <a:rPr lang="fr-MA" sz="1100" dirty="0"/>
              <a:t> </a:t>
            </a:r>
            <a:r>
              <a:rPr lang="fr-MA" sz="1100" dirty="0" err="1"/>
              <a:t>Loss</a:t>
            </a:r>
            <a:endParaRPr lang="fr-MA" sz="1100" dirty="0"/>
          </a:p>
          <a:p>
            <a:r>
              <a:rPr lang="fr-MA" sz="1100" dirty="0"/>
              <a:t>Confusion Matrix</a:t>
            </a:r>
          </a:p>
          <a:p>
            <a:r>
              <a:rPr lang="fr-MA" sz="1100" dirty="0"/>
              <a:t>Area </a:t>
            </a:r>
            <a:r>
              <a:rPr lang="fr-MA" sz="1100" dirty="0" err="1"/>
              <a:t>under</a:t>
            </a:r>
            <a:r>
              <a:rPr lang="fr-MA" sz="1100" dirty="0"/>
              <a:t> </a:t>
            </a:r>
            <a:r>
              <a:rPr lang="fr-MA" sz="1100" dirty="0" err="1"/>
              <a:t>Curve</a:t>
            </a:r>
            <a:endParaRPr lang="fr-MA" sz="1100" dirty="0"/>
          </a:p>
          <a:p>
            <a:r>
              <a:rPr lang="fr-MA" sz="1100" dirty="0"/>
              <a:t>F1 Score</a:t>
            </a:r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6E3027C1-3E48-4542-9EEF-55A0DD15EE83}"/>
              </a:ext>
            </a:extLst>
          </p:cNvPr>
          <p:cNvSpPr txBox="1"/>
          <p:nvPr/>
        </p:nvSpPr>
        <p:spPr>
          <a:xfrm>
            <a:off x="5559045" y="4285375"/>
            <a:ext cx="172583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100">
                <a:solidFill>
                  <a:srgbClr val="FF6565"/>
                </a:solidFill>
              </a:defRPr>
            </a:lvl1pPr>
          </a:lstStyle>
          <a:p>
            <a:r>
              <a:rPr lang="fr-MA" dirty="0"/>
              <a:t>Davies-</a:t>
            </a:r>
            <a:r>
              <a:rPr lang="fr-MA" dirty="0" err="1"/>
              <a:t>Bouldin</a:t>
            </a:r>
            <a:r>
              <a:rPr lang="fr-MA" dirty="0"/>
              <a:t> Index</a:t>
            </a:r>
          </a:p>
          <a:p>
            <a:r>
              <a:rPr lang="fr-MA" dirty="0"/>
              <a:t>Dunn Index</a:t>
            </a:r>
          </a:p>
          <a:p>
            <a:r>
              <a:rPr lang="fr-MA" dirty="0"/>
              <a:t>Silhouette Coefficient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3F961A39-B8B5-4EF7-91EB-35D0D8F82AFA}"/>
              </a:ext>
            </a:extLst>
          </p:cNvPr>
          <p:cNvSpPr txBox="1"/>
          <p:nvPr/>
        </p:nvSpPr>
        <p:spPr>
          <a:xfrm>
            <a:off x="4091380" y="45039"/>
            <a:ext cx="1172837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Random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forest</a:t>
            </a:r>
            <a:endParaRPr lang="fr-MA" sz="1200" dirty="0">
              <a:solidFill>
                <a:schemeClr val="bg1"/>
              </a:solidFill>
            </a:endParaRPr>
          </a:p>
        </p:txBody>
      </p:sp>
      <p:sp>
        <p:nvSpPr>
          <p:cNvPr id="630" name="TextBox 629">
            <a:extLst>
              <a:ext uri="{FF2B5EF4-FFF2-40B4-BE49-F238E27FC236}">
                <a16:creationId xmlns:a16="http://schemas.microsoft.com/office/drawing/2014/main" id="{696519DD-17EA-44A5-B013-4E890B175CAF}"/>
              </a:ext>
            </a:extLst>
          </p:cNvPr>
          <p:cNvSpPr txBox="1"/>
          <p:nvPr/>
        </p:nvSpPr>
        <p:spPr>
          <a:xfrm>
            <a:off x="7449255" y="2528154"/>
            <a:ext cx="1214685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 err="1">
                <a:solidFill>
                  <a:schemeClr val="bg1"/>
                </a:solidFill>
              </a:rPr>
              <a:t>Random</a:t>
            </a:r>
            <a:r>
              <a:rPr lang="fr-MA" sz="1200" dirty="0">
                <a:solidFill>
                  <a:schemeClr val="bg1"/>
                </a:solidFill>
              </a:rPr>
              <a:t> </a:t>
            </a:r>
            <a:r>
              <a:rPr lang="fr-MA" sz="1200" dirty="0" err="1">
                <a:solidFill>
                  <a:schemeClr val="bg1"/>
                </a:solidFill>
              </a:rPr>
              <a:t>forest</a:t>
            </a:r>
            <a:endParaRPr lang="fr-MA" sz="1200" dirty="0">
              <a:solidFill>
                <a:schemeClr val="bg1"/>
              </a:solidFill>
            </a:endParaRPr>
          </a:p>
        </p:txBody>
      </p:sp>
      <p:cxnSp>
        <p:nvCxnSpPr>
          <p:cNvPr id="632" name="Straight Arrow Connector 631">
            <a:extLst>
              <a:ext uri="{FF2B5EF4-FFF2-40B4-BE49-F238E27FC236}">
                <a16:creationId xmlns:a16="http://schemas.microsoft.com/office/drawing/2014/main" id="{8E05A1B4-0074-4FCF-BDF8-6D3A4B76D99B}"/>
              </a:ext>
            </a:extLst>
          </p:cNvPr>
          <p:cNvCxnSpPr>
            <a:cxnSpLocks/>
            <a:stCxn id="9" idx="3"/>
            <a:endCxn id="630" idx="1"/>
          </p:cNvCxnSpPr>
          <p:nvPr/>
        </p:nvCxnSpPr>
        <p:spPr>
          <a:xfrm>
            <a:off x="6567180" y="1832654"/>
            <a:ext cx="882075" cy="83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6D185DD7-B94E-411B-9227-9F7221657EEF}"/>
              </a:ext>
            </a:extLst>
          </p:cNvPr>
          <p:cNvCxnSpPr>
            <a:cxnSpLocks/>
            <a:stCxn id="17" idx="3"/>
            <a:endCxn id="628" idx="2"/>
          </p:cNvCxnSpPr>
          <p:nvPr/>
        </p:nvCxnSpPr>
        <p:spPr>
          <a:xfrm flipH="1" flipV="1">
            <a:off x="4677799" y="322038"/>
            <a:ext cx="1171387" cy="500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Right Brace 653">
            <a:extLst>
              <a:ext uri="{FF2B5EF4-FFF2-40B4-BE49-F238E27FC236}">
                <a16:creationId xmlns:a16="http://schemas.microsoft.com/office/drawing/2014/main" id="{25033683-0DEB-4BE7-B5E0-D4CB5187FF27}"/>
              </a:ext>
            </a:extLst>
          </p:cNvPr>
          <p:cNvSpPr/>
          <p:nvPr/>
        </p:nvSpPr>
        <p:spPr>
          <a:xfrm>
            <a:off x="8361920" y="-1"/>
            <a:ext cx="728806" cy="6624939"/>
          </a:xfrm>
          <a:prstGeom prst="rightBrace">
            <a:avLst>
              <a:gd name="adj1" fmla="val 8333"/>
              <a:gd name="adj2" fmla="val 49541"/>
            </a:avLst>
          </a:prstGeom>
          <a:ln w="31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369270B7-193B-416F-9A96-A2048632A540}"/>
              </a:ext>
            </a:extLst>
          </p:cNvPr>
          <p:cNvSpPr txBox="1"/>
          <p:nvPr/>
        </p:nvSpPr>
        <p:spPr>
          <a:xfrm>
            <a:off x="7449255" y="3335424"/>
            <a:ext cx="1214685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666" name="TextBox 665">
            <a:extLst>
              <a:ext uri="{FF2B5EF4-FFF2-40B4-BE49-F238E27FC236}">
                <a16:creationId xmlns:a16="http://schemas.microsoft.com/office/drawing/2014/main" id="{5220908D-5F10-452C-BE07-04D47DEFCCE8}"/>
              </a:ext>
            </a:extLst>
          </p:cNvPr>
          <p:cNvSpPr txBox="1"/>
          <p:nvPr/>
        </p:nvSpPr>
        <p:spPr>
          <a:xfrm>
            <a:off x="7315217" y="4874551"/>
            <a:ext cx="92736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668" name="Straight Arrow Connector 667">
            <a:extLst>
              <a:ext uri="{FF2B5EF4-FFF2-40B4-BE49-F238E27FC236}">
                <a16:creationId xmlns:a16="http://schemas.microsoft.com/office/drawing/2014/main" id="{84AA514B-328B-4C0A-ACFE-784030D548BC}"/>
              </a:ext>
            </a:extLst>
          </p:cNvPr>
          <p:cNvCxnSpPr>
            <a:cxnSpLocks/>
            <a:stCxn id="9" idx="3"/>
            <a:endCxn id="660" idx="1"/>
          </p:cNvCxnSpPr>
          <p:nvPr/>
        </p:nvCxnSpPr>
        <p:spPr>
          <a:xfrm>
            <a:off x="6567180" y="1832654"/>
            <a:ext cx="882075" cy="164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1" name="Straight Arrow Connector 670">
            <a:extLst>
              <a:ext uri="{FF2B5EF4-FFF2-40B4-BE49-F238E27FC236}">
                <a16:creationId xmlns:a16="http://schemas.microsoft.com/office/drawing/2014/main" id="{B693401B-3557-4076-BE1C-9CCD93D480C0}"/>
              </a:ext>
            </a:extLst>
          </p:cNvPr>
          <p:cNvCxnSpPr>
            <a:cxnSpLocks/>
            <a:stCxn id="10" idx="3"/>
            <a:endCxn id="666" idx="1"/>
          </p:cNvCxnSpPr>
          <p:nvPr/>
        </p:nvCxnSpPr>
        <p:spPr>
          <a:xfrm>
            <a:off x="6639964" y="3889090"/>
            <a:ext cx="675253" cy="1123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TextBox 683">
            <a:extLst>
              <a:ext uri="{FF2B5EF4-FFF2-40B4-BE49-F238E27FC236}">
                <a16:creationId xmlns:a16="http://schemas.microsoft.com/office/drawing/2014/main" id="{FC3F9EC9-6AD4-4A2E-BA8E-06D7CA3292A1}"/>
              </a:ext>
            </a:extLst>
          </p:cNvPr>
          <p:cNvSpPr txBox="1"/>
          <p:nvPr/>
        </p:nvSpPr>
        <p:spPr>
          <a:xfrm>
            <a:off x="6749319" y="956027"/>
            <a:ext cx="1152000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700" name="TextBox 699">
            <a:extLst>
              <a:ext uri="{FF2B5EF4-FFF2-40B4-BE49-F238E27FC236}">
                <a16:creationId xmlns:a16="http://schemas.microsoft.com/office/drawing/2014/main" id="{C9B30D16-D6D1-4BD5-B7E1-CB4B257A94AE}"/>
              </a:ext>
            </a:extLst>
          </p:cNvPr>
          <p:cNvSpPr txBox="1"/>
          <p:nvPr/>
        </p:nvSpPr>
        <p:spPr>
          <a:xfrm>
            <a:off x="7449255" y="2846794"/>
            <a:ext cx="1214685" cy="46166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Support </a:t>
            </a:r>
            <a:r>
              <a:rPr lang="fr-MA" sz="1200" dirty="0" err="1">
                <a:solidFill>
                  <a:schemeClr val="bg1"/>
                </a:solidFill>
              </a:rPr>
              <a:t>Vector</a:t>
            </a:r>
            <a:r>
              <a:rPr lang="fr-MA" sz="1200" dirty="0">
                <a:solidFill>
                  <a:schemeClr val="bg1"/>
                </a:solidFill>
              </a:rPr>
              <a:t> Machine</a:t>
            </a:r>
          </a:p>
        </p:txBody>
      </p:sp>
      <p:cxnSp>
        <p:nvCxnSpPr>
          <p:cNvPr id="702" name="Straight Arrow Connector 701">
            <a:extLst>
              <a:ext uri="{FF2B5EF4-FFF2-40B4-BE49-F238E27FC236}">
                <a16:creationId xmlns:a16="http://schemas.microsoft.com/office/drawing/2014/main" id="{1F00CCD9-C1CE-4659-9632-D0F6A1C3B2AD}"/>
              </a:ext>
            </a:extLst>
          </p:cNvPr>
          <p:cNvCxnSpPr>
            <a:cxnSpLocks/>
            <a:stCxn id="9" idx="3"/>
            <a:endCxn id="700" idx="1"/>
          </p:cNvCxnSpPr>
          <p:nvPr/>
        </p:nvCxnSpPr>
        <p:spPr>
          <a:xfrm>
            <a:off x="6567180" y="1832654"/>
            <a:ext cx="882075" cy="1244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Arrow Connector 707">
            <a:extLst>
              <a:ext uri="{FF2B5EF4-FFF2-40B4-BE49-F238E27FC236}">
                <a16:creationId xmlns:a16="http://schemas.microsoft.com/office/drawing/2014/main" id="{9418CCAB-3E4A-427D-BC48-BBF49AD794AF}"/>
              </a:ext>
            </a:extLst>
          </p:cNvPr>
          <p:cNvCxnSpPr>
            <a:cxnSpLocks/>
            <a:stCxn id="929" idx="6"/>
            <a:endCxn id="558" idx="2"/>
          </p:cNvCxnSpPr>
          <p:nvPr/>
        </p:nvCxnSpPr>
        <p:spPr>
          <a:xfrm flipH="1" flipV="1">
            <a:off x="3009879" y="1978760"/>
            <a:ext cx="4526" cy="1860490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Arrow Connector 709">
            <a:extLst>
              <a:ext uri="{FF2B5EF4-FFF2-40B4-BE49-F238E27FC236}">
                <a16:creationId xmlns:a16="http://schemas.microsoft.com/office/drawing/2014/main" id="{1EA2C12F-8344-4B41-BFA0-1A2502576E17}"/>
              </a:ext>
            </a:extLst>
          </p:cNvPr>
          <p:cNvCxnSpPr>
            <a:cxnSpLocks/>
            <a:stCxn id="929" idx="7"/>
            <a:endCxn id="3" idx="2"/>
          </p:cNvCxnSpPr>
          <p:nvPr/>
        </p:nvCxnSpPr>
        <p:spPr>
          <a:xfrm flipV="1">
            <a:off x="2988045" y="2794303"/>
            <a:ext cx="732416" cy="994035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" name="Straight Arrow Connector 713">
            <a:extLst>
              <a:ext uri="{FF2B5EF4-FFF2-40B4-BE49-F238E27FC236}">
                <a16:creationId xmlns:a16="http://schemas.microsoft.com/office/drawing/2014/main" id="{01701719-E721-4583-9711-7A641B215C7B}"/>
              </a:ext>
            </a:extLst>
          </p:cNvPr>
          <p:cNvCxnSpPr>
            <a:cxnSpLocks/>
            <a:stCxn id="927" idx="2"/>
            <a:endCxn id="567" idx="0"/>
          </p:cNvCxnSpPr>
          <p:nvPr/>
        </p:nvCxnSpPr>
        <p:spPr>
          <a:xfrm flipH="1">
            <a:off x="1647832" y="3839250"/>
            <a:ext cx="241693" cy="1421561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" name="Rectangle: Rounded Corners 717">
            <a:extLst>
              <a:ext uri="{FF2B5EF4-FFF2-40B4-BE49-F238E27FC236}">
                <a16:creationId xmlns:a16="http://schemas.microsoft.com/office/drawing/2014/main" id="{F68DE86B-0CCB-49C0-AA4B-2C0BF284EFEE}"/>
              </a:ext>
            </a:extLst>
          </p:cNvPr>
          <p:cNvSpPr/>
          <p:nvPr/>
        </p:nvSpPr>
        <p:spPr>
          <a:xfrm>
            <a:off x="51083" y="2500636"/>
            <a:ext cx="1164885" cy="52322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cxnSp>
        <p:nvCxnSpPr>
          <p:cNvPr id="721" name="Straight Arrow Connector 720">
            <a:extLst>
              <a:ext uri="{FF2B5EF4-FFF2-40B4-BE49-F238E27FC236}">
                <a16:creationId xmlns:a16="http://schemas.microsoft.com/office/drawing/2014/main" id="{5CE6FEEC-9A15-42CE-9362-3A17CA6F3F68}"/>
              </a:ext>
            </a:extLst>
          </p:cNvPr>
          <p:cNvCxnSpPr>
            <a:cxnSpLocks/>
            <a:stCxn id="927" idx="3"/>
            <a:endCxn id="734" idx="3"/>
          </p:cNvCxnSpPr>
          <p:nvPr/>
        </p:nvCxnSpPr>
        <p:spPr>
          <a:xfrm flipH="1" flipV="1">
            <a:off x="1497024" y="1629166"/>
            <a:ext cx="418861" cy="2260996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0BABB7F0-0802-4B3A-84DD-F5899C3FD002}"/>
              </a:ext>
            </a:extLst>
          </p:cNvPr>
          <p:cNvCxnSpPr>
            <a:cxnSpLocks/>
            <a:stCxn id="927" idx="2"/>
            <a:endCxn id="571" idx="3"/>
          </p:cNvCxnSpPr>
          <p:nvPr/>
        </p:nvCxnSpPr>
        <p:spPr>
          <a:xfrm flipH="1" flipV="1">
            <a:off x="1327239" y="3291266"/>
            <a:ext cx="562286" cy="547984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4" name="Rectangle: Rounded Corners 733">
            <a:extLst>
              <a:ext uri="{FF2B5EF4-FFF2-40B4-BE49-F238E27FC236}">
                <a16:creationId xmlns:a16="http://schemas.microsoft.com/office/drawing/2014/main" id="{5305475A-EBAE-40AC-9AF0-9B7D1DD3E336}"/>
              </a:ext>
            </a:extLst>
          </p:cNvPr>
          <p:cNvSpPr/>
          <p:nvPr/>
        </p:nvSpPr>
        <p:spPr>
          <a:xfrm>
            <a:off x="127853" y="1383805"/>
            <a:ext cx="1369171" cy="4907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742" name="TextBox 741">
            <a:extLst>
              <a:ext uri="{FF2B5EF4-FFF2-40B4-BE49-F238E27FC236}">
                <a16:creationId xmlns:a16="http://schemas.microsoft.com/office/drawing/2014/main" id="{27B48C81-ED30-45A9-84E8-7CDE9B9E6A02}"/>
              </a:ext>
            </a:extLst>
          </p:cNvPr>
          <p:cNvSpPr txBox="1"/>
          <p:nvPr/>
        </p:nvSpPr>
        <p:spPr>
          <a:xfrm>
            <a:off x="-30480" y="2588864"/>
            <a:ext cx="12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 err="1"/>
              <a:t>Algorithms</a:t>
            </a:r>
            <a:endParaRPr lang="fr-MA" sz="1600" b="1" dirty="0"/>
          </a:p>
        </p:txBody>
      </p:sp>
      <p:cxnSp>
        <p:nvCxnSpPr>
          <p:cNvPr id="743" name="Straight Arrow Connector 742">
            <a:extLst>
              <a:ext uri="{FF2B5EF4-FFF2-40B4-BE49-F238E27FC236}">
                <a16:creationId xmlns:a16="http://schemas.microsoft.com/office/drawing/2014/main" id="{44BC1AA2-65CA-41FD-9E1A-F7EEA44C919C}"/>
              </a:ext>
            </a:extLst>
          </p:cNvPr>
          <p:cNvCxnSpPr>
            <a:cxnSpLocks/>
            <a:stCxn id="927" idx="2"/>
            <a:endCxn id="718" idx="3"/>
          </p:cNvCxnSpPr>
          <p:nvPr/>
        </p:nvCxnSpPr>
        <p:spPr>
          <a:xfrm flipH="1" flipV="1">
            <a:off x="1215968" y="2762246"/>
            <a:ext cx="673557" cy="1077004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3" name="Rectangle: Rounded Corners 752">
            <a:extLst>
              <a:ext uri="{FF2B5EF4-FFF2-40B4-BE49-F238E27FC236}">
                <a16:creationId xmlns:a16="http://schemas.microsoft.com/office/drawing/2014/main" id="{99ED041F-CB49-4257-B57A-DC9D41EA5C9E}"/>
              </a:ext>
            </a:extLst>
          </p:cNvPr>
          <p:cNvSpPr/>
          <p:nvPr/>
        </p:nvSpPr>
        <p:spPr>
          <a:xfrm>
            <a:off x="125132" y="1994444"/>
            <a:ext cx="1097351" cy="43205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755" name="TextBox 754">
            <a:extLst>
              <a:ext uri="{FF2B5EF4-FFF2-40B4-BE49-F238E27FC236}">
                <a16:creationId xmlns:a16="http://schemas.microsoft.com/office/drawing/2014/main" id="{AB8EC13C-7320-4EDE-835A-45A4883AF6CE}"/>
              </a:ext>
            </a:extLst>
          </p:cNvPr>
          <p:cNvSpPr txBox="1"/>
          <p:nvPr/>
        </p:nvSpPr>
        <p:spPr>
          <a:xfrm>
            <a:off x="236218" y="1998976"/>
            <a:ext cx="93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/>
              <a:t>ML Tools</a:t>
            </a:r>
          </a:p>
        </p:txBody>
      </p:sp>
      <p:cxnSp>
        <p:nvCxnSpPr>
          <p:cNvPr id="756" name="Straight Arrow Connector 755">
            <a:extLst>
              <a:ext uri="{FF2B5EF4-FFF2-40B4-BE49-F238E27FC236}">
                <a16:creationId xmlns:a16="http://schemas.microsoft.com/office/drawing/2014/main" id="{21CFAA29-8B02-4028-BB59-76501FC02D8B}"/>
              </a:ext>
            </a:extLst>
          </p:cNvPr>
          <p:cNvCxnSpPr>
            <a:cxnSpLocks/>
            <a:stCxn id="927" idx="2"/>
            <a:endCxn id="753" idx="3"/>
          </p:cNvCxnSpPr>
          <p:nvPr/>
        </p:nvCxnSpPr>
        <p:spPr>
          <a:xfrm flipH="1" flipV="1">
            <a:off x="1222483" y="2210470"/>
            <a:ext cx="667042" cy="1628780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1" name="Rectangle: Rounded Corners 760">
            <a:extLst>
              <a:ext uri="{FF2B5EF4-FFF2-40B4-BE49-F238E27FC236}">
                <a16:creationId xmlns:a16="http://schemas.microsoft.com/office/drawing/2014/main" id="{04A2D3D9-5E2C-43C9-AEB4-4D9203D35428}"/>
              </a:ext>
            </a:extLst>
          </p:cNvPr>
          <p:cNvSpPr/>
          <p:nvPr/>
        </p:nvSpPr>
        <p:spPr>
          <a:xfrm>
            <a:off x="52689" y="4693503"/>
            <a:ext cx="1303809" cy="52322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763" name="TextBox 762">
            <a:extLst>
              <a:ext uri="{FF2B5EF4-FFF2-40B4-BE49-F238E27FC236}">
                <a16:creationId xmlns:a16="http://schemas.microsoft.com/office/drawing/2014/main" id="{776389B1-2FC9-4D9D-937A-D676D329B62E}"/>
              </a:ext>
            </a:extLst>
          </p:cNvPr>
          <p:cNvSpPr txBox="1"/>
          <p:nvPr/>
        </p:nvSpPr>
        <p:spPr>
          <a:xfrm>
            <a:off x="41077" y="4700022"/>
            <a:ext cx="1447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400" b="1" dirty="0" err="1"/>
              <a:t>Programming</a:t>
            </a:r>
            <a:r>
              <a:rPr lang="fr-MA" sz="1400" b="1" dirty="0"/>
              <a:t> </a:t>
            </a:r>
            <a:r>
              <a:rPr lang="fr-MA" sz="1400" b="1" dirty="0" err="1"/>
              <a:t>Languages</a:t>
            </a:r>
            <a:endParaRPr lang="fr-MA" sz="1400" b="1" dirty="0"/>
          </a:p>
        </p:txBody>
      </p:sp>
      <p:cxnSp>
        <p:nvCxnSpPr>
          <p:cNvPr id="764" name="Straight Arrow Connector 763">
            <a:extLst>
              <a:ext uri="{FF2B5EF4-FFF2-40B4-BE49-F238E27FC236}">
                <a16:creationId xmlns:a16="http://schemas.microsoft.com/office/drawing/2014/main" id="{748D25EA-04C3-499D-A1DE-3289C6FB4B60}"/>
              </a:ext>
            </a:extLst>
          </p:cNvPr>
          <p:cNvCxnSpPr>
            <a:cxnSpLocks/>
            <a:stCxn id="927" idx="2"/>
            <a:endCxn id="761" idx="3"/>
          </p:cNvCxnSpPr>
          <p:nvPr/>
        </p:nvCxnSpPr>
        <p:spPr>
          <a:xfrm flipH="1">
            <a:off x="1356498" y="3839250"/>
            <a:ext cx="533027" cy="1115863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1" name="Rectangle: Rounded Corners 790">
            <a:extLst>
              <a:ext uri="{FF2B5EF4-FFF2-40B4-BE49-F238E27FC236}">
                <a16:creationId xmlns:a16="http://schemas.microsoft.com/office/drawing/2014/main" id="{DCD95646-9066-46CF-94A5-06C3DD8F1100}"/>
              </a:ext>
            </a:extLst>
          </p:cNvPr>
          <p:cNvSpPr/>
          <p:nvPr/>
        </p:nvSpPr>
        <p:spPr>
          <a:xfrm>
            <a:off x="3756707" y="5679486"/>
            <a:ext cx="1089242" cy="43354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794" name="TextBox 793">
            <a:extLst>
              <a:ext uri="{FF2B5EF4-FFF2-40B4-BE49-F238E27FC236}">
                <a16:creationId xmlns:a16="http://schemas.microsoft.com/office/drawing/2014/main" id="{3DE5DBED-9B7C-4BFF-943A-5DD7522B9903}"/>
              </a:ext>
            </a:extLst>
          </p:cNvPr>
          <p:cNvSpPr txBox="1"/>
          <p:nvPr/>
        </p:nvSpPr>
        <p:spPr>
          <a:xfrm>
            <a:off x="3829399" y="5684747"/>
            <a:ext cx="1022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200" b="1" dirty="0"/>
              <a:t>Data </a:t>
            </a:r>
            <a:r>
              <a:rPr lang="fr-MA" sz="1200" b="1" dirty="0" err="1"/>
              <a:t>Visualization</a:t>
            </a:r>
            <a:endParaRPr lang="fr-MA" sz="1200" b="1" dirty="0"/>
          </a:p>
        </p:txBody>
      </p:sp>
      <p:cxnSp>
        <p:nvCxnSpPr>
          <p:cNvPr id="795" name="Straight Arrow Connector 794">
            <a:extLst>
              <a:ext uri="{FF2B5EF4-FFF2-40B4-BE49-F238E27FC236}">
                <a16:creationId xmlns:a16="http://schemas.microsoft.com/office/drawing/2014/main" id="{2CF2B2D3-A65B-49FC-A0B2-3C4BFFE80C9D}"/>
              </a:ext>
            </a:extLst>
          </p:cNvPr>
          <p:cNvCxnSpPr>
            <a:cxnSpLocks/>
            <a:stCxn id="929" idx="6"/>
            <a:endCxn id="794" idx="0"/>
          </p:cNvCxnSpPr>
          <p:nvPr/>
        </p:nvCxnSpPr>
        <p:spPr>
          <a:xfrm>
            <a:off x="3014405" y="3839250"/>
            <a:ext cx="1326159" cy="1845497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" name="TextBox 798">
            <a:extLst>
              <a:ext uri="{FF2B5EF4-FFF2-40B4-BE49-F238E27FC236}">
                <a16:creationId xmlns:a16="http://schemas.microsoft.com/office/drawing/2014/main" id="{BF862094-B99A-44C9-A771-FC6C04D9F998}"/>
              </a:ext>
            </a:extLst>
          </p:cNvPr>
          <p:cNvSpPr txBox="1"/>
          <p:nvPr/>
        </p:nvSpPr>
        <p:spPr>
          <a:xfrm>
            <a:off x="5419016" y="6393659"/>
            <a:ext cx="1214685" cy="276999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800" name="Straight Arrow Connector 799">
            <a:extLst>
              <a:ext uri="{FF2B5EF4-FFF2-40B4-BE49-F238E27FC236}">
                <a16:creationId xmlns:a16="http://schemas.microsoft.com/office/drawing/2014/main" id="{4AF2607A-34B3-411C-842E-FA72BACC8278}"/>
              </a:ext>
            </a:extLst>
          </p:cNvPr>
          <p:cNvCxnSpPr>
            <a:cxnSpLocks/>
            <a:stCxn id="335" idx="3"/>
            <a:endCxn id="799" idx="0"/>
          </p:cNvCxnSpPr>
          <p:nvPr/>
        </p:nvCxnSpPr>
        <p:spPr>
          <a:xfrm flipH="1">
            <a:off x="6026359" y="5457487"/>
            <a:ext cx="474468" cy="936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7" name="TextBox 846">
            <a:extLst>
              <a:ext uri="{FF2B5EF4-FFF2-40B4-BE49-F238E27FC236}">
                <a16:creationId xmlns:a16="http://schemas.microsoft.com/office/drawing/2014/main" id="{240BADF4-A746-44FB-912F-7B438719207A}"/>
              </a:ext>
            </a:extLst>
          </p:cNvPr>
          <p:cNvSpPr txBox="1"/>
          <p:nvPr/>
        </p:nvSpPr>
        <p:spPr>
          <a:xfrm>
            <a:off x="7944143" y="440987"/>
            <a:ext cx="576000" cy="261610"/>
          </a:xfrm>
          <a:prstGeom prst="rect">
            <a:avLst/>
          </a:prstGeom>
          <a:solidFill>
            <a:srgbClr val="0081E2"/>
          </a:solidFill>
        </p:spPr>
        <p:txBody>
          <a:bodyPr wrap="square">
            <a:spAutoFit/>
          </a:bodyPr>
          <a:lstStyle/>
          <a:p>
            <a:pPr algn="ctr"/>
            <a:r>
              <a:rPr lang="fr-MA" sz="1100" dirty="0">
                <a:solidFill>
                  <a:schemeClr val="bg1"/>
                </a:solidFill>
              </a:rPr>
              <a:t>SLNN</a:t>
            </a:r>
          </a:p>
        </p:txBody>
      </p:sp>
      <p:sp>
        <p:nvSpPr>
          <p:cNvPr id="849" name="TextBox 848">
            <a:extLst>
              <a:ext uri="{FF2B5EF4-FFF2-40B4-BE49-F238E27FC236}">
                <a16:creationId xmlns:a16="http://schemas.microsoft.com/office/drawing/2014/main" id="{163CDD0A-5DD5-4182-8A60-AFBC4C403F14}"/>
              </a:ext>
            </a:extLst>
          </p:cNvPr>
          <p:cNvSpPr txBox="1"/>
          <p:nvPr/>
        </p:nvSpPr>
        <p:spPr>
          <a:xfrm>
            <a:off x="7954343" y="732503"/>
            <a:ext cx="576000" cy="276999"/>
          </a:xfrm>
          <a:prstGeom prst="rect">
            <a:avLst/>
          </a:prstGeom>
          <a:solidFill>
            <a:srgbClr val="0081E2"/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fr-MA" dirty="0"/>
              <a:t>MLNN</a:t>
            </a:r>
          </a:p>
        </p:txBody>
      </p:sp>
      <p:cxnSp>
        <p:nvCxnSpPr>
          <p:cNvPr id="850" name="Straight Arrow Connector 849">
            <a:extLst>
              <a:ext uri="{FF2B5EF4-FFF2-40B4-BE49-F238E27FC236}">
                <a16:creationId xmlns:a16="http://schemas.microsoft.com/office/drawing/2014/main" id="{7DFA01AB-0A14-40CB-80FE-6C71806F573A}"/>
              </a:ext>
            </a:extLst>
          </p:cNvPr>
          <p:cNvCxnSpPr>
            <a:cxnSpLocks/>
            <a:stCxn id="17" idx="3"/>
            <a:endCxn id="684" idx="1"/>
          </p:cNvCxnSpPr>
          <p:nvPr/>
        </p:nvCxnSpPr>
        <p:spPr>
          <a:xfrm>
            <a:off x="5849186" y="822769"/>
            <a:ext cx="900133" cy="271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7" name="Rectangle: Rounded Corners 876">
            <a:extLst>
              <a:ext uri="{FF2B5EF4-FFF2-40B4-BE49-F238E27FC236}">
                <a16:creationId xmlns:a16="http://schemas.microsoft.com/office/drawing/2014/main" id="{6E91ECCA-5082-4C3B-A1BD-69E8AD1983D5}"/>
              </a:ext>
            </a:extLst>
          </p:cNvPr>
          <p:cNvSpPr/>
          <p:nvPr/>
        </p:nvSpPr>
        <p:spPr>
          <a:xfrm>
            <a:off x="9480011" y="1571383"/>
            <a:ext cx="2577992" cy="135039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79" name="TextBox 878">
            <a:extLst>
              <a:ext uri="{FF2B5EF4-FFF2-40B4-BE49-F238E27FC236}">
                <a16:creationId xmlns:a16="http://schemas.microsoft.com/office/drawing/2014/main" id="{A70F24AE-2F5F-4197-B3D7-AF36B3C6AB07}"/>
              </a:ext>
            </a:extLst>
          </p:cNvPr>
          <p:cNvSpPr txBox="1"/>
          <p:nvPr/>
        </p:nvSpPr>
        <p:spPr>
          <a:xfrm>
            <a:off x="9697682" y="1924772"/>
            <a:ext cx="1945732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b="1" dirty="0"/>
              <a:t>ML Librairies (Black Box) :</a:t>
            </a:r>
          </a:p>
          <a:p>
            <a:pPr marL="0" indent="0">
              <a:buNone/>
            </a:pPr>
            <a:r>
              <a:rPr lang="fr-MA" dirty="0" err="1"/>
              <a:t>sklearn</a:t>
            </a:r>
            <a:r>
              <a:rPr lang="fr-MA" dirty="0"/>
              <a:t>, </a:t>
            </a:r>
            <a:r>
              <a:rPr lang="fr-MA" dirty="0" err="1"/>
              <a:t>Keras</a:t>
            </a:r>
            <a:r>
              <a:rPr lang="fr-MA" dirty="0"/>
              <a:t>, </a:t>
            </a:r>
            <a:r>
              <a:rPr lang="fr-MA" dirty="0" err="1"/>
              <a:t>PyTorch</a:t>
            </a:r>
            <a:r>
              <a:rPr lang="fr-MA" dirty="0"/>
              <a:t> ..</a:t>
            </a:r>
          </a:p>
        </p:txBody>
      </p:sp>
      <p:sp>
        <p:nvSpPr>
          <p:cNvPr id="881" name="TextBox 880">
            <a:extLst>
              <a:ext uri="{FF2B5EF4-FFF2-40B4-BE49-F238E27FC236}">
                <a16:creationId xmlns:a16="http://schemas.microsoft.com/office/drawing/2014/main" id="{940C4F5E-C898-467A-BDAB-57D01C0CE8D2}"/>
              </a:ext>
            </a:extLst>
          </p:cNvPr>
          <p:cNvSpPr txBox="1"/>
          <p:nvPr/>
        </p:nvSpPr>
        <p:spPr>
          <a:xfrm>
            <a:off x="9680695" y="2437723"/>
            <a:ext cx="1993146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b="1" dirty="0"/>
              <a:t>Math </a:t>
            </a:r>
            <a:r>
              <a:rPr lang="fr-MA" b="1" dirty="0" err="1"/>
              <a:t>Librairires</a:t>
            </a:r>
            <a:r>
              <a:rPr lang="fr-MA" b="1" dirty="0"/>
              <a:t>:</a:t>
            </a:r>
          </a:p>
          <a:p>
            <a:pPr marL="0" indent="0">
              <a:buNone/>
            </a:pPr>
            <a:r>
              <a:rPr lang="fr-MA" dirty="0" err="1"/>
              <a:t>NumpY</a:t>
            </a:r>
            <a:r>
              <a:rPr lang="fr-MA" dirty="0"/>
              <a:t>, </a:t>
            </a:r>
            <a:r>
              <a:rPr lang="fr-MA" dirty="0" err="1"/>
              <a:t>SciPy</a:t>
            </a:r>
            <a:r>
              <a:rPr lang="fr-MA" dirty="0"/>
              <a:t>…</a:t>
            </a:r>
          </a:p>
        </p:txBody>
      </p:sp>
      <p:sp>
        <p:nvSpPr>
          <p:cNvPr id="883" name="TextBox 882">
            <a:extLst>
              <a:ext uri="{FF2B5EF4-FFF2-40B4-BE49-F238E27FC236}">
                <a16:creationId xmlns:a16="http://schemas.microsoft.com/office/drawing/2014/main" id="{6C0F9556-B4E6-4EC1-AE8F-CDD9B3F544D6}"/>
              </a:ext>
            </a:extLst>
          </p:cNvPr>
          <p:cNvSpPr txBox="1"/>
          <p:nvPr/>
        </p:nvSpPr>
        <p:spPr>
          <a:xfrm>
            <a:off x="9591002" y="1618599"/>
            <a:ext cx="2021874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bg1"/>
                </a:solidFill>
              </a:rPr>
              <a:t>Using</a:t>
            </a:r>
            <a:r>
              <a:rPr lang="fr-MA" sz="1400" dirty="0">
                <a:solidFill>
                  <a:schemeClr val="bg1"/>
                </a:solidFill>
              </a:rPr>
              <a:t> librairies</a:t>
            </a:r>
          </a:p>
        </p:txBody>
      </p:sp>
      <p:sp>
        <p:nvSpPr>
          <p:cNvPr id="885" name="TextBox 884">
            <a:extLst>
              <a:ext uri="{FF2B5EF4-FFF2-40B4-BE49-F238E27FC236}">
                <a16:creationId xmlns:a16="http://schemas.microsoft.com/office/drawing/2014/main" id="{E3FE516E-507C-4D87-8241-84FDA5F330C3}"/>
              </a:ext>
            </a:extLst>
          </p:cNvPr>
          <p:cNvSpPr txBox="1"/>
          <p:nvPr/>
        </p:nvSpPr>
        <p:spPr>
          <a:xfrm>
            <a:off x="9533184" y="113050"/>
            <a:ext cx="23760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/>
              <a:t>Don’t start </a:t>
            </a:r>
            <a:r>
              <a:rPr lang="fr-MA" sz="1400" dirty="0" err="1"/>
              <a:t>with</a:t>
            </a:r>
            <a:r>
              <a:rPr lang="fr-MA" sz="1400" dirty="0"/>
              <a:t> </a:t>
            </a:r>
            <a:r>
              <a:rPr lang="fr-MA" sz="1400" dirty="0" err="1"/>
              <a:t>theory</a:t>
            </a:r>
            <a:endParaRPr lang="fr-MA" sz="1400" dirty="0"/>
          </a:p>
        </p:txBody>
      </p:sp>
      <p:sp>
        <p:nvSpPr>
          <p:cNvPr id="887" name="TextBox 886">
            <a:extLst>
              <a:ext uri="{FF2B5EF4-FFF2-40B4-BE49-F238E27FC236}">
                <a16:creationId xmlns:a16="http://schemas.microsoft.com/office/drawing/2014/main" id="{CBD442B9-2C90-4C22-BAA1-7E16F9FC558A}"/>
              </a:ext>
            </a:extLst>
          </p:cNvPr>
          <p:cNvSpPr txBox="1"/>
          <p:nvPr/>
        </p:nvSpPr>
        <p:spPr>
          <a:xfrm>
            <a:off x="9544700" y="1135765"/>
            <a:ext cx="23760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/>
              <a:t>Use simple </a:t>
            </a:r>
            <a:r>
              <a:rPr lang="fr-MA" sz="1400" dirty="0" err="1"/>
              <a:t>dataset</a:t>
            </a:r>
            <a:endParaRPr lang="fr-MA" sz="1400" dirty="0"/>
          </a:p>
        </p:txBody>
      </p:sp>
      <p:sp>
        <p:nvSpPr>
          <p:cNvPr id="889" name="TextBox 888">
            <a:extLst>
              <a:ext uri="{FF2B5EF4-FFF2-40B4-BE49-F238E27FC236}">
                <a16:creationId xmlns:a16="http://schemas.microsoft.com/office/drawing/2014/main" id="{F1B72E8A-48B3-4733-9D9F-5E6D9ABBD3C1}"/>
              </a:ext>
            </a:extLst>
          </p:cNvPr>
          <p:cNvSpPr txBox="1"/>
          <p:nvPr/>
        </p:nvSpPr>
        <p:spPr>
          <a:xfrm>
            <a:off x="9544700" y="466415"/>
            <a:ext cx="237600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200" dirty="0"/>
              <a:t>Begin </a:t>
            </a:r>
            <a:r>
              <a:rPr lang="fr-MA" sz="1200" dirty="0" err="1"/>
              <a:t>with</a:t>
            </a:r>
            <a:r>
              <a:rPr lang="fr-MA" sz="1200" dirty="0"/>
              <a:t> a simple </a:t>
            </a:r>
            <a:r>
              <a:rPr lang="fr-MA" sz="1200" dirty="0" err="1"/>
              <a:t>problem</a:t>
            </a:r>
            <a:endParaRPr lang="fr-MA" sz="1200" dirty="0"/>
          </a:p>
        </p:txBody>
      </p:sp>
      <p:sp>
        <p:nvSpPr>
          <p:cNvPr id="891" name="Rectangle: Rounded Corners 890">
            <a:extLst>
              <a:ext uri="{FF2B5EF4-FFF2-40B4-BE49-F238E27FC236}">
                <a16:creationId xmlns:a16="http://schemas.microsoft.com/office/drawing/2014/main" id="{A9C8833E-DDFB-4EE2-9CA1-3B302C3FA24B}"/>
              </a:ext>
            </a:extLst>
          </p:cNvPr>
          <p:cNvSpPr/>
          <p:nvPr/>
        </p:nvSpPr>
        <p:spPr>
          <a:xfrm>
            <a:off x="9511019" y="4132711"/>
            <a:ext cx="2463629" cy="1247236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07" name="TextBox 906">
            <a:extLst>
              <a:ext uri="{FF2B5EF4-FFF2-40B4-BE49-F238E27FC236}">
                <a16:creationId xmlns:a16="http://schemas.microsoft.com/office/drawing/2014/main" id="{63C38629-4C85-46B5-9165-DB94409AA1AE}"/>
              </a:ext>
            </a:extLst>
          </p:cNvPr>
          <p:cNvSpPr txBox="1"/>
          <p:nvPr/>
        </p:nvSpPr>
        <p:spPr>
          <a:xfrm>
            <a:off x="9560083" y="777049"/>
            <a:ext cx="237600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MA" sz="1400" dirty="0"/>
              <a:t>Begin </a:t>
            </a:r>
            <a:r>
              <a:rPr lang="fr-MA" sz="1400" dirty="0" err="1"/>
              <a:t>with</a:t>
            </a:r>
            <a:r>
              <a:rPr lang="fr-MA" sz="1400" dirty="0"/>
              <a:t> a simple technique</a:t>
            </a:r>
          </a:p>
        </p:txBody>
      </p:sp>
      <p:sp>
        <p:nvSpPr>
          <p:cNvPr id="913" name="TextBox 912">
            <a:extLst>
              <a:ext uri="{FF2B5EF4-FFF2-40B4-BE49-F238E27FC236}">
                <a16:creationId xmlns:a16="http://schemas.microsoft.com/office/drawing/2014/main" id="{1419527E-84FB-47FF-89A2-936C08BBD87B}"/>
              </a:ext>
            </a:extLst>
          </p:cNvPr>
          <p:cNvSpPr txBox="1"/>
          <p:nvPr/>
        </p:nvSpPr>
        <p:spPr>
          <a:xfrm>
            <a:off x="2284597" y="77729"/>
            <a:ext cx="1751996" cy="677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buFont typeface="Calibri" panose="020F0502020204030204" pitchFamily="34" charset="0"/>
              <a:buChar char="—"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spcAft>
                <a:spcPts val="300"/>
              </a:spcAft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Supervised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300"/>
              </a:spcAft>
            </a:pP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Unsupervised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Learing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Aft>
                <a:spcPts val="300"/>
              </a:spcAft>
            </a:pPr>
            <a:r>
              <a:rPr lang="fr-MA" dirty="0" err="1">
                <a:solidFill>
                  <a:schemeClr val="bg1">
                    <a:lumMod val="50000"/>
                  </a:schemeClr>
                </a:solidFill>
              </a:rPr>
              <a:t>Reinforcement</a:t>
            </a:r>
            <a:r>
              <a:rPr lang="fr-MA" dirty="0">
                <a:solidFill>
                  <a:schemeClr val="bg1">
                    <a:lumMod val="50000"/>
                  </a:schemeClr>
                </a:solidFill>
              </a:rPr>
              <a:t> Learning</a:t>
            </a:r>
          </a:p>
        </p:txBody>
      </p:sp>
      <p:cxnSp>
        <p:nvCxnSpPr>
          <p:cNvPr id="915" name="Straight Arrow Connector 914">
            <a:extLst>
              <a:ext uri="{FF2B5EF4-FFF2-40B4-BE49-F238E27FC236}">
                <a16:creationId xmlns:a16="http://schemas.microsoft.com/office/drawing/2014/main" id="{ADDEA9D9-EBC9-487B-BC9B-0595ED084A68}"/>
              </a:ext>
            </a:extLst>
          </p:cNvPr>
          <p:cNvCxnSpPr>
            <a:stCxn id="556" idx="0"/>
            <a:endCxn id="913" idx="2"/>
          </p:cNvCxnSpPr>
          <p:nvPr/>
        </p:nvCxnSpPr>
        <p:spPr>
          <a:xfrm flipV="1">
            <a:off x="2984879" y="754837"/>
            <a:ext cx="175716" cy="568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6" name="Oval 915">
            <a:extLst>
              <a:ext uri="{FF2B5EF4-FFF2-40B4-BE49-F238E27FC236}">
                <a16:creationId xmlns:a16="http://schemas.microsoft.com/office/drawing/2014/main" id="{9C4F1E56-BD15-4D53-8693-F885A0D481F5}"/>
              </a:ext>
            </a:extLst>
          </p:cNvPr>
          <p:cNvSpPr/>
          <p:nvPr/>
        </p:nvSpPr>
        <p:spPr>
          <a:xfrm>
            <a:off x="883685" y="5382690"/>
            <a:ext cx="180000" cy="144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0094C8"/>
                </a:solidFill>
              </a:rPr>
              <a:t>-</a:t>
            </a:r>
          </a:p>
        </p:txBody>
      </p:sp>
      <p:sp>
        <p:nvSpPr>
          <p:cNvPr id="918" name="TextBox 917">
            <a:extLst>
              <a:ext uri="{FF2B5EF4-FFF2-40B4-BE49-F238E27FC236}">
                <a16:creationId xmlns:a16="http://schemas.microsoft.com/office/drawing/2014/main" id="{3392260C-660F-436F-B1FB-861822ABA2C2}"/>
              </a:ext>
            </a:extLst>
          </p:cNvPr>
          <p:cNvSpPr txBox="1"/>
          <p:nvPr/>
        </p:nvSpPr>
        <p:spPr>
          <a:xfrm>
            <a:off x="891547" y="6016171"/>
            <a:ext cx="792000" cy="63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36000" indent="-36000">
              <a:spcAft>
                <a:spcPts val="300"/>
              </a:spcAft>
              <a:buFont typeface="Calibri" panose="020F0502020204030204" pitchFamily="34" charset="0"/>
              <a:buChar char="—"/>
              <a:defRPr sz="11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fr-MA" dirty="0"/>
              <a:t>spider</a:t>
            </a:r>
          </a:p>
          <a:p>
            <a:r>
              <a:rPr lang="fr-MA" dirty="0" err="1"/>
              <a:t>jupyter</a:t>
            </a:r>
            <a:r>
              <a:rPr lang="fr-MA" dirty="0"/>
              <a:t> Notebook</a:t>
            </a:r>
          </a:p>
        </p:txBody>
      </p:sp>
      <p:cxnSp>
        <p:nvCxnSpPr>
          <p:cNvPr id="923" name="Straight Arrow Connector 922">
            <a:extLst>
              <a:ext uri="{FF2B5EF4-FFF2-40B4-BE49-F238E27FC236}">
                <a16:creationId xmlns:a16="http://schemas.microsoft.com/office/drawing/2014/main" id="{840BA622-2C23-43FF-B215-5D0A702BCC41}"/>
              </a:ext>
            </a:extLst>
          </p:cNvPr>
          <p:cNvCxnSpPr>
            <a:cxnSpLocks/>
            <a:stCxn id="916" idx="5"/>
            <a:endCxn id="918" idx="0"/>
          </p:cNvCxnSpPr>
          <p:nvPr/>
        </p:nvCxnSpPr>
        <p:spPr>
          <a:xfrm>
            <a:off x="1037325" y="5505602"/>
            <a:ext cx="250222" cy="510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7" name="Oval 926">
            <a:extLst>
              <a:ext uri="{FF2B5EF4-FFF2-40B4-BE49-F238E27FC236}">
                <a16:creationId xmlns:a16="http://schemas.microsoft.com/office/drawing/2014/main" id="{DCC799EC-9551-45F4-98CF-877706DC0D7B}"/>
              </a:ext>
            </a:extLst>
          </p:cNvPr>
          <p:cNvSpPr/>
          <p:nvPr/>
        </p:nvSpPr>
        <p:spPr>
          <a:xfrm>
            <a:off x="1889525" y="3767250"/>
            <a:ext cx="180000" cy="144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0094C8"/>
                </a:solidFill>
              </a:rPr>
              <a:t>-</a:t>
            </a:r>
          </a:p>
        </p:txBody>
      </p:sp>
      <p:sp>
        <p:nvSpPr>
          <p:cNvPr id="929" name="Oval 928">
            <a:extLst>
              <a:ext uri="{FF2B5EF4-FFF2-40B4-BE49-F238E27FC236}">
                <a16:creationId xmlns:a16="http://schemas.microsoft.com/office/drawing/2014/main" id="{DB45062A-FB6E-49E6-A393-8978B11E22DE}"/>
              </a:ext>
            </a:extLst>
          </p:cNvPr>
          <p:cNvSpPr/>
          <p:nvPr/>
        </p:nvSpPr>
        <p:spPr>
          <a:xfrm>
            <a:off x="2834405" y="3767250"/>
            <a:ext cx="180000" cy="144000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>
                <a:solidFill>
                  <a:srgbClr val="0094C8"/>
                </a:solidFill>
              </a:rPr>
              <a:t>-</a:t>
            </a:r>
          </a:p>
        </p:txBody>
      </p:sp>
      <p:sp>
        <p:nvSpPr>
          <p:cNvPr id="976" name="Rectangle: Rounded Corners 975">
            <a:extLst>
              <a:ext uri="{FF2B5EF4-FFF2-40B4-BE49-F238E27FC236}">
                <a16:creationId xmlns:a16="http://schemas.microsoft.com/office/drawing/2014/main" id="{83838B03-408E-403F-845F-BFCEE4BCD4F5}"/>
              </a:ext>
            </a:extLst>
          </p:cNvPr>
          <p:cNvSpPr/>
          <p:nvPr/>
        </p:nvSpPr>
        <p:spPr>
          <a:xfrm>
            <a:off x="160405" y="789323"/>
            <a:ext cx="1369171" cy="47407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978" name="TextBox 977">
            <a:extLst>
              <a:ext uri="{FF2B5EF4-FFF2-40B4-BE49-F238E27FC236}">
                <a16:creationId xmlns:a16="http://schemas.microsoft.com/office/drawing/2014/main" id="{3D66C937-BD57-4D79-98AE-730C9D84D129}"/>
              </a:ext>
            </a:extLst>
          </p:cNvPr>
          <p:cNvSpPr txBox="1"/>
          <p:nvPr/>
        </p:nvSpPr>
        <p:spPr>
          <a:xfrm>
            <a:off x="151683" y="1415068"/>
            <a:ext cx="136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Problems</a:t>
            </a:r>
            <a:endParaRPr lang="fr-MA" b="1" dirty="0"/>
          </a:p>
        </p:txBody>
      </p:sp>
      <p:cxnSp>
        <p:nvCxnSpPr>
          <p:cNvPr id="979" name="Straight Arrow Connector 978">
            <a:extLst>
              <a:ext uri="{FF2B5EF4-FFF2-40B4-BE49-F238E27FC236}">
                <a16:creationId xmlns:a16="http://schemas.microsoft.com/office/drawing/2014/main" id="{CC343779-054A-4F44-ABAD-723F28D15376}"/>
              </a:ext>
            </a:extLst>
          </p:cNvPr>
          <p:cNvCxnSpPr>
            <a:cxnSpLocks/>
            <a:stCxn id="927" idx="2"/>
            <a:endCxn id="976" idx="3"/>
          </p:cNvCxnSpPr>
          <p:nvPr/>
        </p:nvCxnSpPr>
        <p:spPr>
          <a:xfrm flipH="1" flipV="1">
            <a:off x="1529576" y="1026361"/>
            <a:ext cx="359949" cy="2812889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TextBox 1003">
            <a:extLst>
              <a:ext uri="{FF2B5EF4-FFF2-40B4-BE49-F238E27FC236}">
                <a16:creationId xmlns:a16="http://schemas.microsoft.com/office/drawing/2014/main" id="{18518C9F-BB94-4ADF-B779-0965F2B26FDE}"/>
              </a:ext>
            </a:extLst>
          </p:cNvPr>
          <p:cNvSpPr txBox="1"/>
          <p:nvPr/>
        </p:nvSpPr>
        <p:spPr>
          <a:xfrm>
            <a:off x="199100" y="895848"/>
            <a:ext cx="136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Definition</a:t>
            </a:r>
            <a:endParaRPr lang="fr-MA" b="1" dirty="0"/>
          </a:p>
        </p:txBody>
      </p:sp>
      <p:cxnSp>
        <p:nvCxnSpPr>
          <p:cNvPr id="1013" name="Straight Arrow Connector 1012">
            <a:extLst>
              <a:ext uri="{FF2B5EF4-FFF2-40B4-BE49-F238E27FC236}">
                <a16:creationId xmlns:a16="http://schemas.microsoft.com/office/drawing/2014/main" id="{CA811067-8AFE-4982-BDA1-FB5F5504C87F}"/>
              </a:ext>
            </a:extLst>
          </p:cNvPr>
          <p:cNvCxnSpPr>
            <a:cxnSpLocks/>
            <a:stCxn id="65" idx="3"/>
            <a:endCxn id="877" idx="2"/>
          </p:cNvCxnSpPr>
          <p:nvPr/>
        </p:nvCxnSpPr>
        <p:spPr>
          <a:xfrm flipV="1">
            <a:off x="9923554" y="2921773"/>
            <a:ext cx="845453" cy="437450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Straight Arrow Connector 1015">
            <a:extLst>
              <a:ext uri="{FF2B5EF4-FFF2-40B4-BE49-F238E27FC236}">
                <a16:creationId xmlns:a16="http://schemas.microsoft.com/office/drawing/2014/main" id="{623F6DBC-1B83-4E87-929A-D77419341DDD}"/>
              </a:ext>
            </a:extLst>
          </p:cNvPr>
          <p:cNvCxnSpPr>
            <a:cxnSpLocks/>
            <a:stCxn id="65" idx="3"/>
            <a:endCxn id="891" idx="0"/>
          </p:cNvCxnSpPr>
          <p:nvPr/>
        </p:nvCxnSpPr>
        <p:spPr>
          <a:xfrm>
            <a:off x="9923554" y="3359223"/>
            <a:ext cx="819280" cy="773488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Straight Arrow Connector 1018">
            <a:extLst>
              <a:ext uri="{FF2B5EF4-FFF2-40B4-BE49-F238E27FC236}">
                <a16:creationId xmlns:a16="http://schemas.microsoft.com/office/drawing/2014/main" id="{9C0F6F02-2A23-4420-BF82-F0EB06AAEA9E}"/>
              </a:ext>
            </a:extLst>
          </p:cNvPr>
          <p:cNvCxnSpPr>
            <a:cxnSpLocks/>
            <a:stCxn id="65" idx="3"/>
            <a:endCxn id="1025" idx="1"/>
          </p:cNvCxnSpPr>
          <p:nvPr/>
        </p:nvCxnSpPr>
        <p:spPr>
          <a:xfrm>
            <a:off x="9923554" y="3359223"/>
            <a:ext cx="452075" cy="85770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3" name="Picture 1022">
            <a:extLst>
              <a:ext uri="{FF2B5EF4-FFF2-40B4-BE49-F238E27FC236}">
                <a16:creationId xmlns:a16="http://schemas.microsoft.com/office/drawing/2014/main" id="{010D42F7-AF30-404E-8704-4232AADD7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419" y="3032027"/>
            <a:ext cx="958307" cy="879224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EEC083E9-4EE0-4F0A-8B4A-07ADDF7E8B16}"/>
              </a:ext>
            </a:extLst>
          </p:cNvPr>
          <p:cNvSpPr txBox="1"/>
          <p:nvPr/>
        </p:nvSpPr>
        <p:spPr>
          <a:xfrm>
            <a:off x="10375629" y="3214160"/>
            <a:ext cx="818330" cy="461665"/>
          </a:xfrm>
          <a:prstGeom prst="rect">
            <a:avLst/>
          </a:prstGeom>
          <a:solidFill>
            <a:srgbClr val="FF9B9B"/>
          </a:solidFill>
        </p:spPr>
        <p:txBody>
          <a:bodyPr wrap="square">
            <a:spAutoFit/>
          </a:bodyPr>
          <a:lstStyle/>
          <a:p>
            <a:pPr algn="ctr"/>
            <a:r>
              <a:rPr lang="fr-MA" sz="1200" b="1" dirty="0" err="1"/>
              <a:t>who</a:t>
            </a:r>
            <a:r>
              <a:rPr lang="fr-MA" sz="1200" b="1" dirty="0"/>
              <a:t> are </a:t>
            </a:r>
            <a:r>
              <a:rPr lang="fr-MA" sz="1200" b="1" dirty="0" err="1"/>
              <a:t>you</a:t>
            </a:r>
            <a:r>
              <a:rPr lang="fr-MA" sz="1200" b="1" dirty="0"/>
              <a:t>?</a:t>
            </a:r>
          </a:p>
        </p:txBody>
      </p:sp>
      <p:sp>
        <p:nvSpPr>
          <p:cNvPr id="1034" name="Rectangle: Rounded Corners 1033">
            <a:extLst>
              <a:ext uri="{FF2B5EF4-FFF2-40B4-BE49-F238E27FC236}">
                <a16:creationId xmlns:a16="http://schemas.microsoft.com/office/drawing/2014/main" id="{F9A0469B-D291-4D46-B81E-2DDF9066F263}"/>
              </a:ext>
            </a:extLst>
          </p:cNvPr>
          <p:cNvSpPr/>
          <p:nvPr/>
        </p:nvSpPr>
        <p:spPr>
          <a:xfrm>
            <a:off x="9466263" y="-14637"/>
            <a:ext cx="2565332" cy="150025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45" name="Connector: Elbow 1044">
            <a:extLst>
              <a:ext uri="{FF2B5EF4-FFF2-40B4-BE49-F238E27FC236}">
                <a16:creationId xmlns:a16="http://schemas.microsoft.com/office/drawing/2014/main" id="{316D7476-199A-4C6F-B562-81B5564E4976}"/>
              </a:ext>
            </a:extLst>
          </p:cNvPr>
          <p:cNvCxnSpPr>
            <a:stCxn id="65" idx="0"/>
            <a:endCxn id="1034" idx="1"/>
          </p:cNvCxnSpPr>
          <p:nvPr/>
        </p:nvCxnSpPr>
        <p:spPr>
          <a:xfrm rot="16200000" flipV="1">
            <a:off x="8314768" y="1886984"/>
            <a:ext cx="2362125" cy="59134"/>
          </a:xfrm>
          <a:prstGeom prst="bentConnector4">
            <a:avLst>
              <a:gd name="adj1" fmla="val 1218"/>
              <a:gd name="adj2" fmla="val 724857"/>
            </a:avLst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Left Brace 1053">
            <a:extLst>
              <a:ext uri="{FF2B5EF4-FFF2-40B4-BE49-F238E27FC236}">
                <a16:creationId xmlns:a16="http://schemas.microsoft.com/office/drawing/2014/main" id="{AD7E8A35-66C0-47AC-9288-E9C2D2370D60}"/>
              </a:ext>
            </a:extLst>
          </p:cNvPr>
          <p:cNvSpPr/>
          <p:nvPr/>
        </p:nvSpPr>
        <p:spPr>
          <a:xfrm>
            <a:off x="4970708" y="896509"/>
            <a:ext cx="224586" cy="688812"/>
          </a:xfrm>
          <a:prstGeom prst="leftBrace">
            <a:avLst/>
          </a:prstGeom>
          <a:ln>
            <a:solidFill>
              <a:srgbClr val="FF6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057" name="Left Brace 1056">
            <a:extLst>
              <a:ext uri="{FF2B5EF4-FFF2-40B4-BE49-F238E27FC236}">
                <a16:creationId xmlns:a16="http://schemas.microsoft.com/office/drawing/2014/main" id="{0D010DC3-9A5E-4CC1-9B8D-6922B291B63E}"/>
              </a:ext>
            </a:extLst>
          </p:cNvPr>
          <p:cNvSpPr/>
          <p:nvPr/>
        </p:nvSpPr>
        <p:spPr>
          <a:xfrm>
            <a:off x="5123107" y="2710068"/>
            <a:ext cx="254781" cy="840851"/>
          </a:xfrm>
          <a:prstGeom prst="leftBrace">
            <a:avLst/>
          </a:prstGeom>
          <a:ln>
            <a:solidFill>
              <a:srgbClr val="FF6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060" name="Left Brace 1059">
            <a:extLst>
              <a:ext uri="{FF2B5EF4-FFF2-40B4-BE49-F238E27FC236}">
                <a16:creationId xmlns:a16="http://schemas.microsoft.com/office/drawing/2014/main" id="{AA47477B-A9EE-4277-8427-947C8152224F}"/>
              </a:ext>
            </a:extLst>
          </p:cNvPr>
          <p:cNvSpPr/>
          <p:nvPr/>
        </p:nvSpPr>
        <p:spPr>
          <a:xfrm>
            <a:off x="5443147" y="4310268"/>
            <a:ext cx="254781" cy="576000"/>
          </a:xfrm>
          <a:prstGeom prst="leftBrace">
            <a:avLst/>
          </a:prstGeom>
          <a:ln>
            <a:solidFill>
              <a:srgbClr val="FF65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>
              <a:solidFill>
                <a:srgbClr val="FF6565"/>
              </a:solidFill>
            </a:endParaRPr>
          </a:p>
        </p:txBody>
      </p:sp>
      <p:sp>
        <p:nvSpPr>
          <p:cNvPr id="1104" name="Rectangle: Rounded Corners 1103">
            <a:extLst>
              <a:ext uri="{FF2B5EF4-FFF2-40B4-BE49-F238E27FC236}">
                <a16:creationId xmlns:a16="http://schemas.microsoft.com/office/drawing/2014/main" id="{156A2ED1-77F2-4456-834D-AF8E03CA9A17}"/>
              </a:ext>
            </a:extLst>
          </p:cNvPr>
          <p:cNvSpPr/>
          <p:nvPr/>
        </p:nvSpPr>
        <p:spPr>
          <a:xfrm>
            <a:off x="2248469" y="5010044"/>
            <a:ext cx="1116693" cy="34220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9BD54127-29BC-49E6-AEA4-7E7F28517E85}"/>
              </a:ext>
            </a:extLst>
          </p:cNvPr>
          <p:cNvSpPr txBox="1"/>
          <p:nvPr/>
        </p:nvSpPr>
        <p:spPr>
          <a:xfrm>
            <a:off x="2321162" y="5044770"/>
            <a:ext cx="10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200" b="1" dirty="0"/>
              <a:t>Data </a:t>
            </a:r>
            <a:r>
              <a:rPr lang="fr-MA" sz="1200" b="1" dirty="0" err="1"/>
              <a:t>Analysis</a:t>
            </a:r>
            <a:endParaRPr lang="fr-MA" sz="1200" b="1" dirty="0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170895EA-888D-44E7-A687-11FE0DD8648A}"/>
              </a:ext>
            </a:extLst>
          </p:cNvPr>
          <p:cNvSpPr txBox="1"/>
          <p:nvPr/>
        </p:nvSpPr>
        <p:spPr>
          <a:xfrm>
            <a:off x="2234282" y="5361464"/>
            <a:ext cx="1349274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sz="1100" b="1" dirty="0" err="1"/>
              <a:t>Analysis</a:t>
            </a:r>
            <a:r>
              <a:rPr lang="fr-MA" sz="1100" b="1" dirty="0"/>
              <a:t> Librairies</a:t>
            </a:r>
          </a:p>
          <a:p>
            <a:pPr marL="0" indent="0">
              <a:buNone/>
            </a:pPr>
            <a:r>
              <a:rPr lang="fr-MA" sz="1100" dirty="0"/>
              <a:t>pandas</a:t>
            </a:r>
          </a:p>
        </p:txBody>
      </p:sp>
      <p:cxnSp>
        <p:nvCxnSpPr>
          <p:cNvPr id="1111" name="Straight Arrow Connector 1110">
            <a:extLst>
              <a:ext uri="{FF2B5EF4-FFF2-40B4-BE49-F238E27FC236}">
                <a16:creationId xmlns:a16="http://schemas.microsoft.com/office/drawing/2014/main" id="{DF6E7422-AA1D-4CFB-9C92-49934AFC4BC2}"/>
              </a:ext>
            </a:extLst>
          </p:cNvPr>
          <p:cNvCxnSpPr>
            <a:cxnSpLocks/>
            <a:stCxn id="929" idx="5"/>
            <a:endCxn id="1106" idx="0"/>
          </p:cNvCxnSpPr>
          <p:nvPr/>
        </p:nvCxnSpPr>
        <p:spPr>
          <a:xfrm flipH="1">
            <a:off x="2843162" y="3890162"/>
            <a:ext cx="144883" cy="1154608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7" name="Rectangle: Rounded Corners 1116">
            <a:extLst>
              <a:ext uri="{FF2B5EF4-FFF2-40B4-BE49-F238E27FC236}">
                <a16:creationId xmlns:a16="http://schemas.microsoft.com/office/drawing/2014/main" id="{57C3CB4E-A94E-4C8A-A9AB-D9ABAFAF6504}"/>
              </a:ext>
            </a:extLst>
          </p:cNvPr>
          <p:cNvSpPr/>
          <p:nvPr/>
        </p:nvSpPr>
        <p:spPr>
          <a:xfrm>
            <a:off x="392078" y="134224"/>
            <a:ext cx="1652146" cy="50198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311BD9F5-B0BF-402E-B136-A622B636AF3E}"/>
              </a:ext>
            </a:extLst>
          </p:cNvPr>
          <p:cNvSpPr txBox="1"/>
          <p:nvPr/>
        </p:nvSpPr>
        <p:spPr>
          <a:xfrm>
            <a:off x="493883" y="210268"/>
            <a:ext cx="144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Deployment</a:t>
            </a:r>
            <a:endParaRPr lang="fr-MA" b="1" dirty="0"/>
          </a:p>
        </p:txBody>
      </p:sp>
      <p:cxnSp>
        <p:nvCxnSpPr>
          <p:cNvPr id="1124" name="Straight Arrow Connector 1123">
            <a:extLst>
              <a:ext uri="{FF2B5EF4-FFF2-40B4-BE49-F238E27FC236}">
                <a16:creationId xmlns:a16="http://schemas.microsoft.com/office/drawing/2014/main" id="{8AD674FE-83B9-4EAC-A8D8-9F9A3AA14A62}"/>
              </a:ext>
            </a:extLst>
          </p:cNvPr>
          <p:cNvCxnSpPr>
            <a:cxnSpLocks/>
            <a:endCxn id="1117" idx="3"/>
          </p:cNvCxnSpPr>
          <p:nvPr/>
        </p:nvCxnSpPr>
        <p:spPr>
          <a:xfrm flipV="1">
            <a:off x="1920213" y="385216"/>
            <a:ext cx="124011" cy="3365374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0" name="Rectangle: Rounded Corners 1129">
            <a:extLst>
              <a:ext uri="{FF2B5EF4-FFF2-40B4-BE49-F238E27FC236}">
                <a16:creationId xmlns:a16="http://schemas.microsoft.com/office/drawing/2014/main" id="{F57451FF-295B-490C-95F7-0A4BA3CE2C88}"/>
              </a:ext>
            </a:extLst>
          </p:cNvPr>
          <p:cNvSpPr/>
          <p:nvPr/>
        </p:nvSpPr>
        <p:spPr>
          <a:xfrm>
            <a:off x="1949296" y="5923379"/>
            <a:ext cx="1384360" cy="29826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sz="1200"/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E131C83E-431B-4C17-94AD-5F67C62C1B15}"/>
              </a:ext>
            </a:extLst>
          </p:cNvPr>
          <p:cNvSpPr txBox="1"/>
          <p:nvPr/>
        </p:nvSpPr>
        <p:spPr>
          <a:xfrm>
            <a:off x="1912370" y="5958105"/>
            <a:ext cx="140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200" b="1" dirty="0"/>
              <a:t>Data </a:t>
            </a:r>
            <a:r>
              <a:rPr lang="fr-MA" sz="1200" b="1" dirty="0" err="1"/>
              <a:t>preprocessing</a:t>
            </a:r>
            <a:endParaRPr lang="fr-MA" sz="1200" b="1" dirty="0"/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F7C328E2-C8CC-47A9-9C9E-D3E38B7ADE12}"/>
              </a:ext>
            </a:extLst>
          </p:cNvPr>
          <p:cNvSpPr txBox="1"/>
          <p:nvPr/>
        </p:nvSpPr>
        <p:spPr>
          <a:xfrm>
            <a:off x="1957994" y="6270829"/>
            <a:ext cx="1694998" cy="4308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>
            <a:defPPr>
              <a:defRPr lang="fr-FR"/>
            </a:defPPr>
            <a:lvl1pPr marL="72000" indent="-72000">
              <a:buFont typeface="Calibri" panose="020F0502020204030204" pitchFamily="34" charset="0"/>
              <a:buChar char="⁻"/>
              <a:defRPr sz="1200"/>
            </a:lvl1pPr>
          </a:lstStyle>
          <a:p>
            <a:pPr marL="0" indent="0">
              <a:buNone/>
            </a:pPr>
            <a:r>
              <a:rPr lang="fr-MA" sz="1100" b="1" dirty="0" err="1"/>
              <a:t>Preprocessing</a:t>
            </a:r>
            <a:r>
              <a:rPr lang="fr-MA" sz="1100" b="1" dirty="0"/>
              <a:t> Librairies</a:t>
            </a:r>
          </a:p>
          <a:p>
            <a:pPr marL="0" indent="0">
              <a:buNone/>
            </a:pPr>
            <a:r>
              <a:rPr lang="fr-MA" sz="1100" dirty="0" err="1"/>
              <a:t>sklearn.preprocessing</a:t>
            </a:r>
            <a:endParaRPr lang="fr-MA" sz="1100" dirty="0"/>
          </a:p>
        </p:txBody>
      </p:sp>
      <p:cxnSp>
        <p:nvCxnSpPr>
          <p:cNvPr id="1144" name="Straight Arrow Connector 1143">
            <a:extLst>
              <a:ext uri="{FF2B5EF4-FFF2-40B4-BE49-F238E27FC236}">
                <a16:creationId xmlns:a16="http://schemas.microsoft.com/office/drawing/2014/main" id="{138A6288-892B-4EED-B29A-6415B5868F20}"/>
              </a:ext>
            </a:extLst>
          </p:cNvPr>
          <p:cNvCxnSpPr>
            <a:cxnSpLocks/>
            <a:stCxn id="927" idx="2"/>
          </p:cNvCxnSpPr>
          <p:nvPr/>
        </p:nvCxnSpPr>
        <p:spPr>
          <a:xfrm>
            <a:off x="1889525" y="3839250"/>
            <a:ext cx="364129" cy="2099960"/>
          </a:xfrm>
          <a:prstGeom prst="straightConnector1">
            <a:avLst/>
          </a:prstGeom>
          <a:ln>
            <a:solidFill>
              <a:srgbClr val="FF656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E028F9E8-5D41-4571-8B64-7616B480175C}"/>
              </a:ext>
            </a:extLst>
          </p:cNvPr>
          <p:cNvSpPr txBox="1"/>
          <p:nvPr/>
        </p:nvSpPr>
        <p:spPr>
          <a:xfrm>
            <a:off x="5389398" y="2091196"/>
            <a:ext cx="1352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fr-MA" sz="800" b="0" i="0" dirty="0" err="1">
                <a:solidFill>
                  <a:srgbClr val="0081E2"/>
                </a:solidFill>
                <a:effectLst/>
                <a:latin typeface="Helvetica Neue"/>
              </a:rPr>
              <a:t>Binary</a:t>
            </a:r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 Classification</a:t>
            </a:r>
          </a:p>
          <a:p>
            <a:pPr algn="l" fontAlgn="base"/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Multi-Class Classification</a:t>
            </a:r>
          </a:p>
          <a:p>
            <a:pPr algn="l" fontAlgn="base"/>
            <a:r>
              <a:rPr lang="fr-MA" sz="800" b="0" i="0" dirty="0">
                <a:solidFill>
                  <a:srgbClr val="0081E2"/>
                </a:solidFill>
                <a:effectLst/>
                <a:latin typeface="Helvetica Neue"/>
              </a:rPr>
              <a:t>Multi-Label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935404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78830" y="0"/>
            <a:ext cx="108966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Mise en œuvre de Neural Network: les étapes à suivre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NN (un seul neurone) avec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tensorflow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keras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Problème linéairement séparable vs problème non linéairement séparable</a:t>
            </a: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Exemple 1: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generated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 pour un problème linéairement séparable</a:t>
            </a: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Exemple 2: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diabetes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dataset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NN (un seule Neurone)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from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scracth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avec gradient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descent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Traiter les mêmes exemples</a:t>
            </a: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NN: Multi – Layer (plusieurs neurones) avec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tensorflow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keras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Problème non linéairement séparable</a:t>
            </a:r>
          </a:p>
          <a:p>
            <a:pPr marL="1200150" lvl="2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Exemple 1: XOR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problem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200150" lvl="2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b="1" dirty="0">
                <a:solidFill>
                  <a:srgbClr val="0065FA"/>
                </a:solidFill>
              </a:rPr>
              <a:t>Exemple 2: </a:t>
            </a:r>
            <a:r>
              <a:rPr lang="fr-MA" b="1" i="0" dirty="0">
                <a:solidFill>
                  <a:srgbClr val="0065FA"/>
                </a:solidFill>
                <a:effectLst/>
                <a:latin typeface="Open Sans"/>
              </a:rPr>
              <a:t> fashion classification </a:t>
            </a:r>
            <a:r>
              <a:rPr lang="fr-MA" b="1" i="0" dirty="0" err="1">
                <a:solidFill>
                  <a:srgbClr val="0065FA"/>
                </a:solidFill>
                <a:effectLst/>
                <a:latin typeface="Open Sans"/>
              </a:rPr>
              <a:t>problem</a:t>
            </a:r>
            <a:endParaRPr lang="fr-MA" b="1" dirty="0">
              <a:solidFill>
                <a:srgbClr val="0065FA"/>
              </a:solidFill>
            </a:endParaRPr>
          </a:p>
          <a:p>
            <a:pPr marL="1200150" lvl="2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Exemple 3: hand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written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digits classification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problem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200150" lvl="2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Exemple 4: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diabetes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classification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problem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NN: Multi – Layer (plusieurs neurones)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from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scratch avec gradient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descent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742950" lvl="1" indent="-28575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Traiter les mêmes exemples</a:t>
            </a:r>
          </a:p>
        </p:txBody>
      </p:sp>
    </p:spTree>
    <p:extLst>
      <p:ext uri="{BB962C8B-B14F-4D97-AF65-F5344CB8AC3E}">
        <p14:creationId xmlns:p14="http://schemas.microsoft.com/office/powerpoint/2010/main" val="5787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0585BB-7FFC-4D62-B115-7F8CB60731C7}"/>
              </a:ext>
            </a:extLst>
          </p:cNvPr>
          <p:cNvSpPr txBox="1"/>
          <p:nvPr/>
        </p:nvSpPr>
        <p:spPr>
          <a:xfrm>
            <a:off x="2128838" y="157163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2800" b="1" dirty="0" err="1"/>
              <a:t>Dataset</a:t>
            </a:r>
            <a:endParaRPr lang="fr-MA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D8B94-204B-46DC-B05B-425C5A7F6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251823"/>
            <a:ext cx="4295775" cy="4354354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0FE9EF4-A03B-4E0D-9CB1-038ACD54C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437494"/>
              </p:ext>
            </p:extLst>
          </p:nvPr>
        </p:nvGraphicFramePr>
        <p:xfrm>
          <a:off x="5277643" y="1303729"/>
          <a:ext cx="319722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613">
                  <a:extLst>
                    <a:ext uri="{9D8B030D-6E8A-4147-A177-3AD203B41FA5}">
                      <a16:colId xmlns:a16="http://schemas.microsoft.com/office/drawing/2014/main" val="1721624820"/>
                    </a:ext>
                  </a:extLst>
                </a:gridCol>
                <a:gridCol w="1598613">
                  <a:extLst>
                    <a:ext uri="{9D8B030D-6E8A-4147-A177-3AD203B41FA5}">
                      <a16:colId xmlns:a16="http://schemas.microsoft.com/office/drawing/2014/main" val="501784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98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T-shirt/top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253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Trouser</a:t>
                      </a:r>
                      <a:endParaRPr lang="fr-MA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42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Pullover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229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Dress</a:t>
                      </a:r>
                      <a:endParaRPr lang="fr-MA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53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132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Sandal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6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Shirt</a:t>
                      </a:r>
                      <a:endParaRPr lang="fr-MA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42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Sneaker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5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47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Ankle</a:t>
                      </a:r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boot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12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1057BE9-C783-4120-A319-AFAF38D18689}"/>
              </a:ext>
            </a:extLst>
          </p:cNvPr>
          <p:cNvSpPr txBox="1"/>
          <p:nvPr/>
        </p:nvSpPr>
        <p:spPr>
          <a:xfrm>
            <a:off x="175022" y="5659990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https://keras.io/api/datasets/fashion_mnist/</a:t>
            </a:r>
          </a:p>
        </p:txBody>
      </p:sp>
    </p:spTree>
    <p:extLst>
      <p:ext uri="{BB962C8B-B14F-4D97-AF65-F5344CB8AC3E}">
        <p14:creationId xmlns:p14="http://schemas.microsoft.com/office/powerpoint/2010/main" val="2652221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>
            <a:extLst>
              <a:ext uri="{FF2B5EF4-FFF2-40B4-BE49-F238E27FC236}">
                <a16:creationId xmlns:a16="http://schemas.microsoft.com/office/drawing/2014/main" id="{937B6C48-BDE5-4B1E-96F9-8FC06FC6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476" y="1091350"/>
            <a:ext cx="1746816" cy="13773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E5C839-5A8E-4E26-8B65-81E52C2983F5}"/>
              </a:ext>
            </a:extLst>
          </p:cNvPr>
          <p:cNvCxnSpPr/>
          <p:nvPr/>
        </p:nvCxnSpPr>
        <p:spPr>
          <a:xfrm>
            <a:off x="3841668" y="1749569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C42BC8-8CB1-401C-98B8-065127934B5E}"/>
              </a:ext>
            </a:extLst>
          </p:cNvPr>
          <p:cNvCxnSpPr/>
          <p:nvPr/>
        </p:nvCxnSpPr>
        <p:spPr>
          <a:xfrm>
            <a:off x="6293615" y="1749569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5DED00D-E420-4F33-B3B3-7824F616421D}"/>
              </a:ext>
            </a:extLst>
          </p:cNvPr>
          <p:cNvSpPr txBox="1"/>
          <p:nvPr/>
        </p:nvSpPr>
        <p:spPr>
          <a:xfrm>
            <a:off x="2959653" y="1091350"/>
            <a:ext cx="127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/>
              <a:t>Image 28x28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53A3A8-26C4-46C3-9F98-7291EC42FDAB}"/>
              </a:ext>
            </a:extLst>
          </p:cNvPr>
          <p:cNvCxnSpPr/>
          <p:nvPr/>
        </p:nvCxnSpPr>
        <p:spPr>
          <a:xfrm>
            <a:off x="4007376" y="4725526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C7EBB5-ED2C-47FA-9DC7-348C51978A6D}"/>
              </a:ext>
            </a:extLst>
          </p:cNvPr>
          <p:cNvCxnSpPr/>
          <p:nvPr/>
        </p:nvCxnSpPr>
        <p:spPr>
          <a:xfrm>
            <a:off x="6459323" y="4725526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602B32D-D107-4CD7-921C-C4C1E6190EB5}"/>
              </a:ext>
            </a:extLst>
          </p:cNvPr>
          <p:cNvSpPr txBox="1"/>
          <p:nvPr/>
        </p:nvSpPr>
        <p:spPr>
          <a:xfrm>
            <a:off x="3125361" y="4067307"/>
            <a:ext cx="127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/>
              <a:t>Image 28x28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568A71-2B55-471B-A952-43F3715BD04D}"/>
              </a:ext>
            </a:extLst>
          </p:cNvPr>
          <p:cNvSpPr/>
          <p:nvPr/>
        </p:nvSpPr>
        <p:spPr>
          <a:xfrm>
            <a:off x="4691376" y="3886200"/>
            <a:ext cx="1767947" cy="1834661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rgbClr val="FF0000"/>
                </a:solidFill>
              </a:rPr>
              <a:t>NN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BE3D9F-4917-4F0C-A43C-5AC12A582AE2}"/>
              </a:ext>
            </a:extLst>
          </p:cNvPr>
          <p:cNvSpPr txBox="1"/>
          <p:nvPr/>
        </p:nvSpPr>
        <p:spPr>
          <a:xfrm>
            <a:off x="8281034" y="1397144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Human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EA90F3-A148-4D13-B5E3-EED93A132CC5}"/>
              </a:ext>
            </a:extLst>
          </p:cNvPr>
          <p:cNvSpPr txBox="1"/>
          <p:nvPr/>
        </p:nvSpPr>
        <p:spPr>
          <a:xfrm>
            <a:off x="8281034" y="4067307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Computer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B3D7F5-85E9-44A9-A124-2CA4B8A45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953" y="1397144"/>
            <a:ext cx="764114" cy="7641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6F05503-25C8-40E8-9F90-CCFC9460C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942" y="4421473"/>
            <a:ext cx="764114" cy="76411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4504BD5-8F1F-4C96-BB12-68EB4D6A7514}"/>
              </a:ext>
            </a:extLst>
          </p:cNvPr>
          <p:cNvSpPr txBox="1"/>
          <p:nvPr/>
        </p:nvSpPr>
        <p:spPr>
          <a:xfrm>
            <a:off x="6947284" y="1564903"/>
            <a:ext cx="960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0070C0"/>
                </a:solidFill>
              </a:rPr>
              <a:t>Trouser</a:t>
            </a:r>
            <a:endParaRPr lang="fr-MA" b="1" dirty="0">
              <a:solidFill>
                <a:srgbClr val="0070C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856B80-D2BB-44DA-9DAD-8214BCCDD2EA}"/>
              </a:ext>
            </a:extLst>
          </p:cNvPr>
          <p:cNvSpPr txBox="1"/>
          <p:nvPr/>
        </p:nvSpPr>
        <p:spPr>
          <a:xfrm>
            <a:off x="7143323" y="4434198"/>
            <a:ext cx="960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 err="1">
                <a:solidFill>
                  <a:srgbClr val="0070C0"/>
                </a:solidFill>
              </a:rPr>
              <a:t>Trouser</a:t>
            </a:r>
            <a:endParaRPr lang="fr-MA" b="1" dirty="0">
              <a:solidFill>
                <a:srgbClr val="0070C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61AB8C-A9CD-42E1-B4C1-C7EA88744702}"/>
              </a:ext>
            </a:extLst>
          </p:cNvPr>
          <p:cNvSpPr txBox="1"/>
          <p:nvPr/>
        </p:nvSpPr>
        <p:spPr>
          <a:xfrm>
            <a:off x="2128838" y="157163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2800" b="1" dirty="0" err="1"/>
              <a:t>Problem</a:t>
            </a:r>
            <a:endParaRPr lang="fr-MA" sz="2800" b="1" dirty="0"/>
          </a:p>
        </p:txBody>
      </p:sp>
    </p:spTree>
    <p:extLst>
      <p:ext uri="{BB962C8B-B14F-4D97-AF65-F5344CB8AC3E}">
        <p14:creationId xmlns:p14="http://schemas.microsoft.com/office/powerpoint/2010/main" val="2635106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Box 421">
            <a:extLst>
              <a:ext uri="{FF2B5EF4-FFF2-40B4-BE49-F238E27FC236}">
                <a16:creationId xmlns:a16="http://schemas.microsoft.com/office/drawing/2014/main" id="{D09BC199-2CD5-4F3F-BC5E-E9479C939D86}"/>
              </a:ext>
            </a:extLst>
          </p:cNvPr>
          <p:cNvSpPr txBox="1"/>
          <p:nvPr/>
        </p:nvSpPr>
        <p:spPr>
          <a:xfrm>
            <a:off x="-75679" y="2189858"/>
            <a:ext cx="1277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/>
              <a:t>Image 28x28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4D64B60-8B5F-414C-86DE-2971829546A9}"/>
              </a:ext>
            </a:extLst>
          </p:cNvPr>
          <p:cNvSpPr/>
          <p:nvPr/>
        </p:nvSpPr>
        <p:spPr>
          <a:xfrm>
            <a:off x="981993" y="460215"/>
            <a:ext cx="7090446" cy="594495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 b="1" dirty="0">
              <a:solidFill>
                <a:srgbClr val="FF0000"/>
              </a:solidFill>
            </a:endParaRPr>
          </a:p>
        </p:txBody>
      </p:sp>
      <p:sp>
        <p:nvSpPr>
          <p:cNvPr id="163" name="Ellipse 8">
            <a:extLst>
              <a:ext uri="{FF2B5EF4-FFF2-40B4-BE49-F238E27FC236}">
                <a16:creationId xmlns:a16="http://schemas.microsoft.com/office/drawing/2014/main" id="{1679E4C7-4A1E-4DD3-9630-9C2AF2F22BD9}"/>
              </a:ext>
            </a:extLst>
          </p:cNvPr>
          <p:cNvSpPr/>
          <p:nvPr/>
        </p:nvSpPr>
        <p:spPr>
          <a:xfrm>
            <a:off x="6963109" y="1139953"/>
            <a:ext cx="360000" cy="36000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Ellipse 9">
            <a:extLst>
              <a:ext uri="{FF2B5EF4-FFF2-40B4-BE49-F238E27FC236}">
                <a16:creationId xmlns:a16="http://schemas.microsoft.com/office/drawing/2014/main" id="{B4EC7102-48CF-4DD9-8F2F-CA992D4756EC}"/>
              </a:ext>
            </a:extLst>
          </p:cNvPr>
          <p:cNvSpPr/>
          <p:nvPr/>
        </p:nvSpPr>
        <p:spPr>
          <a:xfrm>
            <a:off x="6963109" y="1798224"/>
            <a:ext cx="360000" cy="360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3" name="Ellipse 10">
            <a:extLst>
              <a:ext uri="{FF2B5EF4-FFF2-40B4-BE49-F238E27FC236}">
                <a16:creationId xmlns:a16="http://schemas.microsoft.com/office/drawing/2014/main" id="{4BBA1EE4-2E36-4094-863E-9FD94FABA4E4}"/>
              </a:ext>
            </a:extLst>
          </p:cNvPr>
          <p:cNvSpPr/>
          <p:nvPr/>
        </p:nvSpPr>
        <p:spPr>
          <a:xfrm>
            <a:off x="6963109" y="2413934"/>
            <a:ext cx="360000" cy="360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4" name="Ellipse 11">
            <a:extLst>
              <a:ext uri="{FF2B5EF4-FFF2-40B4-BE49-F238E27FC236}">
                <a16:creationId xmlns:a16="http://schemas.microsoft.com/office/drawing/2014/main" id="{53D413BE-9B9D-4885-A611-3408DE936C0F}"/>
              </a:ext>
            </a:extLst>
          </p:cNvPr>
          <p:cNvSpPr/>
          <p:nvPr/>
        </p:nvSpPr>
        <p:spPr>
          <a:xfrm>
            <a:off x="6963109" y="2959912"/>
            <a:ext cx="360000" cy="360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6" name="Ellipse 12">
            <a:extLst>
              <a:ext uri="{FF2B5EF4-FFF2-40B4-BE49-F238E27FC236}">
                <a16:creationId xmlns:a16="http://schemas.microsoft.com/office/drawing/2014/main" id="{D0AEAB3E-740D-45FE-9FA0-2189895CA82B}"/>
              </a:ext>
            </a:extLst>
          </p:cNvPr>
          <p:cNvSpPr/>
          <p:nvPr/>
        </p:nvSpPr>
        <p:spPr>
          <a:xfrm>
            <a:off x="6964406" y="3548052"/>
            <a:ext cx="360000" cy="360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7" name="Ellipse 13">
            <a:extLst>
              <a:ext uri="{FF2B5EF4-FFF2-40B4-BE49-F238E27FC236}">
                <a16:creationId xmlns:a16="http://schemas.microsoft.com/office/drawing/2014/main" id="{5FA52D5D-446F-4923-B48F-C65CCA9CDD2A}"/>
              </a:ext>
            </a:extLst>
          </p:cNvPr>
          <p:cNvSpPr/>
          <p:nvPr/>
        </p:nvSpPr>
        <p:spPr>
          <a:xfrm>
            <a:off x="6963109" y="4096379"/>
            <a:ext cx="360000" cy="360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0" name="Ellipse 15">
            <a:extLst>
              <a:ext uri="{FF2B5EF4-FFF2-40B4-BE49-F238E27FC236}">
                <a16:creationId xmlns:a16="http://schemas.microsoft.com/office/drawing/2014/main" id="{1E072F4F-64EB-4F81-9FFE-F84303D7ACBC}"/>
              </a:ext>
            </a:extLst>
          </p:cNvPr>
          <p:cNvSpPr/>
          <p:nvPr/>
        </p:nvSpPr>
        <p:spPr>
          <a:xfrm>
            <a:off x="6963109" y="5313569"/>
            <a:ext cx="360000" cy="360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1" name="Ellipse 16">
            <a:extLst>
              <a:ext uri="{FF2B5EF4-FFF2-40B4-BE49-F238E27FC236}">
                <a16:creationId xmlns:a16="http://schemas.microsoft.com/office/drawing/2014/main" id="{932638E0-4CA8-4C81-BFA5-0F1F85E29606}"/>
              </a:ext>
            </a:extLst>
          </p:cNvPr>
          <p:cNvSpPr/>
          <p:nvPr/>
        </p:nvSpPr>
        <p:spPr>
          <a:xfrm>
            <a:off x="6963109" y="494364"/>
            <a:ext cx="360000" cy="360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Ellipse 17">
            <a:extLst>
              <a:ext uri="{FF2B5EF4-FFF2-40B4-BE49-F238E27FC236}">
                <a16:creationId xmlns:a16="http://schemas.microsoft.com/office/drawing/2014/main" id="{2218056F-161A-4EDB-AA75-F8794F972D57}"/>
              </a:ext>
            </a:extLst>
          </p:cNvPr>
          <p:cNvSpPr/>
          <p:nvPr/>
        </p:nvSpPr>
        <p:spPr>
          <a:xfrm>
            <a:off x="6963109" y="5900769"/>
            <a:ext cx="360000" cy="360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3" name="ZoneTexte 18">
            <a:extLst>
              <a:ext uri="{FF2B5EF4-FFF2-40B4-BE49-F238E27FC236}">
                <a16:creationId xmlns:a16="http://schemas.microsoft.com/office/drawing/2014/main" id="{0873DAE5-A523-4BE3-897E-0983C2C44493}"/>
              </a:ext>
            </a:extLst>
          </p:cNvPr>
          <p:cNvSpPr txBox="1"/>
          <p:nvPr/>
        </p:nvSpPr>
        <p:spPr>
          <a:xfrm>
            <a:off x="7429894" y="488790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0</a:t>
            </a:r>
          </a:p>
        </p:txBody>
      </p:sp>
      <p:sp>
        <p:nvSpPr>
          <p:cNvPr id="194" name="ZoneTexte 19">
            <a:extLst>
              <a:ext uri="{FF2B5EF4-FFF2-40B4-BE49-F238E27FC236}">
                <a16:creationId xmlns:a16="http://schemas.microsoft.com/office/drawing/2014/main" id="{292FAA26-9EF3-4B2B-AFCC-B0FE60B89213}"/>
              </a:ext>
            </a:extLst>
          </p:cNvPr>
          <p:cNvSpPr txBox="1"/>
          <p:nvPr/>
        </p:nvSpPr>
        <p:spPr>
          <a:xfrm>
            <a:off x="7399414" y="1170210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1</a:t>
            </a:r>
          </a:p>
        </p:txBody>
      </p:sp>
      <p:sp>
        <p:nvSpPr>
          <p:cNvPr id="195" name="ZoneTexte 20">
            <a:extLst>
              <a:ext uri="{FF2B5EF4-FFF2-40B4-BE49-F238E27FC236}">
                <a16:creationId xmlns:a16="http://schemas.microsoft.com/office/drawing/2014/main" id="{791EFD42-C332-4509-BE0C-E972A1F3C902}"/>
              </a:ext>
            </a:extLst>
          </p:cNvPr>
          <p:cNvSpPr txBox="1"/>
          <p:nvPr/>
        </p:nvSpPr>
        <p:spPr>
          <a:xfrm>
            <a:off x="7416299" y="1821727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2</a:t>
            </a:r>
          </a:p>
        </p:txBody>
      </p:sp>
      <p:sp>
        <p:nvSpPr>
          <p:cNvPr id="197" name="ZoneTexte 21">
            <a:extLst>
              <a:ext uri="{FF2B5EF4-FFF2-40B4-BE49-F238E27FC236}">
                <a16:creationId xmlns:a16="http://schemas.microsoft.com/office/drawing/2014/main" id="{15FD7FEC-7AE8-4A27-82A5-00A93BD440E6}"/>
              </a:ext>
            </a:extLst>
          </p:cNvPr>
          <p:cNvSpPr txBox="1"/>
          <p:nvPr/>
        </p:nvSpPr>
        <p:spPr>
          <a:xfrm>
            <a:off x="7431897" y="2438412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3</a:t>
            </a:r>
          </a:p>
        </p:txBody>
      </p:sp>
      <p:sp>
        <p:nvSpPr>
          <p:cNvPr id="198" name="ZoneTexte 22">
            <a:extLst>
              <a:ext uri="{FF2B5EF4-FFF2-40B4-BE49-F238E27FC236}">
                <a16:creationId xmlns:a16="http://schemas.microsoft.com/office/drawing/2014/main" id="{73429683-33BB-43EE-A67E-8316161C3457}"/>
              </a:ext>
            </a:extLst>
          </p:cNvPr>
          <p:cNvSpPr txBox="1"/>
          <p:nvPr/>
        </p:nvSpPr>
        <p:spPr>
          <a:xfrm>
            <a:off x="7439759" y="2962381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4</a:t>
            </a:r>
          </a:p>
        </p:txBody>
      </p:sp>
      <p:sp>
        <p:nvSpPr>
          <p:cNvPr id="200" name="ZoneTexte 23">
            <a:extLst>
              <a:ext uri="{FF2B5EF4-FFF2-40B4-BE49-F238E27FC236}">
                <a16:creationId xmlns:a16="http://schemas.microsoft.com/office/drawing/2014/main" id="{AA96143F-EC7A-4655-96EC-02537D7393E9}"/>
              </a:ext>
            </a:extLst>
          </p:cNvPr>
          <p:cNvSpPr txBox="1"/>
          <p:nvPr/>
        </p:nvSpPr>
        <p:spPr>
          <a:xfrm>
            <a:off x="7447931" y="3579141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5</a:t>
            </a:r>
          </a:p>
        </p:txBody>
      </p:sp>
      <p:sp>
        <p:nvSpPr>
          <p:cNvPr id="201" name="ZoneTexte 24">
            <a:extLst>
              <a:ext uri="{FF2B5EF4-FFF2-40B4-BE49-F238E27FC236}">
                <a16:creationId xmlns:a16="http://schemas.microsoft.com/office/drawing/2014/main" id="{78413FFD-C543-4108-89AF-C34565E847F4}"/>
              </a:ext>
            </a:extLst>
          </p:cNvPr>
          <p:cNvSpPr txBox="1"/>
          <p:nvPr/>
        </p:nvSpPr>
        <p:spPr>
          <a:xfrm>
            <a:off x="7434826" y="4106698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6</a:t>
            </a:r>
          </a:p>
        </p:txBody>
      </p:sp>
      <p:sp>
        <p:nvSpPr>
          <p:cNvPr id="203" name="ZoneTexte 25">
            <a:extLst>
              <a:ext uri="{FF2B5EF4-FFF2-40B4-BE49-F238E27FC236}">
                <a16:creationId xmlns:a16="http://schemas.microsoft.com/office/drawing/2014/main" id="{0EBF27A6-5EFD-47A5-AC22-2DE756F7DC0A}"/>
              </a:ext>
            </a:extLst>
          </p:cNvPr>
          <p:cNvSpPr txBox="1"/>
          <p:nvPr/>
        </p:nvSpPr>
        <p:spPr>
          <a:xfrm>
            <a:off x="7450134" y="4679497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7</a:t>
            </a:r>
          </a:p>
        </p:txBody>
      </p:sp>
      <p:sp>
        <p:nvSpPr>
          <p:cNvPr id="204" name="ZoneTexte 26">
            <a:extLst>
              <a:ext uri="{FF2B5EF4-FFF2-40B4-BE49-F238E27FC236}">
                <a16:creationId xmlns:a16="http://schemas.microsoft.com/office/drawing/2014/main" id="{032AFAB6-5824-45ED-BCFF-C88488A35955}"/>
              </a:ext>
            </a:extLst>
          </p:cNvPr>
          <p:cNvSpPr txBox="1"/>
          <p:nvPr/>
        </p:nvSpPr>
        <p:spPr>
          <a:xfrm>
            <a:off x="7439759" y="5310514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8</a:t>
            </a:r>
          </a:p>
        </p:txBody>
      </p:sp>
      <p:sp>
        <p:nvSpPr>
          <p:cNvPr id="206" name="ZoneTexte 27">
            <a:extLst>
              <a:ext uri="{FF2B5EF4-FFF2-40B4-BE49-F238E27FC236}">
                <a16:creationId xmlns:a16="http://schemas.microsoft.com/office/drawing/2014/main" id="{F7811AD3-2A8B-4E5F-92FF-58A0FA8DD2B0}"/>
              </a:ext>
            </a:extLst>
          </p:cNvPr>
          <p:cNvSpPr txBox="1"/>
          <p:nvPr/>
        </p:nvSpPr>
        <p:spPr>
          <a:xfrm>
            <a:off x="7451312" y="5924119"/>
            <a:ext cx="232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9</a:t>
            </a:r>
          </a:p>
        </p:txBody>
      </p:sp>
      <p:sp>
        <p:nvSpPr>
          <p:cNvPr id="212" name="Ellipse 60">
            <a:extLst>
              <a:ext uri="{FF2B5EF4-FFF2-40B4-BE49-F238E27FC236}">
                <a16:creationId xmlns:a16="http://schemas.microsoft.com/office/drawing/2014/main" id="{28FA54BC-6316-489F-9D92-BE39D05C8CE2}"/>
              </a:ext>
            </a:extLst>
          </p:cNvPr>
          <p:cNvSpPr/>
          <p:nvPr/>
        </p:nvSpPr>
        <p:spPr>
          <a:xfrm>
            <a:off x="2130445" y="5878726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3" name="Ellipse 61">
            <a:extLst>
              <a:ext uri="{FF2B5EF4-FFF2-40B4-BE49-F238E27FC236}">
                <a16:creationId xmlns:a16="http://schemas.microsoft.com/office/drawing/2014/main" id="{A8043F10-615F-4D6F-8BED-6B278BA46B26}"/>
              </a:ext>
            </a:extLst>
          </p:cNvPr>
          <p:cNvSpPr/>
          <p:nvPr/>
        </p:nvSpPr>
        <p:spPr>
          <a:xfrm>
            <a:off x="1971552" y="614690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9" name="ZoneTexte 65">
            <a:extLst>
              <a:ext uri="{FF2B5EF4-FFF2-40B4-BE49-F238E27FC236}">
                <a16:creationId xmlns:a16="http://schemas.microsoft.com/office/drawing/2014/main" id="{109B0A16-4439-46A8-B4AF-BA4ED7E6F808}"/>
              </a:ext>
            </a:extLst>
          </p:cNvPr>
          <p:cNvSpPr txBox="1"/>
          <p:nvPr/>
        </p:nvSpPr>
        <p:spPr>
          <a:xfrm>
            <a:off x="2095089" y="3452481"/>
            <a:ext cx="313899" cy="5397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fr-FR" sz="2800" b="1" dirty="0"/>
              <a:t>.</a:t>
            </a:r>
          </a:p>
          <a:p>
            <a:pPr>
              <a:lnSpc>
                <a:spcPts val="1000"/>
              </a:lnSpc>
            </a:pPr>
            <a:r>
              <a:rPr lang="fr-FR" sz="2800" b="1" dirty="0"/>
              <a:t>.</a:t>
            </a:r>
          </a:p>
          <a:p>
            <a:pPr>
              <a:lnSpc>
                <a:spcPts val="1000"/>
              </a:lnSpc>
            </a:pPr>
            <a:r>
              <a:rPr lang="fr-FR" sz="2800" b="1" dirty="0"/>
              <a:t>.</a:t>
            </a:r>
          </a:p>
        </p:txBody>
      </p:sp>
      <p:sp>
        <p:nvSpPr>
          <p:cNvPr id="221" name="Accolade ouvrante 66">
            <a:extLst>
              <a:ext uri="{FF2B5EF4-FFF2-40B4-BE49-F238E27FC236}">
                <a16:creationId xmlns:a16="http://schemas.microsoft.com/office/drawing/2014/main" id="{048F79D3-28F2-4575-AEFA-A1E72333C708}"/>
              </a:ext>
            </a:extLst>
          </p:cNvPr>
          <p:cNvSpPr/>
          <p:nvPr/>
        </p:nvSpPr>
        <p:spPr>
          <a:xfrm>
            <a:off x="1734663" y="757570"/>
            <a:ext cx="235781" cy="56657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2" name="ZoneTexte 67">
            <a:extLst>
              <a:ext uri="{FF2B5EF4-FFF2-40B4-BE49-F238E27FC236}">
                <a16:creationId xmlns:a16="http://schemas.microsoft.com/office/drawing/2014/main" id="{D4548E56-0610-421F-98FF-86FE1BB96CAF}"/>
              </a:ext>
            </a:extLst>
          </p:cNvPr>
          <p:cNvSpPr txBox="1"/>
          <p:nvPr/>
        </p:nvSpPr>
        <p:spPr>
          <a:xfrm>
            <a:off x="1244122" y="1656717"/>
            <a:ext cx="667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784</a:t>
            </a: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D7791E4D-7B58-4E30-90A7-BA308C0598FD}"/>
              </a:ext>
            </a:extLst>
          </p:cNvPr>
          <p:cNvSpPr/>
          <p:nvPr/>
        </p:nvSpPr>
        <p:spPr>
          <a:xfrm>
            <a:off x="4572001" y="628447"/>
            <a:ext cx="540000" cy="540000"/>
          </a:xfrm>
          <a:prstGeom prst="ellips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E7EF468C-6966-48C5-9D63-1B77E979E05D}"/>
              </a:ext>
            </a:extLst>
          </p:cNvPr>
          <p:cNvSpPr/>
          <p:nvPr/>
        </p:nvSpPr>
        <p:spPr>
          <a:xfrm>
            <a:off x="4574727" y="127592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63F8E40A-7AE3-4B84-9A27-C1C744AC4E2E}"/>
              </a:ext>
            </a:extLst>
          </p:cNvPr>
          <p:cNvSpPr/>
          <p:nvPr/>
        </p:nvSpPr>
        <p:spPr>
          <a:xfrm>
            <a:off x="4588322" y="194898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19792067-53BB-4D7E-9276-FE8BF74521ED}"/>
              </a:ext>
            </a:extLst>
          </p:cNvPr>
          <p:cNvSpPr/>
          <p:nvPr/>
        </p:nvSpPr>
        <p:spPr>
          <a:xfrm>
            <a:off x="4587241" y="2559532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3BA9004F-0936-4A43-954A-1DAE899B49CD}"/>
              </a:ext>
            </a:extLst>
          </p:cNvPr>
          <p:cNvSpPr/>
          <p:nvPr/>
        </p:nvSpPr>
        <p:spPr>
          <a:xfrm>
            <a:off x="4595269" y="5866697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294" name="Connecteur droit 53">
            <a:extLst>
              <a:ext uri="{FF2B5EF4-FFF2-40B4-BE49-F238E27FC236}">
                <a16:creationId xmlns:a16="http://schemas.microsoft.com/office/drawing/2014/main" id="{F8C2A489-D42C-467D-B8AA-D7C2A6EBEC3C}"/>
              </a:ext>
            </a:extLst>
          </p:cNvPr>
          <p:cNvCxnSpPr>
            <a:cxnSpLocks/>
            <a:stCxn id="213" idx="6"/>
            <a:endCxn id="273" idx="2"/>
          </p:cNvCxnSpPr>
          <p:nvPr/>
        </p:nvCxnSpPr>
        <p:spPr>
          <a:xfrm>
            <a:off x="2511552" y="884690"/>
            <a:ext cx="2060449" cy="137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Connecteur droit 53">
            <a:extLst>
              <a:ext uri="{FF2B5EF4-FFF2-40B4-BE49-F238E27FC236}">
                <a16:creationId xmlns:a16="http://schemas.microsoft.com/office/drawing/2014/main" id="{8D52B3B6-2FA2-4314-8A98-B1E1FCC09028}"/>
              </a:ext>
            </a:extLst>
          </p:cNvPr>
          <p:cNvCxnSpPr>
            <a:cxnSpLocks/>
            <a:stCxn id="213" idx="6"/>
            <a:endCxn id="274" idx="2"/>
          </p:cNvCxnSpPr>
          <p:nvPr/>
        </p:nvCxnSpPr>
        <p:spPr>
          <a:xfrm>
            <a:off x="2511552" y="884690"/>
            <a:ext cx="2063175" cy="661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Connecteur droit 53">
            <a:extLst>
              <a:ext uri="{FF2B5EF4-FFF2-40B4-BE49-F238E27FC236}">
                <a16:creationId xmlns:a16="http://schemas.microsoft.com/office/drawing/2014/main" id="{7B44117C-1DDD-47D9-ABC1-7464A6FF8985}"/>
              </a:ext>
            </a:extLst>
          </p:cNvPr>
          <p:cNvCxnSpPr>
            <a:cxnSpLocks/>
            <a:stCxn id="213" idx="6"/>
            <a:endCxn id="275" idx="2"/>
          </p:cNvCxnSpPr>
          <p:nvPr/>
        </p:nvCxnSpPr>
        <p:spPr>
          <a:xfrm>
            <a:off x="2511552" y="884690"/>
            <a:ext cx="2076770" cy="13342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Connecteur droit 53">
            <a:extLst>
              <a:ext uri="{FF2B5EF4-FFF2-40B4-BE49-F238E27FC236}">
                <a16:creationId xmlns:a16="http://schemas.microsoft.com/office/drawing/2014/main" id="{0213B54D-9252-4E29-93AC-9B36313438F6}"/>
              </a:ext>
            </a:extLst>
          </p:cNvPr>
          <p:cNvCxnSpPr>
            <a:cxnSpLocks/>
            <a:stCxn id="213" idx="6"/>
            <a:endCxn id="276" idx="2"/>
          </p:cNvCxnSpPr>
          <p:nvPr/>
        </p:nvCxnSpPr>
        <p:spPr>
          <a:xfrm>
            <a:off x="2511552" y="884690"/>
            <a:ext cx="2075689" cy="19448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necteur droit 53">
            <a:extLst>
              <a:ext uri="{FF2B5EF4-FFF2-40B4-BE49-F238E27FC236}">
                <a16:creationId xmlns:a16="http://schemas.microsoft.com/office/drawing/2014/main" id="{AC77DA1A-AD42-496B-8489-B9BD394B4886}"/>
              </a:ext>
            </a:extLst>
          </p:cNvPr>
          <p:cNvCxnSpPr>
            <a:cxnSpLocks/>
            <a:stCxn id="213" idx="6"/>
            <a:endCxn id="281" idx="2"/>
          </p:cNvCxnSpPr>
          <p:nvPr/>
        </p:nvCxnSpPr>
        <p:spPr>
          <a:xfrm>
            <a:off x="2511552" y="884690"/>
            <a:ext cx="2083717" cy="5252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Connecteur droit 53">
            <a:extLst>
              <a:ext uri="{FF2B5EF4-FFF2-40B4-BE49-F238E27FC236}">
                <a16:creationId xmlns:a16="http://schemas.microsoft.com/office/drawing/2014/main" id="{DD0E9857-9EB9-4088-B460-7E6D0638CEB0}"/>
              </a:ext>
            </a:extLst>
          </p:cNvPr>
          <p:cNvCxnSpPr>
            <a:cxnSpLocks/>
            <a:stCxn id="212" idx="6"/>
            <a:endCxn id="273" idx="2"/>
          </p:cNvCxnSpPr>
          <p:nvPr/>
        </p:nvCxnSpPr>
        <p:spPr>
          <a:xfrm flipV="1">
            <a:off x="2670445" y="898447"/>
            <a:ext cx="1901556" cy="52502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>
            <a:extLst>
              <a:ext uri="{FF2B5EF4-FFF2-40B4-BE49-F238E27FC236}">
                <a16:creationId xmlns:a16="http://schemas.microsoft.com/office/drawing/2014/main" id="{7F8A8941-D5F2-4696-BA47-5E01E58C69AE}"/>
              </a:ext>
            </a:extLst>
          </p:cNvPr>
          <p:cNvCxnSpPr/>
          <p:nvPr/>
        </p:nvCxnSpPr>
        <p:spPr>
          <a:xfrm>
            <a:off x="122336" y="3350885"/>
            <a:ext cx="68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4" name="Picture 163">
            <a:extLst>
              <a:ext uri="{FF2B5EF4-FFF2-40B4-BE49-F238E27FC236}">
                <a16:creationId xmlns:a16="http://schemas.microsoft.com/office/drawing/2014/main" id="{E1FB1B1A-CB43-459E-8B7D-54801CBE2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3" y="2607672"/>
            <a:ext cx="623147" cy="623147"/>
          </a:xfrm>
          <a:prstGeom prst="rect">
            <a:avLst/>
          </a:prstGeom>
        </p:spPr>
      </p:pic>
      <p:cxnSp>
        <p:nvCxnSpPr>
          <p:cNvPr id="185" name="Connecteur droit 53">
            <a:extLst>
              <a:ext uri="{FF2B5EF4-FFF2-40B4-BE49-F238E27FC236}">
                <a16:creationId xmlns:a16="http://schemas.microsoft.com/office/drawing/2014/main" id="{7BF4FEF4-9E49-4E18-8862-5918DC660480}"/>
              </a:ext>
            </a:extLst>
          </p:cNvPr>
          <p:cNvCxnSpPr>
            <a:cxnSpLocks/>
            <a:stCxn id="212" idx="6"/>
            <a:endCxn id="281" idx="2"/>
          </p:cNvCxnSpPr>
          <p:nvPr/>
        </p:nvCxnSpPr>
        <p:spPr>
          <a:xfrm flipV="1">
            <a:off x="2670445" y="6136697"/>
            <a:ext cx="1924824" cy="12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Ellipse 61">
            <a:extLst>
              <a:ext uri="{FF2B5EF4-FFF2-40B4-BE49-F238E27FC236}">
                <a16:creationId xmlns:a16="http://schemas.microsoft.com/office/drawing/2014/main" id="{056BC55A-E8E9-4FB2-8C12-C01A1AD7154D}"/>
              </a:ext>
            </a:extLst>
          </p:cNvPr>
          <p:cNvSpPr/>
          <p:nvPr/>
        </p:nvSpPr>
        <p:spPr>
          <a:xfrm>
            <a:off x="1994820" y="1253890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0" name="Ellipse 61">
            <a:extLst>
              <a:ext uri="{FF2B5EF4-FFF2-40B4-BE49-F238E27FC236}">
                <a16:creationId xmlns:a16="http://schemas.microsoft.com/office/drawing/2014/main" id="{DBF54403-E520-4835-BB3B-788D6EC7CF45}"/>
              </a:ext>
            </a:extLst>
          </p:cNvPr>
          <p:cNvSpPr/>
          <p:nvPr/>
        </p:nvSpPr>
        <p:spPr>
          <a:xfrm>
            <a:off x="1989059" y="1979232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3" name="Ellipse 61">
            <a:extLst>
              <a:ext uri="{FF2B5EF4-FFF2-40B4-BE49-F238E27FC236}">
                <a16:creationId xmlns:a16="http://schemas.microsoft.com/office/drawing/2014/main" id="{EC50981F-694B-4FA8-9F67-778E79428C43}"/>
              </a:ext>
            </a:extLst>
          </p:cNvPr>
          <p:cNvSpPr/>
          <p:nvPr/>
        </p:nvSpPr>
        <p:spPr>
          <a:xfrm>
            <a:off x="1982572" y="2702276"/>
            <a:ext cx="540000" cy="5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6" name="ZoneTexte 65">
            <a:extLst>
              <a:ext uri="{FF2B5EF4-FFF2-40B4-BE49-F238E27FC236}">
                <a16:creationId xmlns:a16="http://schemas.microsoft.com/office/drawing/2014/main" id="{352B4A9C-C76D-43CD-9B70-F6600741973D}"/>
              </a:ext>
            </a:extLst>
          </p:cNvPr>
          <p:cNvSpPr txBox="1"/>
          <p:nvPr/>
        </p:nvSpPr>
        <p:spPr>
          <a:xfrm>
            <a:off x="4703350" y="3378510"/>
            <a:ext cx="313899" cy="53976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fr-FR" sz="2800" b="1" dirty="0"/>
              <a:t>.</a:t>
            </a:r>
          </a:p>
          <a:p>
            <a:pPr>
              <a:lnSpc>
                <a:spcPts val="1000"/>
              </a:lnSpc>
            </a:pPr>
            <a:r>
              <a:rPr lang="fr-FR" sz="2800" b="1" dirty="0"/>
              <a:t>.</a:t>
            </a:r>
          </a:p>
          <a:p>
            <a:pPr>
              <a:lnSpc>
                <a:spcPts val="1000"/>
              </a:lnSpc>
            </a:pPr>
            <a:r>
              <a:rPr lang="fr-FR" sz="2800" b="1" dirty="0"/>
              <a:t>.</a:t>
            </a:r>
          </a:p>
        </p:txBody>
      </p:sp>
      <p:graphicFrame>
        <p:nvGraphicFramePr>
          <p:cNvPr id="289" name="Table 7">
            <a:extLst>
              <a:ext uri="{FF2B5EF4-FFF2-40B4-BE49-F238E27FC236}">
                <a16:creationId xmlns:a16="http://schemas.microsoft.com/office/drawing/2014/main" id="{E3DA7035-8438-4071-9994-76D2F4371A9F}"/>
              </a:ext>
            </a:extLst>
          </p:cNvPr>
          <p:cNvGraphicFramePr>
            <a:graphicFrameLocks noGrp="1"/>
          </p:cNvGraphicFramePr>
          <p:nvPr/>
        </p:nvGraphicFramePr>
        <p:xfrm>
          <a:off x="8562980" y="1219371"/>
          <a:ext cx="319722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8613">
                  <a:extLst>
                    <a:ext uri="{9D8B030D-6E8A-4147-A177-3AD203B41FA5}">
                      <a16:colId xmlns:a16="http://schemas.microsoft.com/office/drawing/2014/main" val="1721624820"/>
                    </a:ext>
                  </a:extLst>
                </a:gridCol>
                <a:gridCol w="1598613">
                  <a:extLst>
                    <a:ext uri="{9D8B030D-6E8A-4147-A177-3AD203B41FA5}">
                      <a16:colId xmlns:a16="http://schemas.microsoft.com/office/drawing/2014/main" val="501784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98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T-shirt/top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253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Trouser</a:t>
                      </a:r>
                      <a:endParaRPr lang="fr-MA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42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Pullover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229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Dress</a:t>
                      </a:r>
                      <a:endParaRPr lang="fr-MA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538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132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Sandal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6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Shirt</a:t>
                      </a:r>
                      <a:endParaRPr lang="fr-MA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42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Sneaker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5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47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Ankle</a:t>
                      </a:r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boot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1288"/>
                  </a:ext>
                </a:extLst>
              </a:tr>
            </a:tbl>
          </a:graphicData>
        </a:graphic>
      </p:graphicFrame>
      <p:sp>
        <p:nvSpPr>
          <p:cNvPr id="292" name="Ellipse 13">
            <a:extLst>
              <a:ext uri="{FF2B5EF4-FFF2-40B4-BE49-F238E27FC236}">
                <a16:creationId xmlns:a16="http://schemas.microsoft.com/office/drawing/2014/main" id="{84F8B34B-5297-4A60-8941-1D120DEE5478}"/>
              </a:ext>
            </a:extLst>
          </p:cNvPr>
          <p:cNvSpPr/>
          <p:nvPr/>
        </p:nvSpPr>
        <p:spPr>
          <a:xfrm>
            <a:off x="6944863" y="4688049"/>
            <a:ext cx="360000" cy="360000"/>
          </a:xfrm>
          <a:prstGeom prst="ellipse">
            <a:avLst/>
          </a:prstGeom>
          <a:solidFill>
            <a:srgbClr val="C00000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95" name="Connecteur droit 53">
            <a:extLst>
              <a:ext uri="{FF2B5EF4-FFF2-40B4-BE49-F238E27FC236}">
                <a16:creationId xmlns:a16="http://schemas.microsoft.com/office/drawing/2014/main" id="{96D87489-23EC-4F0A-B91E-1799CC87193D}"/>
              </a:ext>
            </a:extLst>
          </p:cNvPr>
          <p:cNvCxnSpPr>
            <a:cxnSpLocks/>
          </p:cNvCxnSpPr>
          <p:nvPr/>
        </p:nvCxnSpPr>
        <p:spPr>
          <a:xfrm>
            <a:off x="5113364" y="898447"/>
            <a:ext cx="1851108" cy="4215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Connecteur droit 53">
            <a:extLst>
              <a:ext uri="{FF2B5EF4-FFF2-40B4-BE49-F238E27FC236}">
                <a16:creationId xmlns:a16="http://schemas.microsoft.com/office/drawing/2014/main" id="{A130EC82-C8FD-41F4-88EF-C28D7438E1ED}"/>
              </a:ext>
            </a:extLst>
          </p:cNvPr>
          <p:cNvCxnSpPr>
            <a:cxnSpLocks/>
            <a:stCxn id="274" idx="6"/>
            <a:endCxn id="163" idx="2"/>
          </p:cNvCxnSpPr>
          <p:nvPr/>
        </p:nvCxnSpPr>
        <p:spPr>
          <a:xfrm flipV="1">
            <a:off x="5114727" y="1319953"/>
            <a:ext cx="1848382" cy="225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Connecteur droit 53">
            <a:extLst>
              <a:ext uri="{FF2B5EF4-FFF2-40B4-BE49-F238E27FC236}">
                <a16:creationId xmlns:a16="http://schemas.microsoft.com/office/drawing/2014/main" id="{5B6855B2-E82C-4E1C-848B-37C2FAEC115A}"/>
              </a:ext>
            </a:extLst>
          </p:cNvPr>
          <p:cNvCxnSpPr>
            <a:cxnSpLocks/>
            <a:stCxn id="275" idx="6"/>
            <a:endCxn id="163" idx="2"/>
          </p:cNvCxnSpPr>
          <p:nvPr/>
        </p:nvCxnSpPr>
        <p:spPr>
          <a:xfrm flipV="1">
            <a:off x="5128322" y="1319953"/>
            <a:ext cx="1834787" cy="899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necteur droit 53">
            <a:extLst>
              <a:ext uri="{FF2B5EF4-FFF2-40B4-BE49-F238E27FC236}">
                <a16:creationId xmlns:a16="http://schemas.microsoft.com/office/drawing/2014/main" id="{D3157FF7-7840-48A4-B747-3BDC6294C42C}"/>
              </a:ext>
            </a:extLst>
          </p:cNvPr>
          <p:cNvCxnSpPr>
            <a:cxnSpLocks/>
            <a:stCxn id="276" idx="6"/>
            <a:endCxn id="163" idx="2"/>
          </p:cNvCxnSpPr>
          <p:nvPr/>
        </p:nvCxnSpPr>
        <p:spPr>
          <a:xfrm flipV="1">
            <a:off x="5127241" y="1319953"/>
            <a:ext cx="1835868" cy="15095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Connecteur droit 53">
            <a:extLst>
              <a:ext uri="{FF2B5EF4-FFF2-40B4-BE49-F238E27FC236}">
                <a16:creationId xmlns:a16="http://schemas.microsoft.com/office/drawing/2014/main" id="{77F2EB74-BCF4-4CD6-B59E-49DDB853416E}"/>
              </a:ext>
            </a:extLst>
          </p:cNvPr>
          <p:cNvCxnSpPr>
            <a:cxnSpLocks/>
            <a:stCxn id="281" idx="6"/>
            <a:endCxn id="163" idx="2"/>
          </p:cNvCxnSpPr>
          <p:nvPr/>
        </p:nvCxnSpPr>
        <p:spPr>
          <a:xfrm flipV="1">
            <a:off x="5135269" y="1319953"/>
            <a:ext cx="1827840" cy="48167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Connecteur droit 53">
            <a:extLst>
              <a:ext uri="{FF2B5EF4-FFF2-40B4-BE49-F238E27FC236}">
                <a16:creationId xmlns:a16="http://schemas.microsoft.com/office/drawing/2014/main" id="{F85C2357-6081-4516-95BB-EAF648B702E5}"/>
              </a:ext>
            </a:extLst>
          </p:cNvPr>
          <p:cNvCxnSpPr>
            <a:cxnSpLocks/>
            <a:stCxn id="270" idx="6"/>
            <a:endCxn id="273" idx="2"/>
          </p:cNvCxnSpPr>
          <p:nvPr/>
        </p:nvCxnSpPr>
        <p:spPr>
          <a:xfrm flipV="1">
            <a:off x="2534820" y="898447"/>
            <a:ext cx="2037181" cy="625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Connecteur droit 53">
            <a:extLst>
              <a:ext uri="{FF2B5EF4-FFF2-40B4-BE49-F238E27FC236}">
                <a16:creationId xmlns:a16="http://schemas.microsoft.com/office/drawing/2014/main" id="{0EDD4DD9-F5FE-4EF7-ABB5-BABE896352F9}"/>
              </a:ext>
            </a:extLst>
          </p:cNvPr>
          <p:cNvCxnSpPr>
            <a:cxnSpLocks/>
            <a:stCxn id="280" idx="6"/>
          </p:cNvCxnSpPr>
          <p:nvPr/>
        </p:nvCxnSpPr>
        <p:spPr>
          <a:xfrm flipV="1">
            <a:off x="2529059" y="917780"/>
            <a:ext cx="2029347" cy="13314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53">
            <a:extLst>
              <a:ext uri="{FF2B5EF4-FFF2-40B4-BE49-F238E27FC236}">
                <a16:creationId xmlns:a16="http://schemas.microsoft.com/office/drawing/2014/main" id="{A426069F-968A-4933-928D-0DB2C4866D6B}"/>
              </a:ext>
            </a:extLst>
          </p:cNvPr>
          <p:cNvCxnSpPr>
            <a:cxnSpLocks/>
            <a:stCxn id="283" idx="6"/>
            <a:endCxn id="273" idx="2"/>
          </p:cNvCxnSpPr>
          <p:nvPr/>
        </p:nvCxnSpPr>
        <p:spPr>
          <a:xfrm flipV="1">
            <a:off x="2522572" y="898447"/>
            <a:ext cx="2049429" cy="2073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70080213-360D-46B9-80FE-11B95C836E77}"/>
              </a:ext>
            </a:extLst>
          </p:cNvPr>
          <p:cNvSpPr txBox="1"/>
          <p:nvPr/>
        </p:nvSpPr>
        <p:spPr>
          <a:xfrm>
            <a:off x="1852553" y="6432729"/>
            <a:ext cx="1509708" cy="38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784 Neurones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2F1D60D0-B21D-4990-8102-F2F7E3E78692}"/>
              </a:ext>
            </a:extLst>
          </p:cNvPr>
          <p:cNvSpPr txBox="1"/>
          <p:nvPr/>
        </p:nvSpPr>
        <p:spPr>
          <a:xfrm>
            <a:off x="4110415" y="6428280"/>
            <a:ext cx="1509708" cy="38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20 Neurones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CF02AE14-AD24-4C01-BC46-DAF1BB5DA1FF}"/>
              </a:ext>
            </a:extLst>
          </p:cNvPr>
          <p:cNvSpPr txBox="1"/>
          <p:nvPr/>
        </p:nvSpPr>
        <p:spPr>
          <a:xfrm>
            <a:off x="6429001" y="6437923"/>
            <a:ext cx="1509708" cy="38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10 Neurones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24E27E19-9E6F-49AA-8911-EF966B99090B}"/>
              </a:ext>
            </a:extLst>
          </p:cNvPr>
          <p:cNvSpPr txBox="1"/>
          <p:nvPr/>
        </p:nvSpPr>
        <p:spPr>
          <a:xfrm>
            <a:off x="1578103" y="67558"/>
            <a:ext cx="1509708" cy="38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Input Layer</a:t>
            </a: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E749B4D5-7F75-4A4B-ABF9-CB5F05D6D646}"/>
              </a:ext>
            </a:extLst>
          </p:cNvPr>
          <p:cNvSpPr txBox="1"/>
          <p:nvPr/>
        </p:nvSpPr>
        <p:spPr>
          <a:xfrm>
            <a:off x="4262395" y="34312"/>
            <a:ext cx="1509708" cy="38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/>
              <a:t>hidden layer</a:t>
            </a:r>
            <a:endParaRPr lang="fr-MA" b="1" dirty="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F0A9A1B7-1F5D-47D8-877B-6B275F367105}"/>
              </a:ext>
            </a:extLst>
          </p:cNvPr>
          <p:cNvSpPr txBox="1"/>
          <p:nvPr/>
        </p:nvSpPr>
        <p:spPr>
          <a:xfrm>
            <a:off x="6570012" y="16824"/>
            <a:ext cx="1509708" cy="38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Output layer</a:t>
            </a:r>
          </a:p>
        </p:txBody>
      </p:sp>
      <p:cxnSp>
        <p:nvCxnSpPr>
          <p:cNvPr id="336" name="Connecteur droit 53">
            <a:extLst>
              <a:ext uri="{FF2B5EF4-FFF2-40B4-BE49-F238E27FC236}">
                <a16:creationId xmlns:a16="http://schemas.microsoft.com/office/drawing/2014/main" id="{B6513C85-70C0-4B8F-B69B-5131C1918035}"/>
              </a:ext>
            </a:extLst>
          </p:cNvPr>
          <p:cNvCxnSpPr>
            <a:cxnSpLocks/>
            <a:stCxn id="273" idx="6"/>
            <a:endCxn id="191" idx="2"/>
          </p:cNvCxnSpPr>
          <p:nvPr/>
        </p:nvCxnSpPr>
        <p:spPr>
          <a:xfrm flipV="1">
            <a:off x="5112001" y="674364"/>
            <a:ext cx="1851108" cy="2240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Connecteur droit 53">
            <a:extLst>
              <a:ext uri="{FF2B5EF4-FFF2-40B4-BE49-F238E27FC236}">
                <a16:creationId xmlns:a16="http://schemas.microsoft.com/office/drawing/2014/main" id="{B8565C94-B807-4E0B-93A5-5F56F418AD20}"/>
              </a:ext>
            </a:extLst>
          </p:cNvPr>
          <p:cNvCxnSpPr>
            <a:cxnSpLocks/>
            <a:stCxn id="273" idx="6"/>
            <a:endCxn id="181" idx="2"/>
          </p:cNvCxnSpPr>
          <p:nvPr/>
        </p:nvCxnSpPr>
        <p:spPr>
          <a:xfrm>
            <a:off x="5112001" y="898447"/>
            <a:ext cx="1851108" cy="1079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Connecteur droit 53">
            <a:extLst>
              <a:ext uri="{FF2B5EF4-FFF2-40B4-BE49-F238E27FC236}">
                <a16:creationId xmlns:a16="http://schemas.microsoft.com/office/drawing/2014/main" id="{1A175073-6C8A-4F4F-AD7C-D314245914BD}"/>
              </a:ext>
            </a:extLst>
          </p:cNvPr>
          <p:cNvCxnSpPr>
            <a:cxnSpLocks/>
            <a:endCxn id="183" idx="2"/>
          </p:cNvCxnSpPr>
          <p:nvPr/>
        </p:nvCxnSpPr>
        <p:spPr>
          <a:xfrm>
            <a:off x="5131048" y="930646"/>
            <a:ext cx="1832061" cy="1663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Connecteur droit 53">
            <a:extLst>
              <a:ext uri="{FF2B5EF4-FFF2-40B4-BE49-F238E27FC236}">
                <a16:creationId xmlns:a16="http://schemas.microsoft.com/office/drawing/2014/main" id="{F5E84FA4-D6C5-494A-BF8E-AD2F00681C10}"/>
              </a:ext>
            </a:extLst>
          </p:cNvPr>
          <p:cNvCxnSpPr>
            <a:cxnSpLocks/>
            <a:stCxn id="273" idx="6"/>
            <a:endCxn id="184" idx="2"/>
          </p:cNvCxnSpPr>
          <p:nvPr/>
        </p:nvCxnSpPr>
        <p:spPr>
          <a:xfrm>
            <a:off x="5112001" y="898447"/>
            <a:ext cx="1851108" cy="2241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Connecteur droit 53">
            <a:extLst>
              <a:ext uri="{FF2B5EF4-FFF2-40B4-BE49-F238E27FC236}">
                <a16:creationId xmlns:a16="http://schemas.microsoft.com/office/drawing/2014/main" id="{8069096F-5504-435B-868E-31EA83B64F57}"/>
              </a:ext>
            </a:extLst>
          </p:cNvPr>
          <p:cNvCxnSpPr>
            <a:cxnSpLocks/>
            <a:stCxn id="273" idx="6"/>
            <a:endCxn id="186" idx="2"/>
          </p:cNvCxnSpPr>
          <p:nvPr/>
        </p:nvCxnSpPr>
        <p:spPr>
          <a:xfrm>
            <a:off x="5112001" y="898447"/>
            <a:ext cx="1852405" cy="2829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necteur droit 53">
            <a:extLst>
              <a:ext uri="{FF2B5EF4-FFF2-40B4-BE49-F238E27FC236}">
                <a16:creationId xmlns:a16="http://schemas.microsoft.com/office/drawing/2014/main" id="{965C7A06-E377-43EA-AA2F-CE8925E610BE}"/>
              </a:ext>
            </a:extLst>
          </p:cNvPr>
          <p:cNvCxnSpPr>
            <a:cxnSpLocks/>
            <a:stCxn id="273" idx="6"/>
            <a:endCxn id="187" idx="2"/>
          </p:cNvCxnSpPr>
          <p:nvPr/>
        </p:nvCxnSpPr>
        <p:spPr>
          <a:xfrm>
            <a:off x="5112001" y="898447"/>
            <a:ext cx="1851108" cy="3377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necteur droit 53">
            <a:extLst>
              <a:ext uri="{FF2B5EF4-FFF2-40B4-BE49-F238E27FC236}">
                <a16:creationId xmlns:a16="http://schemas.microsoft.com/office/drawing/2014/main" id="{AF002715-736C-4C10-89D9-70F1025B2851}"/>
              </a:ext>
            </a:extLst>
          </p:cNvPr>
          <p:cNvCxnSpPr>
            <a:cxnSpLocks/>
            <a:stCxn id="273" idx="6"/>
            <a:endCxn id="292" idx="2"/>
          </p:cNvCxnSpPr>
          <p:nvPr/>
        </p:nvCxnSpPr>
        <p:spPr>
          <a:xfrm>
            <a:off x="5112001" y="898447"/>
            <a:ext cx="1832862" cy="39696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Connecteur droit 53">
            <a:extLst>
              <a:ext uri="{FF2B5EF4-FFF2-40B4-BE49-F238E27FC236}">
                <a16:creationId xmlns:a16="http://schemas.microsoft.com/office/drawing/2014/main" id="{892C2C28-5F42-4DDE-B8DE-F5181331319D}"/>
              </a:ext>
            </a:extLst>
          </p:cNvPr>
          <p:cNvCxnSpPr>
            <a:cxnSpLocks/>
            <a:stCxn id="273" idx="6"/>
            <a:endCxn id="190" idx="2"/>
          </p:cNvCxnSpPr>
          <p:nvPr/>
        </p:nvCxnSpPr>
        <p:spPr>
          <a:xfrm>
            <a:off x="5112001" y="898447"/>
            <a:ext cx="1851108" cy="4595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Connecteur droit 53">
            <a:extLst>
              <a:ext uri="{FF2B5EF4-FFF2-40B4-BE49-F238E27FC236}">
                <a16:creationId xmlns:a16="http://schemas.microsoft.com/office/drawing/2014/main" id="{4416DDB2-D969-4744-ACE9-D2FE95AE03EE}"/>
              </a:ext>
            </a:extLst>
          </p:cNvPr>
          <p:cNvCxnSpPr>
            <a:cxnSpLocks/>
            <a:stCxn id="273" idx="6"/>
            <a:endCxn id="192" idx="2"/>
          </p:cNvCxnSpPr>
          <p:nvPr/>
        </p:nvCxnSpPr>
        <p:spPr>
          <a:xfrm>
            <a:off x="5112001" y="898447"/>
            <a:ext cx="1851108" cy="51823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C4D9895-9946-48C5-B2E0-007F5FE7DA2E}"/>
              </a:ext>
            </a:extLst>
          </p:cNvPr>
          <p:cNvCxnSpPr/>
          <p:nvPr/>
        </p:nvCxnSpPr>
        <p:spPr>
          <a:xfrm>
            <a:off x="4315663" y="587042"/>
            <a:ext cx="262825" cy="360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6312D-4688-4DF3-AC42-557FAD1A0A68}"/>
              </a:ext>
            </a:extLst>
          </p:cNvPr>
          <p:cNvSpPr txBox="1"/>
          <p:nvPr/>
        </p:nvSpPr>
        <p:spPr>
          <a:xfrm>
            <a:off x="3771854" y="394300"/>
            <a:ext cx="58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C00000"/>
                </a:solidFill>
              </a:rPr>
              <a:t>bias</a:t>
            </a:r>
            <a:endParaRPr lang="fr-MA" dirty="0">
              <a:solidFill>
                <a:srgbClr val="C00000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CA012EF-3190-4BA9-8463-F1FE9DCED322}"/>
              </a:ext>
            </a:extLst>
          </p:cNvPr>
          <p:cNvCxnSpPr>
            <a:cxnSpLocks/>
          </p:cNvCxnSpPr>
          <p:nvPr/>
        </p:nvCxnSpPr>
        <p:spPr>
          <a:xfrm>
            <a:off x="4558710" y="1202896"/>
            <a:ext cx="0" cy="33960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0996928-10F5-4957-9E2F-804884AF6DB7}"/>
              </a:ext>
            </a:extLst>
          </p:cNvPr>
          <p:cNvCxnSpPr>
            <a:cxnSpLocks/>
          </p:cNvCxnSpPr>
          <p:nvPr/>
        </p:nvCxnSpPr>
        <p:spPr>
          <a:xfrm>
            <a:off x="4582521" y="1841076"/>
            <a:ext cx="0" cy="33960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4719177-FD7F-434F-A1F7-5DAD3D817F3C}"/>
              </a:ext>
            </a:extLst>
          </p:cNvPr>
          <p:cNvCxnSpPr>
            <a:cxnSpLocks/>
          </p:cNvCxnSpPr>
          <p:nvPr/>
        </p:nvCxnSpPr>
        <p:spPr>
          <a:xfrm>
            <a:off x="4577757" y="2436396"/>
            <a:ext cx="0" cy="33960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E720642-C1BE-4FC4-B6BD-ECC11299660A}"/>
              </a:ext>
            </a:extLst>
          </p:cNvPr>
          <p:cNvCxnSpPr>
            <a:cxnSpLocks/>
          </p:cNvCxnSpPr>
          <p:nvPr/>
        </p:nvCxnSpPr>
        <p:spPr>
          <a:xfrm>
            <a:off x="4601568" y="5774913"/>
            <a:ext cx="0" cy="33960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16979B6-7EF7-4525-8715-2E825F29B45E}"/>
              </a:ext>
            </a:extLst>
          </p:cNvPr>
          <p:cNvCxnSpPr>
            <a:cxnSpLocks/>
            <a:endCxn id="191" idx="2"/>
          </p:cNvCxnSpPr>
          <p:nvPr/>
        </p:nvCxnSpPr>
        <p:spPr>
          <a:xfrm>
            <a:off x="6777066" y="530120"/>
            <a:ext cx="186043" cy="14424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940F658-319B-4599-AE14-64B3A6F2F732}"/>
              </a:ext>
            </a:extLst>
          </p:cNvPr>
          <p:cNvSpPr txBox="1"/>
          <p:nvPr/>
        </p:nvSpPr>
        <p:spPr>
          <a:xfrm>
            <a:off x="6338846" y="403824"/>
            <a:ext cx="583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C00000"/>
                </a:solidFill>
              </a:rPr>
              <a:t>bias</a:t>
            </a:r>
            <a:endParaRPr lang="fr-MA" dirty="0">
              <a:solidFill>
                <a:srgbClr val="C00000"/>
              </a:solidFill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CA870208-9611-4F3B-AF31-4764553FC692}"/>
              </a:ext>
            </a:extLst>
          </p:cNvPr>
          <p:cNvCxnSpPr>
            <a:cxnSpLocks/>
          </p:cNvCxnSpPr>
          <p:nvPr/>
        </p:nvCxnSpPr>
        <p:spPr>
          <a:xfrm>
            <a:off x="6925678" y="1026680"/>
            <a:ext cx="0" cy="288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80F9531-C8F3-4983-89A5-DB59D930E29B}"/>
              </a:ext>
            </a:extLst>
          </p:cNvPr>
          <p:cNvCxnSpPr>
            <a:cxnSpLocks/>
          </p:cNvCxnSpPr>
          <p:nvPr/>
        </p:nvCxnSpPr>
        <p:spPr>
          <a:xfrm>
            <a:off x="6978064" y="1650574"/>
            <a:ext cx="0" cy="288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7F0E991-D15E-4766-986C-03C3E41DD4DC}"/>
              </a:ext>
            </a:extLst>
          </p:cNvPr>
          <p:cNvCxnSpPr>
            <a:cxnSpLocks/>
          </p:cNvCxnSpPr>
          <p:nvPr/>
        </p:nvCxnSpPr>
        <p:spPr>
          <a:xfrm>
            <a:off x="6973299" y="2303044"/>
            <a:ext cx="0" cy="288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CDE4974-EF56-4A76-B648-AF83E86D2AA1}"/>
              </a:ext>
            </a:extLst>
          </p:cNvPr>
          <p:cNvCxnSpPr>
            <a:cxnSpLocks/>
          </p:cNvCxnSpPr>
          <p:nvPr/>
        </p:nvCxnSpPr>
        <p:spPr>
          <a:xfrm>
            <a:off x="6968533" y="2855498"/>
            <a:ext cx="0" cy="288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FBBB735-6F3C-494E-A07A-283EE71F474F}"/>
              </a:ext>
            </a:extLst>
          </p:cNvPr>
          <p:cNvCxnSpPr>
            <a:cxnSpLocks/>
          </p:cNvCxnSpPr>
          <p:nvPr/>
        </p:nvCxnSpPr>
        <p:spPr>
          <a:xfrm>
            <a:off x="6978056" y="3407952"/>
            <a:ext cx="0" cy="288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212689D-24AF-4735-B5CA-4C867D23E596}"/>
              </a:ext>
            </a:extLst>
          </p:cNvPr>
          <p:cNvCxnSpPr>
            <a:cxnSpLocks/>
          </p:cNvCxnSpPr>
          <p:nvPr/>
        </p:nvCxnSpPr>
        <p:spPr>
          <a:xfrm>
            <a:off x="6959005" y="3988983"/>
            <a:ext cx="0" cy="288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2AD7CB6-2791-445F-8B75-70872633E8AD}"/>
              </a:ext>
            </a:extLst>
          </p:cNvPr>
          <p:cNvCxnSpPr>
            <a:cxnSpLocks/>
          </p:cNvCxnSpPr>
          <p:nvPr/>
        </p:nvCxnSpPr>
        <p:spPr>
          <a:xfrm>
            <a:off x="6954240" y="4570013"/>
            <a:ext cx="0" cy="288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2A18175-C558-4B63-A239-0F6365F9813B}"/>
              </a:ext>
            </a:extLst>
          </p:cNvPr>
          <p:cNvCxnSpPr>
            <a:cxnSpLocks/>
          </p:cNvCxnSpPr>
          <p:nvPr/>
        </p:nvCxnSpPr>
        <p:spPr>
          <a:xfrm>
            <a:off x="6963762" y="5208193"/>
            <a:ext cx="0" cy="288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B404A4C8-CDE9-4106-A5DD-C007DA7224DD}"/>
              </a:ext>
            </a:extLst>
          </p:cNvPr>
          <p:cNvCxnSpPr>
            <a:cxnSpLocks/>
          </p:cNvCxnSpPr>
          <p:nvPr/>
        </p:nvCxnSpPr>
        <p:spPr>
          <a:xfrm>
            <a:off x="6958998" y="5774933"/>
            <a:ext cx="0" cy="2880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63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1749006" y="147422"/>
            <a:ext cx="5966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Neurone</a:t>
            </a:r>
            <a:endParaRPr lang="fr-MA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EBA6B-E6F7-48E3-8B8E-7CD4FD8CC149}"/>
              </a:ext>
            </a:extLst>
          </p:cNvPr>
          <p:cNvSpPr txBox="1"/>
          <p:nvPr/>
        </p:nvSpPr>
        <p:spPr>
          <a:xfrm>
            <a:off x="3631192" y="2085254"/>
            <a:ext cx="159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FF0000"/>
                </a:solidFill>
              </a:rPr>
              <a:t>weighted</a:t>
            </a:r>
            <a:r>
              <a:rPr lang="fr-MA" b="1" dirty="0">
                <a:solidFill>
                  <a:srgbClr val="FF0000"/>
                </a:solidFill>
              </a:rPr>
              <a:t> </a:t>
            </a:r>
            <a:r>
              <a:rPr lang="fr-MA" b="1" dirty="0" err="1">
                <a:solidFill>
                  <a:srgbClr val="FF0000"/>
                </a:solidFill>
              </a:rPr>
              <a:t>sum</a:t>
            </a:r>
            <a:endParaRPr lang="fr-MA" b="1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5E6683-07D0-4CD4-986F-2265BAB74DFA}"/>
              </a:ext>
            </a:extLst>
          </p:cNvPr>
          <p:cNvCxnSpPr>
            <a:cxnSpLocks/>
          </p:cNvCxnSpPr>
          <p:nvPr/>
        </p:nvCxnSpPr>
        <p:spPr>
          <a:xfrm>
            <a:off x="8140311" y="1740007"/>
            <a:ext cx="917964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DA37BDC-D5ED-4D43-A452-CB32E04786A6}"/>
              </a:ext>
            </a:extLst>
          </p:cNvPr>
          <p:cNvSpPr/>
          <p:nvPr/>
        </p:nvSpPr>
        <p:spPr>
          <a:xfrm>
            <a:off x="2553898" y="830799"/>
            <a:ext cx="5586413" cy="187921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6D7326-0D24-417F-B4CD-017A7934A7C2}"/>
              </a:ext>
            </a:extLst>
          </p:cNvPr>
          <p:cNvCxnSpPr>
            <a:cxnSpLocks/>
            <a:stCxn id="14" idx="0"/>
            <a:endCxn id="14" idx="4"/>
          </p:cNvCxnSpPr>
          <p:nvPr/>
        </p:nvCxnSpPr>
        <p:spPr>
          <a:xfrm>
            <a:off x="5347105" y="830799"/>
            <a:ext cx="0" cy="187921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F145B0F-30EA-49A3-B5FF-A68EC88115E3}"/>
              </a:ext>
            </a:extLst>
          </p:cNvPr>
          <p:cNvSpPr txBox="1"/>
          <p:nvPr/>
        </p:nvSpPr>
        <p:spPr>
          <a:xfrm>
            <a:off x="2839654" y="1585740"/>
            <a:ext cx="2454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s=w1*X1+w2*X2+…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Xm</a:t>
            </a:r>
            <a:endParaRPr lang="fr-MA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A4070D-24B9-4107-B0A8-0FFE43844699}"/>
              </a:ext>
            </a:extLst>
          </p:cNvPr>
          <p:cNvSpPr txBox="1"/>
          <p:nvPr/>
        </p:nvSpPr>
        <p:spPr>
          <a:xfrm>
            <a:off x="5506648" y="158574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/>
              <a:t>Activation_funct</a:t>
            </a:r>
            <a:r>
              <a:rPr lang="fr-MA" b="1" dirty="0"/>
              <a:t>(s)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D598D9-1C54-4039-89D8-E738192677BB}"/>
              </a:ext>
            </a:extLst>
          </p:cNvPr>
          <p:cNvSpPr txBox="1"/>
          <p:nvPr/>
        </p:nvSpPr>
        <p:spPr>
          <a:xfrm>
            <a:off x="657225" y="299380"/>
            <a:ext cx="65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ECDD85-5376-4735-A2E0-4DBE17F33EBB}"/>
              </a:ext>
            </a:extLst>
          </p:cNvPr>
          <p:cNvSpPr txBox="1"/>
          <p:nvPr/>
        </p:nvSpPr>
        <p:spPr>
          <a:xfrm>
            <a:off x="657225" y="1045115"/>
            <a:ext cx="65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2FC480-76DE-4499-A129-0146A01F1742}"/>
              </a:ext>
            </a:extLst>
          </p:cNvPr>
          <p:cNvSpPr txBox="1"/>
          <p:nvPr/>
        </p:nvSpPr>
        <p:spPr>
          <a:xfrm>
            <a:off x="671503" y="2926296"/>
            <a:ext cx="65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/>
              <a:t>Xm</a:t>
            </a:r>
            <a:endParaRPr lang="fr-M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360A1A-4596-4499-B876-0B62F24734DA}"/>
              </a:ext>
            </a:extLst>
          </p:cNvPr>
          <p:cNvSpPr txBox="1"/>
          <p:nvPr/>
        </p:nvSpPr>
        <p:spPr>
          <a:xfrm>
            <a:off x="8299853" y="1370296"/>
            <a:ext cx="926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output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AB7EF33-152F-40BC-BE2D-98A6606E6DF1}"/>
              </a:ext>
            </a:extLst>
          </p:cNvPr>
          <p:cNvCxnSpPr>
            <a:cxnSpLocks/>
            <a:stCxn id="25" idx="3"/>
            <a:endCxn id="14" idx="2"/>
          </p:cNvCxnSpPr>
          <p:nvPr/>
        </p:nvCxnSpPr>
        <p:spPr>
          <a:xfrm>
            <a:off x="1314441" y="484046"/>
            <a:ext cx="1239457" cy="1286361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9D7594-76D2-471B-879D-9142405F5EAC}"/>
              </a:ext>
            </a:extLst>
          </p:cNvPr>
          <p:cNvCxnSpPr>
            <a:cxnSpLocks/>
            <a:stCxn id="27" idx="3"/>
            <a:endCxn id="14" idx="2"/>
          </p:cNvCxnSpPr>
          <p:nvPr/>
        </p:nvCxnSpPr>
        <p:spPr>
          <a:xfrm>
            <a:off x="1314441" y="1229781"/>
            <a:ext cx="1239457" cy="54062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0768B56-7A4E-4F64-918B-C15F2B81949F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1197735" y="1770407"/>
            <a:ext cx="1356163" cy="133858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69D9370-C511-4EF0-B208-6B91DCC53DB4}"/>
              </a:ext>
            </a:extLst>
          </p:cNvPr>
          <p:cNvSpPr txBox="1"/>
          <p:nvPr/>
        </p:nvSpPr>
        <p:spPr>
          <a:xfrm>
            <a:off x="700077" y="1492279"/>
            <a:ext cx="4002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.</a:t>
            </a:r>
          </a:p>
          <a:p>
            <a:r>
              <a:rPr lang="fr-MA" dirty="0"/>
              <a:t>.</a:t>
            </a:r>
          </a:p>
          <a:p>
            <a:r>
              <a:rPr lang="fr-MA" dirty="0"/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CCC846-7458-467F-8A1F-5F84FED1F8BE}"/>
              </a:ext>
            </a:extLst>
          </p:cNvPr>
          <p:cNvSpPr txBox="1"/>
          <p:nvPr/>
        </p:nvSpPr>
        <p:spPr>
          <a:xfrm>
            <a:off x="1339436" y="341312"/>
            <a:ext cx="657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/>
              <a:t>W1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BCAC4C-EBA7-4FB0-8BB6-DA628A0A2EF5}"/>
              </a:ext>
            </a:extLst>
          </p:cNvPr>
          <p:cNvSpPr txBox="1"/>
          <p:nvPr/>
        </p:nvSpPr>
        <p:spPr>
          <a:xfrm>
            <a:off x="1289446" y="984075"/>
            <a:ext cx="657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/>
              <a:t>W2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04FC8C-E7EE-4F3D-8614-2EE992A57EDA}"/>
              </a:ext>
            </a:extLst>
          </p:cNvPr>
          <p:cNvSpPr txBox="1"/>
          <p:nvPr/>
        </p:nvSpPr>
        <p:spPr>
          <a:xfrm>
            <a:off x="957249" y="2567922"/>
            <a:ext cx="657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dirty="0" err="1"/>
              <a:t>Wm</a:t>
            </a:r>
            <a:endParaRPr lang="fr-MA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6A04128-E79A-4E2D-8613-F374732D1637}"/>
                  </a:ext>
                </a:extLst>
              </p:cNvPr>
              <p:cNvSpPr txBox="1"/>
              <p:nvPr/>
            </p:nvSpPr>
            <p:spPr>
              <a:xfrm>
                <a:off x="158361" y="3448562"/>
                <a:ext cx="5586403" cy="3200876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buClr>
                    <a:srgbClr val="FF3300"/>
                  </a:buClr>
                </a:pPr>
                <a:r>
                  <a:rPr lang="fr-MA" b="1" dirty="0"/>
                  <a:t>Traitement</a:t>
                </a:r>
              </a:p>
              <a:p>
                <a:pPr marL="342900" indent="-342900">
                  <a:spcAft>
                    <a:spcPts val="600"/>
                  </a:spcAft>
                  <a:buClr>
                    <a:srgbClr val="FF3300"/>
                  </a:buClr>
                  <a:buFont typeface="+mj-lt"/>
                  <a:buAutoNum type="arabicPeriod"/>
                </a:pPr>
                <a:r>
                  <a:rPr lang="fr-MA" dirty="0"/>
                  <a:t>Le neurone reçoit des entrées</a:t>
                </a:r>
              </a:p>
              <a:p>
                <a:pPr marL="342900" indent="-342900">
                  <a:spcAft>
                    <a:spcPts val="600"/>
                  </a:spcAft>
                  <a:buClr>
                    <a:srgbClr val="FF3300"/>
                  </a:buClr>
                  <a:buFont typeface="+mj-lt"/>
                  <a:buAutoNum type="arabicPeriod"/>
                </a:pPr>
                <a:r>
                  <a:rPr lang="fr-MA" dirty="0"/>
                  <a:t>Calcule la somme pondérée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fr-MA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nor/>
                          </m:rPr>
                          <a:rPr lang="fr-MA" dirty="0"/>
                          <m:t>Wi</m:t>
                        </m:r>
                        <m:r>
                          <m:rPr>
                            <m:nor/>
                          </m:rPr>
                          <a:rPr lang="fr-MA" dirty="0"/>
                          <m:t>∗</m:t>
                        </m:r>
                        <m:r>
                          <m:rPr>
                            <m:nor/>
                          </m:rPr>
                          <a:rPr lang="fr-MA" dirty="0"/>
                          <m:t>Xi</m:t>
                        </m:r>
                      </m:e>
                    </m:nary>
                  </m:oMath>
                </a14:m>
                <a:endParaRPr lang="fr-MA" dirty="0"/>
              </a:p>
              <a:p>
                <a:pPr marL="342900" indent="-342900">
                  <a:spcAft>
                    <a:spcPts val="600"/>
                  </a:spcAft>
                  <a:buClr>
                    <a:srgbClr val="FF3300"/>
                  </a:buClr>
                  <a:buFont typeface="+mj-lt"/>
                  <a:buAutoNum type="arabicPeriod"/>
                </a:pPr>
                <a:r>
                  <a:rPr lang="fr-MA" dirty="0"/>
                  <a:t>Calcule la sortie à l’aide d’une fonction d’activation</a:t>
                </a:r>
              </a:p>
              <a:p>
                <a:pPr marL="342900" indent="-342900">
                  <a:spcAft>
                    <a:spcPts val="600"/>
                  </a:spcAft>
                  <a:buClr>
                    <a:srgbClr val="FF3300"/>
                  </a:buClr>
                  <a:buFont typeface="+mj-lt"/>
                  <a:buAutoNum type="arabicPeriod"/>
                </a:pPr>
                <a:endParaRPr lang="fr-MA" dirty="0"/>
              </a:p>
              <a:p>
                <a:pPr marL="342900" indent="-342900">
                  <a:spcAft>
                    <a:spcPts val="600"/>
                  </a:spcAft>
                  <a:buClr>
                    <a:srgbClr val="FF3300"/>
                  </a:buClr>
                  <a:buFont typeface="+mj-lt"/>
                  <a:buAutoNum type="arabicPeriod"/>
                </a:pPr>
                <a:endParaRPr lang="fr-MA" dirty="0"/>
              </a:p>
              <a:p>
                <a:pPr marL="342900" indent="-342900">
                  <a:spcAft>
                    <a:spcPts val="600"/>
                  </a:spcAft>
                  <a:buClr>
                    <a:srgbClr val="FF3300"/>
                  </a:buClr>
                  <a:buFont typeface="+mj-lt"/>
                  <a:buAutoNum type="arabicPeriod"/>
                </a:pPr>
                <a:endParaRPr lang="fr-MA" dirty="0"/>
              </a:p>
              <a:p>
                <a:pPr marL="342900" indent="-342900">
                  <a:spcAft>
                    <a:spcPts val="600"/>
                  </a:spcAft>
                  <a:buClr>
                    <a:srgbClr val="FF3300"/>
                  </a:buClr>
                  <a:buFont typeface="+mj-lt"/>
                  <a:buAutoNum type="arabicPeriod"/>
                </a:pPr>
                <a:endParaRPr lang="fr-MA" dirty="0"/>
              </a:p>
              <a:p>
                <a:pPr marL="342900" indent="-342900">
                  <a:spcAft>
                    <a:spcPts val="600"/>
                  </a:spcAft>
                  <a:buClr>
                    <a:srgbClr val="FF3300"/>
                  </a:buClr>
                  <a:buFont typeface="+mj-lt"/>
                  <a:buAutoNum type="arabicPeriod"/>
                </a:pPr>
                <a:endParaRPr lang="fr-MA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6A04128-E79A-4E2D-8613-F374732D1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61" y="3448562"/>
                <a:ext cx="5586403" cy="3200876"/>
              </a:xfrm>
              <a:prstGeom prst="rect">
                <a:avLst/>
              </a:prstGeom>
              <a:blipFill>
                <a:blip r:embed="rId2"/>
                <a:stretch>
                  <a:fillRect l="-871" t="-949"/>
                </a:stretch>
              </a:blipFill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61D32253-E9C6-4A07-A39B-BD6922E332C1}"/>
              </a:ext>
            </a:extLst>
          </p:cNvPr>
          <p:cNvSpPr txBox="1"/>
          <p:nvPr/>
        </p:nvSpPr>
        <p:spPr>
          <a:xfrm>
            <a:off x="6432930" y="3448562"/>
            <a:ext cx="5586403" cy="320087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FF3300"/>
              </a:buClr>
            </a:pPr>
            <a:r>
              <a:rPr lang="fr-MA" b="1" dirty="0" err="1"/>
              <a:t>Element</a:t>
            </a:r>
            <a:endParaRPr lang="fr-MA" b="1" dirty="0"/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/>
              <a:t>Inputs</a:t>
            </a:r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 err="1"/>
              <a:t>Weights</a:t>
            </a:r>
            <a:endParaRPr lang="fr-MA" dirty="0"/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/>
              <a:t>Activation </a:t>
            </a:r>
            <a:r>
              <a:rPr lang="fr-MA" dirty="0" err="1"/>
              <a:t>function</a:t>
            </a:r>
            <a:endParaRPr lang="fr-MA" dirty="0"/>
          </a:p>
          <a:p>
            <a:pPr marL="540000" lvl="1" indent="-3429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/>
              <a:t>Sigmoid</a:t>
            </a:r>
            <a:endParaRPr lang="fr-MA" dirty="0"/>
          </a:p>
          <a:p>
            <a:pPr marL="540000" lvl="1" indent="-3429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/>
              <a:t>Relu</a:t>
            </a:r>
          </a:p>
          <a:p>
            <a:pPr marL="540000" lvl="1" indent="-3429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/>
              <a:t>Softmax</a:t>
            </a:r>
            <a:endParaRPr lang="fr-MA" dirty="0"/>
          </a:p>
          <a:p>
            <a:pPr marL="540000" lvl="1" indent="-3429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/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1862755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8444BD-619A-4916-BE21-D715768EA2A0}"/>
              </a:ext>
            </a:extLst>
          </p:cNvPr>
          <p:cNvSpPr txBox="1"/>
          <p:nvPr/>
        </p:nvSpPr>
        <p:spPr>
          <a:xfrm>
            <a:off x="158362" y="4748724"/>
            <a:ext cx="5586403" cy="143116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FF3300"/>
              </a:buClr>
            </a:pPr>
            <a:r>
              <a:rPr lang="fr-MA" b="1" dirty="0"/>
              <a:t>Learning</a:t>
            </a:r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/>
              <a:t>fit(</a:t>
            </a:r>
            <a:r>
              <a:rPr lang="fr-MA" dirty="0" err="1"/>
              <a:t>dataset</a:t>
            </a:r>
            <a:r>
              <a:rPr lang="fr-MA" dirty="0"/>
              <a:t>): update </a:t>
            </a:r>
            <a:r>
              <a:rPr lang="fr-MA" dirty="0" err="1"/>
              <a:t>weights</a:t>
            </a:r>
            <a:endParaRPr lang="fr-MA" dirty="0"/>
          </a:p>
          <a:p>
            <a:pPr>
              <a:spcAft>
                <a:spcPts val="600"/>
              </a:spcAft>
              <a:buClr>
                <a:srgbClr val="FF3300"/>
              </a:buClr>
            </a:pPr>
            <a:r>
              <a:rPr lang="fr-MA" b="1" dirty="0" err="1"/>
              <a:t>Prediction</a:t>
            </a:r>
            <a:endParaRPr lang="fr-MA" b="1" dirty="0"/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 err="1"/>
              <a:t>predict</a:t>
            </a:r>
            <a:r>
              <a:rPr lang="fr-MA" dirty="0"/>
              <a:t>(</a:t>
            </a:r>
            <a:r>
              <a:rPr lang="fr-MA" dirty="0" err="1"/>
              <a:t>newdata</a:t>
            </a:r>
            <a:r>
              <a:rPr lang="fr-MA" dirty="0"/>
              <a:t>): output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60E93-35BA-4450-BE19-8F40BDB9B252}"/>
              </a:ext>
            </a:extLst>
          </p:cNvPr>
          <p:cNvSpPr txBox="1"/>
          <p:nvPr/>
        </p:nvSpPr>
        <p:spPr>
          <a:xfrm>
            <a:off x="6447236" y="4748724"/>
            <a:ext cx="5586403" cy="143116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FF3300"/>
              </a:buClr>
            </a:pPr>
            <a:r>
              <a:rPr lang="fr-MA" b="1" dirty="0" err="1"/>
              <a:t>Element</a:t>
            </a:r>
            <a:endParaRPr lang="fr-MA" b="1" dirty="0"/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/>
              <a:t>Input Layer</a:t>
            </a:r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b="1" dirty="0" err="1">
                <a:solidFill>
                  <a:srgbClr val="FF0000"/>
                </a:solidFill>
              </a:rPr>
              <a:t>Hidden</a:t>
            </a:r>
            <a:r>
              <a:rPr lang="fr-MA" b="1" dirty="0">
                <a:solidFill>
                  <a:srgbClr val="FF0000"/>
                </a:solidFill>
              </a:rPr>
              <a:t> </a:t>
            </a:r>
            <a:r>
              <a:rPr lang="fr-MA" b="1" dirty="0" err="1">
                <a:solidFill>
                  <a:srgbClr val="FF0000"/>
                </a:solidFill>
              </a:rPr>
              <a:t>Layers</a:t>
            </a:r>
            <a:endParaRPr lang="fr-MA" b="1" dirty="0">
              <a:solidFill>
                <a:srgbClr val="FF0000"/>
              </a:solidFill>
            </a:endParaRPr>
          </a:p>
          <a:p>
            <a:pPr marL="342900" indent="-342900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dirty="0"/>
              <a:t>Output Layer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C2F340-6E97-4451-83DD-D5689FCD7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7" y="71437"/>
            <a:ext cx="4800601" cy="444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50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503BFB-E45D-4D08-A529-DD71600F711E}"/>
              </a:ext>
            </a:extLst>
          </p:cNvPr>
          <p:cNvSpPr txBox="1"/>
          <p:nvPr/>
        </p:nvSpPr>
        <p:spPr>
          <a:xfrm>
            <a:off x="495300" y="1319325"/>
            <a:ext cx="11201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Clr>
                <a:srgbClr val="FF3300"/>
              </a:buClr>
            </a:pPr>
            <a:r>
              <a:rPr lang="fr-MA" sz="3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Multilayer</a:t>
            </a:r>
            <a:r>
              <a:rPr lang="fr-M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Neural Network by </a:t>
            </a:r>
            <a:r>
              <a:rPr lang="fr-MA" sz="3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using</a:t>
            </a:r>
            <a:r>
              <a:rPr lang="fr-M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br>
              <a:rPr lang="fr-M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fr-MA" sz="3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tensorflow</a:t>
            </a:r>
            <a:r>
              <a:rPr lang="fr-MA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fr-MA" sz="3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keras</a:t>
            </a:r>
            <a:endParaRPr lang="fr-MA" sz="3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889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32954"/>
            <a:ext cx="1210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Les étapes à suivre pour créer le modèle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609600" y="882134"/>
            <a:ext cx="742188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rgbClr val="0066FF"/>
                </a:solidFill>
              </a:rPr>
              <a:t>Data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Features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(X),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target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(y)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Visualize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Split Data (training data, test data)</a:t>
            </a:r>
            <a:endParaRPr lang="fr-MA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model, </a:t>
            </a:r>
            <a:r>
              <a:rPr lang="fr-MA" dirty="0">
                <a:solidFill>
                  <a:srgbClr val="0070C0"/>
                </a:solidFill>
              </a:rPr>
              <a:t>compile the model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keras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tensorflow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rgbClr val="FF3300"/>
                </a:solidFill>
              </a:rPr>
              <a:t>adam</a:t>
            </a:r>
            <a:endParaRPr lang="fr-MA" dirty="0">
              <a:solidFill>
                <a:srgbClr val="FF3300"/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</a:t>
            </a:r>
            <a:r>
              <a:rPr lang="fr-MA" dirty="0" err="1">
                <a:solidFill>
                  <a:srgbClr val="FF0000"/>
                </a:solidFill>
              </a:rPr>
              <a:t>sparse_categorical_crossentropy</a:t>
            </a:r>
            <a:endParaRPr lang="fr-MA" dirty="0">
              <a:solidFill>
                <a:srgbClr val="FF000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the model</a:t>
            </a:r>
            <a:endParaRPr lang="fr-MA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Parameters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  <a:endParaRPr lang="fr-MA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488168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0BD0-FD5F-4E95-B19D-ADCE1E3DF4BC}"/>
              </a:ext>
            </a:extLst>
          </p:cNvPr>
          <p:cNvSpPr txBox="1"/>
          <p:nvPr/>
        </p:nvSpPr>
        <p:spPr>
          <a:xfrm>
            <a:off x="100013" y="7143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1.</a:t>
            </a:r>
            <a:r>
              <a:rPr lang="fr-MA" sz="2400" dirty="0"/>
              <a:t> </a:t>
            </a:r>
            <a:r>
              <a:rPr lang="fr-MA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Dataset</a:t>
            </a:r>
            <a:endParaRPr lang="fr-MA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03047-2FA8-4C0E-A912-6A93007566BF}"/>
              </a:ext>
            </a:extLst>
          </p:cNvPr>
          <p:cNvSpPr txBox="1"/>
          <p:nvPr/>
        </p:nvSpPr>
        <p:spPr>
          <a:xfrm>
            <a:off x="100013" y="729734"/>
            <a:ext cx="5400675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import </a:t>
            </a:r>
            <a:r>
              <a:rPr lang="fr-MA" dirty="0" err="1"/>
              <a:t>keras</a:t>
            </a:r>
            <a:endParaRPr lang="fr-M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70ECA-010D-4C84-8A77-3D65DDCA96D4}"/>
              </a:ext>
            </a:extLst>
          </p:cNvPr>
          <p:cNvSpPr txBox="1"/>
          <p:nvPr/>
        </p:nvSpPr>
        <p:spPr>
          <a:xfrm>
            <a:off x="100013" y="1434195"/>
            <a:ext cx="5400675" cy="646331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dataset</a:t>
            </a:r>
            <a:r>
              <a:rPr lang="fr-MA" dirty="0"/>
              <a:t> = </a:t>
            </a:r>
            <a:r>
              <a:rPr lang="fr-MA" dirty="0" err="1"/>
              <a:t>keras.datasets.fashion_mnist</a:t>
            </a:r>
            <a:endParaRPr lang="fr-MA" dirty="0"/>
          </a:p>
          <a:p>
            <a:r>
              <a:rPr lang="fr-MA" dirty="0"/>
              <a:t>(</a:t>
            </a:r>
            <a:r>
              <a:rPr lang="fr-MA" dirty="0" err="1"/>
              <a:t>X_train</a:t>
            </a:r>
            <a:r>
              <a:rPr lang="fr-MA" dirty="0"/>
              <a:t>, </a:t>
            </a:r>
            <a:r>
              <a:rPr lang="fr-MA" dirty="0" err="1"/>
              <a:t>y_train</a:t>
            </a:r>
            <a:r>
              <a:rPr lang="fr-MA" dirty="0"/>
              <a:t>), (</a:t>
            </a:r>
            <a:r>
              <a:rPr lang="fr-MA" dirty="0" err="1"/>
              <a:t>X_test</a:t>
            </a:r>
            <a:r>
              <a:rPr lang="fr-MA" dirty="0"/>
              <a:t>, </a:t>
            </a:r>
            <a:r>
              <a:rPr lang="fr-MA" dirty="0" err="1"/>
              <a:t>y_test</a:t>
            </a:r>
            <a:r>
              <a:rPr lang="fr-MA" dirty="0"/>
              <a:t>) = </a:t>
            </a:r>
            <a:r>
              <a:rPr lang="fr-MA" dirty="0" err="1"/>
              <a:t>dataset.load_data</a:t>
            </a:r>
            <a:r>
              <a:rPr lang="fr-MA" dirty="0"/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B8D19-B1E2-4B53-842B-52A53A303AB9}"/>
              </a:ext>
            </a:extLst>
          </p:cNvPr>
          <p:cNvSpPr txBox="1"/>
          <p:nvPr/>
        </p:nvSpPr>
        <p:spPr>
          <a:xfrm>
            <a:off x="217885" y="2301355"/>
            <a:ext cx="313967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X_train.shape</a:t>
            </a:r>
            <a:endParaRPr lang="fr-M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09440E-DF58-44F1-B1B6-47DB2805B930}"/>
              </a:ext>
            </a:extLst>
          </p:cNvPr>
          <p:cNvSpPr txBox="1"/>
          <p:nvPr/>
        </p:nvSpPr>
        <p:spPr>
          <a:xfrm>
            <a:off x="3561160" y="2301355"/>
            <a:ext cx="1939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(60000, 28, 28)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12072D-693E-4D20-8EA6-FBE6686C215D}"/>
              </a:ext>
            </a:extLst>
          </p:cNvPr>
          <p:cNvSpPr txBox="1"/>
          <p:nvPr/>
        </p:nvSpPr>
        <p:spPr>
          <a:xfrm>
            <a:off x="217885" y="3774044"/>
            <a:ext cx="3643313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y_test</a:t>
            </a:r>
            <a:r>
              <a:rPr lang="fr-MA" dirty="0"/>
              <a:t>[2]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FD3F35-1A59-4BF7-A8A1-8BFFC4CDAC0C}"/>
              </a:ext>
            </a:extLst>
          </p:cNvPr>
          <p:cNvSpPr txBox="1"/>
          <p:nvPr/>
        </p:nvSpPr>
        <p:spPr>
          <a:xfrm>
            <a:off x="217885" y="2878302"/>
            <a:ext cx="313967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y_train.shape</a:t>
            </a:r>
            <a:endParaRPr lang="fr-M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32F656-FC18-408D-B282-F986ED2807FB}"/>
              </a:ext>
            </a:extLst>
          </p:cNvPr>
          <p:cNvSpPr txBox="1"/>
          <p:nvPr/>
        </p:nvSpPr>
        <p:spPr>
          <a:xfrm>
            <a:off x="3561160" y="2878302"/>
            <a:ext cx="1939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(60000, )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9544D2-61A3-4DBF-9E74-289F29F08868}"/>
              </a:ext>
            </a:extLst>
          </p:cNvPr>
          <p:cNvSpPr txBox="1"/>
          <p:nvPr/>
        </p:nvSpPr>
        <p:spPr>
          <a:xfrm>
            <a:off x="217885" y="4238305"/>
            <a:ext cx="3643313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plt.matshow</a:t>
            </a:r>
            <a:r>
              <a:rPr lang="fr-MA" dirty="0"/>
              <a:t>(</a:t>
            </a:r>
            <a:r>
              <a:rPr lang="fr-MA" dirty="0" err="1"/>
              <a:t>X_test</a:t>
            </a:r>
            <a:r>
              <a:rPr lang="fr-MA" dirty="0"/>
              <a:t>[2])</a:t>
            </a:r>
          </a:p>
        </p:txBody>
      </p:sp>
      <p:graphicFrame>
        <p:nvGraphicFramePr>
          <p:cNvPr id="20" name="Table 7">
            <a:extLst>
              <a:ext uri="{FF2B5EF4-FFF2-40B4-BE49-F238E27FC236}">
                <a16:creationId xmlns:a16="http://schemas.microsoft.com/office/drawing/2014/main" id="{704CAF7F-3A4E-48C8-ABAD-196DB9A04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893098"/>
              </p:ext>
            </p:extLst>
          </p:nvPr>
        </p:nvGraphicFramePr>
        <p:xfrm>
          <a:off x="9663125" y="212361"/>
          <a:ext cx="2395536" cy="3433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944">
                  <a:extLst>
                    <a:ext uri="{9D8B030D-6E8A-4147-A177-3AD203B41FA5}">
                      <a16:colId xmlns:a16="http://schemas.microsoft.com/office/drawing/2014/main" val="1721624820"/>
                    </a:ext>
                  </a:extLst>
                </a:gridCol>
                <a:gridCol w="1510592">
                  <a:extLst>
                    <a:ext uri="{9D8B030D-6E8A-4147-A177-3AD203B41FA5}">
                      <a16:colId xmlns:a16="http://schemas.microsoft.com/office/drawing/2014/main" val="501784602"/>
                    </a:ext>
                  </a:extLst>
                </a:gridCol>
              </a:tblGrid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98397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T-shirt/top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253830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Trouser</a:t>
                      </a:r>
                      <a:endParaRPr lang="fr-MA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424623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Pullover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229981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Dress</a:t>
                      </a:r>
                      <a:endParaRPr lang="fr-MA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538309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132655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Sandal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656236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Shirt</a:t>
                      </a:r>
                      <a:endParaRPr lang="fr-MA" sz="1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42378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Sneaker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5312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478784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sz="1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Ankle</a:t>
                      </a:r>
                      <a:r>
                        <a:rPr lang="fr-MA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boot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128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CD4ED8D-0567-4BFE-93E6-A389C10B1EAB}"/>
              </a:ext>
            </a:extLst>
          </p:cNvPr>
          <p:cNvSpPr txBox="1"/>
          <p:nvPr/>
        </p:nvSpPr>
        <p:spPr>
          <a:xfrm>
            <a:off x="3932637" y="3774044"/>
            <a:ext cx="452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b="1" dirty="0"/>
              <a:t>1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7A5A7D7-BB91-47DF-AEFC-2C6D46308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169" y="4529134"/>
            <a:ext cx="2137186" cy="21288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E446C64-5532-4FDB-8828-062B29755D6F}"/>
              </a:ext>
            </a:extLst>
          </p:cNvPr>
          <p:cNvSpPr txBox="1"/>
          <p:nvPr/>
        </p:nvSpPr>
        <p:spPr>
          <a:xfrm>
            <a:off x="217884" y="3309783"/>
            <a:ext cx="3139677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X_test</a:t>
            </a:r>
            <a:r>
              <a:rPr lang="fr-MA" dirty="0"/>
              <a:t>[2]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889268-BD09-4DBB-AFFE-DB3AC9803E5F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3357561" y="3494449"/>
            <a:ext cx="2346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B5F8255B-561B-43E9-84B6-921F339DD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285" y="1571617"/>
            <a:ext cx="3600955" cy="283242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FF86578-EC59-4ED1-9F5B-F8D63E0D43BE}"/>
              </a:ext>
            </a:extLst>
          </p:cNvPr>
          <p:cNvSpPr txBox="1"/>
          <p:nvPr/>
        </p:nvSpPr>
        <p:spPr>
          <a:xfrm>
            <a:off x="192184" y="4945977"/>
            <a:ext cx="3740453" cy="646331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X_train</a:t>
            </a:r>
            <a:r>
              <a:rPr lang="fr-MA" dirty="0"/>
              <a:t> = </a:t>
            </a:r>
            <a:r>
              <a:rPr lang="fr-MA" dirty="0" err="1"/>
              <a:t>X_train</a:t>
            </a:r>
            <a:r>
              <a:rPr lang="fr-MA" dirty="0"/>
              <a:t>/255</a:t>
            </a:r>
          </a:p>
          <a:p>
            <a:r>
              <a:rPr lang="en-US" dirty="0" err="1"/>
              <a:t>X_test</a:t>
            </a:r>
            <a:r>
              <a:rPr lang="en-US" dirty="0"/>
              <a:t> = </a:t>
            </a:r>
            <a:r>
              <a:rPr lang="en-US" dirty="0" err="1"/>
              <a:t>X_test</a:t>
            </a:r>
            <a:r>
              <a:rPr lang="en-US" dirty="0"/>
              <a:t>/255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195899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5" grpId="0" animBg="1"/>
      <p:bldP spid="16" grpId="0" animBg="1"/>
      <p:bldP spid="17" grpId="0"/>
      <p:bldP spid="19" grpId="0" animBg="1"/>
      <p:bldP spid="23" grpId="0"/>
      <p:bldP spid="26" grpId="0" animBg="1"/>
      <p:bldP spid="3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32954"/>
            <a:ext cx="1210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Les étapes à suivre pour créer le modèle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609600" y="882134"/>
            <a:ext cx="742188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Features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(X),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target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(y)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Visualize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Split Data (training data, test data)</a:t>
            </a:r>
            <a:endParaRPr lang="fr-MA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rgbClr val="0066FF"/>
                </a:solidFill>
              </a:rPr>
              <a:t>Model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model, </a:t>
            </a:r>
            <a:r>
              <a:rPr lang="fr-MA" dirty="0">
                <a:solidFill>
                  <a:srgbClr val="0070C0"/>
                </a:solidFill>
              </a:rPr>
              <a:t>compile the model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keras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tensorflow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rgbClr val="FF3300"/>
                </a:solidFill>
              </a:rPr>
              <a:t>adam</a:t>
            </a:r>
            <a:endParaRPr lang="fr-MA" dirty="0">
              <a:solidFill>
                <a:srgbClr val="FF3300"/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</a:t>
            </a:r>
            <a:r>
              <a:rPr lang="fr-MA" dirty="0" err="1">
                <a:solidFill>
                  <a:srgbClr val="FF0000"/>
                </a:solidFill>
              </a:rPr>
              <a:t>sparse_categorical_crossentropy</a:t>
            </a:r>
            <a:endParaRPr lang="fr-MA" dirty="0">
              <a:solidFill>
                <a:srgbClr val="FF000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the model</a:t>
            </a:r>
            <a:endParaRPr lang="fr-MA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Parameters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  <a:endParaRPr lang="fr-MA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706743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07F6E1-B0F0-453F-AF9A-6749B6BA0239}"/>
              </a:ext>
            </a:extLst>
          </p:cNvPr>
          <p:cNvSpPr txBox="1"/>
          <p:nvPr/>
        </p:nvSpPr>
        <p:spPr>
          <a:xfrm>
            <a:off x="498872" y="105013"/>
            <a:ext cx="8683227" cy="38318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dirty="0" err="1">
                <a:solidFill>
                  <a:srgbClr val="292929"/>
                </a:solidFill>
                <a:effectLst/>
                <a:latin typeface="charter"/>
              </a:rPr>
              <a:t>Plusieurs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 </a:t>
            </a:r>
            <a:r>
              <a:rPr lang="en-US" b="1" i="0" dirty="0" err="1">
                <a:solidFill>
                  <a:srgbClr val="292929"/>
                </a:solidFill>
                <a:effectLst/>
                <a:latin typeface="charter"/>
              </a:rPr>
              <a:t>fonctions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 pour </a:t>
            </a:r>
            <a:r>
              <a:rPr lang="en-US" b="1" i="0" dirty="0" err="1">
                <a:solidFill>
                  <a:srgbClr val="292929"/>
                </a:solidFill>
                <a:effectLst/>
                <a:latin typeface="charter"/>
              </a:rPr>
              <a:t>évaluer</a:t>
            </a: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 cost</a:t>
            </a:r>
            <a:endParaRPr lang="en-US" b="1" dirty="0">
              <a:solidFill>
                <a:srgbClr val="292929"/>
              </a:solidFill>
              <a:latin typeface="charter"/>
            </a:endParaRP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endParaRPr lang="en-US" b="1" i="0" dirty="0">
              <a:solidFill>
                <a:srgbClr val="292929"/>
              </a:solidFill>
              <a:effectLst/>
              <a:latin typeface="charter"/>
            </a:endParaRP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Binary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dirty="0" err="1">
                <a:solidFill>
                  <a:srgbClr val="292929"/>
                </a:solidFill>
                <a:latin typeface="charter"/>
              </a:rPr>
              <a:t>BinaryCrossentropy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class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dirty="0" err="1">
                <a:solidFill>
                  <a:srgbClr val="292929"/>
                </a:solidFill>
                <a:latin typeface="charter"/>
              </a:rPr>
              <a:t>CategoricalCrossentropy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class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dirty="0" err="1">
                <a:solidFill>
                  <a:srgbClr val="292929"/>
                </a:solidFill>
                <a:latin typeface="charter"/>
              </a:rPr>
              <a:t>SparseCategoricalCrossentropy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class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dirty="0">
                <a:solidFill>
                  <a:srgbClr val="292929"/>
                </a:solidFill>
                <a:latin typeface="charter"/>
              </a:rPr>
              <a:t>Poisson class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dirty="0" err="1">
                <a:solidFill>
                  <a:srgbClr val="292929"/>
                </a:solidFill>
                <a:latin typeface="charter"/>
              </a:rPr>
              <a:t>binary_crossentropy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function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dirty="0" err="1">
                <a:solidFill>
                  <a:srgbClr val="292929"/>
                </a:solidFill>
                <a:latin typeface="charter"/>
              </a:rPr>
              <a:t>categorical_crossentropy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function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b="1" dirty="0" err="1">
                <a:solidFill>
                  <a:srgbClr val="292929"/>
                </a:solidFill>
                <a:latin typeface="charter"/>
              </a:rPr>
              <a:t>sparse_categorical_crossentropy</a:t>
            </a:r>
            <a:r>
              <a:rPr lang="en-US" b="1" dirty="0">
                <a:solidFill>
                  <a:srgbClr val="292929"/>
                </a:solidFill>
                <a:latin typeface="charter"/>
              </a:rPr>
              <a:t> function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dirty="0">
                <a:solidFill>
                  <a:srgbClr val="292929"/>
                </a:solidFill>
                <a:latin typeface="charter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9391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F1E555-18C3-46BC-9B26-3DE6A7495458}"/>
              </a:ext>
            </a:extLst>
          </p:cNvPr>
          <p:cNvSpPr txBox="1"/>
          <p:nvPr/>
        </p:nvSpPr>
        <p:spPr>
          <a:xfrm>
            <a:off x="260743" y="1015142"/>
            <a:ext cx="8683227" cy="40318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i="0" dirty="0" err="1">
                <a:solidFill>
                  <a:srgbClr val="292929"/>
                </a:solidFill>
                <a:effectLst/>
                <a:latin typeface="charter"/>
              </a:rPr>
              <a:t>Optimzer</a:t>
            </a:r>
            <a:r>
              <a:rPr lang="en-US" i="0" dirty="0">
                <a:solidFill>
                  <a:srgbClr val="292929"/>
                </a:solidFill>
                <a:effectLst/>
                <a:latin typeface="charter"/>
              </a:rPr>
              <a:t> functions </a:t>
            </a:r>
            <a:r>
              <a:rPr lang="en-US" i="0" dirty="0" err="1">
                <a:solidFill>
                  <a:srgbClr val="292929"/>
                </a:solidFill>
                <a:effectLst/>
                <a:latin typeface="charter"/>
              </a:rPr>
              <a:t>sont</a:t>
            </a:r>
            <a:r>
              <a:rPr lang="en-US" i="0" dirty="0">
                <a:solidFill>
                  <a:srgbClr val="292929"/>
                </a:solidFill>
                <a:effectLst/>
                <a:latin typeface="charter"/>
              </a:rPr>
              <a:t> </a:t>
            </a:r>
            <a:r>
              <a:rPr lang="en-US" i="0" dirty="0" err="1">
                <a:solidFill>
                  <a:srgbClr val="292929"/>
                </a:solidFill>
                <a:effectLst/>
                <a:latin typeface="charter"/>
              </a:rPr>
              <a:t>basés</a:t>
            </a:r>
            <a:r>
              <a:rPr lang="en-US" i="0" dirty="0">
                <a:solidFill>
                  <a:srgbClr val="292929"/>
                </a:solidFill>
                <a:effectLst/>
                <a:latin typeface="charter"/>
              </a:rPr>
              <a:t> sur </a:t>
            </a:r>
            <a:r>
              <a:rPr lang="en-US" i="0" dirty="0" err="1">
                <a:solidFill>
                  <a:srgbClr val="292929"/>
                </a:solidFill>
                <a:effectLst/>
                <a:latin typeface="charter"/>
              </a:rPr>
              <a:t>l’algorithme</a:t>
            </a:r>
            <a:r>
              <a:rPr lang="en-US" i="0" dirty="0">
                <a:solidFill>
                  <a:srgbClr val="292929"/>
                </a:solidFill>
                <a:effectLst/>
                <a:latin typeface="charter"/>
              </a:rPr>
              <a:t> </a:t>
            </a:r>
            <a:r>
              <a:rPr lang="en-US" i="0" dirty="0" err="1">
                <a:solidFill>
                  <a:srgbClr val="292929"/>
                </a:solidFill>
                <a:effectLst/>
                <a:latin typeface="charter"/>
              </a:rPr>
              <a:t>Grandient</a:t>
            </a:r>
            <a:r>
              <a:rPr lang="en-US" i="0" dirty="0">
                <a:solidFill>
                  <a:srgbClr val="292929"/>
                </a:solidFill>
                <a:effectLst/>
                <a:latin typeface="charter"/>
              </a:rPr>
              <a:t> Descent</a:t>
            </a:r>
            <a:br>
              <a:rPr lang="en-US" i="0" dirty="0">
                <a:solidFill>
                  <a:srgbClr val="292929"/>
                </a:solidFill>
                <a:effectLst/>
                <a:latin typeface="charter"/>
              </a:rPr>
            </a:br>
            <a:endParaRPr lang="en-US" i="0" dirty="0">
              <a:solidFill>
                <a:srgbClr val="292929"/>
              </a:solidFill>
              <a:effectLst/>
              <a:latin typeface="charter"/>
            </a:endParaRPr>
          </a:p>
          <a:p>
            <a:pPr algn="l"/>
            <a:r>
              <a:rPr lang="en-US" dirty="0" err="1">
                <a:solidFill>
                  <a:srgbClr val="292929"/>
                </a:solidFill>
                <a:latin typeface="charter"/>
              </a:rPr>
              <a:t>Plusieurs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variantes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de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l’algorithme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sont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 </a:t>
            </a:r>
            <a:r>
              <a:rPr lang="en-US" dirty="0" err="1">
                <a:solidFill>
                  <a:srgbClr val="292929"/>
                </a:solidFill>
                <a:latin typeface="charter"/>
              </a:rPr>
              <a:t>disponibles</a:t>
            </a:r>
            <a:endParaRPr lang="en-US" dirty="0">
              <a:solidFill>
                <a:srgbClr val="292929"/>
              </a:solidFill>
              <a:latin typeface="charter"/>
            </a:endParaRP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endParaRPr lang="en-US" b="1" i="0" dirty="0">
              <a:solidFill>
                <a:srgbClr val="292929"/>
              </a:solidFill>
              <a:effectLst/>
              <a:latin typeface="charter"/>
            </a:endParaRP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Batch Gradient Descent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Stochastic Gradient Descent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dirty="0">
                <a:solidFill>
                  <a:srgbClr val="292929"/>
                </a:solidFill>
                <a:latin typeface="charter"/>
              </a:rPr>
              <a:t>Mini Batch Gradient Descent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Adagrad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Adamax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RMSprop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Adam</a:t>
            </a:r>
          </a:p>
          <a:p>
            <a:pPr marL="342900" indent="-342900" algn="l">
              <a:spcAft>
                <a:spcPts val="6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en-US" dirty="0">
                <a:solidFill>
                  <a:srgbClr val="292929"/>
                </a:solidFill>
                <a:latin typeface="charter"/>
              </a:rPr>
              <a:t>…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</p:txBody>
      </p:sp>
    </p:spTree>
    <p:extLst>
      <p:ext uri="{BB962C8B-B14F-4D97-AF65-F5344CB8AC3E}">
        <p14:creationId xmlns:p14="http://schemas.microsoft.com/office/powerpoint/2010/main" val="2341046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0BD0-FD5F-4E95-B19D-ADCE1E3DF4BC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27F15-ADE7-497F-93F0-0EC83277F495}"/>
              </a:ext>
            </a:extLst>
          </p:cNvPr>
          <p:cNvSpPr txBox="1"/>
          <p:nvPr/>
        </p:nvSpPr>
        <p:spPr>
          <a:xfrm>
            <a:off x="133339" y="484062"/>
            <a:ext cx="6093618" cy="646331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keras.models</a:t>
            </a:r>
            <a:r>
              <a:rPr lang="fr-MA" dirty="0"/>
              <a:t> import </a:t>
            </a:r>
            <a:r>
              <a:rPr lang="fr-MA" dirty="0" err="1"/>
              <a:t>Sequential</a:t>
            </a:r>
            <a:endParaRPr lang="fr-MA" dirty="0"/>
          </a:p>
          <a:p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keras.layers</a:t>
            </a:r>
            <a:r>
              <a:rPr lang="fr-MA" dirty="0"/>
              <a:t> import </a:t>
            </a:r>
            <a:r>
              <a:rPr lang="fr-MA" dirty="0" err="1"/>
              <a:t>Flatten</a:t>
            </a:r>
            <a:r>
              <a:rPr lang="fr-MA" dirty="0"/>
              <a:t>, Dense, Activation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04578A-3140-4515-842A-9D1A07265A68}"/>
              </a:ext>
            </a:extLst>
          </p:cNvPr>
          <p:cNvSpPr txBox="1"/>
          <p:nvPr/>
        </p:nvSpPr>
        <p:spPr>
          <a:xfrm>
            <a:off x="128589" y="1214359"/>
            <a:ext cx="609361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b="1" dirty="0"/>
              <a:t>model</a:t>
            </a:r>
            <a:r>
              <a:rPr lang="fr-MA" dirty="0"/>
              <a:t> = </a:t>
            </a:r>
            <a:r>
              <a:rPr lang="fr-MA" dirty="0" err="1"/>
              <a:t>Sequential</a:t>
            </a:r>
            <a:r>
              <a:rPr lang="fr-MA" dirty="0"/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D5763C-62A9-40FA-B467-23143573246E}"/>
              </a:ext>
            </a:extLst>
          </p:cNvPr>
          <p:cNvSpPr txBox="1"/>
          <p:nvPr/>
        </p:nvSpPr>
        <p:spPr>
          <a:xfrm>
            <a:off x="133339" y="1676694"/>
            <a:ext cx="6093618" cy="2846933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dirty="0" err="1"/>
              <a:t>input_layer</a:t>
            </a:r>
            <a:r>
              <a:rPr lang="fr-MA" dirty="0"/>
              <a:t>=</a:t>
            </a:r>
            <a:r>
              <a:rPr lang="fr-MA" dirty="0" err="1"/>
              <a:t>Flatten</a:t>
            </a:r>
            <a:r>
              <a:rPr lang="fr-MA" dirty="0"/>
              <a:t>(</a:t>
            </a:r>
            <a:r>
              <a:rPr lang="fr-MA" dirty="0" err="1"/>
              <a:t>input_shape</a:t>
            </a:r>
            <a:r>
              <a:rPr lang="fr-MA" dirty="0"/>
              <a:t>=[28, 28])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model.add</a:t>
            </a:r>
            <a:r>
              <a:rPr lang="fr-MA" dirty="0"/>
              <a:t>(</a:t>
            </a:r>
            <a:r>
              <a:rPr lang="fr-MA" dirty="0" err="1"/>
              <a:t>input_layer</a:t>
            </a:r>
            <a:r>
              <a:rPr lang="fr-MA" dirty="0"/>
              <a:t>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hidden_layer</a:t>
            </a:r>
            <a:r>
              <a:rPr lang="fr-MA" dirty="0"/>
              <a:t>=Dense(20,activation=</a:t>
            </a:r>
            <a:r>
              <a:rPr lang="fr-MA" b="1" dirty="0">
                <a:solidFill>
                  <a:srgbClr val="FF0000"/>
                </a:solidFill>
              </a:rPr>
              <a:t>"relu"</a:t>
            </a:r>
            <a:r>
              <a:rPr lang="fr-MA" dirty="0"/>
              <a:t>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model.add</a:t>
            </a:r>
            <a:r>
              <a:rPr lang="fr-MA" dirty="0"/>
              <a:t>(</a:t>
            </a:r>
            <a:r>
              <a:rPr lang="fr-MA" dirty="0" err="1"/>
              <a:t>hidden_layer</a:t>
            </a:r>
            <a:r>
              <a:rPr lang="fr-MA" dirty="0"/>
              <a:t>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output_layer</a:t>
            </a:r>
            <a:r>
              <a:rPr lang="fr-MA" dirty="0"/>
              <a:t>=Dense(10, activation="</a:t>
            </a:r>
            <a:r>
              <a:rPr lang="fr-MA" dirty="0" err="1"/>
              <a:t>softmax</a:t>
            </a:r>
            <a:r>
              <a:rPr lang="fr-MA" dirty="0"/>
              <a:t>")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model.add</a:t>
            </a:r>
            <a:r>
              <a:rPr lang="fr-MA" dirty="0"/>
              <a:t>(</a:t>
            </a:r>
            <a:r>
              <a:rPr lang="fr-MA" dirty="0" err="1"/>
              <a:t>output_layer</a:t>
            </a:r>
            <a:r>
              <a:rPr lang="fr-MA" dirty="0"/>
              <a:t>)</a:t>
            </a:r>
          </a:p>
          <a:p>
            <a:pPr>
              <a:spcAft>
                <a:spcPts val="600"/>
              </a:spcAft>
            </a:pPr>
            <a:r>
              <a:rPr lang="en-US" dirty="0"/>
              <a:t>print(</a:t>
            </a:r>
            <a:r>
              <a:rPr lang="en-US" dirty="0" err="1"/>
              <a:t>model.summary</a:t>
            </a:r>
            <a:r>
              <a:rPr lang="en-US" dirty="0"/>
              <a:t>())</a:t>
            </a:r>
          </a:p>
          <a:p>
            <a:pPr>
              <a:spcAft>
                <a:spcPts val="600"/>
              </a:spcAft>
            </a:pPr>
            <a:r>
              <a:rPr lang="en-US" dirty="0"/>
              <a:t>print(</a:t>
            </a:r>
            <a:r>
              <a:rPr lang="en-US" dirty="0" err="1"/>
              <a:t>model.get_weights</a:t>
            </a:r>
            <a:r>
              <a:rPr lang="en-US" dirty="0"/>
              <a:t>()) </a:t>
            </a:r>
            <a:r>
              <a:rPr lang="en-US" dirty="0">
                <a:solidFill>
                  <a:srgbClr val="00B050"/>
                </a:solidFill>
              </a:rPr>
              <a:t>#initial weights</a:t>
            </a:r>
            <a:endParaRPr lang="fr-MA" dirty="0"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F276A-9090-4380-BE03-7AB330C50780}"/>
              </a:ext>
            </a:extLst>
          </p:cNvPr>
          <p:cNvSpPr txBox="1"/>
          <p:nvPr/>
        </p:nvSpPr>
        <p:spPr>
          <a:xfrm>
            <a:off x="128589" y="4588100"/>
            <a:ext cx="6093618" cy="923330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model.compile</a:t>
            </a:r>
            <a:r>
              <a:rPr lang="fr-MA" dirty="0"/>
              <a:t>(</a:t>
            </a:r>
            <a:r>
              <a:rPr lang="fr-MA" dirty="0" err="1"/>
              <a:t>loss</a:t>
            </a:r>
            <a:r>
              <a:rPr lang="fr-MA" dirty="0"/>
              <a:t>="</a:t>
            </a:r>
            <a:r>
              <a:rPr lang="fr-MA" dirty="0" err="1"/>
              <a:t>sparse_categorical_crossentropy</a:t>
            </a:r>
            <a:r>
              <a:rPr lang="fr-MA" dirty="0"/>
              <a:t>", </a:t>
            </a:r>
          </a:p>
          <a:p>
            <a:r>
              <a:rPr lang="fr-MA" dirty="0"/>
              <a:t>              </a:t>
            </a:r>
            <a:r>
              <a:rPr lang="fr-MA" dirty="0" err="1"/>
              <a:t>optimizer</a:t>
            </a:r>
            <a:r>
              <a:rPr lang="fr-MA" dirty="0"/>
              <a:t>="</a:t>
            </a:r>
            <a:r>
              <a:rPr lang="fr-MA" dirty="0" err="1"/>
              <a:t>adam</a:t>
            </a:r>
            <a:r>
              <a:rPr lang="fr-MA" dirty="0"/>
              <a:t>",</a:t>
            </a:r>
          </a:p>
          <a:p>
            <a:r>
              <a:rPr lang="fr-MA" dirty="0"/>
              <a:t>              </a:t>
            </a:r>
            <a:r>
              <a:rPr lang="fr-MA" dirty="0" err="1"/>
              <a:t>metrics</a:t>
            </a:r>
            <a:r>
              <a:rPr lang="fr-MA" dirty="0"/>
              <a:t>=["</a:t>
            </a:r>
            <a:r>
              <a:rPr lang="fr-MA" dirty="0" err="1"/>
              <a:t>accuracy</a:t>
            </a:r>
            <a:r>
              <a:rPr lang="fr-MA" dirty="0"/>
              <a:t>"])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AC0F72-38EA-4831-822A-E740654251FD}"/>
              </a:ext>
            </a:extLst>
          </p:cNvPr>
          <p:cNvSpPr txBox="1"/>
          <p:nvPr/>
        </p:nvSpPr>
        <p:spPr>
          <a:xfrm>
            <a:off x="114301" y="5575904"/>
            <a:ext cx="6122194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model.fit</a:t>
            </a:r>
            <a:r>
              <a:rPr lang="fr-MA" dirty="0"/>
              <a:t>(</a:t>
            </a:r>
            <a:r>
              <a:rPr lang="fr-MA" dirty="0" err="1"/>
              <a:t>X_train</a:t>
            </a:r>
            <a:r>
              <a:rPr lang="fr-MA" dirty="0"/>
              <a:t>, </a:t>
            </a:r>
            <a:r>
              <a:rPr lang="fr-MA" dirty="0" err="1"/>
              <a:t>y_train,epochs</a:t>
            </a:r>
            <a:r>
              <a:rPr lang="fr-MA" dirty="0"/>
              <a:t>=10)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75819A-5E5F-47FF-8B99-3931E5E76958}"/>
              </a:ext>
            </a:extLst>
          </p:cNvPr>
          <p:cNvSpPr txBox="1"/>
          <p:nvPr/>
        </p:nvSpPr>
        <p:spPr>
          <a:xfrm>
            <a:off x="100011" y="6017522"/>
            <a:ext cx="6122194" cy="723275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print(</a:t>
            </a:r>
            <a:r>
              <a:rPr lang="en-US" dirty="0" err="1"/>
              <a:t>model.summary</a:t>
            </a:r>
            <a:r>
              <a:rPr lang="en-US" dirty="0"/>
              <a:t>())</a:t>
            </a:r>
          </a:p>
          <a:p>
            <a:pPr>
              <a:spcAft>
                <a:spcPts val="600"/>
              </a:spcAft>
            </a:pPr>
            <a:r>
              <a:rPr lang="en-US" dirty="0"/>
              <a:t>print(</a:t>
            </a:r>
            <a:r>
              <a:rPr lang="en-US" dirty="0" err="1"/>
              <a:t>model.get_weights</a:t>
            </a:r>
            <a:r>
              <a:rPr lang="en-US" dirty="0"/>
              <a:t>()) </a:t>
            </a:r>
            <a:r>
              <a:rPr lang="en-US" dirty="0">
                <a:solidFill>
                  <a:srgbClr val="00B050"/>
                </a:solidFill>
              </a:rPr>
              <a:t>#learned weights</a:t>
            </a:r>
            <a:endParaRPr lang="fr-MA" dirty="0">
              <a:solidFill>
                <a:srgbClr val="00B050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3B9AE14-D438-44C5-9359-25D1A5EF2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013" y="69229"/>
            <a:ext cx="5308942" cy="498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9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32954"/>
            <a:ext cx="1210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Les étapes à suivre pour créer le modèle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609600" y="882134"/>
            <a:ext cx="742188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Features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(X),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target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(y)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Visualize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Split Data (training data, test data)</a:t>
            </a:r>
            <a:endParaRPr lang="fr-MA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model, </a:t>
            </a:r>
            <a:r>
              <a:rPr lang="fr-MA" dirty="0">
                <a:solidFill>
                  <a:srgbClr val="0070C0"/>
                </a:solidFill>
              </a:rPr>
              <a:t>compile the model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keras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tensorflow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rgbClr val="FF3300"/>
                </a:solidFill>
              </a:rPr>
              <a:t>adam</a:t>
            </a:r>
            <a:endParaRPr lang="fr-MA" dirty="0">
              <a:solidFill>
                <a:srgbClr val="FF3300"/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</a:t>
            </a:r>
            <a:r>
              <a:rPr lang="fr-MA" dirty="0" err="1">
                <a:solidFill>
                  <a:srgbClr val="FF0000"/>
                </a:solidFill>
              </a:rPr>
              <a:t>sparse_categorical_crossentropy</a:t>
            </a:r>
            <a:endParaRPr lang="fr-MA" dirty="0">
              <a:solidFill>
                <a:srgbClr val="FF000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the model</a:t>
            </a:r>
            <a:endParaRPr lang="fr-MA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Parameters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 err="1">
                <a:solidFill>
                  <a:srgbClr val="0065FA"/>
                </a:solidFill>
              </a:rPr>
              <a:t>Prediction</a:t>
            </a:r>
            <a:endParaRPr lang="fr-MA" b="1" dirty="0">
              <a:solidFill>
                <a:srgbClr val="0065FA"/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3200016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0BD0-FD5F-4E95-B19D-ADCE1E3DF4BC}"/>
              </a:ext>
            </a:extLst>
          </p:cNvPr>
          <p:cNvSpPr txBox="1"/>
          <p:nvPr/>
        </p:nvSpPr>
        <p:spPr>
          <a:xfrm>
            <a:off x="42861" y="28572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3.</a:t>
            </a:r>
            <a:r>
              <a:rPr lang="fr-MA" sz="2400" dirty="0"/>
              <a:t> </a:t>
            </a:r>
            <a:r>
              <a:rPr lang="fr-MA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Prediction</a:t>
            </a:r>
            <a:endParaRPr lang="fr-MA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27F15-ADE7-497F-93F0-0EC83277F495}"/>
              </a:ext>
            </a:extLst>
          </p:cNvPr>
          <p:cNvSpPr txBox="1"/>
          <p:nvPr/>
        </p:nvSpPr>
        <p:spPr>
          <a:xfrm>
            <a:off x="42861" y="5900119"/>
            <a:ext cx="609361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yp</a:t>
            </a:r>
            <a:r>
              <a:rPr lang="en-US" dirty="0"/>
              <a:t>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  <a:endParaRPr lang="fr-M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DE499E-F9A5-4C49-A8D5-73377F17E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771" y="42860"/>
            <a:ext cx="5032407" cy="41529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63BF18-A6E4-48E6-8B30-87AA0EA732EB}"/>
              </a:ext>
            </a:extLst>
          </p:cNvPr>
          <p:cNvSpPr txBox="1"/>
          <p:nvPr/>
        </p:nvSpPr>
        <p:spPr>
          <a:xfrm>
            <a:off x="114301" y="731876"/>
            <a:ext cx="4214812" cy="400110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yp</a:t>
            </a:r>
            <a:r>
              <a:rPr lang="fr-MA" dirty="0"/>
              <a:t>=</a:t>
            </a:r>
            <a:r>
              <a:rPr lang="fr-MA" dirty="0" err="1"/>
              <a:t>model.predict</a:t>
            </a:r>
            <a:r>
              <a:rPr lang="fr-MA" dirty="0"/>
              <a:t>(</a:t>
            </a:r>
            <a:r>
              <a:rPr lang="fr-MA" dirty="0" err="1"/>
              <a:t>np.array</a:t>
            </a:r>
            <a:r>
              <a:rPr lang="fr-MA" dirty="0"/>
              <a:t>(</a:t>
            </a:r>
            <a:r>
              <a:rPr lang="fr-MA" sz="2000" b="1" dirty="0">
                <a:solidFill>
                  <a:srgbClr val="0065FA"/>
                </a:solidFill>
              </a:rPr>
              <a:t>[</a:t>
            </a:r>
            <a:r>
              <a:rPr lang="fr-MA" b="1" dirty="0" err="1">
                <a:solidFill>
                  <a:srgbClr val="C00000"/>
                </a:solidFill>
              </a:rPr>
              <a:t>X_test</a:t>
            </a:r>
            <a:r>
              <a:rPr lang="fr-MA" b="1" dirty="0">
                <a:solidFill>
                  <a:srgbClr val="C00000"/>
                </a:solidFill>
              </a:rPr>
              <a:t>[2]</a:t>
            </a:r>
            <a:r>
              <a:rPr lang="fr-MA" sz="2000" b="1" dirty="0">
                <a:solidFill>
                  <a:srgbClr val="0065FA"/>
                </a:solidFill>
              </a:rPr>
              <a:t>]</a:t>
            </a:r>
            <a:r>
              <a:rPr lang="fr-MA" dirty="0"/>
              <a:t>))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7AA76E-3DE8-4BCD-8733-D32D167DE0A4}"/>
              </a:ext>
            </a:extLst>
          </p:cNvPr>
          <p:cNvSpPr txBox="1"/>
          <p:nvPr/>
        </p:nvSpPr>
        <p:spPr>
          <a:xfrm>
            <a:off x="414699" y="1158181"/>
            <a:ext cx="4044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 err="1"/>
              <a:t>array</a:t>
            </a:r>
            <a:r>
              <a:rPr lang="fr-MA" dirty="0"/>
              <a:t>([[0., </a:t>
            </a:r>
            <a:r>
              <a:rPr lang="fr-MA" b="1" dirty="0">
                <a:solidFill>
                  <a:srgbClr val="00B050"/>
                </a:solidFill>
              </a:rPr>
              <a:t>1.</a:t>
            </a:r>
            <a:r>
              <a:rPr lang="fr-MA" dirty="0"/>
              <a:t>, 0., 0., 0., 0., 0., 0., 0., 0.]]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74EE27-65FC-462E-8B7A-07456E2D4830}"/>
              </a:ext>
            </a:extLst>
          </p:cNvPr>
          <p:cNvSpPr txBox="1"/>
          <p:nvPr/>
        </p:nvSpPr>
        <p:spPr>
          <a:xfrm>
            <a:off x="71012" y="4594590"/>
            <a:ext cx="9758788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/>
              <a:t>classes = ["T-shirt/top","Trouser","Pullover","Dress","Coat","Sandal","Shirt","Sneaker","Bag","Ankle boot"]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613766-8AFF-4765-9B2D-AEDA7D1E7889}"/>
              </a:ext>
            </a:extLst>
          </p:cNvPr>
          <p:cNvSpPr txBox="1"/>
          <p:nvPr/>
        </p:nvSpPr>
        <p:spPr>
          <a:xfrm>
            <a:off x="71012" y="5020895"/>
            <a:ext cx="6122194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800" dirty="0"/>
              <a:t>classes[</a:t>
            </a:r>
            <a:r>
              <a:rPr lang="fr-MA" sz="1800" b="1" dirty="0" err="1"/>
              <a:t>np.argmax</a:t>
            </a:r>
            <a:r>
              <a:rPr lang="fr-MA" sz="1800" b="1" dirty="0"/>
              <a:t>(</a:t>
            </a:r>
            <a:r>
              <a:rPr lang="fr-MA" sz="1800" b="1" dirty="0" err="1"/>
              <a:t>yp</a:t>
            </a:r>
            <a:r>
              <a:rPr lang="fr-MA" sz="1800" b="1" dirty="0"/>
              <a:t>)</a:t>
            </a:r>
            <a:r>
              <a:rPr lang="fr-MA" sz="1800" dirty="0"/>
              <a:t>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29DD5A-6F9E-4178-98AC-C68F36F18A61}"/>
              </a:ext>
            </a:extLst>
          </p:cNvPr>
          <p:cNvSpPr txBox="1"/>
          <p:nvPr/>
        </p:nvSpPr>
        <p:spPr>
          <a:xfrm>
            <a:off x="4171928" y="2119310"/>
            <a:ext cx="10679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C00000"/>
                </a:solidFill>
              </a:rPr>
              <a:t>X_test</a:t>
            </a:r>
            <a:r>
              <a:rPr lang="fr-MA" sz="1600" b="1" dirty="0">
                <a:solidFill>
                  <a:srgbClr val="C00000"/>
                </a:solidFill>
              </a:rPr>
              <a:t>[2]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4FC1EB-0D22-4CE0-8AD6-D53846AD93C7}"/>
              </a:ext>
            </a:extLst>
          </p:cNvPr>
          <p:cNvSpPr txBox="1"/>
          <p:nvPr/>
        </p:nvSpPr>
        <p:spPr>
          <a:xfrm>
            <a:off x="42861" y="6368893"/>
            <a:ext cx="6122194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800" dirty="0"/>
              <a:t>classes[</a:t>
            </a:r>
            <a:r>
              <a:rPr lang="fr-MA" sz="1800" dirty="0" err="1"/>
              <a:t>np.argmax</a:t>
            </a:r>
            <a:r>
              <a:rPr lang="fr-MA" sz="1800" dirty="0"/>
              <a:t>(</a:t>
            </a:r>
            <a:r>
              <a:rPr lang="fr-MA" sz="1800" dirty="0" err="1"/>
              <a:t>yp</a:t>
            </a:r>
            <a:r>
              <a:rPr lang="fr-MA" sz="1800" dirty="0"/>
              <a:t>[2])]</a:t>
            </a:r>
          </a:p>
        </p:txBody>
      </p:sp>
    </p:spTree>
    <p:extLst>
      <p:ext uri="{BB962C8B-B14F-4D97-AF65-F5344CB8AC3E}">
        <p14:creationId xmlns:p14="http://schemas.microsoft.com/office/powerpoint/2010/main" val="275828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22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32954"/>
            <a:ext cx="1210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Les étapes à suivre pour créer le modèle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BAA7E-0100-4C52-BD9D-825FD2D79EC0}"/>
              </a:ext>
            </a:extLst>
          </p:cNvPr>
          <p:cNvSpPr txBox="1"/>
          <p:nvPr/>
        </p:nvSpPr>
        <p:spPr>
          <a:xfrm>
            <a:off x="609600" y="882134"/>
            <a:ext cx="742188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Features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(X),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target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(y)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Visualize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Split Data (training data, test data)</a:t>
            </a:r>
            <a:endParaRPr lang="fr-MA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model, </a:t>
            </a:r>
            <a:r>
              <a:rPr lang="fr-MA" dirty="0">
                <a:solidFill>
                  <a:srgbClr val="0070C0"/>
                </a:solidFill>
              </a:rPr>
              <a:t>compile the model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keras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tensorflow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rgbClr val="FF0000"/>
                </a:solidFill>
              </a:rPr>
              <a:t>sparse_categorical_crossentropy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the model</a:t>
            </a:r>
            <a:endParaRPr lang="fr-MA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Parameters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Prediction</a:t>
            </a:r>
            <a:endParaRPr lang="fr-MA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rgbClr val="0066FF"/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188391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0BD0-FD5F-4E95-B19D-ADCE1E3DF4BC}"/>
              </a:ext>
            </a:extLst>
          </p:cNvPr>
          <p:cNvSpPr txBox="1"/>
          <p:nvPr/>
        </p:nvSpPr>
        <p:spPr>
          <a:xfrm>
            <a:off x="42861" y="28572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Evaluation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27F15-ADE7-497F-93F0-0EC83277F495}"/>
              </a:ext>
            </a:extLst>
          </p:cNvPr>
          <p:cNvSpPr txBox="1"/>
          <p:nvPr/>
        </p:nvSpPr>
        <p:spPr>
          <a:xfrm>
            <a:off x="64295" y="1213788"/>
            <a:ext cx="609361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print(</a:t>
            </a:r>
            <a:r>
              <a:rPr lang="en-US" dirty="0" err="1"/>
              <a:t>model.metrics_names</a:t>
            </a:r>
            <a:r>
              <a:rPr lang="en-US" dirty="0"/>
              <a:t>)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3B9AE14-D438-44C5-9359-25D1A5EF2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013" y="259404"/>
            <a:ext cx="5308942" cy="4986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056AFA-6CC5-4EAB-AB0C-D732E1D90411}"/>
              </a:ext>
            </a:extLst>
          </p:cNvPr>
          <p:cNvSpPr txBox="1"/>
          <p:nvPr/>
        </p:nvSpPr>
        <p:spPr>
          <a:xfrm>
            <a:off x="42861" y="3221589"/>
            <a:ext cx="6115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[</a:t>
            </a:r>
            <a:r>
              <a:rPr lang="fr-MA" b="1" dirty="0">
                <a:solidFill>
                  <a:srgbClr val="FF0000"/>
                </a:solidFill>
              </a:rPr>
              <a:t>0.4006</a:t>
            </a:r>
            <a:r>
              <a:rPr lang="fr-MA" dirty="0"/>
              <a:t>, </a:t>
            </a:r>
            <a:r>
              <a:rPr lang="fr-MA" b="1" dirty="0">
                <a:solidFill>
                  <a:srgbClr val="0065FA"/>
                </a:solidFill>
              </a:rPr>
              <a:t>0.8568</a:t>
            </a:r>
            <a:r>
              <a:rPr lang="fr-MA" dirty="0"/>
              <a:t>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D4A0CA-0BE0-4878-9C48-BBCFAEB2A350}"/>
              </a:ext>
            </a:extLst>
          </p:cNvPr>
          <p:cNvSpPr txBox="1"/>
          <p:nvPr/>
        </p:nvSpPr>
        <p:spPr>
          <a:xfrm>
            <a:off x="100011" y="2229868"/>
            <a:ext cx="6093618" cy="800219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metrics=</a:t>
            </a:r>
            <a:r>
              <a:rPr lang="en-US" dirty="0" err="1"/>
              <a:t>model.evaluate</a:t>
            </a:r>
            <a:r>
              <a:rPr lang="en-US" dirty="0"/>
              <a:t>(</a:t>
            </a:r>
            <a:r>
              <a:rPr lang="en-US" dirty="0" err="1"/>
              <a:t>X_test,y_test</a:t>
            </a:r>
            <a:r>
              <a:rPr lang="en-US" dirty="0"/>
              <a:t>)</a:t>
            </a:r>
          </a:p>
          <a:p>
            <a:pPr>
              <a:spcAft>
                <a:spcPts val="1200"/>
              </a:spcAft>
            </a:pPr>
            <a:r>
              <a:rPr lang="en-US" dirty="0"/>
              <a:t>print(metrics)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2216C9-53F8-4C3F-822D-48247C1828E5}"/>
              </a:ext>
            </a:extLst>
          </p:cNvPr>
          <p:cNvSpPr txBox="1"/>
          <p:nvPr/>
        </p:nvSpPr>
        <p:spPr>
          <a:xfrm>
            <a:off x="100011" y="1745419"/>
            <a:ext cx="2196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/>
              <a:t>[</a:t>
            </a:r>
            <a:r>
              <a:rPr lang="fr-MA" b="1" dirty="0">
                <a:solidFill>
                  <a:srgbClr val="FF0000"/>
                </a:solidFill>
              </a:rPr>
              <a:t>'</a:t>
            </a:r>
            <a:r>
              <a:rPr lang="fr-MA" b="1" dirty="0" err="1">
                <a:solidFill>
                  <a:srgbClr val="FF0000"/>
                </a:solidFill>
              </a:rPr>
              <a:t>loss</a:t>
            </a:r>
            <a:r>
              <a:rPr lang="fr-MA" b="1" dirty="0">
                <a:solidFill>
                  <a:srgbClr val="FF0000"/>
                </a:solidFill>
              </a:rPr>
              <a:t>'</a:t>
            </a:r>
            <a:r>
              <a:rPr lang="fr-MA" dirty="0"/>
              <a:t>, </a:t>
            </a:r>
            <a:r>
              <a:rPr lang="fr-MA" b="1" dirty="0">
                <a:solidFill>
                  <a:srgbClr val="0066FF"/>
                </a:solidFill>
              </a:rPr>
              <a:t>'</a:t>
            </a:r>
            <a:r>
              <a:rPr lang="fr-MA" b="1" dirty="0" err="1">
                <a:solidFill>
                  <a:srgbClr val="0066FF"/>
                </a:solidFill>
              </a:rPr>
              <a:t>accuracy</a:t>
            </a:r>
            <a:r>
              <a:rPr lang="fr-MA" b="1" dirty="0">
                <a:solidFill>
                  <a:srgbClr val="0066FF"/>
                </a:solidFill>
              </a:rPr>
              <a:t>’</a:t>
            </a:r>
            <a:r>
              <a:rPr lang="fr-MA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69121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1" grpId="0"/>
      <p:bldP spid="12" grpId="0" animBg="1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32954"/>
            <a:ext cx="1210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Exercice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609600" y="882134"/>
            <a:ext cx="742188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Refaire le même travail</a:t>
            </a: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Essayes d’améliorer la performance du modèle</a:t>
            </a: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Ajouter une autre couche cachée</a:t>
            </a: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Evaluer le modèle obtenu</a:t>
            </a:r>
          </a:p>
        </p:txBody>
      </p:sp>
    </p:spTree>
    <p:extLst>
      <p:ext uri="{BB962C8B-B14F-4D97-AF65-F5344CB8AC3E}">
        <p14:creationId xmlns:p14="http://schemas.microsoft.com/office/powerpoint/2010/main" val="1052669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32954"/>
            <a:ext cx="1210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Exercice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609600" y="882134"/>
            <a:ext cx="742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Traiter le problème de classification des digits</a:t>
            </a:r>
          </a:p>
        </p:txBody>
      </p:sp>
    </p:spTree>
    <p:extLst>
      <p:ext uri="{BB962C8B-B14F-4D97-AF65-F5344CB8AC3E}">
        <p14:creationId xmlns:p14="http://schemas.microsoft.com/office/powerpoint/2010/main" val="3345815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32954"/>
            <a:ext cx="12100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Exercice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609600" y="882134"/>
            <a:ext cx="742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Traiter le problème de classification des </a:t>
            </a:r>
            <a:r>
              <a:rPr lang="fr-MA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diabetes</a:t>
            </a:r>
            <a:endParaRPr lang="fr-MA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045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594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32206</TotalTime>
  <Words>1338</Words>
  <Application>Microsoft Office PowerPoint</Application>
  <PresentationFormat>Widescreen</PresentationFormat>
  <Paragraphs>395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charter</vt:lpstr>
      <vt:lpstr>Helvetica Neue</vt:lpstr>
      <vt:lpstr>Open Sans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639</cp:revision>
  <dcterms:created xsi:type="dcterms:W3CDTF">2019-09-13T15:50:46Z</dcterms:created>
  <dcterms:modified xsi:type="dcterms:W3CDTF">2023-10-28T10:12:25Z</dcterms:modified>
</cp:coreProperties>
</file>