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753" r:id="rId3"/>
    <p:sldId id="699" r:id="rId4"/>
    <p:sldId id="757" r:id="rId5"/>
    <p:sldId id="690" r:id="rId6"/>
    <p:sldId id="693" r:id="rId7"/>
    <p:sldId id="691" r:id="rId8"/>
    <p:sldId id="692" r:id="rId9"/>
    <p:sldId id="694" r:id="rId10"/>
    <p:sldId id="446" r:id="rId11"/>
    <p:sldId id="653" r:id="rId12"/>
    <p:sldId id="567" r:id="rId13"/>
    <p:sldId id="641" r:id="rId14"/>
    <p:sldId id="644" r:id="rId15"/>
    <p:sldId id="642" r:id="rId16"/>
    <p:sldId id="654" r:id="rId17"/>
    <p:sldId id="657" r:id="rId18"/>
    <p:sldId id="655" r:id="rId19"/>
    <p:sldId id="656" r:id="rId20"/>
    <p:sldId id="663" r:id="rId21"/>
    <p:sldId id="664" r:id="rId22"/>
    <p:sldId id="649" r:id="rId23"/>
    <p:sldId id="759" r:id="rId24"/>
    <p:sldId id="746" r:id="rId25"/>
    <p:sldId id="758" r:id="rId26"/>
    <p:sldId id="760" r:id="rId27"/>
    <p:sldId id="761" r:id="rId28"/>
    <p:sldId id="762" r:id="rId29"/>
    <p:sldId id="764" r:id="rId30"/>
    <p:sldId id="763" r:id="rId31"/>
    <p:sldId id="765" r:id="rId32"/>
    <p:sldId id="698" r:id="rId33"/>
    <p:sldId id="668" r:id="rId34"/>
    <p:sldId id="665" r:id="rId3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5FA"/>
    <a:srgbClr val="FF3300"/>
    <a:srgbClr val="0066FF"/>
    <a:srgbClr val="FF0000"/>
    <a:srgbClr val="0180FF"/>
    <a:srgbClr val="FFFF99"/>
    <a:srgbClr val="28659C"/>
    <a:srgbClr val="9BE5FF"/>
    <a:srgbClr val="57D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8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78D8B6-39EC-464E-B17C-3DA96064FB65}" type="datetimeFigureOut">
              <a:rPr lang="fr-FR" smtClean="0"/>
              <a:t>21/10/2023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6CD67-02C7-4679-B4C4-DD1E33AF693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5913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21/10/2023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4196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21/10/2023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4607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21/10/2023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2561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21/10/2023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2175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21/10/2023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1912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21/10/2023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6244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21/10/2023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3229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21/10/2023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3085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21/10/2023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1464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21/10/2023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5695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21/10/2023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82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3102C-BDDD-4D12-A779-AA842E1C06C6}" type="datetimeFigureOut">
              <a:rPr lang="fr-FR" smtClean="0"/>
              <a:t>21/10/2023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898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c/AbdelwahabNaji" TargetMode="External"/><Relationship Id="rId5" Type="http://schemas.openxmlformats.org/officeDocument/2006/relationships/hyperlink" Target="mailto:Abdelwahab.naji@gmail.com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stochastic-gradient-descent-clearly-explained-53d239905d31" TargetMode="External"/><Relationship Id="rId2" Type="http://schemas.openxmlformats.org/officeDocument/2006/relationships/hyperlink" Target="https://induraj2020.medium.com/different-variants-of-gradient-descent-6854d3118c4c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towardsdatascience.com/7-tips-to-choose-the-best-optimizer-47bb9c1219e" TargetMode="External"/><Relationship Id="rId4" Type="http://schemas.openxmlformats.org/officeDocument/2006/relationships/hyperlink" Target="https://realpython.com/gradient-descent-algorithm-python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droit 4"/>
          <p:cNvCxnSpPr/>
          <p:nvPr/>
        </p:nvCxnSpPr>
        <p:spPr>
          <a:xfrm>
            <a:off x="0" y="5007980"/>
            <a:ext cx="12204000" cy="0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ZoneTexte 5"/>
          <p:cNvSpPr txBox="1"/>
          <p:nvPr/>
        </p:nvSpPr>
        <p:spPr>
          <a:xfrm>
            <a:off x="0" y="2515000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fr-FR" sz="4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fr-FR" sz="3200" b="1" dirty="0" err="1">
                <a:solidFill>
                  <a:srgbClr val="00B0F0"/>
                </a:solidFill>
              </a:rPr>
              <a:t>Multilayer</a:t>
            </a:r>
            <a:r>
              <a:rPr lang="fr-FR" sz="3200" b="1" dirty="0">
                <a:solidFill>
                  <a:srgbClr val="00B0F0"/>
                </a:solidFill>
              </a:rPr>
              <a:t> Neural Network</a:t>
            </a:r>
          </a:p>
          <a:p>
            <a:pPr algn="ctr"/>
            <a:r>
              <a:rPr lang="fr-FR" sz="2800" b="1" dirty="0">
                <a:solidFill>
                  <a:srgbClr val="FF3300"/>
                </a:solidFill>
              </a:rPr>
              <a:t>non </a:t>
            </a:r>
            <a:r>
              <a:rPr lang="fr-FR" sz="2800" b="1" dirty="0" err="1">
                <a:solidFill>
                  <a:srgbClr val="FF3300"/>
                </a:solidFill>
              </a:rPr>
              <a:t>linearly</a:t>
            </a:r>
            <a:r>
              <a:rPr lang="fr-FR" sz="2800" b="1" dirty="0">
                <a:solidFill>
                  <a:srgbClr val="FF3300"/>
                </a:solidFill>
              </a:rPr>
              <a:t> </a:t>
            </a:r>
            <a:r>
              <a:rPr lang="fr-FR" sz="2800" b="1" dirty="0" err="1">
                <a:solidFill>
                  <a:srgbClr val="FF3300"/>
                </a:solidFill>
              </a:rPr>
              <a:t>separable</a:t>
            </a:r>
            <a:r>
              <a:rPr lang="fr-FR" sz="2800" b="1" dirty="0">
                <a:solidFill>
                  <a:srgbClr val="FF3300"/>
                </a:solidFill>
              </a:rPr>
              <a:t> </a:t>
            </a:r>
            <a:r>
              <a:rPr lang="fr-FR" sz="2800" b="1" dirty="0" err="1">
                <a:solidFill>
                  <a:srgbClr val="FF3300"/>
                </a:solidFill>
              </a:rPr>
              <a:t>problem</a:t>
            </a:r>
            <a:endParaRPr lang="fr-FR" sz="2800" b="1" dirty="0">
              <a:solidFill>
                <a:srgbClr val="FF3300"/>
              </a:solidFill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08" y="105415"/>
            <a:ext cx="3112898" cy="2300268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74" y="413536"/>
            <a:ext cx="2583407" cy="19375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1D9D2B2-0F14-588C-BAC6-AC6A3FCCC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2925" y="2502720"/>
            <a:ext cx="1363503" cy="1695574"/>
          </a:xfrm>
          <a:prstGeom prst="rect">
            <a:avLst/>
          </a:prstGeom>
          <a:ln>
            <a:solidFill>
              <a:srgbClr val="0180FF"/>
            </a:solidFill>
          </a:ln>
        </p:spPr>
      </p:pic>
      <p:sp>
        <p:nvSpPr>
          <p:cNvPr id="7" name="ZoneTexte 3">
            <a:extLst>
              <a:ext uri="{FF2B5EF4-FFF2-40B4-BE49-F238E27FC236}">
                <a16:creationId xmlns:a16="http://schemas.microsoft.com/office/drawing/2014/main" id="{C80A2AF6-FC26-991B-B96F-1FD0E2A060A5}"/>
              </a:ext>
            </a:extLst>
          </p:cNvPr>
          <p:cNvSpPr txBox="1"/>
          <p:nvPr/>
        </p:nvSpPr>
        <p:spPr>
          <a:xfrm>
            <a:off x="0" y="5084180"/>
            <a:ext cx="12192000" cy="1200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lvl="7"/>
            <a:r>
              <a:rPr lang="fr-FR" sz="2000" b="1" dirty="0" err="1"/>
              <a:t>Abdelwahab</a:t>
            </a:r>
            <a:r>
              <a:rPr lang="fr-FR" sz="2000" b="1" dirty="0"/>
              <a:t> Naji - </a:t>
            </a:r>
            <a:r>
              <a:rPr lang="fr-FR" sz="1600" b="1" dirty="0"/>
              <a:t>Enseignant chercheur</a:t>
            </a:r>
            <a:r>
              <a:rPr lang="fr-FR" sz="2000" b="1" dirty="0"/>
              <a:t> </a:t>
            </a:r>
            <a:endParaRPr lang="fr-FR" sz="2400" b="1" dirty="0"/>
          </a:p>
          <a:p>
            <a:pPr marL="0" lvl="7"/>
            <a:r>
              <a:rPr lang="fr-FR" sz="2000" dirty="0">
                <a:hlinkClick r:id="rId5"/>
              </a:rPr>
              <a:t>Abdelwahab.naji@gmail.com</a:t>
            </a:r>
            <a:r>
              <a:rPr lang="fr-FR" sz="2000" dirty="0"/>
              <a:t> </a:t>
            </a:r>
            <a:endParaRPr lang="fr-FR" sz="1600" dirty="0"/>
          </a:p>
          <a:p>
            <a:pPr marL="0" lvl="7"/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ENSAO, Université Mohamed premier - Oujda</a:t>
            </a:r>
          </a:p>
          <a:p>
            <a:pPr marL="0" lvl="7"/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  <a:hlinkClick r:id="rId6"/>
              </a:rPr>
              <a:t>https://www.youtube.com/c/AbdelwahabNaji</a:t>
            </a:r>
            <a:endParaRPr lang="fr-F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F06709-FBDC-2EE4-C6FD-843DD9CDCC7C}"/>
              </a:ext>
            </a:extLst>
          </p:cNvPr>
          <p:cNvSpPr txBox="1"/>
          <p:nvPr/>
        </p:nvSpPr>
        <p:spPr>
          <a:xfrm>
            <a:off x="9800569" y="4479552"/>
            <a:ext cx="180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FF0000"/>
                </a:solidFill>
              </a:rPr>
              <a:t>2023/2024</a:t>
            </a:r>
          </a:p>
        </p:txBody>
      </p:sp>
    </p:spTree>
    <p:extLst>
      <p:ext uri="{BB962C8B-B14F-4D97-AF65-F5344CB8AC3E}">
        <p14:creationId xmlns:p14="http://schemas.microsoft.com/office/powerpoint/2010/main" val="3151152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08AE370-05A3-4AEF-AF8C-81E9F1F07925}"/>
              </a:ext>
            </a:extLst>
          </p:cNvPr>
          <p:cNvSpPr txBox="1"/>
          <p:nvPr/>
        </p:nvSpPr>
        <p:spPr>
          <a:xfrm>
            <a:off x="4891009" y="1438657"/>
            <a:ext cx="26665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 err="1">
                <a:solidFill>
                  <a:srgbClr val="C00000"/>
                </a:solidFill>
              </a:rPr>
              <a:t>Linearly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Separable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endParaRPr lang="fr-MA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802313-8E6B-4765-99C1-1A4C2B01C35C}"/>
              </a:ext>
            </a:extLst>
          </p:cNvPr>
          <p:cNvSpPr txBox="1"/>
          <p:nvPr/>
        </p:nvSpPr>
        <p:spPr>
          <a:xfrm>
            <a:off x="9453519" y="1355077"/>
            <a:ext cx="2737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 err="1">
                <a:solidFill>
                  <a:srgbClr val="C00000"/>
                </a:solidFill>
              </a:rPr>
              <a:t>Complex</a:t>
            </a:r>
            <a:r>
              <a:rPr lang="fr-MA" b="1" dirty="0">
                <a:solidFill>
                  <a:srgbClr val="C00000"/>
                </a:solidFill>
              </a:rPr>
              <a:t> classification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endParaRPr lang="fr-MA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6D7B0B-CC2E-4F5A-9549-A5330B5094CE}"/>
              </a:ext>
            </a:extLst>
          </p:cNvPr>
          <p:cNvSpPr txBox="1"/>
          <p:nvPr/>
        </p:nvSpPr>
        <p:spPr>
          <a:xfrm>
            <a:off x="143055" y="1528371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0066FF"/>
                </a:solidFill>
              </a:rPr>
              <a:t>Simple </a:t>
            </a:r>
            <a:r>
              <a:rPr lang="fr-MA" b="1" dirty="0" err="1">
                <a:solidFill>
                  <a:srgbClr val="0066FF"/>
                </a:solidFill>
              </a:rPr>
              <a:t>Linear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Regression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 err="1">
                <a:solidFill>
                  <a:srgbClr val="0066FF"/>
                </a:solidFill>
              </a:rPr>
              <a:t>Problem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BF810F-3D72-4ED1-B2E9-2B52200AA1EE}"/>
              </a:ext>
            </a:extLst>
          </p:cNvPr>
          <p:cNvSpPr/>
          <p:nvPr/>
        </p:nvSpPr>
        <p:spPr>
          <a:xfrm>
            <a:off x="870900" y="981263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5E3D221-1E7D-4264-BC49-B41FE26CF1B5}"/>
              </a:ext>
            </a:extLst>
          </p:cNvPr>
          <p:cNvSpPr/>
          <p:nvPr/>
        </p:nvSpPr>
        <p:spPr>
          <a:xfrm>
            <a:off x="5933898" y="887661"/>
            <a:ext cx="520699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368ECDC-ECE6-4717-89BE-AA585E0C6316}"/>
              </a:ext>
            </a:extLst>
          </p:cNvPr>
          <p:cNvSpPr/>
          <p:nvPr/>
        </p:nvSpPr>
        <p:spPr>
          <a:xfrm>
            <a:off x="10427719" y="781084"/>
            <a:ext cx="520699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117A84-FDBC-93AE-A24A-4AC6F40F46B7}"/>
              </a:ext>
            </a:extLst>
          </p:cNvPr>
          <p:cNvSpPr txBox="1"/>
          <p:nvPr/>
        </p:nvSpPr>
        <p:spPr>
          <a:xfrm>
            <a:off x="20321" y="46860"/>
            <a:ext cx="12171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600" b="1" dirty="0">
                <a:solidFill>
                  <a:srgbClr val="FF3300"/>
                </a:solidFill>
              </a:rPr>
              <a:t>N</a:t>
            </a:r>
            <a:r>
              <a:rPr lang="fr-MA" sz="3600" b="1" dirty="0"/>
              <a:t>eural </a:t>
            </a:r>
            <a:r>
              <a:rPr lang="fr-MA" sz="3600" b="1" dirty="0">
                <a:solidFill>
                  <a:srgbClr val="FF3300"/>
                </a:solidFill>
              </a:rPr>
              <a:t>N</a:t>
            </a:r>
            <a:r>
              <a:rPr lang="fr-MA" sz="3600" b="1" dirty="0"/>
              <a:t>etwork for </a:t>
            </a:r>
            <a:r>
              <a:rPr lang="fr-MA" sz="3600" b="1" dirty="0" err="1">
                <a:solidFill>
                  <a:srgbClr val="0065FA"/>
                </a:solidFill>
              </a:rPr>
              <a:t>S</a:t>
            </a:r>
            <a:r>
              <a:rPr lang="fr-MA" sz="3600" b="1" dirty="0" err="1"/>
              <a:t>upervised</a:t>
            </a:r>
            <a:r>
              <a:rPr lang="fr-MA" sz="3600" b="1" dirty="0"/>
              <a:t> </a:t>
            </a:r>
            <a:r>
              <a:rPr lang="fr-MA" sz="3600" b="1" dirty="0">
                <a:solidFill>
                  <a:srgbClr val="0065FA"/>
                </a:solidFill>
              </a:rPr>
              <a:t>L</a:t>
            </a:r>
            <a:r>
              <a:rPr lang="fr-MA" sz="3600" b="1" dirty="0"/>
              <a:t>earning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761221-22F4-F899-C667-F23A24791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1668" y="2111208"/>
            <a:ext cx="2506183" cy="2109077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F2354F-1E9B-F08C-33AF-9EC52913A735}"/>
              </a:ext>
            </a:extLst>
          </p:cNvPr>
          <p:cNvSpPr txBox="1"/>
          <p:nvPr/>
        </p:nvSpPr>
        <p:spPr>
          <a:xfrm>
            <a:off x="9412919" y="4337864"/>
            <a:ext cx="2779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Hand </a:t>
            </a:r>
            <a:r>
              <a:rPr lang="fr-MA" sz="1600" b="1" dirty="0" err="1">
                <a:solidFill>
                  <a:srgbClr val="FF3300"/>
                </a:solidFill>
              </a:rPr>
              <a:t>Written</a:t>
            </a:r>
            <a:r>
              <a:rPr lang="fr-MA" sz="1600" b="1" dirty="0">
                <a:solidFill>
                  <a:srgbClr val="FF3300"/>
                </a:solidFill>
              </a:rPr>
              <a:t> digits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F0D55A-7548-5CD2-1647-037FED412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467" y="2125462"/>
            <a:ext cx="1825564" cy="2091732"/>
          </a:xfrm>
          <a:prstGeom prst="rect">
            <a:avLst/>
          </a:prstGeom>
          <a:ln>
            <a:solidFill>
              <a:srgbClr val="0180FF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7FB9111-9A11-C542-8E96-F46BEFAB813B}"/>
              </a:ext>
            </a:extLst>
          </p:cNvPr>
          <p:cNvSpPr txBox="1"/>
          <p:nvPr/>
        </p:nvSpPr>
        <p:spPr>
          <a:xfrm>
            <a:off x="7142241" y="1388237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C00000"/>
                </a:solidFill>
              </a:rPr>
              <a:t>Non </a:t>
            </a:r>
            <a:r>
              <a:rPr lang="fr-MA" b="1" dirty="0" err="1">
                <a:solidFill>
                  <a:srgbClr val="C00000"/>
                </a:solidFill>
              </a:rPr>
              <a:t>Linearly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Separable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r>
              <a:rPr lang="fr-MA" b="1" dirty="0">
                <a:solidFill>
                  <a:srgbClr val="C00000"/>
                </a:solidFill>
              </a:rPr>
              <a:t>: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666C9C-6738-E4DE-12BD-4E02F57F860B}"/>
              </a:ext>
            </a:extLst>
          </p:cNvPr>
          <p:cNvSpPr/>
          <p:nvPr/>
        </p:nvSpPr>
        <p:spPr>
          <a:xfrm>
            <a:off x="8128915" y="845849"/>
            <a:ext cx="520698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48D6C1-C730-39A0-FC0D-6253FA23BB18}"/>
              </a:ext>
            </a:extLst>
          </p:cNvPr>
          <p:cNvSpPr txBox="1"/>
          <p:nvPr/>
        </p:nvSpPr>
        <p:spPr>
          <a:xfrm>
            <a:off x="7604982" y="4395365"/>
            <a:ext cx="1825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XOR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195EB2-E6C3-C92C-764D-2FE4E932E3B9}"/>
              </a:ext>
            </a:extLst>
          </p:cNvPr>
          <p:cNvGraphicFramePr>
            <a:graphicFrameLocks noGrp="1"/>
          </p:cNvGraphicFramePr>
          <p:nvPr/>
        </p:nvGraphicFramePr>
        <p:xfrm>
          <a:off x="2512105" y="2173305"/>
          <a:ext cx="2142767" cy="20753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3023">
                  <a:extLst>
                    <a:ext uri="{9D8B030D-6E8A-4147-A177-3AD203B41FA5}">
                      <a16:colId xmlns:a16="http://schemas.microsoft.com/office/drawing/2014/main" val="1097187416"/>
                    </a:ext>
                  </a:extLst>
                </a:gridCol>
                <a:gridCol w="490295">
                  <a:extLst>
                    <a:ext uri="{9D8B030D-6E8A-4147-A177-3AD203B41FA5}">
                      <a16:colId xmlns:a16="http://schemas.microsoft.com/office/drawing/2014/main" val="1468939286"/>
                    </a:ext>
                  </a:extLst>
                </a:gridCol>
                <a:gridCol w="579440">
                  <a:extLst>
                    <a:ext uri="{9D8B030D-6E8A-4147-A177-3AD203B41FA5}">
                      <a16:colId xmlns:a16="http://schemas.microsoft.com/office/drawing/2014/main" val="1694611287"/>
                    </a:ext>
                  </a:extLst>
                </a:gridCol>
                <a:gridCol w="520009">
                  <a:extLst>
                    <a:ext uri="{9D8B030D-6E8A-4147-A177-3AD203B41FA5}">
                      <a16:colId xmlns:a16="http://schemas.microsoft.com/office/drawing/2014/main" val="3742045234"/>
                    </a:ext>
                  </a:extLst>
                </a:gridCol>
              </a:tblGrid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TV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Radio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 err="1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Np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CA</a:t>
                      </a:r>
                      <a:endParaRPr lang="fr-MA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692315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230.1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37.8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69.2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22,1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447002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44.5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39.3</a:t>
                      </a:r>
                      <a:endParaRPr lang="fr-MA" sz="1400" b="0" i="0" u="none" strike="noStrike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45.1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10,4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247743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17.2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45.9</a:t>
                      </a:r>
                      <a:endParaRPr lang="fr-MA" sz="1400" b="0" i="0" u="none" strike="noStrike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69.3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9,3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584644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…</a:t>
                      </a:r>
                    </a:p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792012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199.8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2.6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21.2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10,6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29377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2AC500-0ADF-1D82-E718-61D5AD0C3408}"/>
              </a:ext>
            </a:extLst>
          </p:cNvPr>
          <p:cNvSpPr txBox="1"/>
          <p:nvPr/>
        </p:nvSpPr>
        <p:spPr>
          <a:xfrm>
            <a:off x="2550896" y="4368613"/>
            <a:ext cx="1975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1" dirty="0">
                <a:solidFill>
                  <a:srgbClr val="FF3300"/>
                </a:solidFill>
              </a:rPr>
              <a:t>Advertising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0ADB4E-922A-F726-F898-13EFE17D05AC}"/>
              </a:ext>
            </a:extLst>
          </p:cNvPr>
          <p:cNvSpPr txBox="1"/>
          <p:nvPr/>
        </p:nvSpPr>
        <p:spPr>
          <a:xfrm>
            <a:off x="5076100" y="4347425"/>
            <a:ext cx="1825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Red or Blue?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2B1A87E-2FF2-E86D-7B94-8C33F6E2D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438" y="4720450"/>
            <a:ext cx="1668557" cy="143600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2D260BA-7B13-1B4C-924F-3523690F63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8010" y="4758201"/>
            <a:ext cx="1277590" cy="124729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5B0A9D4-4720-0A84-5C47-4A473903D9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67" y="4799646"/>
            <a:ext cx="1697507" cy="121250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B60BD18-99B3-D707-5D08-990574A558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6519" y="4676418"/>
            <a:ext cx="2764212" cy="146549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FF99D44-D451-D2CB-C40E-9446DCDBF3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5588" y="2124081"/>
            <a:ext cx="2779082" cy="212456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488285A-69B0-83B4-6289-A3B5602B72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21" y="2247412"/>
            <a:ext cx="2298250" cy="172843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67D0721-9828-9DA4-3604-C4409FF28955}"/>
              </a:ext>
            </a:extLst>
          </p:cNvPr>
          <p:cNvSpPr txBox="1"/>
          <p:nvPr/>
        </p:nvSpPr>
        <p:spPr>
          <a:xfrm>
            <a:off x="2378966" y="1469292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0066FF"/>
                </a:solidFill>
              </a:rPr>
              <a:t>Multi </a:t>
            </a:r>
            <a:r>
              <a:rPr lang="fr-MA" b="1" dirty="0" err="1">
                <a:solidFill>
                  <a:srgbClr val="0066FF"/>
                </a:solidFill>
              </a:rPr>
              <a:t>Variate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Linear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Regression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 err="1">
                <a:solidFill>
                  <a:srgbClr val="0066FF"/>
                </a:solidFill>
              </a:rPr>
              <a:t>Problem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CF41B9C-0B70-9701-A0D0-F6DC18E97D07}"/>
              </a:ext>
            </a:extLst>
          </p:cNvPr>
          <p:cNvSpPr/>
          <p:nvPr/>
        </p:nvSpPr>
        <p:spPr>
          <a:xfrm>
            <a:off x="3106811" y="922184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2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79C690C-CBAA-A5B0-3762-E464F3BE20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704" y="4687895"/>
            <a:ext cx="1668557" cy="143600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9F7A418-D367-6830-D151-5AB0803E9CB3}"/>
              </a:ext>
            </a:extLst>
          </p:cNvPr>
          <p:cNvSpPr txBox="1"/>
          <p:nvPr/>
        </p:nvSpPr>
        <p:spPr>
          <a:xfrm>
            <a:off x="261896" y="4030059"/>
            <a:ext cx="1975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1" dirty="0" err="1">
                <a:solidFill>
                  <a:srgbClr val="FF3300"/>
                </a:solidFill>
              </a:rPr>
              <a:t>Random</a:t>
            </a:r>
            <a:r>
              <a:rPr lang="fr-MA" sz="1600" b="1" dirty="0">
                <a:solidFill>
                  <a:srgbClr val="FF3300"/>
                </a:solidFill>
              </a:rPr>
              <a:t> point cloud</a:t>
            </a:r>
          </a:p>
        </p:txBody>
      </p:sp>
    </p:spTree>
    <p:extLst>
      <p:ext uri="{BB962C8B-B14F-4D97-AF65-F5344CB8AC3E}">
        <p14:creationId xmlns:p14="http://schemas.microsoft.com/office/powerpoint/2010/main" val="804321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54B95B2B-F152-DB03-6AC0-DEE4DA66AAA8}"/>
              </a:ext>
            </a:extLst>
          </p:cNvPr>
          <p:cNvSpPr/>
          <p:nvPr/>
        </p:nvSpPr>
        <p:spPr>
          <a:xfrm>
            <a:off x="3564081" y="2440704"/>
            <a:ext cx="3751119" cy="236778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758206-1547-DE3A-099D-35BCBD7F6207}"/>
              </a:ext>
            </a:extLst>
          </p:cNvPr>
          <p:cNvCxnSpPr>
            <a:cxnSpLocks/>
            <a:stCxn id="2" idx="0"/>
            <a:endCxn id="2" idx="4"/>
          </p:cNvCxnSpPr>
          <p:nvPr/>
        </p:nvCxnSpPr>
        <p:spPr>
          <a:xfrm>
            <a:off x="5439641" y="2440704"/>
            <a:ext cx="0" cy="23677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4697D71-04BC-235E-66D0-D31D113005A8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2081048" y="3624596"/>
            <a:ext cx="1483033" cy="47296"/>
          </a:xfrm>
          <a:prstGeom prst="straightConnector1">
            <a:avLst/>
          </a:prstGeom>
          <a:ln>
            <a:solidFill>
              <a:srgbClr val="FF3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0357753-1768-A551-665B-F8B2D1C79C13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3026979" y="2301769"/>
            <a:ext cx="537102" cy="132282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FDE248F-8423-5166-8CE1-EF794709B5BB}"/>
              </a:ext>
            </a:extLst>
          </p:cNvPr>
          <p:cNvSpPr txBox="1"/>
          <p:nvPr/>
        </p:nvSpPr>
        <p:spPr>
          <a:xfrm>
            <a:off x="1608086" y="3515714"/>
            <a:ext cx="551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9493C8-A76C-7C3C-8439-A4FA2254FF25}"/>
              </a:ext>
            </a:extLst>
          </p:cNvPr>
          <p:cNvSpPr txBox="1"/>
          <p:nvPr/>
        </p:nvSpPr>
        <p:spPr>
          <a:xfrm>
            <a:off x="2695900" y="1939161"/>
            <a:ext cx="662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>
                <a:solidFill>
                  <a:srgbClr val="0065FA"/>
                </a:solidFill>
              </a:rPr>
              <a:t>bias</a:t>
            </a:r>
            <a:endParaRPr lang="fr-MA" b="1" dirty="0">
              <a:solidFill>
                <a:srgbClr val="0065FA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AF4F00-8C4B-DFE6-E6F8-6D90D142BCB2}"/>
              </a:ext>
            </a:extLst>
          </p:cNvPr>
          <p:cNvSpPr txBox="1"/>
          <p:nvPr/>
        </p:nvSpPr>
        <p:spPr>
          <a:xfrm>
            <a:off x="2356941" y="3302560"/>
            <a:ext cx="662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0065FA"/>
                </a:solidFill>
              </a:rPr>
              <a:t>w1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53C7AF-3A44-4E7A-B67A-F56C1B0146EC}"/>
              </a:ext>
            </a:extLst>
          </p:cNvPr>
          <p:cNvSpPr txBox="1"/>
          <p:nvPr/>
        </p:nvSpPr>
        <p:spPr>
          <a:xfrm>
            <a:off x="3698080" y="3515734"/>
            <a:ext cx="174101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0180FF"/>
                </a:solidFill>
              </a:rPr>
              <a:t>ws</a:t>
            </a:r>
            <a:r>
              <a:rPr lang="fr-MA" dirty="0">
                <a:solidFill>
                  <a:srgbClr val="0180FF"/>
                </a:solidFill>
              </a:rPr>
              <a:t>=bias+w1*X1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B35B53-4E22-3A19-A93A-E079CF85F0F2}"/>
              </a:ext>
            </a:extLst>
          </p:cNvPr>
          <p:cNvSpPr txBox="1"/>
          <p:nvPr/>
        </p:nvSpPr>
        <p:spPr>
          <a:xfrm>
            <a:off x="5802786" y="3515714"/>
            <a:ext cx="174101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0180FF"/>
                </a:solidFill>
              </a:rPr>
              <a:t>linear</a:t>
            </a:r>
            <a:r>
              <a:rPr lang="fr-MA" dirty="0">
                <a:solidFill>
                  <a:srgbClr val="0180FF"/>
                </a:solidFill>
              </a:rPr>
              <a:t>(z)=z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A6C6F22-EE06-EB4F-6C96-1C095EA55419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7315200" y="3624595"/>
            <a:ext cx="93016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5F72247-17A8-690B-BE8A-73B4AEE5D9F2}"/>
              </a:ext>
            </a:extLst>
          </p:cNvPr>
          <p:cNvSpPr txBox="1"/>
          <p:nvPr/>
        </p:nvSpPr>
        <p:spPr>
          <a:xfrm>
            <a:off x="1261241" y="189186"/>
            <a:ext cx="85764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3600" b="1" dirty="0">
                <a:solidFill>
                  <a:srgbClr val="0180FF"/>
                </a:solidFill>
              </a:rPr>
              <a:t>Neural Network – One Neurone</a:t>
            </a:r>
          </a:p>
          <a:p>
            <a:pPr algn="ctr"/>
            <a:r>
              <a:rPr lang="fr-MA" sz="2800" b="1" dirty="0">
                <a:solidFill>
                  <a:srgbClr val="FF0000"/>
                </a:solidFill>
              </a:rPr>
              <a:t>Simple </a:t>
            </a:r>
            <a:r>
              <a:rPr lang="fr-MA" sz="2800" b="1" dirty="0" err="1">
                <a:solidFill>
                  <a:srgbClr val="FF0000"/>
                </a:solidFill>
              </a:rPr>
              <a:t>Regression</a:t>
            </a:r>
            <a:r>
              <a:rPr lang="fr-MA" sz="2800" b="1" dirty="0">
                <a:solidFill>
                  <a:srgbClr val="FF0000"/>
                </a:solidFill>
              </a:rPr>
              <a:t> </a:t>
            </a:r>
            <a:r>
              <a:rPr lang="fr-MA" sz="2800" b="1" dirty="0" err="1">
                <a:solidFill>
                  <a:srgbClr val="FF0000"/>
                </a:solidFill>
              </a:rPr>
              <a:t>Problem</a:t>
            </a:r>
            <a:endParaRPr lang="fr-MA" sz="2800" b="1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F58494-0AB7-8EDA-487C-09CD62ED597B}"/>
              </a:ext>
            </a:extLst>
          </p:cNvPr>
          <p:cNvSpPr txBox="1"/>
          <p:nvPr/>
        </p:nvSpPr>
        <p:spPr>
          <a:xfrm>
            <a:off x="7387219" y="3244344"/>
            <a:ext cx="930166" cy="369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735764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54B95B2B-F152-DB03-6AC0-DEE4DA66AAA8}"/>
              </a:ext>
            </a:extLst>
          </p:cNvPr>
          <p:cNvSpPr/>
          <p:nvPr/>
        </p:nvSpPr>
        <p:spPr>
          <a:xfrm>
            <a:off x="3564080" y="2440704"/>
            <a:ext cx="5600935" cy="236778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758206-1547-DE3A-099D-35BCBD7F6207}"/>
              </a:ext>
            </a:extLst>
          </p:cNvPr>
          <p:cNvCxnSpPr>
            <a:cxnSpLocks/>
            <a:stCxn id="2" idx="0"/>
            <a:endCxn id="2" idx="4"/>
          </p:cNvCxnSpPr>
          <p:nvPr/>
        </p:nvCxnSpPr>
        <p:spPr>
          <a:xfrm>
            <a:off x="6364548" y="2440704"/>
            <a:ext cx="0" cy="23677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4697D71-04BC-235E-66D0-D31D113005A8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2081048" y="3624596"/>
            <a:ext cx="1483032" cy="47296"/>
          </a:xfrm>
          <a:prstGeom prst="straightConnector1">
            <a:avLst/>
          </a:prstGeom>
          <a:ln>
            <a:solidFill>
              <a:srgbClr val="FF3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0357753-1768-A551-665B-F8B2D1C79C13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3026979" y="2301769"/>
            <a:ext cx="537101" cy="132282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FDE248F-8423-5166-8CE1-EF794709B5BB}"/>
              </a:ext>
            </a:extLst>
          </p:cNvPr>
          <p:cNvSpPr txBox="1"/>
          <p:nvPr/>
        </p:nvSpPr>
        <p:spPr>
          <a:xfrm>
            <a:off x="1671145" y="3515714"/>
            <a:ext cx="488734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9493C8-A76C-7C3C-8439-A4FA2254FF25}"/>
              </a:ext>
            </a:extLst>
          </p:cNvPr>
          <p:cNvSpPr txBox="1"/>
          <p:nvPr/>
        </p:nvSpPr>
        <p:spPr>
          <a:xfrm>
            <a:off x="2695900" y="1939161"/>
            <a:ext cx="662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>
                <a:solidFill>
                  <a:srgbClr val="0065FA"/>
                </a:solidFill>
              </a:rPr>
              <a:t>bias</a:t>
            </a:r>
            <a:endParaRPr lang="fr-MA" b="1" dirty="0">
              <a:solidFill>
                <a:srgbClr val="0065FA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AF4F00-8C4B-DFE6-E6F8-6D90D142BCB2}"/>
              </a:ext>
            </a:extLst>
          </p:cNvPr>
          <p:cNvSpPr txBox="1"/>
          <p:nvPr/>
        </p:nvSpPr>
        <p:spPr>
          <a:xfrm>
            <a:off x="2356941" y="3302560"/>
            <a:ext cx="662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0065FA"/>
                </a:solidFill>
              </a:rPr>
              <a:t>w1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53C7AF-3A44-4E7A-B67A-F56C1B0146EC}"/>
              </a:ext>
            </a:extLst>
          </p:cNvPr>
          <p:cNvSpPr txBox="1"/>
          <p:nvPr/>
        </p:nvSpPr>
        <p:spPr>
          <a:xfrm>
            <a:off x="3698080" y="3515734"/>
            <a:ext cx="2666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0180FF"/>
                </a:solidFill>
              </a:rPr>
              <a:t>ws</a:t>
            </a:r>
            <a:r>
              <a:rPr lang="fr-MA" dirty="0">
                <a:solidFill>
                  <a:srgbClr val="0180FF"/>
                </a:solidFill>
              </a:rPr>
              <a:t>=bias+w1*X1+w2.x2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B35B53-4E22-3A19-A93A-E079CF85F0F2}"/>
              </a:ext>
            </a:extLst>
          </p:cNvPr>
          <p:cNvSpPr txBox="1"/>
          <p:nvPr/>
        </p:nvSpPr>
        <p:spPr>
          <a:xfrm>
            <a:off x="6433414" y="3515714"/>
            <a:ext cx="2421010" cy="369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0180FF"/>
                </a:solidFill>
              </a:rPr>
              <a:t>sigmoid</a:t>
            </a:r>
            <a:r>
              <a:rPr lang="fr-MA" dirty="0">
                <a:solidFill>
                  <a:srgbClr val="0180FF"/>
                </a:solidFill>
              </a:rPr>
              <a:t>(z)=1/1+exp(-z)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A6C6F22-EE06-EB4F-6C96-1C095EA55419}"/>
              </a:ext>
            </a:extLst>
          </p:cNvPr>
          <p:cNvCxnSpPr>
            <a:cxnSpLocks/>
            <a:stCxn id="2" idx="6"/>
          </p:cNvCxnSpPr>
          <p:nvPr/>
        </p:nvCxnSpPr>
        <p:spPr>
          <a:xfrm>
            <a:off x="9165015" y="3624596"/>
            <a:ext cx="4162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5F72247-17A8-690B-BE8A-73B4AEE5D9F2}"/>
              </a:ext>
            </a:extLst>
          </p:cNvPr>
          <p:cNvSpPr txBox="1"/>
          <p:nvPr/>
        </p:nvSpPr>
        <p:spPr>
          <a:xfrm>
            <a:off x="1261241" y="189186"/>
            <a:ext cx="85764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3600" b="1" dirty="0">
                <a:solidFill>
                  <a:srgbClr val="0180FF"/>
                </a:solidFill>
              </a:rPr>
              <a:t>Neural Network – One Neurone</a:t>
            </a:r>
          </a:p>
          <a:p>
            <a:pPr algn="ctr"/>
            <a:r>
              <a:rPr lang="fr-MA" sz="2800" b="1" dirty="0">
                <a:solidFill>
                  <a:srgbClr val="FF0000"/>
                </a:solidFill>
              </a:rPr>
              <a:t>Simple Classification </a:t>
            </a:r>
            <a:r>
              <a:rPr lang="fr-MA" sz="2800" b="1" dirty="0" err="1">
                <a:solidFill>
                  <a:srgbClr val="FF0000"/>
                </a:solidFill>
              </a:rPr>
              <a:t>Problem</a:t>
            </a:r>
            <a:endParaRPr lang="fr-MA" sz="2800" b="1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F58494-0AB7-8EDA-487C-09CD62ED597B}"/>
              </a:ext>
            </a:extLst>
          </p:cNvPr>
          <p:cNvSpPr txBox="1"/>
          <p:nvPr/>
        </p:nvSpPr>
        <p:spPr>
          <a:xfrm>
            <a:off x="9074143" y="3244344"/>
            <a:ext cx="930166" cy="369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output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DE093C-4B0D-63C9-8F32-B6FD7FF33D18}"/>
              </a:ext>
            </a:extLst>
          </p:cNvPr>
          <p:cNvSpPr txBox="1"/>
          <p:nvPr/>
        </p:nvSpPr>
        <p:spPr>
          <a:xfrm>
            <a:off x="1671145" y="4084011"/>
            <a:ext cx="488734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F3D25E-7670-BFA4-3A2A-93E8E286450F}"/>
              </a:ext>
            </a:extLst>
          </p:cNvPr>
          <p:cNvSpPr txBox="1"/>
          <p:nvPr/>
        </p:nvSpPr>
        <p:spPr>
          <a:xfrm>
            <a:off x="2398981" y="3691443"/>
            <a:ext cx="662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0065FA"/>
                </a:solidFill>
              </a:rPr>
              <a:t>w2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26C23C6-3395-D49D-2291-D4FB00CAE2F7}"/>
              </a:ext>
            </a:extLst>
          </p:cNvPr>
          <p:cNvCxnSpPr>
            <a:cxnSpLocks/>
            <a:stCxn id="3" idx="3"/>
            <a:endCxn id="2" idx="2"/>
          </p:cNvCxnSpPr>
          <p:nvPr/>
        </p:nvCxnSpPr>
        <p:spPr>
          <a:xfrm flipV="1">
            <a:off x="2159879" y="3624596"/>
            <a:ext cx="1404201" cy="644071"/>
          </a:xfrm>
          <a:prstGeom prst="straightConnector1">
            <a:avLst/>
          </a:prstGeom>
          <a:ln>
            <a:solidFill>
              <a:srgbClr val="FF3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640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0E3170-E67D-5DB3-9B90-119CDA2D87E7}"/>
              </a:ext>
            </a:extLst>
          </p:cNvPr>
          <p:cNvSpPr txBox="1"/>
          <p:nvPr/>
        </p:nvSpPr>
        <p:spPr>
          <a:xfrm>
            <a:off x="106680" y="1745456"/>
            <a:ext cx="3505200" cy="1477328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>
                <a:solidFill>
                  <a:srgbClr val="00B050"/>
                </a:solidFill>
              </a:rPr>
              <a:t>#Librairies</a:t>
            </a:r>
          </a:p>
          <a:p>
            <a:r>
              <a:rPr lang="fr-MA" dirty="0"/>
              <a:t>import </a:t>
            </a:r>
            <a:r>
              <a:rPr lang="fr-MA" dirty="0" err="1"/>
              <a:t>matplotlib.pyplot</a:t>
            </a:r>
            <a:r>
              <a:rPr lang="fr-MA" dirty="0"/>
              <a:t> as </a:t>
            </a:r>
            <a:r>
              <a:rPr lang="fr-MA" dirty="0" err="1"/>
              <a:t>plt</a:t>
            </a:r>
            <a:endParaRPr lang="fr-MA" dirty="0"/>
          </a:p>
          <a:p>
            <a:r>
              <a:rPr lang="fr-MA" dirty="0" err="1"/>
              <a:t>from</a:t>
            </a:r>
            <a:r>
              <a:rPr lang="fr-MA" dirty="0"/>
              <a:t> </a:t>
            </a:r>
            <a:r>
              <a:rPr lang="fr-MA" dirty="0" err="1"/>
              <a:t>random</a:t>
            </a:r>
            <a:r>
              <a:rPr lang="fr-MA" dirty="0"/>
              <a:t> import </a:t>
            </a:r>
            <a:r>
              <a:rPr lang="fr-MA" dirty="0" err="1"/>
              <a:t>seed</a:t>
            </a:r>
            <a:endParaRPr lang="fr-MA" dirty="0"/>
          </a:p>
          <a:p>
            <a:r>
              <a:rPr lang="fr-MA" dirty="0" err="1"/>
              <a:t>from</a:t>
            </a:r>
            <a:r>
              <a:rPr lang="fr-MA" dirty="0"/>
              <a:t> </a:t>
            </a:r>
            <a:r>
              <a:rPr lang="fr-MA" dirty="0" err="1"/>
              <a:t>random</a:t>
            </a:r>
            <a:r>
              <a:rPr lang="fr-MA" dirty="0"/>
              <a:t> import </a:t>
            </a:r>
            <a:r>
              <a:rPr lang="fr-MA" dirty="0" err="1"/>
              <a:t>randrange</a:t>
            </a:r>
            <a:endParaRPr lang="fr-MA" dirty="0"/>
          </a:p>
          <a:p>
            <a:r>
              <a:rPr lang="fr-MA" dirty="0"/>
              <a:t>import </a:t>
            </a:r>
            <a:r>
              <a:rPr lang="fr-MA" dirty="0" err="1"/>
              <a:t>numpy</a:t>
            </a:r>
            <a:r>
              <a:rPr lang="fr-MA" dirty="0"/>
              <a:t> as </a:t>
            </a:r>
            <a:r>
              <a:rPr lang="fr-MA" dirty="0" err="1"/>
              <a:t>np</a:t>
            </a:r>
            <a:endParaRPr lang="fr-M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4409DF-48D1-A277-C7ED-1CD4508473C5}"/>
              </a:ext>
            </a:extLst>
          </p:cNvPr>
          <p:cNvSpPr txBox="1"/>
          <p:nvPr/>
        </p:nvSpPr>
        <p:spPr>
          <a:xfrm>
            <a:off x="106680" y="3222784"/>
            <a:ext cx="3505200" cy="369332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np.random.seed</a:t>
            </a:r>
            <a:r>
              <a:rPr lang="fr-MA" dirty="0"/>
              <a:t>(0)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3FCCCD-D06D-F731-71B4-84F20B7F5EE6}"/>
              </a:ext>
            </a:extLst>
          </p:cNvPr>
          <p:cNvSpPr txBox="1"/>
          <p:nvPr/>
        </p:nvSpPr>
        <p:spPr>
          <a:xfrm>
            <a:off x="106680" y="3592116"/>
            <a:ext cx="3505200" cy="646331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def</a:t>
            </a:r>
            <a:r>
              <a:rPr lang="fr-MA" dirty="0"/>
              <a:t> f(X):</a:t>
            </a:r>
          </a:p>
          <a:p>
            <a:r>
              <a:rPr lang="fr-MA" dirty="0"/>
              <a:t>    return 1+3*X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B74F05-9C31-718E-EB2C-FFBC8034169F}"/>
              </a:ext>
            </a:extLst>
          </p:cNvPr>
          <p:cNvSpPr txBox="1"/>
          <p:nvPr/>
        </p:nvSpPr>
        <p:spPr>
          <a:xfrm>
            <a:off x="45722" y="4421505"/>
            <a:ext cx="5577838" cy="1477328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def</a:t>
            </a:r>
            <a:r>
              <a:rPr lang="fr-MA" dirty="0"/>
              <a:t> </a:t>
            </a:r>
            <a:r>
              <a:rPr lang="fr-MA" dirty="0" err="1"/>
              <a:t>generateData</a:t>
            </a:r>
            <a:r>
              <a:rPr lang="fr-MA" dirty="0"/>
              <a:t> (n):</a:t>
            </a:r>
          </a:p>
          <a:p>
            <a:r>
              <a:rPr lang="fr-MA" dirty="0"/>
              <a:t>    X=</a:t>
            </a:r>
            <a:r>
              <a:rPr lang="fr-MA" dirty="0" err="1"/>
              <a:t>np.array</a:t>
            </a:r>
            <a:r>
              <a:rPr lang="fr-MA" dirty="0"/>
              <a:t>([i for i in range(n)])</a:t>
            </a:r>
          </a:p>
          <a:p>
            <a:r>
              <a:rPr lang="fr-MA" dirty="0"/>
              <a:t>    </a:t>
            </a:r>
            <a:r>
              <a:rPr lang="fr-MA" dirty="0" err="1"/>
              <a:t>y_model</a:t>
            </a:r>
            <a:r>
              <a:rPr lang="fr-MA" dirty="0"/>
              <a:t>=f(X)</a:t>
            </a:r>
          </a:p>
          <a:p>
            <a:r>
              <a:rPr lang="fr-MA" dirty="0"/>
              <a:t>    y =</a:t>
            </a:r>
            <a:r>
              <a:rPr lang="fr-MA" dirty="0" err="1"/>
              <a:t>np.array</a:t>
            </a:r>
            <a:r>
              <a:rPr lang="fr-MA" dirty="0"/>
              <a:t>([</a:t>
            </a:r>
            <a:r>
              <a:rPr lang="fr-MA" dirty="0" err="1"/>
              <a:t>i+randrange</a:t>
            </a:r>
            <a:r>
              <a:rPr lang="fr-MA" dirty="0"/>
              <a:t>(-20,20) for i in </a:t>
            </a:r>
            <a:r>
              <a:rPr lang="fr-MA" dirty="0" err="1"/>
              <a:t>y_model</a:t>
            </a:r>
            <a:r>
              <a:rPr lang="fr-MA" dirty="0"/>
              <a:t>])</a:t>
            </a:r>
          </a:p>
          <a:p>
            <a:r>
              <a:rPr lang="fr-MA" dirty="0"/>
              <a:t>    return </a:t>
            </a:r>
            <a:r>
              <a:rPr lang="fr-MA" dirty="0" err="1"/>
              <a:t>X,y_model,y</a:t>
            </a:r>
            <a:endParaRPr lang="fr-M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48252E-3B3D-35A0-C3CF-8F1EA40C5930}"/>
              </a:ext>
            </a:extLst>
          </p:cNvPr>
          <p:cNvSpPr txBox="1"/>
          <p:nvPr/>
        </p:nvSpPr>
        <p:spPr>
          <a:xfrm>
            <a:off x="45722" y="5959971"/>
            <a:ext cx="5577838" cy="646331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n_samples</a:t>
            </a:r>
            <a:r>
              <a:rPr lang="fr-MA" dirty="0"/>
              <a:t> = 50</a:t>
            </a:r>
          </a:p>
          <a:p>
            <a:r>
              <a:rPr lang="fr-MA" dirty="0" err="1"/>
              <a:t>X,y_model,y</a:t>
            </a:r>
            <a:r>
              <a:rPr lang="fr-MA" dirty="0"/>
              <a:t>=</a:t>
            </a:r>
            <a:r>
              <a:rPr lang="fr-MA" dirty="0" err="1"/>
              <a:t>generateData</a:t>
            </a:r>
            <a:r>
              <a:rPr lang="fr-MA" dirty="0"/>
              <a:t>(</a:t>
            </a:r>
            <a:r>
              <a:rPr lang="fr-MA" dirty="0" err="1"/>
              <a:t>n_samples</a:t>
            </a:r>
            <a:r>
              <a:rPr lang="fr-MA" dirty="0"/>
              <a:t>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A16815-D7F1-674D-E9AC-F72A2D9398F9}"/>
              </a:ext>
            </a:extLst>
          </p:cNvPr>
          <p:cNvSpPr txBox="1"/>
          <p:nvPr/>
        </p:nvSpPr>
        <p:spPr>
          <a:xfrm>
            <a:off x="478" y="768160"/>
            <a:ext cx="23282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2000" b="1" dirty="0">
                <a:solidFill>
                  <a:srgbClr val="0066FF"/>
                </a:solidFill>
              </a:rPr>
              <a:t>Simple </a:t>
            </a:r>
            <a:br>
              <a:rPr lang="fr-MA" sz="2000" b="1" dirty="0">
                <a:solidFill>
                  <a:srgbClr val="0066FF"/>
                </a:solidFill>
              </a:rPr>
            </a:br>
            <a:r>
              <a:rPr lang="fr-MA" sz="2000" b="1" dirty="0" err="1">
                <a:solidFill>
                  <a:srgbClr val="0066FF"/>
                </a:solidFill>
              </a:rPr>
              <a:t>Regression</a:t>
            </a:r>
            <a:r>
              <a:rPr lang="fr-MA" sz="2000" b="1" dirty="0">
                <a:solidFill>
                  <a:srgbClr val="0066FF"/>
                </a:solidFill>
              </a:rPr>
              <a:t> </a:t>
            </a:r>
            <a:r>
              <a:rPr lang="fr-MA" sz="2000" b="1" dirty="0" err="1">
                <a:solidFill>
                  <a:srgbClr val="0066FF"/>
                </a:solidFill>
              </a:rPr>
              <a:t>problem</a:t>
            </a:r>
            <a:endParaRPr lang="fr-MA" sz="2000" b="1" dirty="0">
              <a:solidFill>
                <a:srgbClr val="0066FF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6A5A652-442D-BA90-28F0-FE6F2876505A}"/>
              </a:ext>
            </a:extLst>
          </p:cNvPr>
          <p:cNvSpPr/>
          <p:nvPr/>
        </p:nvSpPr>
        <p:spPr>
          <a:xfrm>
            <a:off x="904241" y="108077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2B17366-C81A-2721-8534-48EB655D8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517" y="2271534"/>
            <a:ext cx="4124325" cy="393382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4BCB21A-9375-5F63-454E-7A28CDE884B3}"/>
              </a:ext>
            </a:extLst>
          </p:cNvPr>
          <p:cNvSpPr txBox="1"/>
          <p:nvPr/>
        </p:nvSpPr>
        <p:spPr>
          <a:xfrm>
            <a:off x="7071358" y="1014381"/>
            <a:ext cx="3596641" cy="923330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plt.figure</a:t>
            </a:r>
            <a:r>
              <a:rPr lang="fr-MA" dirty="0"/>
              <a:t>(</a:t>
            </a:r>
            <a:r>
              <a:rPr lang="fr-MA" dirty="0" err="1"/>
              <a:t>figsize</a:t>
            </a:r>
            <a:r>
              <a:rPr lang="fr-MA" dirty="0"/>
              <a:t>=(5, 5))</a:t>
            </a:r>
          </a:p>
          <a:p>
            <a:r>
              <a:rPr lang="fr-MA" dirty="0" err="1"/>
              <a:t>plt.scatter</a:t>
            </a:r>
            <a:r>
              <a:rPr lang="fr-MA" dirty="0"/>
              <a:t>(X, y)</a:t>
            </a:r>
          </a:p>
          <a:p>
            <a:r>
              <a:rPr lang="fr-MA" dirty="0" err="1"/>
              <a:t>plt.show</a:t>
            </a:r>
            <a:r>
              <a:rPr lang="fr-MA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660121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AF6AC1-8B94-5B0E-173D-CEE3600E2277}"/>
              </a:ext>
            </a:extLst>
          </p:cNvPr>
          <p:cNvSpPr txBox="1"/>
          <p:nvPr/>
        </p:nvSpPr>
        <p:spPr>
          <a:xfrm>
            <a:off x="137162" y="108822"/>
            <a:ext cx="5958838" cy="3662541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sz="1600" dirty="0" err="1"/>
              <a:t>def</a:t>
            </a:r>
            <a:r>
              <a:rPr lang="fr-MA" sz="1600" dirty="0"/>
              <a:t> fit(</a:t>
            </a:r>
            <a:r>
              <a:rPr lang="fr-MA" sz="1600" dirty="0" err="1"/>
              <a:t>X,y</a:t>
            </a:r>
            <a:r>
              <a:rPr lang="fr-MA" sz="1600" dirty="0"/>
              <a:t>):</a:t>
            </a:r>
          </a:p>
          <a:p>
            <a:r>
              <a:rPr lang="fr-MA" sz="1600" dirty="0"/>
              <a:t>   </a:t>
            </a:r>
            <a:r>
              <a:rPr lang="fr-MA" sz="1600" b="1" dirty="0">
                <a:solidFill>
                  <a:srgbClr val="0066FF"/>
                </a:solidFill>
              </a:rPr>
              <a:t> </a:t>
            </a:r>
            <a:r>
              <a:rPr lang="fr-MA" sz="1600" b="1" dirty="0" err="1">
                <a:solidFill>
                  <a:srgbClr val="0066FF"/>
                </a:solidFill>
              </a:rPr>
              <a:t>lr</a:t>
            </a:r>
            <a:r>
              <a:rPr lang="fr-MA" sz="1600" b="1" dirty="0">
                <a:solidFill>
                  <a:srgbClr val="0066FF"/>
                </a:solidFill>
              </a:rPr>
              <a:t>=0.001</a:t>
            </a:r>
          </a:p>
          <a:p>
            <a:r>
              <a:rPr lang="fr-MA" sz="1600" b="1" dirty="0">
                <a:solidFill>
                  <a:srgbClr val="0066FF"/>
                </a:solidFill>
              </a:rPr>
              <a:t>    </a:t>
            </a:r>
            <a:r>
              <a:rPr lang="fr-MA" sz="1600" b="1" dirty="0" err="1">
                <a:solidFill>
                  <a:srgbClr val="0066FF"/>
                </a:solidFill>
              </a:rPr>
              <a:t>epochs</a:t>
            </a:r>
            <a:r>
              <a:rPr lang="fr-MA" sz="1600" b="1" dirty="0">
                <a:solidFill>
                  <a:srgbClr val="0066FF"/>
                </a:solidFill>
              </a:rPr>
              <a:t>=10000</a:t>
            </a:r>
          </a:p>
          <a:p>
            <a:r>
              <a:rPr lang="fr-MA" sz="1600" dirty="0"/>
              <a:t>    </a:t>
            </a:r>
            <a:r>
              <a:rPr lang="fr-MA" sz="1600" b="1" dirty="0" err="1">
                <a:solidFill>
                  <a:srgbClr val="FF3300"/>
                </a:solidFill>
              </a:rPr>
              <a:t>bias</a:t>
            </a:r>
            <a:r>
              <a:rPr lang="fr-MA" sz="1600" b="1" dirty="0">
                <a:solidFill>
                  <a:srgbClr val="FF3300"/>
                </a:solidFill>
              </a:rPr>
              <a:t>=0.5</a:t>
            </a:r>
          </a:p>
          <a:p>
            <a:r>
              <a:rPr lang="fr-MA" sz="1600" b="1" dirty="0">
                <a:solidFill>
                  <a:srgbClr val="FF3300"/>
                </a:solidFill>
              </a:rPr>
              <a:t>    w1=0.5</a:t>
            </a:r>
          </a:p>
          <a:p>
            <a:r>
              <a:rPr lang="fr-MA" sz="1600" dirty="0"/>
              <a:t>    n=</a:t>
            </a:r>
            <a:r>
              <a:rPr lang="fr-MA" sz="1600" dirty="0" err="1"/>
              <a:t>len</a:t>
            </a:r>
            <a:r>
              <a:rPr lang="fr-MA" sz="1600" dirty="0"/>
              <a:t>(y)</a:t>
            </a:r>
          </a:p>
          <a:p>
            <a:r>
              <a:rPr lang="fr-MA" sz="1600" dirty="0"/>
              <a:t>    for i in range(</a:t>
            </a:r>
            <a:r>
              <a:rPr lang="fr-MA" sz="1600" dirty="0" err="1"/>
              <a:t>epochs</a:t>
            </a:r>
            <a:r>
              <a:rPr lang="fr-MA" sz="1600" dirty="0"/>
              <a:t>):</a:t>
            </a:r>
          </a:p>
          <a:p>
            <a:r>
              <a:rPr lang="fr-MA" sz="1600" dirty="0"/>
              <a:t>        </a:t>
            </a:r>
            <a:r>
              <a:rPr lang="fr-MA" sz="1600" dirty="0" err="1"/>
              <a:t>py</a:t>
            </a:r>
            <a:r>
              <a:rPr lang="fr-MA" sz="1600" dirty="0"/>
              <a:t>=bias+w1*X</a:t>
            </a:r>
          </a:p>
          <a:p>
            <a:r>
              <a:rPr lang="fr-MA" sz="1600" dirty="0"/>
              <a:t>        </a:t>
            </a:r>
            <a:r>
              <a:rPr lang="fr-MA" sz="1600" dirty="0" err="1"/>
              <a:t>dbias</a:t>
            </a:r>
            <a:r>
              <a:rPr lang="fr-MA" sz="1600" dirty="0"/>
              <a:t>=-(2/n)*</a:t>
            </a:r>
            <a:r>
              <a:rPr lang="fr-MA" sz="1600" dirty="0" err="1"/>
              <a:t>sum</a:t>
            </a:r>
            <a:r>
              <a:rPr lang="fr-MA" sz="1600" dirty="0"/>
              <a:t>(y-</a:t>
            </a:r>
            <a:r>
              <a:rPr lang="fr-MA" sz="1600" dirty="0" err="1"/>
              <a:t>py</a:t>
            </a:r>
            <a:r>
              <a:rPr lang="fr-MA" sz="1600" dirty="0"/>
              <a:t>)</a:t>
            </a:r>
          </a:p>
          <a:p>
            <a:r>
              <a:rPr lang="fr-MA" sz="1600" dirty="0"/>
              <a:t>        </a:t>
            </a:r>
            <a:r>
              <a:rPr lang="fr-MA" sz="1600" dirty="0" err="1"/>
              <a:t>print</a:t>
            </a:r>
            <a:r>
              <a:rPr lang="fr-MA" sz="1600" dirty="0"/>
              <a:t>(</a:t>
            </a:r>
            <a:r>
              <a:rPr lang="fr-MA" sz="1600" dirty="0" err="1"/>
              <a:t>epochs</a:t>
            </a:r>
            <a:r>
              <a:rPr lang="fr-MA" sz="1600" dirty="0"/>
              <a:t>,"-----------------&gt;",w1," , ",</a:t>
            </a:r>
            <a:r>
              <a:rPr lang="fr-MA" sz="1600" dirty="0" err="1"/>
              <a:t>bias</a:t>
            </a:r>
            <a:r>
              <a:rPr lang="fr-MA" sz="1600" dirty="0"/>
              <a:t>)</a:t>
            </a:r>
          </a:p>
          <a:p>
            <a:r>
              <a:rPr lang="fr-MA" sz="1600" dirty="0"/>
              <a:t>        dw1=-(2/n)*</a:t>
            </a:r>
            <a:r>
              <a:rPr lang="fr-MA" sz="1600" dirty="0" err="1"/>
              <a:t>sum</a:t>
            </a:r>
            <a:r>
              <a:rPr lang="fr-MA" sz="1600" dirty="0"/>
              <a:t>(X*(y-</a:t>
            </a:r>
            <a:r>
              <a:rPr lang="fr-MA" sz="1600" dirty="0" err="1"/>
              <a:t>py</a:t>
            </a:r>
            <a:r>
              <a:rPr lang="fr-MA" sz="1600" dirty="0"/>
              <a:t>))</a:t>
            </a:r>
          </a:p>
          <a:p>
            <a:r>
              <a:rPr lang="fr-MA" sz="1600" dirty="0"/>
              <a:t>      </a:t>
            </a:r>
            <a:r>
              <a:rPr lang="fr-MA" sz="1600" b="1" dirty="0">
                <a:solidFill>
                  <a:srgbClr val="FF3300"/>
                </a:solidFill>
              </a:rPr>
              <a:t>  w1=w1-dw1*</a:t>
            </a:r>
            <a:r>
              <a:rPr lang="fr-MA" sz="1600" b="1" dirty="0" err="1">
                <a:solidFill>
                  <a:srgbClr val="FF3300"/>
                </a:solidFill>
              </a:rPr>
              <a:t>lr</a:t>
            </a:r>
            <a:endParaRPr lang="fr-MA" sz="1600" b="1" dirty="0">
              <a:solidFill>
                <a:srgbClr val="FF3300"/>
              </a:solidFill>
            </a:endParaRPr>
          </a:p>
          <a:p>
            <a:r>
              <a:rPr lang="fr-MA" sz="1600" b="1" dirty="0">
                <a:solidFill>
                  <a:srgbClr val="FF3300"/>
                </a:solidFill>
              </a:rPr>
              <a:t>        </a:t>
            </a:r>
            <a:r>
              <a:rPr lang="fr-MA" sz="1600" b="1" dirty="0" err="1">
                <a:solidFill>
                  <a:srgbClr val="FF3300"/>
                </a:solidFill>
              </a:rPr>
              <a:t>bias</a:t>
            </a:r>
            <a:r>
              <a:rPr lang="fr-MA" sz="1600" b="1" dirty="0">
                <a:solidFill>
                  <a:srgbClr val="FF3300"/>
                </a:solidFill>
              </a:rPr>
              <a:t>=</a:t>
            </a:r>
            <a:r>
              <a:rPr lang="fr-MA" sz="1600" b="1" dirty="0" err="1">
                <a:solidFill>
                  <a:srgbClr val="FF3300"/>
                </a:solidFill>
              </a:rPr>
              <a:t>bias-dbias</a:t>
            </a:r>
            <a:r>
              <a:rPr lang="fr-MA" sz="1600" b="1" dirty="0">
                <a:solidFill>
                  <a:srgbClr val="FF3300"/>
                </a:solidFill>
              </a:rPr>
              <a:t>*</a:t>
            </a:r>
            <a:r>
              <a:rPr lang="fr-MA" sz="1600" b="1" dirty="0" err="1">
                <a:solidFill>
                  <a:srgbClr val="FF3300"/>
                </a:solidFill>
              </a:rPr>
              <a:t>lr</a:t>
            </a:r>
            <a:endParaRPr lang="fr-MA" sz="1600" b="1" dirty="0">
              <a:solidFill>
                <a:srgbClr val="FF3300"/>
              </a:solidFill>
            </a:endParaRPr>
          </a:p>
          <a:p>
            <a:r>
              <a:rPr lang="fr-MA" sz="1600" dirty="0"/>
              <a:t>    return bias,w1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E3FDDD-281C-73A0-17D4-027EE1E8E32C}"/>
              </a:ext>
            </a:extLst>
          </p:cNvPr>
          <p:cNvSpPr txBox="1"/>
          <p:nvPr/>
        </p:nvSpPr>
        <p:spPr>
          <a:xfrm>
            <a:off x="129539" y="4291904"/>
            <a:ext cx="5958838" cy="646331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def</a:t>
            </a:r>
            <a:r>
              <a:rPr lang="fr-MA" dirty="0"/>
              <a:t> </a:t>
            </a:r>
            <a:r>
              <a:rPr lang="fr-MA" dirty="0" err="1"/>
              <a:t>predict</a:t>
            </a:r>
            <a:r>
              <a:rPr lang="fr-MA" dirty="0"/>
              <a:t>(X):</a:t>
            </a:r>
          </a:p>
          <a:p>
            <a:r>
              <a:rPr lang="fr-MA" dirty="0"/>
              <a:t>    return bias+w1*X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CA0D66-82AC-1952-32EC-119365FE4EB9}"/>
              </a:ext>
            </a:extLst>
          </p:cNvPr>
          <p:cNvSpPr txBox="1"/>
          <p:nvPr/>
        </p:nvSpPr>
        <p:spPr>
          <a:xfrm>
            <a:off x="137162" y="5027532"/>
            <a:ext cx="5958838" cy="369332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predicted_y</a:t>
            </a:r>
            <a:r>
              <a:rPr lang="fr-MA" dirty="0"/>
              <a:t>=</a:t>
            </a:r>
            <a:r>
              <a:rPr lang="fr-MA" dirty="0" err="1"/>
              <a:t>predict</a:t>
            </a:r>
            <a:r>
              <a:rPr lang="fr-MA" dirty="0"/>
              <a:t>(X)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1C1298-848D-4CD9-14EA-30237F093729}"/>
              </a:ext>
            </a:extLst>
          </p:cNvPr>
          <p:cNvSpPr txBox="1"/>
          <p:nvPr/>
        </p:nvSpPr>
        <p:spPr>
          <a:xfrm>
            <a:off x="152398" y="3871733"/>
            <a:ext cx="5958838" cy="369332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/>
              <a:t>bias,w1=fit(X, 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0E68D9-FD43-DE20-0DE7-4E282DFED9E1}"/>
              </a:ext>
            </a:extLst>
          </p:cNvPr>
          <p:cNvSpPr txBox="1"/>
          <p:nvPr/>
        </p:nvSpPr>
        <p:spPr>
          <a:xfrm>
            <a:off x="91442" y="5380672"/>
            <a:ext cx="6096000" cy="1477328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plt.figure</a:t>
            </a:r>
            <a:r>
              <a:rPr lang="fr-MA" dirty="0"/>
              <a:t>(</a:t>
            </a:r>
            <a:r>
              <a:rPr lang="fr-MA" dirty="0" err="1"/>
              <a:t>figsize</a:t>
            </a:r>
            <a:r>
              <a:rPr lang="fr-MA" dirty="0"/>
              <a:t>=(5, 5))</a:t>
            </a:r>
          </a:p>
          <a:p>
            <a:r>
              <a:rPr lang="fr-MA" dirty="0" err="1"/>
              <a:t>plt.title</a:t>
            </a:r>
            <a:r>
              <a:rPr lang="fr-MA" dirty="0"/>
              <a:t>("Simple </a:t>
            </a:r>
            <a:r>
              <a:rPr lang="fr-MA" dirty="0" err="1"/>
              <a:t>Regression</a:t>
            </a:r>
            <a:r>
              <a:rPr lang="fr-MA" dirty="0"/>
              <a:t> Model)", size=16)</a:t>
            </a:r>
          </a:p>
          <a:p>
            <a:r>
              <a:rPr lang="fr-MA" dirty="0" err="1"/>
              <a:t>plt.scatter</a:t>
            </a:r>
            <a:r>
              <a:rPr lang="fr-MA" dirty="0"/>
              <a:t>(X, y)</a:t>
            </a:r>
          </a:p>
          <a:p>
            <a:r>
              <a:rPr lang="fr-MA" dirty="0" err="1"/>
              <a:t>plt.plot</a:t>
            </a:r>
            <a:r>
              <a:rPr lang="fr-MA" dirty="0"/>
              <a:t>(X, </a:t>
            </a:r>
            <a:r>
              <a:rPr lang="fr-MA" dirty="0" err="1"/>
              <a:t>predicted_y</a:t>
            </a:r>
            <a:r>
              <a:rPr lang="fr-MA" dirty="0"/>
              <a:t>, c="</a:t>
            </a:r>
            <a:r>
              <a:rPr lang="fr-MA" dirty="0" err="1"/>
              <a:t>red</a:t>
            </a:r>
            <a:r>
              <a:rPr lang="fr-MA" dirty="0"/>
              <a:t>")</a:t>
            </a:r>
          </a:p>
          <a:p>
            <a:r>
              <a:rPr lang="fr-MA" dirty="0" err="1"/>
              <a:t>plt.show</a:t>
            </a:r>
            <a:r>
              <a:rPr lang="fr-MA" dirty="0"/>
              <a:t>()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797BC2-20B6-AC1F-A487-2F886A871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517" y="108822"/>
            <a:ext cx="4124325" cy="397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11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C9D79F-C77B-4B9C-DD62-F0C1943BF31F}"/>
              </a:ext>
            </a:extLst>
          </p:cNvPr>
          <p:cNvSpPr txBox="1"/>
          <p:nvPr/>
        </p:nvSpPr>
        <p:spPr>
          <a:xfrm>
            <a:off x="106680" y="117455"/>
            <a:ext cx="3962400" cy="923330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/>
              <a:t>import </a:t>
            </a:r>
            <a:r>
              <a:rPr lang="fr-MA" dirty="0" err="1"/>
              <a:t>matplotlib.pyplot</a:t>
            </a:r>
            <a:r>
              <a:rPr lang="fr-MA" dirty="0"/>
              <a:t> as </a:t>
            </a:r>
            <a:r>
              <a:rPr lang="fr-MA" dirty="0" err="1"/>
              <a:t>plt</a:t>
            </a:r>
            <a:endParaRPr lang="fr-MA" dirty="0"/>
          </a:p>
          <a:p>
            <a:r>
              <a:rPr lang="fr-MA" dirty="0"/>
              <a:t>import </a:t>
            </a:r>
            <a:r>
              <a:rPr lang="fr-MA" dirty="0" err="1"/>
              <a:t>numpy</a:t>
            </a:r>
            <a:r>
              <a:rPr lang="fr-MA" dirty="0"/>
              <a:t> as </a:t>
            </a:r>
            <a:r>
              <a:rPr lang="fr-MA" dirty="0" err="1"/>
              <a:t>np</a:t>
            </a:r>
            <a:endParaRPr lang="fr-MA" dirty="0"/>
          </a:p>
          <a:p>
            <a:r>
              <a:rPr lang="fr-MA" dirty="0"/>
              <a:t>import </a:t>
            </a:r>
            <a:r>
              <a:rPr lang="fr-MA" dirty="0" err="1"/>
              <a:t>matplotlib.colors</a:t>
            </a:r>
            <a:r>
              <a:rPr lang="fr-MA" dirty="0"/>
              <a:t> as </a:t>
            </a:r>
            <a:r>
              <a:rPr lang="fr-MA" dirty="0" err="1"/>
              <a:t>clr</a:t>
            </a:r>
            <a:endParaRPr lang="fr-M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D16023-0D6C-8257-C791-FB3218A11305}"/>
              </a:ext>
            </a:extLst>
          </p:cNvPr>
          <p:cNvSpPr txBox="1"/>
          <p:nvPr/>
        </p:nvSpPr>
        <p:spPr>
          <a:xfrm>
            <a:off x="106680" y="1040785"/>
            <a:ext cx="3962400" cy="646331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def</a:t>
            </a:r>
            <a:r>
              <a:rPr lang="fr-MA" dirty="0"/>
              <a:t> f(x):</a:t>
            </a:r>
          </a:p>
          <a:p>
            <a:r>
              <a:rPr lang="fr-MA" dirty="0"/>
              <a:t>    return -x+5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F22647-8FC0-5F88-49E6-0B7D3D557CA8}"/>
              </a:ext>
            </a:extLst>
          </p:cNvPr>
          <p:cNvSpPr txBox="1"/>
          <p:nvPr/>
        </p:nvSpPr>
        <p:spPr>
          <a:xfrm>
            <a:off x="106680" y="1734264"/>
            <a:ext cx="3962400" cy="5047536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sz="1400" dirty="0"/>
              <a:t># </a:t>
            </a:r>
            <a:r>
              <a:rPr lang="fr-MA" sz="1400" dirty="0" err="1"/>
              <a:t>generate</a:t>
            </a:r>
            <a:r>
              <a:rPr lang="fr-MA" sz="1400" dirty="0"/>
              <a:t> </a:t>
            </a:r>
            <a:r>
              <a:rPr lang="fr-MA" sz="1400" dirty="0" err="1"/>
              <a:t>random</a:t>
            </a:r>
            <a:r>
              <a:rPr lang="fr-MA" sz="1400" dirty="0"/>
              <a:t> </a:t>
            </a:r>
            <a:r>
              <a:rPr lang="fr-MA" sz="1400" dirty="0" err="1"/>
              <a:t>floating</a:t>
            </a:r>
            <a:r>
              <a:rPr lang="fr-MA" sz="1400" dirty="0"/>
              <a:t> point values</a:t>
            </a:r>
          </a:p>
          <a:p>
            <a:r>
              <a:rPr lang="fr-MA" sz="1400" dirty="0" err="1"/>
              <a:t>from</a:t>
            </a:r>
            <a:r>
              <a:rPr lang="fr-MA" sz="1400" dirty="0"/>
              <a:t> </a:t>
            </a:r>
            <a:r>
              <a:rPr lang="fr-MA" sz="1400" dirty="0" err="1"/>
              <a:t>random</a:t>
            </a:r>
            <a:r>
              <a:rPr lang="fr-MA" sz="1400" dirty="0"/>
              <a:t> import </a:t>
            </a:r>
            <a:r>
              <a:rPr lang="fr-MA" sz="1400" dirty="0" err="1"/>
              <a:t>seed</a:t>
            </a:r>
            <a:endParaRPr lang="fr-MA" sz="1400" dirty="0"/>
          </a:p>
          <a:p>
            <a:r>
              <a:rPr lang="fr-MA" sz="1400" dirty="0" err="1"/>
              <a:t>from</a:t>
            </a:r>
            <a:r>
              <a:rPr lang="fr-MA" sz="1400" dirty="0"/>
              <a:t> </a:t>
            </a:r>
            <a:r>
              <a:rPr lang="fr-MA" sz="1400" dirty="0" err="1"/>
              <a:t>random</a:t>
            </a:r>
            <a:r>
              <a:rPr lang="fr-MA" sz="1400" dirty="0"/>
              <a:t> import </a:t>
            </a:r>
            <a:r>
              <a:rPr lang="fr-MA" sz="1400" dirty="0" err="1"/>
              <a:t>random</a:t>
            </a:r>
            <a:endParaRPr lang="fr-MA" sz="1400" dirty="0"/>
          </a:p>
          <a:p>
            <a:r>
              <a:rPr lang="fr-MA" sz="1400" dirty="0"/>
              <a:t># </a:t>
            </a:r>
            <a:r>
              <a:rPr lang="fr-MA" sz="1400" dirty="0" err="1"/>
              <a:t>seed</a:t>
            </a:r>
            <a:r>
              <a:rPr lang="fr-MA" sz="1400" dirty="0"/>
              <a:t> </a:t>
            </a:r>
            <a:r>
              <a:rPr lang="fr-MA" sz="1400" dirty="0" err="1"/>
              <a:t>random</a:t>
            </a:r>
            <a:r>
              <a:rPr lang="fr-MA" sz="1400" dirty="0"/>
              <a:t> </a:t>
            </a:r>
            <a:r>
              <a:rPr lang="fr-MA" sz="1400" dirty="0" err="1"/>
              <a:t>number</a:t>
            </a:r>
            <a:r>
              <a:rPr lang="fr-MA" sz="1400" dirty="0"/>
              <a:t> </a:t>
            </a:r>
            <a:r>
              <a:rPr lang="fr-MA" sz="1400" dirty="0" err="1"/>
              <a:t>generator</a:t>
            </a:r>
            <a:endParaRPr lang="fr-MA" sz="1400" dirty="0"/>
          </a:p>
          <a:p>
            <a:r>
              <a:rPr lang="fr-MA" sz="1400" dirty="0" err="1"/>
              <a:t>def</a:t>
            </a:r>
            <a:r>
              <a:rPr lang="fr-MA" sz="1400" dirty="0"/>
              <a:t> </a:t>
            </a:r>
            <a:r>
              <a:rPr lang="fr-MA" sz="1400" dirty="0" err="1"/>
              <a:t>generateData</a:t>
            </a:r>
            <a:r>
              <a:rPr lang="fr-MA" sz="1400" dirty="0"/>
              <a:t>(n):    </a:t>
            </a:r>
          </a:p>
          <a:p>
            <a:r>
              <a:rPr lang="fr-MA" sz="1400" dirty="0"/>
              <a:t>    </a:t>
            </a:r>
            <a:r>
              <a:rPr lang="fr-MA" sz="1400" dirty="0" err="1"/>
              <a:t>seed</a:t>
            </a:r>
            <a:r>
              <a:rPr lang="fr-MA" sz="1400" dirty="0"/>
              <a:t>(1)</a:t>
            </a:r>
          </a:p>
          <a:p>
            <a:r>
              <a:rPr lang="fr-MA" sz="1400" dirty="0"/>
              <a:t>    min=0</a:t>
            </a:r>
          </a:p>
          <a:p>
            <a:r>
              <a:rPr lang="fr-MA" sz="1400" dirty="0"/>
              <a:t>    max=5</a:t>
            </a:r>
          </a:p>
          <a:p>
            <a:r>
              <a:rPr lang="fr-MA" sz="1400" dirty="0"/>
              <a:t>    # </a:t>
            </a:r>
            <a:r>
              <a:rPr lang="fr-MA" sz="1400" dirty="0" err="1"/>
              <a:t>generate</a:t>
            </a:r>
            <a:r>
              <a:rPr lang="fr-MA" sz="1400" dirty="0"/>
              <a:t> </a:t>
            </a:r>
            <a:r>
              <a:rPr lang="fr-MA" sz="1400" dirty="0" err="1"/>
              <a:t>random</a:t>
            </a:r>
            <a:r>
              <a:rPr lang="fr-MA" sz="1400" dirty="0"/>
              <a:t> </a:t>
            </a:r>
            <a:r>
              <a:rPr lang="fr-MA" sz="1400" dirty="0" err="1"/>
              <a:t>numbers</a:t>
            </a:r>
            <a:r>
              <a:rPr lang="fr-MA" sz="1400" dirty="0"/>
              <a:t> </a:t>
            </a:r>
            <a:r>
              <a:rPr lang="fr-MA" sz="1400" dirty="0" err="1"/>
              <a:t>between</a:t>
            </a:r>
            <a:r>
              <a:rPr lang="fr-MA" sz="1400" dirty="0"/>
              <a:t> 0-1</a:t>
            </a:r>
          </a:p>
          <a:p>
            <a:r>
              <a:rPr lang="fr-MA" sz="1400" dirty="0"/>
              <a:t>    L=[]</a:t>
            </a:r>
          </a:p>
          <a:p>
            <a:r>
              <a:rPr lang="fr-MA" sz="1400" dirty="0"/>
              <a:t>    for _ in range(n):</a:t>
            </a:r>
          </a:p>
          <a:p>
            <a:r>
              <a:rPr lang="fr-MA" sz="1400" dirty="0"/>
              <a:t>        </a:t>
            </a:r>
            <a:r>
              <a:rPr lang="fr-MA" sz="1400" dirty="0" err="1"/>
              <a:t>valueX</a:t>
            </a:r>
            <a:r>
              <a:rPr lang="fr-MA" sz="1400" dirty="0"/>
              <a:t> = </a:t>
            </a:r>
            <a:r>
              <a:rPr lang="fr-MA" sz="1400" dirty="0" err="1"/>
              <a:t>random</a:t>
            </a:r>
            <a:r>
              <a:rPr lang="fr-MA" sz="1400" dirty="0"/>
              <a:t>()</a:t>
            </a:r>
          </a:p>
          <a:p>
            <a:r>
              <a:rPr lang="fr-MA" sz="1400" dirty="0"/>
              <a:t>        </a:t>
            </a:r>
            <a:r>
              <a:rPr lang="fr-MA" sz="1400" dirty="0" err="1"/>
              <a:t>scaledvalueX</a:t>
            </a:r>
            <a:r>
              <a:rPr lang="fr-MA" sz="1400" dirty="0"/>
              <a:t> = min + (</a:t>
            </a:r>
            <a:r>
              <a:rPr lang="fr-MA" sz="1400" dirty="0" err="1"/>
              <a:t>valueX</a:t>
            </a:r>
            <a:r>
              <a:rPr lang="fr-MA" sz="1400" dirty="0"/>
              <a:t> * (max - min))</a:t>
            </a:r>
          </a:p>
          <a:p>
            <a:r>
              <a:rPr lang="fr-MA" sz="1400" dirty="0"/>
              <a:t>        </a:t>
            </a:r>
            <a:r>
              <a:rPr lang="fr-MA" sz="1400" dirty="0" err="1"/>
              <a:t>valueY</a:t>
            </a:r>
            <a:r>
              <a:rPr lang="fr-MA" sz="1400" dirty="0"/>
              <a:t> = </a:t>
            </a:r>
            <a:r>
              <a:rPr lang="fr-MA" sz="1400" dirty="0" err="1"/>
              <a:t>random</a:t>
            </a:r>
            <a:r>
              <a:rPr lang="fr-MA" sz="1400" dirty="0"/>
              <a:t>()</a:t>
            </a:r>
          </a:p>
          <a:p>
            <a:r>
              <a:rPr lang="fr-MA" sz="1400" dirty="0"/>
              <a:t>        </a:t>
            </a:r>
            <a:r>
              <a:rPr lang="fr-MA" sz="1400" dirty="0" err="1"/>
              <a:t>scaledvalueY</a:t>
            </a:r>
            <a:r>
              <a:rPr lang="fr-MA" sz="1400" dirty="0"/>
              <a:t> = min + (</a:t>
            </a:r>
            <a:r>
              <a:rPr lang="fr-MA" sz="1400" dirty="0" err="1"/>
              <a:t>valueY</a:t>
            </a:r>
            <a:r>
              <a:rPr lang="fr-MA" sz="1400" dirty="0"/>
              <a:t> * (max - min))</a:t>
            </a:r>
          </a:p>
          <a:p>
            <a:r>
              <a:rPr lang="fr-MA" sz="1400" dirty="0"/>
              <a:t>        x=round(scaledvalueX,1)</a:t>
            </a:r>
          </a:p>
          <a:p>
            <a:r>
              <a:rPr lang="fr-MA" sz="1400" dirty="0"/>
              <a:t>        y=round(scaledvalueY,1)</a:t>
            </a:r>
          </a:p>
          <a:p>
            <a:r>
              <a:rPr lang="fr-MA" sz="1400" dirty="0"/>
              <a:t>        y0=f(x)</a:t>
            </a:r>
          </a:p>
          <a:p>
            <a:r>
              <a:rPr lang="fr-MA" sz="1400" dirty="0"/>
              <a:t>        cl=0</a:t>
            </a:r>
          </a:p>
          <a:p>
            <a:r>
              <a:rPr lang="fr-MA" sz="1400" dirty="0"/>
              <a:t>        if(y&gt;y0):</a:t>
            </a:r>
          </a:p>
          <a:p>
            <a:r>
              <a:rPr lang="fr-MA" sz="1400" dirty="0"/>
              <a:t>            cl=1</a:t>
            </a:r>
          </a:p>
          <a:p>
            <a:r>
              <a:rPr lang="fr-MA" sz="1400" dirty="0"/>
              <a:t>        </a:t>
            </a:r>
            <a:r>
              <a:rPr lang="fr-MA" sz="1400" dirty="0" err="1"/>
              <a:t>L.append</a:t>
            </a:r>
            <a:r>
              <a:rPr lang="fr-MA" sz="1400" dirty="0"/>
              <a:t>([</a:t>
            </a:r>
            <a:r>
              <a:rPr lang="fr-MA" sz="1400" dirty="0" err="1"/>
              <a:t>x,y,cl</a:t>
            </a:r>
            <a:r>
              <a:rPr lang="fr-MA" sz="1400" dirty="0"/>
              <a:t>])</a:t>
            </a:r>
          </a:p>
          <a:p>
            <a:r>
              <a:rPr lang="fr-MA" sz="1400" dirty="0"/>
              <a:t>    return 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D527B5-BCEC-4BC6-174B-3F422B347F39}"/>
              </a:ext>
            </a:extLst>
          </p:cNvPr>
          <p:cNvSpPr txBox="1"/>
          <p:nvPr/>
        </p:nvSpPr>
        <p:spPr>
          <a:xfrm>
            <a:off x="4389120" y="1336655"/>
            <a:ext cx="2225040" cy="1354217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sz="1600" dirty="0"/>
              <a:t>L=</a:t>
            </a:r>
            <a:r>
              <a:rPr lang="fr-MA" sz="1600" dirty="0" err="1"/>
              <a:t>generateData</a:t>
            </a:r>
            <a:r>
              <a:rPr lang="fr-MA" sz="1600" dirty="0"/>
              <a:t>(100)</a:t>
            </a:r>
          </a:p>
          <a:p>
            <a:r>
              <a:rPr lang="fr-MA" sz="1600" dirty="0"/>
              <a:t>L=</a:t>
            </a:r>
            <a:r>
              <a:rPr lang="fr-MA" sz="1600" dirty="0" err="1"/>
              <a:t>np.array</a:t>
            </a:r>
            <a:r>
              <a:rPr lang="fr-MA" sz="1600" dirty="0"/>
              <a:t>(L)</a:t>
            </a:r>
          </a:p>
          <a:p>
            <a:r>
              <a:rPr lang="es-ES" sz="1600" dirty="0"/>
              <a:t>X=L[:,0]</a:t>
            </a:r>
          </a:p>
          <a:p>
            <a:r>
              <a:rPr lang="es-ES" sz="1600" dirty="0"/>
              <a:t>y=L[:,1]</a:t>
            </a:r>
          </a:p>
          <a:p>
            <a:r>
              <a:rPr lang="es-ES" sz="1600" dirty="0"/>
              <a:t>C=L[:,2]</a:t>
            </a:r>
            <a:endParaRPr lang="fr-MA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CED7E9-FAC6-62B9-B4A5-37BECDA50D61}"/>
              </a:ext>
            </a:extLst>
          </p:cNvPr>
          <p:cNvSpPr txBox="1"/>
          <p:nvPr/>
        </p:nvSpPr>
        <p:spPr>
          <a:xfrm>
            <a:off x="4389120" y="2690872"/>
            <a:ext cx="5577840" cy="584775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sz="1600" dirty="0" err="1"/>
              <a:t>colors</a:t>
            </a:r>
            <a:r>
              <a:rPr lang="fr-MA" sz="1600" dirty="0"/>
              <a:t> = ['</a:t>
            </a:r>
            <a:r>
              <a:rPr lang="fr-MA" sz="1600" dirty="0" err="1"/>
              <a:t>red</a:t>
            </a:r>
            <a:r>
              <a:rPr lang="fr-MA" sz="1600" dirty="0"/>
              <a:t>','</a:t>
            </a:r>
            <a:r>
              <a:rPr lang="fr-MA" sz="1600" dirty="0" err="1"/>
              <a:t>blue</a:t>
            </a:r>
            <a:r>
              <a:rPr lang="fr-MA" sz="1600" dirty="0"/>
              <a:t>']</a:t>
            </a:r>
          </a:p>
          <a:p>
            <a:r>
              <a:rPr lang="fr-MA" sz="1600" dirty="0" err="1"/>
              <a:t>plt.scatter</a:t>
            </a:r>
            <a:r>
              <a:rPr lang="fr-MA" sz="1600" dirty="0"/>
              <a:t>(L[:,0],L[:,1],c=L[:,2],</a:t>
            </a:r>
            <a:r>
              <a:rPr lang="fr-MA" sz="1600" dirty="0" err="1"/>
              <a:t>cmap</a:t>
            </a:r>
            <a:r>
              <a:rPr lang="fr-MA" sz="1600" dirty="0"/>
              <a:t>=</a:t>
            </a:r>
            <a:r>
              <a:rPr lang="fr-MA" sz="1600" dirty="0" err="1"/>
              <a:t>clr.ListedColormap</a:t>
            </a:r>
            <a:r>
              <a:rPr lang="fr-MA" sz="1600" dirty="0"/>
              <a:t>(</a:t>
            </a:r>
            <a:r>
              <a:rPr lang="fr-MA" sz="1600" dirty="0" err="1"/>
              <a:t>colors</a:t>
            </a:r>
            <a:r>
              <a:rPr lang="fr-MA" sz="1600" dirty="0"/>
              <a:t>))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9190084-94B5-2FD1-4A67-2159355FD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3482310"/>
            <a:ext cx="4329113" cy="327284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5624B6A-51CF-2BA4-6A4E-94DDEBEDDC7E}"/>
              </a:ext>
            </a:extLst>
          </p:cNvPr>
          <p:cNvSpPr txBox="1"/>
          <p:nvPr/>
        </p:nvSpPr>
        <p:spPr>
          <a:xfrm>
            <a:off x="7637779" y="625286"/>
            <a:ext cx="38277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2400" b="1" dirty="0">
                <a:solidFill>
                  <a:srgbClr val="0066FF"/>
                </a:solidFill>
              </a:rPr>
              <a:t>Simple classification </a:t>
            </a:r>
            <a:r>
              <a:rPr lang="fr-MA" sz="2400" b="1" dirty="0" err="1">
                <a:solidFill>
                  <a:srgbClr val="0066FF"/>
                </a:solidFill>
              </a:rPr>
              <a:t>problem</a:t>
            </a:r>
            <a:r>
              <a:rPr lang="fr-MA" sz="2400" b="1" dirty="0">
                <a:solidFill>
                  <a:srgbClr val="0066FF"/>
                </a:solidFill>
              </a:rPr>
              <a:t> </a:t>
            </a:r>
            <a:r>
              <a:rPr lang="fr-MA" sz="2400" b="1" dirty="0" err="1">
                <a:solidFill>
                  <a:srgbClr val="0066FF"/>
                </a:solidFill>
              </a:rPr>
              <a:t>Linearly</a:t>
            </a:r>
            <a:r>
              <a:rPr lang="fr-MA" sz="2400" b="1" dirty="0">
                <a:solidFill>
                  <a:srgbClr val="0066FF"/>
                </a:solidFill>
              </a:rPr>
              <a:t> </a:t>
            </a:r>
            <a:r>
              <a:rPr lang="fr-MA" sz="2400" b="1" dirty="0" err="1">
                <a:solidFill>
                  <a:srgbClr val="0066FF"/>
                </a:solidFill>
              </a:rPr>
              <a:t>Separable</a:t>
            </a:r>
            <a:endParaRPr lang="fr-MA" sz="2400" b="1" dirty="0">
              <a:solidFill>
                <a:srgbClr val="0066FF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C744449-8626-DE2B-8359-556CB70ACE7A}"/>
              </a:ext>
            </a:extLst>
          </p:cNvPr>
          <p:cNvSpPr/>
          <p:nvPr/>
        </p:nvSpPr>
        <p:spPr>
          <a:xfrm>
            <a:off x="9199878" y="88314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77969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83874E-3960-AB1B-6EC4-388368A1AA63}"/>
              </a:ext>
            </a:extLst>
          </p:cNvPr>
          <p:cNvSpPr txBox="1"/>
          <p:nvPr/>
        </p:nvSpPr>
        <p:spPr>
          <a:xfrm>
            <a:off x="45720" y="6378119"/>
            <a:ext cx="5745480" cy="369332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/>
              <a:t>bias,w1,w2=fit(</a:t>
            </a:r>
            <a:r>
              <a:rPr lang="fr-MA" dirty="0" err="1"/>
              <a:t>X,y</a:t>
            </a:r>
            <a:r>
              <a:rPr lang="fr-MA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1EF2D8-52E8-E185-0F57-D0DD44B60D12}"/>
              </a:ext>
            </a:extLst>
          </p:cNvPr>
          <p:cNvSpPr txBox="1"/>
          <p:nvPr/>
        </p:nvSpPr>
        <p:spPr>
          <a:xfrm>
            <a:off x="45720" y="110549"/>
            <a:ext cx="5699760" cy="6186309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def</a:t>
            </a:r>
            <a:r>
              <a:rPr lang="fr-MA" dirty="0"/>
              <a:t> fit(</a:t>
            </a:r>
            <a:r>
              <a:rPr lang="fr-MA" dirty="0" err="1"/>
              <a:t>X,y</a:t>
            </a:r>
            <a:r>
              <a:rPr lang="fr-MA" dirty="0"/>
              <a:t>):</a:t>
            </a:r>
          </a:p>
          <a:p>
            <a:r>
              <a:rPr lang="fr-MA" dirty="0"/>
              <a:t>    #initialisation</a:t>
            </a:r>
          </a:p>
          <a:p>
            <a:r>
              <a:rPr lang="fr-MA" dirty="0"/>
              <a:t>    n=</a:t>
            </a:r>
            <a:r>
              <a:rPr lang="fr-MA" dirty="0" err="1"/>
              <a:t>len</a:t>
            </a:r>
            <a:r>
              <a:rPr lang="fr-MA" dirty="0"/>
              <a:t>(y)</a:t>
            </a:r>
          </a:p>
          <a:p>
            <a:r>
              <a:rPr lang="fr-MA" dirty="0"/>
              <a:t>  </a:t>
            </a:r>
            <a:r>
              <a:rPr lang="fr-MA" b="1" dirty="0">
                <a:solidFill>
                  <a:srgbClr val="FF3300"/>
                </a:solidFill>
              </a:rPr>
              <a:t>  </a:t>
            </a:r>
            <a:r>
              <a:rPr lang="fr-MA" b="1" dirty="0" err="1">
                <a:solidFill>
                  <a:srgbClr val="FF3300"/>
                </a:solidFill>
              </a:rPr>
              <a:t>bias</a:t>
            </a:r>
            <a:r>
              <a:rPr lang="fr-MA" b="1" dirty="0">
                <a:solidFill>
                  <a:srgbClr val="FF3300"/>
                </a:solidFill>
              </a:rPr>
              <a:t>=0.5</a:t>
            </a:r>
          </a:p>
          <a:p>
            <a:r>
              <a:rPr lang="fr-MA" b="1" dirty="0">
                <a:solidFill>
                  <a:srgbClr val="FF3300"/>
                </a:solidFill>
              </a:rPr>
              <a:t>    w1=0.5</a:t>
            </a:r>
          </a:p>
          <a:p>
            <a:r>
              <a:rPr lang="fr-MA" b="1" dirty="0">
                <a:solidFill>
                  <a:srgbClr val="FF3300"/>
                </a:solidFill>
              </a:rPr>
              <a:t>    w2=0.5</a:t>
            </a:r>
          </a:p>
          <a:p>
            <a:r>
              <a:rPr lang="fr-MA" dirty="0"/>
              <a:t> </a:t>
            </a:r>
            <a:r>
              <a:rPr lang="fr-MA" b="1" dirty="0">
                <a:solidFill>
                  <a:srgbClr val="0066FF"/>
                </a:solidFill>
              </a:rPr>
              <a:t>   </a:t>
            </a:r>
            <a:r>
              <a:rPr lang="fr-MA" b="1" dirty="0" err="1">
                <a:solidFill>
                  <a:srgbClr val="0066FF"/>
                </a:solidFill>
              </a:rPr>
              <a:t>epochs</a:t>
            </a:r>
            <a:r>
              <a:rPr lang="fr-MA" b="1" dirty="0">
                <a:solidFill>
                  <a:srgbClr val="0066FF"/>
                </a:solidFill>
              </a:rPr>
              <a:t>=5000#hyperparamter</a:t>
            </a:r>
          </a:p>
          <a:p>
            <a:r>
              <a:rPr lang="fr-MA" b="1" dirty="0">
                <a:solidFill>
                  <a:srgbClr val="0066FF"/>
                </a:solidFill>
              </a:rPr>
              <a:t>    </a:t>
            </a:r>
            <a:r>
              <a:rPr lang="fr-MA" b="1" dirty="0" err="1">
                <a:solidFill>
                  <a:srgbClr val="0066FF"/>
                </a:solidFill>
              </a:rPr>
              <a:t>lr</a:t>
            </a:r>
            <a:r>
              <a:rPr lang="fr-MA" b="1" dirty="0">
                <a:solidFill>
                  <a:srgbClr val="0066FF"/>
                </a:solidFill>
              </a:rPr>
              <a:t>=0.01 #hyperparameter</a:t>
            </a:r>
          </a:p>
          <a:p>
            <a:r>
              <a:rPr lang="fr-MA" dirty="0"/>
              <a:t>    #learning</a:t>
            </a:r>
          </a:p>
          <a:p>
            <a:r>
              <a:rPr lang="fr-MA" dirty="0"/>
              <a:t>    for i in range(</a:t>
            </a:r>
            <a:r>
              <a:rPr lang="fr-MA" dirty="0" err="1"/>
              <a:t>epochs</a:t>
            </a:r>
            <a:r>
              <a:rPr lang="fr-MA" dirty="0"/>
              <a:t>):</a:t>
            </a:r>
          </a:p>
          <a:p>
            <a:r>
              <a:rPr lang="fr-MA" dirty="0"/>
              <a:t>        y=L[:,2]</a:t>
            </a:r>
          </a:p>
          <a:p>
            <a:r>
              <a:rPr lang="fr-MA" dirty="0"/>
              <a:t>        </a:t>
            </a:r>
            <a:r>
              <a:rPr lang="fr-MA" dirty="0" err="1"/>
              <a:t>ws</a:t>
            </a:r>
            <a:r>
              <a:rPr lang="fr-MA" dirty="0"/>
              <a:t>=bias+w1*L[:,0]+w2*L[:,1]</a:t>
            </a:r>
          </a:p>
          <a:p>
            <a:r>
              <a:rPr lang="fr-MA" dirty="0"/>
              <a:t>        </a:t>
            </a:r>
            <a:r>
              <a:rPr lang="fr-MA" dirty="0" err="1"/>
              <a:t>py</a:t>
            </a:r>
            <a:r>
              <a:rPr lang="fr-MA" dirty="0"/>
              <a:t>=</a:t>
            </a:r>
            <a:r>
              <a:rPr lang="fr-MA" dirty="0" err="1"/>
              <a:t>sigmoid</a:t>
            </a:r>
            <a:r>
              <a:rPr lang="fr-MA" dirty="0"/>
              <a:t>(</a:t>
            </a:r>
            <a:r>
              <a:rPr lang="fr-MA" dirty="0" err="1"/>
              <a:t>ws</a:t>
            </a:r>
            <a:r>
              <a:rPr lang="fr-MA" dirty="0"/>
              <a:t>)</a:t>
            </a:r>
          </a:p>
          <a:p>
            <a:r>
              <a:rPr lang="fr-MA" dirty="0"/>
              <a:t>        #update</a:t>
            </a:r>
          </a:p>
          <a:p>
            <a:r>
              <a:rPr lang="fr-MA" dirty="0"/>
              <a:t>        </a:t>
            </a:r>
            <a:r>
              <a:rPr lang="fr-MA" dirty="0" err="1"/>
              <a:t>dbias</a:t>
            </a:r>
            <a:r>
              <a:rPr lang="fr-MA" dirty="0"/>
              <a:t>=-(2/n)*</a:t>
            </a:r>
            <a:r>
              <a:rPr lang="fr-MA" dirty="0" err="1"/>
              <a:t>sum</a:t>
            </a:r>
            <a:r>
              <a:rPr lang="fr-MA" dirty="0"/>
              <a:t>(y-</a:t>
            </a:r>
            <a:r>
              <a:rPr lang="fr-MA" dirty="0" err="1"/>
              <a:t>py</a:t>
            </a:r>
            <a:r>
              <a:rPr lang="fr-MA" dirty="0"/>
              <a:t>)</a:t>
            </a:r>
          </a:p>
          <a:p>
            <a:r>
              <a:rPr lang="fr-MA" dirty="0"/>
              <a:t>        dw1=-(2/n)*</a:t>
            </a:r>
            <a:r>
              <a:rPr lang="fr-MA" dirty="0" err="1"/>
              <a:t>sum</a:t>
            </a:r>
            <a:r>
              <a:rPr lang="fr-MA" dirty="0"/>
              <a:t>(L[:,0]*(y-</a:t>
            </a:r>
            <a:r>
              <a:rPr lang="fr-MA" dirty="0" err="1"/>
              <a:t>py</a:t>
            </a:r>
            <a:r>
              <a:rPr lang="fr-MA" dirty="0"/>
              <a:t>))</a:t>
            </a:r>
          </a:p>
          <a:p>
            <a:r>
              <a:rPr lang="fr-MA" dirty="0"/>
              <a:t>        dw2=-(2/n)*</a:t>
            </a:r>
            <a:r>
              <a:rPr lang="fr-MA" dirty="0" err="1"/>
              <a:t>sum</a:t>
            </a:r>
            <a:r>
              <a:rPr lang="fr-MA" dirty="0"/>
              <a:t>(L[:,1]*(y-</a:t>
            </a:r>
            <a:r>
              <a:rPr lang="fr-MA" dirty="0" err="1"/>
              <a:t>py</a:t>
            </a:r>
            <a:r>
              <a:rPr lang="fr-MA" dirty="0"/>
              <a:t>))</a:t>
            </a:r>
          </a:p>
          <a:p>
            <a:r>
              <a:rPr lang="fr-MA" dirty="0"/>
              <a:t>        </a:t>
            </a:r>
          </a:p>
          <a:p>
            <a:r>
              <a:rPr lang="fr-MA" dirty="0"/>
              <a:t>      </a:t>
            </a:r>
            <a:r>
              <a:rPr lang="fr-MA" b="1" dirty="0">
                <a:solidFill>
                  <a:srgbClr val="FF3300"/>
                </a:solidFill>
              </a:rPr>
              <a:t>  </a:t>
            </a:r>
            <a:r>
              <a:rPr lang="fr-MA" b="1" dirty="0" err="1">
                <a:solidFill>
                  <a:srgbClr val="FF3300"/>
                </a:solidFill>
              </a:rPr>
              <a:t>bias</a:t>
            </a:r>
            <a:r>
              <a:rPr lang="fr-MA" b="1" dirty="0">
                <a:solidFill>
                  <a:srgbClr val="FF3300"/>
                </a:solidFill>
              </a:rPr>
              <a:t>=</a:t>
            </a:r>
            <a:r>
              <a:rPr lang="fr-MA" b="1" dirty="0" err="1">
                <a:solidFill>
                  <a:srgbClr val="FF3300"/>
                </a:solidFill>
              </a:rPr>
              <a:t>bias-dbias</a:t>
            </a:r>
            <a:r>
              <a:rPr lang="fr-MA" b="1" dirty="0">
                <a:solidFill>
                  <a:srgbClr val="FF3300"/>
                </a:solidFill>
              </a:rPr>
              <a:t>*</a:t>
            </a:r>
            <a:r>
              <a:rPr lang="fr-MA" b="1" dirty="0" err="1">
                <a:solidFill>
                  <a:srgbClr val="FF3300"/>
                </a:solidFill>
              </a:rPr>
              <a:t>lr</a:t>
            </a:r>
            <a:endParaRPr lang="fr-MA" b="1" dirty="0">
              <a:solidFill>
                <a:srgbClr val="FF3300"/>
              </a:solidFill>
            </a:endParaRPr>
          </a:p>
          <a:p>
            <a:r>
              <a:rPr lang="fr-MA" b="1" dirty="0">
                <a:solidFill>
                  <a:srgbClr val="FF3300"/>
                </a:solidFill>
              </a:rPr>
              <a:t>        w1=w1-dw1*</a:t>
            </a:r>
            <a:r>
              <a:rPr lang="fr-MA" b="1" dirty="0" err="1">
                <a:solidFill>
                  <a:srgbClr val="FF3300"/>
                </a:solidFill>
              </a:rPr>
              <a:t>lr</a:t>
            </a:r>
            <a:endParaRPr lang="fr-MA" b="1" dirty="0">
              <a:solidFill>
                <a:srgbClr val="FF3300"/>
              </a:solidFill>
            </a:endParaRPr>
          </a:p>
          <a:p>
            <a:r>
              <a:rPr lang="fr-MA" b="1" dirty="0">
                <a:solidFill>
                  <a:srgbClr val="FF3300"/>
                </a:solidFill>
              </a:rPr>
              <a:t>        w2=w2-dw2*</a:t>
            </a:r>
            <a:r>
              <a:rPr lang="fr-MA" b="1" dirty="0" err="1">
                <a:solidFill>
                  <a:srgbClr val="FF3300"/>
                </a:solidFill>
              </a:rPr>
              <a:t>lr</a:t>
            </a:r>
            <a:endParaRPr lang="fr-MA" b="1" dirty="0">
              <a:solidFill>
                <a:srgbClr val="FF3300"/>
              </a:solidFill>
            </a:endParaRPr>
          </a:p>
          <a:p>
            <a:r>
              <a:rPr lang="fr-MA" dirty="0"/>
              <a:t>    return bias,w1,w2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240DFF-46B3-76DB-F860-5160229F8066}"/>
              </a:ext>
            </a:extLst>
          </p:cNvPr>
          <p:cNvSpPr txBox="1"/>
          <p:nvPr/>
        </p:nvSpPr>
        <p:spPr>
          <a:xfrm>
            <a:off x="6096000" y="347395"/>
            <a:ext cx="4632960" cy="646331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def</a:t>
            </a:r>
            <a:r>
              <a:rPr lang="fr-MA" dirty="0"/>
              <a:t> </a:t>
            </a:r>
            <a:r>
              <a:rPr lang="fr-MA" dirty="0" err="1"/>
              <a:t>getY</a:t>
            </a:r>
            <a:r>
              <a:rPr lang="fr-MA" dirty="0"/>
              <a:t>(x,bias,w1,w2):</a:t>
            </a:r>
          </a:p>
          <a:p>
            <a:r>
              <a:rPr lang="fr-MA" dirty="0"/>
              <a:t>    return -w1/w2*x-</a:t>
            </a:r>
            <a:r>
              <a:rPr lang="fr-MA" dirty="0" err="1"/>
              <a:t>bias</a:t>
            </a:r>
            <a:r>
              <a:rPr lang="fr-MA" dirty="0"/>
              <a:t>/w2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C50155-4581-CEA3-2BE2-58CB62D77437}"/>
              </a:ext>
            </a:extLst>
          </p:cNvPr>
          <p:cNvSpPr txBox="1"/>
          <p:nvPr/>
        </p:nvSpPr>
        <p:spPr>
          <a:xfrm>
            <a:off x="6096000" y="1289596"/>
            <a:ext cx="4632960" cy="1200329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/>
              <a:t>x1=0</a:t>
            </a:r>
          </a:p>
          <a:p>
            <a:r>
              <a:rPr lang="fr-MA" dirty="0"/>
              <a:t>x2=5</a:t>
            </a:r>
          </a:p>
          <a:p>
            <a:r>
              <a:rPr lang="fr-MA" dirty="0"/>
              <a:t>y1=</a:t>
            </a:r>
            <a:r>
              <a:rPr lang="fr-MA" dirty="0" err="1"/>
              <a:t>getY</a:t>
            </a:r>
            <a:r>
              <a:rPr lang="fr-MA" dirty="0"/>
              <a:t>(x1,bias,w1,w2)</a:t>
            </a:r>
          </a:p>
          <a:p>
            <a:r>
              <a:rPr lang="fr-MA" dirty="0"/>
              <a:t>y2=</a:t>
            </a:r>
            <a:r>
              <a:rPr lang="fr-MA" dirty="0" err="1"/>
              <a:t>getY</a:t>
            </a:r>
            <a:r>
              <a:rPr lang="fr-MA" dirty="0"/>
              <a:t>(x2,bias,w1,w2)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D944BC-CD50-092A-C277-D968DE88FC6F}"/>
              </a:ext>
            </a:extLst>
          </p:cNvPr>
          <p:cNvSpPr txBox="1"/>
          <p:nvPr/>
        </p:nvSpPr>
        <p:spPr>
          <a:xfrm>
            <a:off x="5852160" y="2571186"/>
            <a:ext cx="6096000" cy="1200329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colors</a:t>
            </a:r>
            <a:r>
              <a:rPr lang="fr-MA" dirty="0"/>
              <a:t> = ['</a:t>
            </a:r>
            <a:r>
              <a:rPr lang="fr-MA" dirty="0" err="1"/>
              <a:t>red</a:t>
            </a:r>
            <a:r>
              <a:rPr lang="fr-MA" dirty="0"/>
              <a:t>','</a:t>
            </a:r>
            <a:r>
              <a:rPr lang="fr-MA" dirty="0" err="1"/>
              <a:t>blue</a:t>
            </a:r>
            <a:r>
              <a:rPr lang="fr-MA" dirty="0"/>
              <a:t>']</a:t>
            </a:r>
          </a:p>
          <a:p>
            <a:r>
              <a:rPr lang="fr-MA" dirty="0" err="1"/>
              <a:t>plt.scatter</a:t>
            </a:r>
            <a:r>
              <a:rPr lang="fr-MA" dirty="0"/>
              <a:t>(L[:,0],L[:,1],c=L[:,2],</a:t>
            </a:r>
            <a:r>
              <a:rPr lang="fr-MA" dirty="0" err="1"/>
              <a:t>cmap</a:t>
            </a:r>
            <a:r>
              <a:rPr lang="fr-MA" dirty="0"/>
              <a:t>=</a:t>
            </a:r>
            <a:r>
              <a:rPr lang="fr-MA" dirty="0" err="1"/>
              <a:t>clr.ListedColormap</a:t>
            </a:r>
            <a:r>
              <a:rPr lang="fr-MA" dirty="0"/>
              <a:t>(</a:t>
            </a:r>
            <a:r>
              <a:rPr lang="fr-MA" dirty="0" err="1"/>
              <a:t>colors</a:t>
            </a:r>
            <a:r>
              <a:rPr lang="fr-MA" dirty="0"/>
              <a:t>))</a:t>
            </a:r>
          </a:p>
          <a:p>
            <a:r>
              <a:rPr lang="fr-MA" dirty="0"/>
              <a:t>#plt.plot([x1,x2],[y1,y2])</a:t>
            </a:r>
          </a:p>
          <a:p>
            <a:r>
              <a:rPr lang="fr-MA" dirty="0" err="1"/>
              <a:t>plt.plot</a:t>
            </a:r>
            <a:r>
              <a:rPr lang="fr-MA" dirty="0"/>
              <a:t>([x1,x2],[y1,y2])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7F69E4D-B1F2-54BD-62FD-B23D73579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3852776"/>
            <a:ext cx="3870960" cy="2949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1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0E6844B-99E5-F51D-3C0A-85DE5D5AE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617" y="1557601"/>
            <a:ext cx="2581275" cy="32099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E87CE9-99C2-77D4-37AB-1445B9AF4659}"/>
              </a:ext>
            </a:extLst>
          </p:cNvPr>
          <p:cNvSpPr txBox="1"/>
          <p:nvPr/>
        </p:nvSpPr>
        <p:spPr>
          <a:xfrm>
            <a:off x="134621" y="873649"/>
            <a:ext cx="42130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2400" b="1" dirty="0" err="1">
                <a:solidFill>
                  <a:srgbClr val="0066FF"/>
                </a:solidFill>
              </a:rPr>
              <a:t>Complex</a:t>
            </a:r>
            <a:r>
              <a:rPr lang="fr-MA" sz="2400" b="1" dirty="0">
                <a:solidFill>
                  <a:srgbClr val="0066FF"/>
                </a:solidFill>
              </a:rPr>
              <a:t> classification </a:t>
            </a:r>
            <a:br>
              <a:rPr lang="fr-MA" sz="2400" b="1" dirty="0">
                <a:solidFill>
                  <a:srgbClr val="0066FF"/>
                </a:solidFill>
              </a:rPr>
            </a:br>
            <a:r>
              <a:rPr lang="fr-MA" sz="2400" b="1" dirty="0" err="1">
                <a:solidFill>
                  <a:srgbClr val="0066FF"/>
                </a:solidFill>
              </a:rPr>
              <a:t>problem</a:t>
            </a:r>
            <a:r>
              <a:rPr lang="fr-MA" sz="2400" b="1" dirty="0">
                <a:solidFill>
                  <a:srgbClr val="0066FF"/>
                </a:solidFill>
              </a:rPr>
              <a:t> non </a:t>
            </a:r>
            <a:r>
              <a:rPr lang="fr-MA" sz="2400" b="1" dirty="0" err="1">
                <a:solidFill>
                  <a:srgbClr val="0066FF"/>
                </a:solidFill>
              </a:rPr>
              <a:t>Linearly</a:t>
            </a:r>
            <a:r>
              <a:rPr lang="fr-MA" sz="2400" b="1" dirty="0">
                <a:solidFill>
                  <a:srgbClr val="0066FF"/>
                </a:solidFill>
              </a:rPr>
              <a:t> </a:t>
            </a:r>
            <a:r>
              <a:rPr lang="fr-MA" sz="2400" b="1" dirty="0" err="1">
                <a:solidFill>
                  <a:srgbClr val="0066FF"/>
                </a:solidFill>
              </a:rPr>
              <a:t>Separable</a:t>
            </a:r>
            <a:endParaRPr lang="fr-MA" sz="2400" b="1" dirty="0">
              <a:solidFill>
                <a:srgbClr val="0066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91137B-83A7-7FF5-CF1E-C16477D32A12}"/>
              </a:ext>
            </a:extLst>
          </p:cNvPr>
          <p:cNvSpPr txBox="1"/>
          <p:nvPr/>
        </p:nvSpPr>
        <p:spPr>
          <a:xfrm>
            <a:off x="131286" y="1789918"/>
            <a:ext cx="520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FF3300"/>
                </a:solidFill>
              </a:rPr>
              <a:t>X2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E20DC54-1653-F8D6-8B3D-60F5C210E0D8}"/>
              </a:ext>
            </a:extLst>
          </p:cNvPr>
          <p:cNvSpPr/>
          <p:nvPr/>
        </p:nvSpPr>
        <p:spPr>
          <a:xfrm>
            <a:off x="1696720" y="260477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2C1DF4F-CF89-6494-2BB1-35818F0D1EED}"/>
              </a:ext>
            </a:extLst>
          </p:cNvPr>
          <p:cNvCxnSpPr>
            <a:endCxn id="4" idx="2"/>
          </p:cNvCxnSpPr>
          <p:nvPr/>
        </p:nvCxnSpPr>
        <p:spPr>
          <a:xfrm flipV="1">
            <a:off x="391635" y="2159250"/>
            <a:ext cx="1" cy="2627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617C625-D081-C397-5BE2-A5012D89BAC8}"/>
              </a:ext>
            </a:extLst>
          </p:cNvPr>
          <p:cNvCxnSpPr>
            <a:cxnSpLocks/>
          </p:cNvCxnSpPr>
          <p:nvPr/>
        </p:nvCxnSpPr>
        <p:spPr>
          <a:xfrm>
            <a:off x="391635" y="4767526"/>
            <a:ext cx="30614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CA4E02D-DA1D-B050-8750-A405109C30DB}"/>
              </a:ext>
            </a:extLst>
          </p:cNvPr>
          <p:cNvSpPr txBox="1"/>
          <p:nvPr/>
        </p:nvSpPr>
        <p:spPr>
          <a:xfrm>
            <a:off x="3441701" y="4614678"/>
            <a:ext cx="520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FF3300"/>
                </a:solidFill>
              </a:rPr>
              <a:t>X1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64C470-6E42-9C2D-4A3F-69EF3268B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627" y="1600279"/>
            <a:ext cx="4682965" cy="353064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A4C3EE5-EF8F-2173-CB3D-74DC9D8885B0}"/>
              </a:ext>
            </a:extLst>
          </p:cNvPr>
          <p:cNvSpPr txBox="1"/>
          <p:nvPr/>
        </p:nvSpPr>
        <p:spPr>
          <a:xfrm>
            <a:off x="6657341" y="1058314"/>
            <a:ext cx="42130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2400" b="1" dirty="0">
                <a:solidFill>
                  <a:srgbClr val="0066FF"/>
                </a:solidFill>
              </a:rPr>
              <a:t>Images classification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D6692FF-C7AC-A9A7-8D2B-E77FE3343E0A}"/>
              </a:ext>
            </a:extLst>
          </p:cNvPr>
          <p:cNvSpPr/>
          <p:nvPr/>
        </p:nvSpPr>
        <p:spPr>
          <a:xfrm>
            <a:off x="8503524" y="469524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01998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ZoneTexte 6">
            <a:extLst>
              <a:ext uri="{FF2B5EF4-FFF2-40B4-BE49-F238E27FC236}">
                <a16:creationId xmlns:a16="http://schemas.microsoft.com/office/drawing/2014/main" id="{495D7798-583D-41BD-AB86-A3AF634A2D8B}"/>
              </a:ext>
            </a:extLst>
          </p:cNvPr>
          <p:cNvSpPr txBox="1"/>
          <p:nvPr/>
        </p:nvSpPr>
        <p:spPr>
          <a:xfrm>
            <a:off x="0" y="15240"/>
            <a:ext cx="10896600" cy="5432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Clr>
                <a:srgbClr val="FF3300"/>
              </a:buClr>
            </a:pPr>
            <a:r>
              <a:rPr lang="fr-MA" sz="2400" b="1" dirty="0">
                <a:solidFill>
                  <a:srgbClr val="0070C0"/>
                </a:solidFill>
                <a:latin typeface="+mj-lt"/>
              </a:rPr>
              <a:t>Mise en œuvre de Neural Network</a:t>
            </a:r>
          </a:p>
          <a:p>
            <a:pPr marL="285750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b="1" dirty="0">
                <a:solidFill>
                  <a:srgbClr val="FF3300"/>
                </a:solidFill>
                <a:latin typeface="+mj-lt"/>
              </a:rPr>
              <a:t>NN: Multi – Layer</a:t>
            </a:r>
          </a:p>
          <a:p>
            <a:pPr marL="742950" lvl="1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Présentation du problème 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non linéairement séparable</a:t>
            </a:r>
          </a:p>
          <a:p>
            <a:pPr marL="742950" lvl="1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Implémentation du Problème 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non linéairement séparable (</a:t>
            </a: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avec </a:t>
            </a:r>
            <a:r>
              <a:rPr lang="fr-MA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tensorflow</a:t>
            </a: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, </a:t>
            </a:r>
            <a:r>
              <a:rPr lang="fr-MA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keras</a:t>
            </a: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)</a:t>
            </a:r>
          </a:p>
          <a:p>
            <a:pPr marL="1200150" lvl="2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rgbClr val="0180FF"/>
                </a:solidFill>
                <a:latin typeface="+mj-lt"/>
              </a:rPr>
              <a:t>Exemple 1: simple XOR </a:t>
            </a:r>
            <a:r>
              <a:rPr lang="fr-MA" sz="2000" dirty="0" err="1">
                <a:solidFill>
                  <a:srgbClr val="0180FF"/>
                </a:solidFill>
                <a:latin typeface="+mj-lt"/>
              </a:rPr>
              <a:t>problem</a:t>
            </a:r>
            <a:endParaRPr lang="fr-MA" sz="2000" dirty="0">
              <a:solidFill>
                <a:srgbClr val="0180FF"/>
              </a:solidFill>
              <a:latin typeface="+mj-lt"/>
            </a:endParaRPr>
          </a:p>
          <a:p>
            <a:pPr marL="1657350" lvl="3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Générer les données</a:t>
            </a:r>
          </a:p>
          <a:p>
            <a:pPr marL="1657350" lvl="3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Créer et entrainer un </a:t>
            </a:r>
            <a:r>
              <a:rPr lang="fr-MA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multilayer</a:t>
            </a: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</a:t>
            </a:r>
            <a:r>
              <a:rPr lang="fr-MA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neuralnetwork</a:t>
            </a:r>
            <a:endParaRPr lang="fr-MA" sz="20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pPr marL="1200150" lvl="2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rgbClr val="0180FF"/>
                </a:solidFill>
                <a:latin typeface="+mj-lt"/>
              </a:rPr>
              <a:t>Exemple 2: </a:t>
            </a:r>
            <a:r>
              <a:rPr lang="fr-MA" sz="2000" dirty="0" err="1">
                <a:solidFill>
                  <a:srgbClr val="0180FF"/>
                </a:solidFill>
                <a:latin typeface="+mj-lt"/>
              </a:rPr>
              <a:t>general</a:t>
            </a:r>
            <a:r>
              <a:rPr lang="fr-MA" sz="2000" dirty="0">
                <a:solidFill>
                  <a:srgbClr val="0180FF"/>
                </a:solidFill>
                <a:latin typeface="+mj-lt"/>
              </a:rPr>
              <a:t> XOR </a:t>
            </a:r>
            <a:r>
              <a:rPr lang="fr-MA" sz="2000" dirty="0" err="1">
                <a:solidFill>
                  <a:srgbClr val="0180FF"/>
                </a:solidFill>
                <a:latin typeface="+mj-lt"/>
              </a:rPr>
              <a:t>problem</a:t>
            </a:r>
            <a:endParaRPr lang="fr-MA" sz="2000" dirty="0">
              <a:solidFill>
                <a:srgbClr val="0180FF"/>
              </a:solidFill>
              <a:latin typeface="+mj-lt"/>
            </a:endParaRPr>
          </a:p>
          <a:p>
            <a:pPr marL="1657350" lvl="3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Générer les données</a:t>
            </a:r>
          </a:p>
          <a:p>
            <a:pPr marL="1657350" lvl="3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Créer et entrainer un </a:t>
            </a:r>
            <a:r>
              <a:rPr lang="fr-MA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multilayer</a:t>
            </a: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</a:t>
            </a:r>
            <a:r>
              <a:rPr lang="fr-MA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neuralnetwork</a:t>
            </a:r>
            <a:endParaRPr lang="fr-MA" sz="2000" dirty="0">
              <a:solidFill>
                <a:srgbClr val="0180FF"/>
              </a:solidFill>
              <a:latin typeface="+mj-lt"/>
            </a:endParaRPr>
          </a:p>
          <a:p>
            <a:pPr marL="1200150" lvl="2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rgbClr val="0180FF"/>
                </a:solidFill>
                <a:latin typeface="+mj-lt"/>
              </a:rPr>
              <a:t>Exemple 3: </a:t>
            </a:r>
            <a:r>
              <a:rPr lang="fr-MA" sz="2000" i="0" dirty="0">
                <a:solidFill>
                  <a:srgbClr val="0180FF"/>
                </a:solidFill>
                <a:effectLst/>
                <a:latin typeface="+mj-lt"/>
              </a:rPr>
              <a:t> fashion classification </a:t>
            </a:r>
            <a:r>
              <a:rPr lang="fr-MA" sz="2000" i="0" dirty="0" err="1">
                <a:solidFill>
                  <a:srgbClr val="0180FF"/>
                </a:solidFill>
                <a:effectLst/>
                <a:latin typeface="+mj-lt"/>
              </a:rPr>
              <a:t>problem</a:t>
            </a:r>
            <a:endParaRPr lang="fr-MA" sz="2000" dirty="0">
              <a:solidFill>
                <a:srgbClr val="0180FF"/>
              </a:solidFill>
              <a:latin typeface="+mj-lt"/>
            </a:endParaRPr>
          </a:p>
          <a:p>
            <a:pPr marL="1200150" lvl="2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rgbClr val="0180FF"/>
                </a:solidFill>
                <a:latin typeface="+mj-lt"/>
              </a:rPr>
              <a:t>Exemple 4: hand </a:t>
            </a:r>
            <a:r>
              <a:rPr lang="fr-MA" sz="2000" dirty="0" err="1">
                <a:solidFill>
                  <a:srgbClr val="0180FF"/>
                </a:solidFill>
                <a:latin typeface="+mj-lt"/>
              </a:rPr>
              <a:t>written</a:t>
            </a:r>
            <a:r>
              <a:rPr lang="fr-MA" sz="2000" dirty="0">
                <a:solidFill>
                  <a:srgbClr val="0180FF"/>
                </a:solidFill>
                <a:latin typeface="+mj-lt"/>
              </a:rPr>
              <a:t> digits classification </a:t>
            </a:r>
            <a:r>
              <a:rPr lang="fr-MA" sz="2000" dirty="0" err="1">
                <a:solidFill>
                  <a:srgbClr val="0180FF"/>
                </a:solidFill>
                <a:latin typeface="+mj-lt"/>
              </a:rPr>
              <a:t>problem</a:t>
            </a:r>
            <a:endParaRPr lang="fr-MA" sz="2000" dirty="0">
              <a:solidFill>
                <a:srgbClr val="0180FF"/>
              </a:solidFill>
              <a:latin typeface="+mj-lt"/>
            </a:endParaRPr>
          </a:p>
          <a:p>
            <a:pPr marL="742950" lvl="1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Implémentation </a:t>
            </a:r>
            <a:r>
              <a:rPr lang="fr-MA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from</a:t>
            </a: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scratch</a:t>
            </a:r>
          </a:p>
          <a:p>
            <a:pPr marL="1200150" lvl="2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i="0" dirty="0">
                <a:solidFill>
                  <a:srgbClr val="0180FF"/>
                </a:solidFill>
                <a:effectLst/>
                <a:latin typeface="+mj-lt"/>
              </a:rPr>
              <a:t>Exemple: fashion classification </a:t>
            </a:r>
            <a:r>
              <a:rPr lang="fr-MA" sz="2000" i="0" dirty="0" err="1">
                <a:solidFill>
                  <a:srgbClr val="0180FF"/>
                </a:solidFill>
                <a:effectLst/>
                <a:latin typeface="+mj-lt"/>
              </a:rPr>
              <a:t>problem</a:t>
            </a:r>
            <a:endParaRPr lang="fr-MA" sz="2000" dirty="0">
              <a:solidFill>
                <a:srgbClr val="0180FF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80665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594225-E592-400C-A800-F4EF8E683D07}"/>
              </a:ext>
            </a:extLst>
          </p:cNvPr>
          <p:cNvSpPr txBox="1"/>
          <p:nvPr/>
        </p:nvSpPr>
        <p:spPr>
          <a:xfrm>
            <a:off x="1114425" y="2085982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4000" dirty="0"/>
              <a:t>Séparation de</a:t>
            </a:r>
            <a:br>
              <a:rPr lang="fr-MA" sz="4000" dirty="0"/>
            </a:br>
            <a:r>
              <a:rPr lang="fr-MA" sz="4000" dirty="0"/>
              <a:t> AND, OR,NAND, NOR, XOR</a:t>
            </a:r>
          </a:p>
        </p:txBody>
      </p:sp>
      <p:sp>
        <p:nvSpPr>
          <p:cNvPr id="3" name="ZoneTexte 4">
            <a:extLst>
              <a:ext uri="{FF2B5EF4-FFF2-40B4-BE49-F238E27FC236}">
                <a16:creationId xmlns:a16="http://schemas.microsoft.com/office/drawing/2014/main" id="{09619309-063C-4FE9-8809-5D9D8A125B96}"/>
              </a:ext>
            </a:extLst>
          </p:cNvPr>
          <p:cNvSpPr txBox="1"/>
          <p:nvPr/>
        </p:nvSpPr>
        <p:spPr>
          <a:xfrm>
            <a:off x="1255596" y="241417"/>
            <a:ext cx="100252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3200" b="1" dirty="0" err="1"/>
              <a:t>Problem</a:t>
            </a:r>
            <a:endParaRPr lang="fr-FR" sz="3200" b="1" dirty="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256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367D2D6-53FC-4774-B355-C55EAA02CD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49519"/>
              </p:ext>
            </p:extLst>
          </p:nvPr>
        </p:nvGraphicFramePr>
        <p:xfrm>
          <a:off x="1585535" y="842207"/>
          <a:ext cx="182697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485">
                  <a:extLst>
                    <a:ext uri="{9D8B030D-6E8A-4147-A177-3AD203B41FA5}">
                      <a16:colId xmlns:a16="http://schemas.microsoft.com/office/drawing/2014/main" val="1475859157"/>
                    </a:ext>
                  </a:extLst>
                </a:gridCol>
                <a:gridCol w="913485">
                  <a:extLst>
                    <a:ext uri="{9D8B030D-6E8A-4147-A177-3AD203B41FA5}">
                      <a16:colId xmlns:a16="http://schemas.microsoft.com/office/drawing/2014/main" val="239070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177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FF33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0066FF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035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FF33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FF33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004158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EF12E-66F7-4F0C-85D1-DCCA2E649314}"/>
              </a:ext>
            </a:extLst>
          </p:cNvPr>
          <p:cNvSpPr/>
          <p:nvPr/>
        </p:nvSpPr>
        <p:spPr>
          <a:xfrm>
            <a:off x="944512" y="1197198"/>
            <a:ext cx="631596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33B967-96BA-496A-A6DE-B5DC226B8B26}"/>
              </a:ext>
            </a:extLst>
          </p:cNvPr>
          <p:cNvSpPr/>
          <p:nvPr/>
        </p:nvSpPr>
        <p:spPr>
          <a:xfrm>
            <a:off x="935085" y="1576052"/>
            <a:ext cx="631596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C5E7527-5B5A-4701-9719-D3E235E0A80A}"/>
              </a:ext>
            </a:extLst>
          </p:cNvPr>
          <p:cNvCxnSpPr/>
          <p:nvPr/>
        </p:nvCxnSpPr>
        <p:spPr>
          <a:xfrm>
            <a:off x="4251489" y="2093298"/>
            <a:ext cx="156484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090597AE-5AA2-4366-A8FC-6686E8BE358E}"/>
              </a:ext>
            </a:extLst>
          </p:cNvPr>
          <p:cNvSpPr/>
          <p:nvPr/>
        </p:nvSpPr>
        <p:spPr>
          <a:xfrm>
            <a:off x="4421173" y="1112911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D2B6B9A-B401-471B-878F-B12DB57789C8}"/>
              </a:ext>
            </a:extLst>
          </p:cNvPr>
          <p:cNvSpPr/>
          <p:nvPr/>
        </p:nvSpPr>
        <p:spPr>
          <a:xfrm>
            <a:off x="5290010" y="1112902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A50C74E-A16F-4895-ABDD-9C451197103F}"/>
              </a:ext>
            </a:extLst>
          </p:cNvPr>
          <p:cNvSpPr/>
          <p:nvPr/>
        </p:nvSpPr>
        <p:spPr>
          <a:xfrm>
            <a:off x="5290010" y="1838784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61ECC11-EC50-489D-A6E9-CBB41DFB3B25}"/>
              </a:ext>
            </a:extLst>
          </p:cNvPr>
          <p:cNvSpPr/>
          <p:nvPr/>
        </p:nvSpPr>
        <p:spPr>
          <a:xfrm>
            <a:off x="4421173" y="1829357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4EDAE5-FF37-4B1F-A0E0-0AEB63906FD2}"/>
              </a:ext>
            </a:extLst>
          </p:cNvPr>
          <p:cNvSpPr txBox="1"/>
          <p:nvPr/>
        </p:nvSpPr>
        <p:spPr>
          <a:xfrm>
            <a:off x="4421173" y="2166356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A5BD8B-4D6A-438F-A7BA-BD2247C59909}"/>
              </a:ext>
            </a:extLst>
          </p:cNvPr>
          <p:cNvSpPr txBox="1"/>
          <p:nvPr/>
        </p:nvSpPr>
        <p:spPr>
          <a:xfrm>
            <a:off x="5247587" y="2166365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585DA7E-D823-4567-A90C-DD9E1DB7F23C}"/>
              </a:ext>
            </a:extLst>
          </p:cNvPr>
          <p:cNvCxnSpPr>
            <a:cxnSpLocks/>
          </p:cNvCxnSpPr>
          <p:nvPr/>
        </p:nvCxnSpPr>
        <p:spPr>
          <a:xfrm flipV="1">
            <a:off x="4264056" y="842207"/>
            <a:ext cx="0" cy="12423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2E8D2DF-2A11-4B48-8997-59540A798083}"/>
              </a:ext>
            </a:extLst>
          </p:cNvPr>
          <p:cNvSpPr txBox="1"/>
          <p:nvPr/>
        </p:nvSpPr>
        <p:spPr>
          <a:xfrm>
            <a:off x="3886203" y="1797024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B656EE-E9EE-4CC6-AC5B-652B6E5D1820}"/>
              </a:ext>
            </a:extLst>
          </p:cNvPr>
          <p:cNvSpPr txBox="1"/>
          <p:nvPr/>
        </p:nvSpPr>
        <p:spPr>
          <a:xfrm>
            <a:off x="3914484" y="1083774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E8981F-4F95-4EBF-820B-563C57A40A83}"/>
              </a:ext>
            </a:extLst>
          </p:cNvPr>
          <p:cNvCxnSpPr>
            <a:cxnSpLocks/>
          </p:cNvCxnSpPr>
          <p:nvPr/>
        </p:nvCxnSpPr>
        <p:spPr>
          <a:xfrm>
            <a:off x="4565716" y="970309"/>
            <a:ext cx="1307188" cy="10814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BB9CCDE-BF32-4DC8-B218-B3DAECBEDFF3}"/>
              </a:ext>
            </a:extLst>
          </p:cNvPr>
          <p:cNvCxnSpPr>
            <a:cxnSpLocks/>
          </p:cNvCxnSpPr>
          <p:nvPr/>
        </p:nvCxnSpPr>
        <p:spPr>
          <a:xfrm>
            <a:off x="2163446" y="937481"/>
            <a:ext cx="1307188" cy="10814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Table 2">
            <a:extLst>
              <a:ext uri="{FF2B5EF4-FFF2-40B4-BE49-F238E27FC236}">
                <a16:creationId xmlns:a16="http://schemas.microsoft.com/office/drawing/2014/main" id="{4498DD95-6512-4358-8EF1-A84DE92FE9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420972"/>
              </p:ext>
            </p:extLst>
          </p:nvPr>
        </p:nvGraphicFramePr>
        <p:xfrm>
          <a:off x="1577678" y="2955386"/>
          <a:ext cx="182697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485">
                  <a:extLst>
                    <a:ext uri="{9D8B030D-6E8A-4147-A177-3AD203B41FA5}">
                      <a16:colId xmlns:a16="http://schemas.microsoft.com/office/drawing/2014/main" val="1475859157"/>
                    </a:ext>
                  </a:extLst>
                </a:gridCol>
                <a:gridCol w="913485">
                  <a:extLst>
                    <a:ext uri="{9D8B030D-6E8A-4147-A177-3AD203B41FA5}">
                      <a16:colId xmlns:a16="http://schemas.microsoft.com/office/drawing/2014/main" val="239070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177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0066FF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0066FF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035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FF33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0066FF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0041583"/>
                  </a:ext>
                </a:extLst>
              </a:tr>
            </a:tbl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C59EEE49-E196-45AF-BB43-3D7C697AAD46}"/>
              </a:ext>
            </a:extLst>
          </p:cNvPr>
          <p:cNvSpPr/>
          <p:nvPr/>
        </p:nvSpPr>
        <p:spPr>
          <a:xfrm>
            <a:off x="936655" y="3310377"/>
            <a:ext cx="631596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37CAA4-39F5-4AFE-B117-E687F806307C}"/>
              </a:ext>
            </a:extLst>
          </p:cNvPr>
          <p:cNvSpPr/>
          <p:nvPr/>
        </p:nvSpPr>
        <p:spPr>
          <a:xfrm>
            <a:off x="927228" y="3689231"/>
            <a:ext cx="631596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4993275-F5C2-4138-BD35-AC8A00053028}"/>
              </a:ext>
            </a:extLst>
          </p:cNvPr>
          <p:cNvCxnSpPr/>
          <p:nvPr/>
        </p:nvCxnSpPr>
        <p:spPr>
          <a:xfrm>
            <a:off x="4243632" y="4206477"/>
            <a:ext cx="156484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F4ADD5F9-586F-48BE-BE28-F7361ACE7638}"/>
              </a:ext>
            </a:extLst>
          </p:cNvPr>
          <p:cNvSpPr/>
          <p:nvPr/>
        </p:nvSpPr>
        <p:spPr>
          <a:xfrm>
            <a:off x="4413316" y="3226090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4B12C4-CF9B-4405-819C-1C63B26EA58D}"/>
              </a:ext>
            </a:extLst>
          </p:cNvPr>
          <p:cNvSpPr/>
          <p:nvPr/>
        </p:nvSpPr>
        <p:spPr>
          <a:xfrm>
            <a:off x="5282153" y="3226081"/>
            <a:ext cx="245093" cy="254514"/>
          </a:xfrm>
          <a:prstGeom prst="ellipse">
            <a:avLst/>
          </a:prstGeom>
          <a:solidFill>
            <a:srgbClr val="00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924F6BD-687C-42C8-A9C2-2EFDFB265654}"/>
              </a:ext>
            </a:extLst>
          </p:cNvPr>
          <p:cNvSpPr/>
          <p:nvPr/>
        </p:nvSpPr>
        <p:spPr>
          <a:xfrm>
            <a:off x="5282152" y="3951954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56F3402-5CEC-4035-B265-E48C5112C71F}"/>
              </a:ext>
            </a:extLst>
          </p:cNvPr>
          <p:cNvSpPr/>
          <p:nvPr/>
        </p:nvSpPr>
        <p:spPr>
          <a:xfrm>
            <a:off x="4413316" y="3942536"/>
            <a:ext cx="245093" cy="25451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D7ADA30-8296-4CF7-944D-ADE0FBBC8F9F}"/>
              </a:ext>
            </a:extLst>
          </p:cNvPr>
          <p:cNvSpPr txBox="1"/>
          <p:nvPr/>
        </p:nvSpPr>
        <p:spPr>
          <a:xfrm>
            <a:off x="4413316" y="4279535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FF5662-1E2E-47E9-B4E6-232448559EE0}"/>
              </a:ext>
            </a:extLst>
          </p:cNvPr>
          <p:cNvSpPr txBox="1"/>
          <p:nvPr/>
        </p:nvSpPr>
        <p:spPr>
          <a:xfrm>
            <a:off x="5239730" y="4279544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72C4A82-8806-47DB-9CC0-7BCCF99521A6}"/>
              </a:ext>
            </a:extLst>
          </p:cNvPr>
          <p:cNvCxnSpPr>
            <a:cxnSpLocks/>
          </p:cNvCxnSpPr>
          <p:nvPr/>
        </p:nvCxnSpPr>
        <p:spPr>
          <a:xfrm flipV="1">
            <a:off x="4256199" y="2955386"/>
            <a:ext cx="0" cy="12423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0F95597-8DAA-4A7C-B511-76CF944199AF}"/>
              </a:ext>
            </a:extLst>
          </p:cNvPr>
          <p:cNvSpPr txBox="1"/>
          <p:nvPr/>
        </p:nvSpPr>
        <p:spPr>
          <a:xfrm>
            <a:off x="3878346" y="3910203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3B7C81-CCF2-4DB3-93A1-DA9D94671EB0}"/>
              </a:ext>
            </a:extLst>
          </p:cNvPr>
          <p:cNvSpPr txBox="1"/>
          <p:nvPr/>
        </p:nvSpPr>
        <p:spPr>
          <a:xfrm>
            <a:off x="3906627" y="3196953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AA62AD7-2644-46C1-B60B-D20C3FDABDBD}"/>
              </a:ext>
            </a:extLst>
          </p:cNvPr>
          <p:cNvCxnSpPr>
            <a:cxnSpLocks/>
          </p:cNvCxnSpPr>
          <p:nvPr/>
        </p:nvCxnSpPr>
        <p:spPr>
          <a:xfrm>
            <a:off x="1397523" y="3146507"/>
            <a:ext cx="1307188" cy="10814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0838F626-EF84-49FF-9E37-B01303CA3102}"/>
              </a:ext>
            </a:extLst>
          </p:cNvPr>
          <p:cNvSpPr/>
          <p:nvPr/>
        </p:nvSpPr>
        <p:spPr>
          <a:xfrm>
            <a:off x="86008" y="1303834"/>
            <a:ext cx="570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MA" b="1" dirty="0"/>
              <a:t>And</a:t>
            </a:r>
            <a:endParaRPr lang="fr-MA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A10AE31-3990-465C-81FF-F5DC92A6BFB0}"/>
              </a:ext>
            </a:extLst>
          </p:cNvPr>
          <p:cNvSpPr/>
          <p:nvPr/>
        </p:nvSpPr>
        <p:spPr>
          <a:xfrm>
            <a:off x="142111" y="3406703"/>
            <a:ext cx="4700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MA" b="1" dirty="0"/>
              <a:t>OR</a:t>
            </a:r>
            <a:endParaRPr lang="fr-MA" dirty="0"/>
          </a:p>
        </p:txBody>
      </p:sp>
      <p:graphicFrame>
        <p:nvGraphicFramePr>
          <p:cNvPr id="46" name="Table 2">
            <a:extLst>
              <a:ext uri="{FF2B5EF4-FFF2-40B4-BE49-F238E27FC236}">
                <a16:creationId xmlns:a16="http://schemas.microsoft.com/office/drawing/2014/main" id="{00F0FD47-D9A7-4A71-B4D9-5BFF362928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779831"/>
              </p:ext>
            </p:extLst>
          </p:nvPr>
        </p:nvGraphicFramePr>
        <p:xfrm>
          <a:off x="1730078" y="4964868"/>
          <a:ext cx="182697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485">
                  <a:extLst>
                    <a:ext uri="{9D8B030D-6E8A-4147-A177-3AD203B41FA5}">
                      <a16:colId xmlns:a16="http://schemas.microsoft.com/office/drawing/2014/main" val="1475859157"/>
                    </a:ext>
                  </a:extLst>
                </a:gridCol>
                <a:gridCol w="913485">
                  <a:extLst>
                    <a:ext uri="{9D8B030D-6E8A-4147-A177-3AD203B41FA5}">
                      <a16:colId xmlns:a16="http://schemas.microsoft.com/office/drawing/2014/main" val="239070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177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0066FF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FF33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035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FF33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0066FF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0041583"/>
                  </a:ext>
                </a:extLst>
              </a:tr>
            </a:tbl>
          </a:graphicData>
        </a:graphic>
      </p:graphicFrame>
      <p:sp>
        <p:nvSpPr>
          <p:cNvPr id="47" name="Rectangle 46">
            <a:extLst>
              <a:ext uri="{FF2B5EF4-FFF2-40B4-BE49-F238E27FC236}">
                <a16:creationId xmlns:a16="http://schemas.microsoft.com/office/drawing/2014/main" id="{65A5F01F-40D0-42B7-B406-B9BC14149584}"/>
              </a:ext>
            </a:extLst>
          </p:cNvPr>
          <p:cNvSpPr/>
          <p:nvPr/>
        </p:nvSpPr>
        <p:spPr>
          <a:xfrm>
            <a:off x="1089055" y="5319859"/>
            <a:ext cx="631596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82C1041-3CD3-403A-92CF-AE2D4DCEBC36}"/>
              </a:ext>
            </a:extLst>
          </p:cNvPr>
          <p:cNvSpPr/>
          <p:nvPr/>
        </p:nvSpPr>
        <p:spPr>
          <a:xfrm>
            <a:off x="1079628" y="5698713"/>
            <a:ext cx="631596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6531555-B5E4-4D7B-B10C-B6BE33B5692F}"/>
              </a:ext>
            </a:extLst>
          </p:cNvPr>
          <p:cNvCxnSpPr/>
          <p:nvPr/>
        </p:nvCxnSpPr>
        <p:spPr>
          <a:xfrm>
            <a:off x="4396032" y="6215959"/>
            <a:ext cx="156484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FA5673B1-4FFC-4EFA-9C1F-A089AF652E50}"/>
              </a:ext>
            </a:extLst>
          </p:cNvPr>
          <p:cNvSpPr/>
          <p:nvPr/>
        </p:nvSpPr>
        <p:spPr>
          <a:xfrm>
            <a:off x="4565716" y="5235572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FEE5C00-D34E-45EA-B629-4B4C505E38A5}"/>
              </a:ext>
            </a:extLst>
          </p:cNvPr>
          <p:cNvSpPr/>
          <p:nvPr/>
        </p:nvSpPr>
        <p:spPr>
          <a:xfrm>
            <a:off x="5434553" y="5235563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51EEC2B-4F96-4A6B-B98D-693B3E837010}"/>
              </a:ext>
            </a:extLst>
          </p:cNvPr>
          <p:cNvSpPr/>
          <p:nvPr/>
        </p:nvSpPr>
        <p:spPr>
          <a:xfrm>
            <a:off x="5434552" y="5961436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9CFF4F8-B1A3-4C12-BB14-CE2F929670F4}"/>
              </a:ext>
            </a:extLst>
          </p:cNvPr>
          <p:cNvSpPr/>
          <p:nvPr/>
        </p:nvSpPr>
        <p:spPr>
          <a:xfrm>
            <a:off x="4565716" y="5952018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4124FBD-79A2-412C-8ED4-BB9A2CEF3F34}"/>
              </a:ext>
            </a:extLst>
          </p:cNvPr>
          <p:cNvSpPr txBox="1"/>
          <p:nvPr/>
        </p:nvSpPr>
        <p:spPr>
          <a:xfrm>
            <a:off x="4565716" y="6289017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49CA3B6-31DD-4069-A348-34CABF43D2CC}"/>
              </a:ext>
            </a:extLst>
          </p:cNvPr>
          <p:cNvSpPr txBox="1"/>
          <p:nvPr/>
        </p:nvSpPr>
        <p:spPr>
          <a:xfrm>
            <a:off x="5392130" y="6289026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69090EB-F9EA-4CDE-8CD7-E6BBB640C518}"/>
              </a:ext>
            </a:extLst>
          </p:cNvPr>
          <p:cNvCxnSpPr>
            <a:cxnSpLocks/>
          </p:cNvCxnSpPr>
          <p:nvPr/>
        </p:nvCxnSpPr>
        <p:spPr>
          <a:xfrm flipV="1">
            <a:off x="4408599" y="4964868"/>
            <a:ext cx="0" cy="12423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DDBB25FB-ED64-42AE-B977-1E7B2996976D}"/>
              </a:ext>
            </a:extLst>
          </p:cNvPr>
          <p:cNvSpPr txBox="1"/>
          <p:nvPr/>
        </p:nvSpPr>
        <p:spPr>
          <a:xfrm>
            <a:off x="4030746" y="5919685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B7D6CAF-6F58-4C31-9C55-0AD2A651FB07}"/>
              </a:ext>
            </a:extLst>
          </p:cNvPr>
          <p:cNvSpPr txBox="1"/>
          <p:nvPr/>
        </p:nvSpPr>
        <p:spPr>
          <a:xfrm>
            <a:off x="4059027" y="5206435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0D0127D-F98B-48BC-A649-98056B4A5F20}"/>
              </a:ext>
            </a:extLst>
          </p:cNvPr>
          <p:cNvSpPr/>
          <p:nvPr/>
        </p:nvSpPr>
        <p:spPr>
          <a:xfrm>
            <a:off x="294511" y="5416185"/>
            <a:ext cx="588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MA" b="1" dirty="0"/>
              <a:t>XOR</a:t>
            </a:r>
            <a:endParaRPr lang="fr-MA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E212136-A65F-4015-A07A-A6A8978A0B99}"/>
              </a:ext>
            </a:extLst>
          </p:cNvPr>
          <p:cNvSpPr txBox="1"/>
          <p:nvPr/>
        </p:nvSpPr>
        <p:spPr>
          <a:xfrm>
            <a:off x="6476214" y="709941"/>
            <a:ext cx="4996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/>
              <a:t>On peut avoir une séparation linéaire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B4D7577-1264-4538-9DBC-9BD98E51A146}"/>
              </a:ext>
            </a:extLst>
          </p:cNvPr>
          <p:cNvSpPr txBox="1"/>
          <p:nvPr/>
        </p:nvSpPr>
        <p:spPr>
          <a:xfrm>
            <a:off x="6289251" y="2643988"/>
            <a:ext cx="5883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/>
              <a:t>On  peut avoir une séparation linéaire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DB7749F-AF39-4A82-8EF0-795A281E9D71}"/>
              </a:ext>
            </a:extLst>
          </p:cNvPr>
          <p:cNvSpPr txBox="1"/>
          <p:nvPr/>
        </p:nvSpPr>
        <p:spPr>
          <a:xfrm>
            <a:off x="6308105" y="5264934"/>
            <a:ext cx="5883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/>
              <a:t>On ne peut pas avoir une séparation linéaire</a:t>
            </a:r>
          </a:p>
        </p:txBody>
      </p:sp>
      <p:sp>
        <p:nvSpPr>
          <p:cNvPr id="64" name="Ellipse 155">
            <a:extLst>
              <a:ext uri="{FF2B5EF4-FFF2-40B4-BE49-F238E27FC236}">
                <a16:creationId xmlns:a16="http://schemas.microsoft.com/office/drawing/2014/main" id="{7F8B9FDE-C0CD-43E2-BF73-3B72CE4FF618}"/>
              </a:ext>
            </a:extLst>
          </p:cNvPr>
          <p:cNvSpPr/>
          <p:nvPr/>
        </p:nvSpPr>
        <p:spPr>
          <a:xfrm>
            <a:off x="8240928" y="1633801"/>
            <a:ext cx="778847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AND</a:t>
            </a:r>
          </a:p>
        </p:txBody>
      </p:sp>
      <p:cxnSp>
        <p:nvCxnSpPr>
          <p:cNvPr id="68" name="Connecteur droit 4">
            <a:extLst>
              <a:ext uri="{FF2B5EF4-FFF2-40B4-BE49-F238E27FC236}">
                <a16:creationId xmlns:a16="http://schemas.microsoft.com/office/drawing/2014/main" id="{9C198B78-F1F4-4FD6-ADC8-B92257BE0BDC}"/>
              </a:ext>
            </a:extLst>
          </p:cNvPr>
          <p:cNvCxnSpPr>
            <a:cxnSpLocks/>
            <a:stCxn id="71" idx="6"/>
            <a:endCxn id="64" idx="2"/>
          </p:cNvCxnSpPr>
          <p:nvPr/>
        </p:nvCxnSpPr>
        <p:spPr>
          <a:xfrm>
            <a:off x="7554836" y="1644425"/>
            <a:ext cx="686092" cy="35067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lipse 167">
            <a:extLst>
              <a:ext uri="{FF2B5EF4-FFF2-40B4-BE49-F238E27FC236}">
                <a16:creationId xmlns:a16="http://schemas.microsoft.com/office/drawing/2014/main" id="{8CD69EC5-5E60-46A5-ADC4-E6101CE3CFFC}"/>
              </a:ext>
            </a:extLst>
          </p:cNvPr>
          <p:cNvSpPr/>
          <p:nvPr/>
        </p:nvSpPr>
        <p:spPr>
          <a:xfrm>
            <a:off x="6943099" y="2034674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85AAADE-FDEA-471E-A22A-FDD854F00722}"/>
              </a:ext>
            </a:extLst>
          </p:cNvPr>
          <p:cNvSpPr/>
          <p:nvPr/>
        </p:nvSpPr>
        <p:spPr>
          <a:xfrm>
            <a:off x="7013796" y="1444848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x1</a:t>
            </a:r>
            <a:endParaRPr lang="fr-FR" dirty="0"/>
          </a:p>
        </p:txBody>
      </p:sp>
      <p:sp>
        <p:nvSpPr>
          <p:cNvPr id="71" name="Ellipse 151">
            <a:extLst>
              <a:ext uri="{FF2B5EF4-FFF2-40B4-BE49-F238E27FC236}">
                <a16:creationId xmlns:a16="http://schemas.microsoft.com/office/drawing/2014/main" id="{138EAABF-B53F-4E18-84F5-771C63142A7B}"/>
              </a:ext>
            </a:extLst>
          </p:cNvPr>
          <p:cNvSpPr/>
          <p:nvPr/>
        </p:nvSpPr>
        <p:spPr>
          <a:xfrm>
            <a:off x="6942836" y="1410425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0269262-53DD-4605-9C5A-A60A326770AA}"/>
              </a:ext>
            </a:extLst>
          </p:cNvPr>
          <p:cNvSpPr/>
          <p:nvPr/>
        </p:nvSpPr>
        <p:spPr>
          <a:xfrm>
            <a:off x="7022292" y="2033038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x2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73" name="Connecteur droit 4">
            <a:extLst>
              <a:ext uri="{FF2B5EF4-FFF2-40B4-BE49-F238E27FC236}">
                <a16:creationId xmlns:a16="http://schemas.microsoft.com/office/drawing/2014/main" id="{3C19F8B7-C136-466E-802F-E8B0C8C13CDE}"/>
              </a:ext>
            </a:extLst>
          </p:cNvPr>
          <p:cNvCxnSpPr>
            <a:cxnSpLocks/>
            <a:stCxn id="69" idx="6"/>
            <a:endCxn id="64" idx="2"/>
          </p:cNvCxnSpPr>
          <p:nvPr/>
        </p:nvCxnSpPr>
        <p:spPr>
          <a:xfrm flipV="1">
            <a:off x="7555099" y="1995096"/>
            <a:ext cx="685829" cy="273578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avec flèche 156">
            <a:extLst>
              <a:ext uri="{FF2B5EF4-FFF2-40B4-BE49-F238E27FC236}">
                <a16:creationId xmlns:a16="http://schemas.microsoft.com/office/drawing/2014/main" id="{8F734DC2-323D-4004-853F-00BA819B4304}"/>
              </a:ext>
            </a:extLst>
          </p:cNvPr>
          <p:cNvCxnSpPr>
            <a:cxnSpLocks/>
          </p:cNvCxnSpPr>
          <p:nvPr/>
        </p:nvCxnSpPr>
        <p:spPr>
          <a:xfrm flipV="1">
            <a:off x="8998185" y="2062211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ZoneTexte 171">
            <a:extLst>
              <a:ext uri="{FF2B5EF4-FFF2-40B4-BE49-F238E27FC236}">
                <a16:creationId xmlns:a16="http://schemas.microsoft.com/office/drawing/2014/main" id="{8B327F07-C5A2-471D-BD55-525BF7062AAE}"/>
              </a:ext>
            </a:extLst>
          </p:cNvPr>
          <p:cNvSpPr txBox="1"/>
          <p:nvPr/>
        </p:nvSpPr>
        <p:spPr>
          <a:xfrm>
            <a:off x="9043344" y="1785529"/>
            <a:ext cx="576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050" b="1" dirty="0">
                <a:solidFill>
                  <a:srgbClr val="0066FF"/>
                </a:solidFill>
              </a:rPr>
              <a:t>output</a:t>
            </a:r>
            <a:endParaRPr lang="fr-FR" sz="1050" b="1" dirty="0">
              <a:solidFill>
                <a:srgbClr val="0066FF"/>
              </a:solidFill>
            </a:endParaRPr>
          </a:p>
        </p:txBody>
      </p:sp>
      <p:sp>
        <p:nvSpPr>
          <p:cNvPr id="129" name="Ellipse 155">
            <a:extLst>
              <a:ext uri="{FF2B5EF4-FFF2-40B4-BE49-F238E27FC236}">
                <a16:creationId xmlns:a16="http://schemas.microsoft.com/office/drawing/2014/main" id="{5E5F9D10-E3FF-41B4-8DF2-BD7E844D2702}"/>
              </a:ext>
            </a:extLst>
          </p:cNvPr>
          <p:cNvSpPr/>
          <p:nvPr/>
        </p:nvSpPr>
        <p:spPr>
          <a:xfrm>
            <a:off x="8176511" y="3728122"/>
            <a:ext cx="778847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130" name="Connecteur droit 4">
            <a:extLst>
              <a:ext uri="{FF2B5EF4-FFF2-40B4-BE49-F238E27FC236}">
                <a16:creationId xmlns:a16="http://schemas.microsoft.com/office/drawing/2014/main" id="{E2F7160E-9FFA-4278-A051-D7394C442776}"/>
              </a:ext>
            </a:extLst>
          </p:cNvPr>
          <p:cNvCxnSpPr>
            <a:cxnSpLocks/>
            <a:stCxn id="133" idx="6"/>
            <a:endCxn id="129" idx="2"/>
          </p:cNvCxnSpPr>
          <p:nvPr/>
        </p:nvCxnSpPr>
        <p:spPr>
          <a:xfrm>
            <a:off x="7490419" y="3738746"/>
            <a:ext cx="686092" cy="35067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Ellipse 167">
            <a:extLst>
              <a:ext uri="{FF2B5EF4-FFF2-40B4-BE49-F238E27FC236}">
                <a16:creationId xmlns:a16="http://schemas.microsoft.com/office/drawing/2014/main" id="{8BF578FB-F03D-4027-93FB-9F8AF7DA4056}"/>
              </a:ext>
            </a:extLst>
          </p:cNvPr>
          <p:cNvSpPr/>
          <p:nvPr/>
        </p:nvSpPr>
        <p:spPr>
          <a:xfrm>
            <a:off x="6878682" y="4128995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E7B78710-6385-4557-B940-D5D79893D335}"/>
              </a:ext>
            </a:extLst>
          </p:cNvPr>
          <p:cNvSpPr/>
          <p:nvPr/>
        </p:nvSpPr>
        <p:spPr>
          <a:xfrm>
            <a:off x="6949379" y="3539169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x1</a:t>
            </a:r>
            <a:endParaRPr lang="fr-FR" dirty="0"/>
          </a:p>
        </p:txBody>
      </p:sp>
      <p:sp>
        <p:nvSpPr>
          <p:cNvPr id="133" name="Ellipse 151">
            <a:extLst>
              <a:ext uri="{FF2B5EF4-FFF2-40B4-BE49-F238E27FC236}">
                <a16:creationId xmlns:a16="http://schemas.microsoft.com/office/drawing/2014/main" id="{CE72D3AE-9747-482B-8BE3-FEA027EA9124}"/>
              </a:ext>
            </a:extLst>
          </p:cNvPr>
          <p:cNvSpPr/>
          <p:nvPr/>
        </p:nvSpPr>
        <p:spPr>
          <a:xfrm>
            <a:off x="6878419" y="3504746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18D21F2-17E4-4CDF-A477-D6209324FA51}"/>
              </a:ext>
            </a:extLst>
          </p:cNvPr>
          <p:cNvSpPr/>
          <p:nvPr/>
        </p:nvSpPr>
        <p:spPr>
          <a:xfrm>
            <a:off x="6957875" y="4127359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x2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35" name="Connecteur droit 4">
            <a:extLst>
              <a:ext uri="{FF2B5EF4-FFF2-40B4-BE49-F238E27FC236}">
                <a16:creationId xmlns:a16="http://schemas.microsoft.com/office/drawing/2014/main" id="{54AA20F0-E406-490C-AB3B-8CA824700A6F}"/>
              </a:ext>
            </a:extLst>
          </p:cNvPr>
          <p:cNvCxnSpPr>
            <a:cxnSpLocks/>
            <a:stCxn id="131" idx="6"/>
            <a:endCxn id="129" idx="2"/>
          </p:cNvCxnSpPr>
          <p:nvPr/>
        </p:nvCxnSpPr>
        <p:spPr>
          <a:xfrm flipV="1">
            <a:off x="7490682" y="4089417"/>
            <a:ext cx="685829" cy="273578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eur droit avec flèche 156">
            <a:extLst>
              <a:ext uri="{FF2B5EF4-FFF2-40B4-BE49-F238E27FC236}">
                <a16:creationId xmlns:a16="http://schemas.microsoft.com/office/drawing/2014/main" id="{66DF0EA9-EE05-468F-913A-415E6EDC2554}"/>
              </a:ext>
            </a:extLst>
          </p:cNvPr>
          <p:cNvCxnSpPr>
            <a:cxnSpLocks/>
          </p:cNvCxnSpPr>
          <p:nvPr/>
        </p:nvCxnSpPr>
        <p:spPr>
          <a:xfrm flipV="1">
            <a:off x="8933768" y="4156532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ZoneTexte 171">
            <a:extLst>
              <a:ext uri="{FF2B5EF4-FFF2-40B4-BE49-F238E27FC236}">
                <a16:creationId xmlns:a16="http://schemas.microsoft.com/office/drawing/2014/main" id="{7F17C715-572E-41B5-B88C-35154F39BC3C}"/>
              </a:ext>
            </a:extLst>
          </p:cNvPr>
          <p:cNvSpPr txBox="1"/>
          <p:nvPr/>
        </p:nvSpPr>
        <p:spPr>
          <a:xfrm>
            <a:off x="8978927" y="3879850"/>
            <a:ext cx="576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050" b="1" dirty="0">
                <a:solidFill>
                  <a:srgbClr val="0066FF"/>
                </a:solidFill>
              </a:rPr>
              <a:t>output</a:t>
            </a:r>
            <a:endParaRPr lang="fr-FR" sz="1050" b="1" dirty="0">
              <a:solidFill>
                <a:srgbClr val="0066FF"/>
              </a:solidFill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C6F7A9F0-FF29-49CE-87F7-0413BBDCA89C}"/>
              </a:ext>
            </a:extLst>
          </p:cNvPr>
          <p:cNvCxnSpPr>
            <a:cxnSpLocks/>
          </p:cNvCxnSpPr>
          <p:nvPr/>
        </p:nvCxnSpPr>
        <p:spPr>
          <a:xfrm>
            <a:off x="4190614" y="3326924"/>
            <a:ext cx="1307188" cy="10814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E5F3672-A863-4BB5-8804-D18F17782E95}"/>
              </a:ext>
            </a:extLst>
          </p:cNvPr>
          <p:cNvCxnSpPr>
            <a:cxnSpLocks/>
            <a:endCxn id="55" idx="1"/>
          </p:cNvCxnSpPr>
          <p:nvPr/>
        </p:nvCxnSpPr>
        <p:spPr>
          <a:xfrm>
            <a:off x="4890942" y="4964868"/>
            <a:ext cx="501188" cy="150882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AD77F6E8-3AF6-42C4-B488-4F3011BA4D01}"/>
              </a:ext>
            </a:extLst>
          </p:cNvPr>
          <p:cNvCxnSpPr>
            <a:cxnSpLocks/>
            <a:endCxn id="57" idx="0"/>
          </p:cNvCxnSpPr>
          <p:nvPr/>
        </p:nvCxnSpPr>
        <p:spPr>
          <a:xfrm flipH="1">
            <a:off x="4195714" y="5468863"/>
            <a:ext cx="1688182" cy="45082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2050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15" grpId="0" animBg="1"/>
      <p:bldP spid="12" grpId="0"/>
      <p:bldP spid="17" grpId="0"/>
      <p:bldP spid="21" grpId="0"/>
      <p:bldP spid="22" grpId="0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/>
      <p:bldP spid="36" grpId="0"/>
      <p:bldP spid="38" grpId="0"/>
      <p:bldP spid="39" grpId="0"/>
      <p:bldP spid="44" grpId="0"/>
      <p:bldP spid="47" grpId="0" animBg="1"/>
      <p:bldP spid="48" grpId="0" animBg="1"/>
      <p:bldP spid="50" grpId="0" animBg="1"/>
      <p:bldP spid="51" grpId="0" animBg="1"/>
      <p:bldP spid="52" grpId="0" animBg="1"/>
      <p:bldP spid="53" grpId="0" animBg="1"/>
      <p:bldP spid="54" grpId="0"/>
      <p:bldP spid="55" grpId="0"/>
      <p:bldP spid="57" grpId="0"/>
      <p:bldP spid="58" grpId="0"/>
      <p:bldP spid="61" grpId="0"/>
      <p:bldP spid="42" grpId="0"/>
      <p:bldP spid="62" grpId="0"/>
      <p:bldP spid="63" grpId="0"/>
      <p:bldP spid="64" grpId="0" animBg="1"/>
      <p:bldP spid="69" grpId="0" animBg="1"/>
      <p:bldP spid="70" grpId="0"/>
      <p:bldP spid="71" grpId="0" animBg="1"/>
      <p:bldP spid="72" grpId="0"/>
      <p:bldP spid="75" grpId="0"/>
      <p:bldP spid="129" grpId="0" animBg="1"/>
      <p:bldP spid="131" grpId="0" animBg="1"/>
      <p:bldP spid="132" grpId="0"/>
      <p:bldP spid="133" grpId="0" animBg="1"/>
      <p:bldP spid="134" grpId="0"/>
      <p:bldP spid="13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necteur droit 857">
            <a:extLst>
              <a:ext uri="{FF2B5EF4-FFF2-40B4-BE49-F238E27FC236}">
                <a16:creationId xmlns:a16="http://schemas.microsoft.com/office/drawing/2014/main" id="{D1F72736-BDF5-4A9E-9C1F-4098EE9745FC}"/>
              </a:ext>
            </a:extLst>
          </p:cNvPr>
          <p:cNvCxnSpPr/>
          <p:nvPr/>
        </p:nvCxnSpPr>
        <p:spPr>
          <a:xfrm>
            <a:off x="0" y="708926"/>
            <a:ext cx="12204000" cy="0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9" name="ZoneTexte 858">
            <a:extLst>
              <a:ext uri="{FF2B5EF4-FFF2-40B4-BE49-F238E27FC236}">
                <a16:creationId xmlns:a16="http://schemas.microsoft.com/office/drawing/2014/main" id="{2105176C-5D37-42C1-9DDB-4A777FF3FEF7}"/>
              </a:ext>
            </a:extLst>
          </p:cNvPr>
          <p:cNvSpPr txBox="1"/>
          <p:nvPr/>
        </p:nvSpPr>
        <p:spPr>
          <a:xfrm>
            <a:off x="1255596" y="28057"/>
            <a:ext cx="100252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3200" b="1" dirty="0"/>
              <a:t>Séparation de X0R</a:t>
            </a:r>
            <a:endParaRPr lang="fr-FR" sz="3200" b="1" dirty="0">
              <a:solidFill>
                <a:srgbClr val="FF3300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9E594E68-128B-46A4-94BF-08BB83064627}"/>
              </a:ext>
            </a:extLst>
          </p:cNvPr>
          <p:cNvSpPr txBox="1"/>
          <p:nvPr/>
        </p:nvSpPr>
        <p:spPr>
          <a:xfrm>
            <a:off x="3426878" y="5181016"/>
            <a:ext cx="4260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800" b="1" dirty="0">
                <a:solidFill>
                  <a:srgbClr val="FF3300"/>
                </a:solidFill>
              </a:rPr>
              <a:t>XOR = (!AND) and (OR) </a:t>
            </a:r>
          </a:p>
        </p:txBody>
      </p:sp>
      <p:graphicFrame>
        <p:nvGraphicFramePr>
          <p:cNvPr id="116" name="Table 2">
            <a:extLst>
              <a:ext uri="{FF2B5EF4-FFF2-40B4-BE49-F238E27FC236}">
                <a16:creationId xmlns:a16="http://schemas.microsoft.com/office/drawing/2014/main" id="{6AB2BC1C-5DE8-4638-90B6-95BFFE5B9C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0650470"/>
              </p:ext>
            </p:extLst>
          </p:nvPr>
        </p:nvGraphicFramePr>
        <p:xfrm>
          <a:off x="1730078" y="883060"/>
          <a:ext cx="182697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485">
                  <a:extLst>
                    <a:ext uri="{9D8B030D-6E8A-4147-A177-3AD203B41FA5}">
                      <a16:colId xmlns:a16="http://schemas.microsoft.com/office/drawing/2014/main" val="1475859157"/>
                    </a:ext>
                  </a:extLst>
                </a:gridCol>
                <a:gridCol w="913485">
                  <a:extLst>
                    <a:ext uri="{9D8B030D-6E8A-4147-A177-3AD203B41FA5}">
                      <a16:colId xmlns:a16="http://schemas.microsoft.com/office/drawing/2014/main" val="239070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177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0066FF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FF33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035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FF33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0066FF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0041583"/>
                  </a:ext>
                </a:extLst>
              </a:tr>
            </a:tbl>
          </a:graphicData>
        </a:graphic>
      </p:graphicFrame>
      <p:sp>
        <p:nvSpPr>
          <p:cNvPr id="117" name="Rectangle 116">
            <a:extLst>
              <a:ext uri="{FF2B5EF4-FFF2-40B4-BE49-F238E27FC236}">
                <a16:creationId xmlns:a16="http://schemas.microsoft.com/office/drawing/2014/main" id="{AF5132C0-8854-4257-8F0D-4388839924C4}"/>
              </a:ext>
            </a:extLst>
          </p:cNvPr>
          <p:cNvSpPr/>
          <p:nvPr/>
        </p:nvSpPr>
        <p:spPr>
          <a:xfrm>
            <a:off x="1089055" y="1238051"/>
            <a:ext cx="631596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6C2D6945-7DE6-4916-A98E-65FDC126F697}"/>
              </a:ext>
            </a:extLst>
          </p:cNvPr>
          <p:cNvSpPr/>
          <p:nvPr/>
        </p:nvSpPr>
        <p:spPr>
          <a:xfrm>
            <a:off x="1079628" y="1616905"/>
            <a:ext cx="631596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</a:t>
            </a: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8515566E-921E-4490-AD72-EEC703354E51}"/>
              </a:ext>
            </a:extLst>
          </p:cNvPr>
          <p:cNvCxnSpPr/>
          <p:nvPr/>
        </p:nvCxnSpPr>
        <p:spPr>
          <a:xfrm>
            <a:off x="4396032" y="2134151"/>
            <a:ext cx="156484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Oval 119">
            <a:extLst>
              <a:ext uri="{FF2B5EF4-FFF2-40B4-BE49-F238E27FC236}">
                <a16:creationId xmlns:a16="http://schemas.microsoft.com/office/drawing/2014/main" id="{AC1E38B6-CC0A-43CD-85F0-4108CE89BD9C}"/>
              </a:ext>
            </a:extLst>
          </p:cNvPr>
          <p:cNvSpPr/>
          <p:nvPr/>
        </p:nvSpPr>
        <p:spPr>
          <a:xfrm>
            <a:off x="4565716" y="1153764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71DC1D98-E2A0-4613-9D37-57B68160F588}"/>
              </a:ext>
            </a:extLst>
          </p:cNvPr>
          <p:cNvSpPr/>
          <p:nvPr/>
        </p:nvSpPr>
        <p:spPr>
          <a:xfrm>
            <a:off x="5434553" y="1153755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BCB40989-742D-4D77-9977-5D792CE7EB48}"/>
              </a:ext>
            </a:extLst>
          </p:cNvPr>
          <p:cNvSpPr/>
          <p:nvPr/>
        </p:nvSpPr>
        <p:spPr>
          <a:xfrm>
            <a:off x="5434552" y="1879628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4B16C54A-279C-4328-830C-31313C803CA2}"/>
              </a:ext>
            </a:extLst>
          </p:cNvPr>
          <p:cNvSpPr/>
          <p:nvPr/>
        </p:nvSpPr>
        <p:spPr>
          <a:xfrm>
            <a:off x="4565716" y="1870210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D266743-0C6D-488B-B832-A96D3D67C915}"/>
              </a:ext>
            </a:extLst>
          </p:cNvPr>
          <p:cNvSpPr txBox="1"/>
          <p:nvPr/>
        </p:nvSpPr>
        <p:spPr>
          <a:xfrm>
            <a:off x="4565716" y="2207209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7E56090D-C757-4138-AC25-AE8E1D6EC8F3}"/>
              </a:ext>
            </a:extLst>
          </p:cNvPr>
          <p:cNvSpPr txBox="1"/>
          <p:nvPr/>
        </p:nvSpPr>
        <p:spPr>
          <a:xfrm>
            <a:off x="5392130" y="2207218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00211A4B-F53E-4E30-BF67-082CE6AE1CE0}"/>
              </a:ext>
            </a:extLst>
          </p:cNvPr>
          <p:cNvCxnSpPr>
            <a:cxnSpLocks/>
          </p:cNvCxnSpPr>
          <p:nvPr/>
        </p:nvCxnSpPr>
        <p:spPr>
          <a:xfrm flipV="1">
            <a:off x="4408599" y="883060"/>
            <a:ext cx="0" cy="12423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F82BDB37-6831-421C-9D4B-0A0AA5D0FC94}"/>
              </a:ext>
            </a:extLst>
          </p:cNvPr>
          <p:cNvSpPr txBox="1"/>
          <p:nvPr/>
        </p:nvSpPr>
        <p:spPr>
          <a:xfrm>
            <a:off x="4030746" y="1837877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50F4A87-52D6-464A-A0AC-0C4D59C86706}"/>
              </a:ext>
            </a:extLst>
          </p:cNvPr>
          <p:cNvSpPr txBox="1"/>
          <p:nvPr/>
        </p:nvSpPr>
        <p:spPr>
          <a:xfrm>
            <a:off x="4059027" y="1124627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9417073F-39F0-4ABF-BAB4-C45322C1B213}"/>
              </a:ext>
            </a:extLst>
          </p:cNvPr>
          <p:cNvSpPr/>
          <p:nvPr/>
        </p:nvSpPr>
        <p:spPr>
          <a:xfrm>
            <a:off x="294511" y="1334377"/>
            <a:ext cx="588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MA" b="1" dirty="0"/>
              <a:t>XOR</a:t>
            </a:r>
            <a:endParaRPr lang="fr-MA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6FCD7F8B-BDB4-4C5F-AC8B-D0F9C7336072}"/>
              </a:ext>
            </a:extLst>
          </p:cNvPr>
          <p:cNvSpPr txBox="1"/>
          <p:nvPr/>
        </p:nvSpPr>
        <p:spPr>
          <a:xfrm>
            <a:off x="6308105" y="1183126"/>
            <a:ext cx="5883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On peut utiliser plus qu’une ligne pour faire la séparation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F25B35B-7DBB-4AF5-B054-88818A48C3A5}"/>
              </a:ext>
            </a:extLst>
          </p:cNvPr>
          <p:cNvCxnSpPr>
            <a:cxnSpLocks/>
          </p:cNvCxnSpPr>
          <p:nvPr/>
        </p:nvCxnSpPr>
        <p:spPr>
          <a:xfrm flipH="1">
            <a:off x="4189432" y="930412"/>
            <a:ext cx="1006356" cy="1461463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A14EF7F3-4901-4324-B0A3-7B78CA97ABD3}"/>
              </a:ext>
            </a:extLst>
          </p:cNvPr>
          <p:cNvCxnSpPr>
            <a:cxnSpLocks/>
          </p:cNvCxnSpPr>
          <p:nvPr/>
        </p:nvCxnSpPr>
        <p:spPr>
          <a:xfrm flipH="1">
            <a:off x="4910605" y="1124627"/>
            <a:ext cx="1006356" cy="1461463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A8645B7C-DAA3-4280-9F89-9CB3020048FA}"/>
              </a:ext>
            </a:extLst>
          </p:cNvPr>
          <p:cNvCxnSpPr>
            <a:cxnSpLocks/>
          </p:cNvCxnSpPr>
          <p:nvPr/>
        </p:nvCxnSpPr>
        <p:spPr>
          <a:xfrm flipH="1">
            <a:off x="1648355" y="943531"/>
            <a:ext cx="1006356" cy="1461463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7F4C2B8B-C723-4220-894B-DD4AEB740BE1}"/>
              </a:ext>
            </a:extLst>
          </p:cNvPr>
          <p:cNvCxnSpPr>
            <a:cxnSpLocks/>
          </p:cNvCxnSpPr>
          <p:nvPr/>
        </p:nvCxnSpPr>
        <p:spPr>
          <a:xfrm flipH="1">
            <a:off x="2341247" y="1153755"/>
            <a:ext cx="1121119" cy="1445454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15BD5DB-5C9D-4995-814C-9AEBCAC36570}"/>
              </a:ext>
            </a:extLst>
          </p:cNvPr>
          <p:cNvCxnSpPr/>
          <p:nvPr/>
        </p:nvCxnSpPr>
        <p:spPr>
          <a:xfrm>
            <a:off x="4519856" y="4515417"/>
            <a:ext cx="156484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2EFBC5D9-6EBD-4C6E-ABFA-E513639E85A0}"/>
              </a:ext>
            </a:extLst>
          </p:cNvPr>
          <p:cNvSpPr/>
          <p:nvPr/>
        </p:nvSpPr>
        <p:spPr>
          <a:xfrm>
            <a:off x="4689540" y="3535030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8056A15-DB4D-407D-9E7C-D09823BA47B2}"/>
              </a:ext>
            </a:extLst>
          </p:cNvPr>
          <p:cNvSpPr/>
          <p:nvPr/>
        </p:nvSpPr>
        <p:spPr>
          <a:xfrm>
            <a:off x="5558377" y="3535021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BBAF385-DDAA-4147-BEC5-9DD9DA2D1C42}"/>
              </a:ext>
            </a:extLst>
          </p:cNvPr>
          <p:cNvSpPr/>
          <p:nvPr/>
        </p:nvSpPr>
        <p:spPr>
          <a:xfrm>
            <a:off x="5558376" y="4260894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D3B2744-AC93-4D3C-9821-B14677A83321}"/>
              </a:ext>
            </a:extLst>
          </p:cNvPr>
          <p:cNvSpPr/>
          <p:nvPr/>
        </p:nvSpPr>
        <p:spPr>
          <a:xfrm>
            <a:off x="4689540" y="4251476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B8AD34-75C3-4887-8F8C-4AE8B04BE5AE}"/>
              </a:ext>
            </a:extLst>
          </p:cNvPr>
          <p:cNvSpPr txBox="1"/>
          <p:nvPr/>
        </p:nvSpPr>
        <p:spPr>
          <a:xfrm>
            <a:off x="4689540" y="4588475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0D6959-2D8B-4606-B0E6-3EC35512D318}"/>
              </a:ext>
            </a:extLst>
          </p:cNvPr>
          <p:cNvSpPr txBox="1"/>
          <p:nvPr/>
        </p:nvSpPr>
        <p:spPr>
          <a:xfrm>
            <a:off x="5515954" y="4588484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2E9C13F-5130-4B1D-A8C4-14B5D9B5A142}"/>
              </a:ext>
            </a:extLst>
          </p:cNvPr>
          <p:cNvCxnSpPr>
            <a:cxnSpLocks/>
          </p:cNvCxnSpPr>
          <p:nvPr/>
        </p:nvCxnSpPr>
        <p:spPr>
          <a:xfrm flipV="1">
            <a:off x="4532423" y="3264326"/>
            <a:ext cx="0" cy="12423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0945C36-5FFB-4DE7-B33C-698B94E72F6A}"/>
              </a:ext>
            </a:extLst>
          </p:cNvPr>
          <p:cNvSpPr txBox="1"/>
          <p:nvPr/>
        </p:nvSpPr>
        <p:spPr>
          <a:xfrm>
            <a:off x="4154570" y="4219143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87333A2-A2F5-42D9-B577-483C07BF419B}"/>
              </a:ext>
            </a:extLst>
          </p:cNvPr>
          <p:cNvSpPr txBox="1"/>
          <p:nvPr/>
        </p:nvSpPr>
        <p:spPr>
          <a:xfrm>
            <a:off x="4182851" y="3505893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DD371FA-BFE6-47AE-B9EF-53A6B2C2EB2E}"/>
              </a:ext>
            </a:extLst>
          </p:cNvPr>
          <p:cNvCxnSpPr>
            <a:cxnSpLocks/>
          </p:cNvCxnSpPr>
          <p:nvPr/>
        </p:nvCxnSpPr>
        <p:spPr>
          <a:xfrm flipH="1">
            <a:off x="4154570" y="4022076"/>
            <a:ext cx="2244707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E7A2B6A-80D7-4A12-9F99-C4E00D2FED29}"/>
              </a:ext>
            </a:extLst>
          </p:cNvPr>
          <p:cNvCxnSpPr>
            <a:cxnSpLocks/>
          </p:cNvCxnSpPr>
          <p:nvPr/>
        </p:nvCxnSpPr>
        <p:spPr>
          <a:xfrm>
            <a:off x="5205884" y="3045991"/>
            <a:ext cx="0" cy="1921365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7740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Ellipse 155">
            <a:extLst>
              <a:ext uri="{FF2B5EF4-FFF2-40B4-BE49-F238E27FC236}">
                <a16:creationId xmlns:a16="http://schemas.microsoft.com/office/drawing/2014/main" id="{09031D2B-AD94-42F3-952B-C5C4AC5CBE70}"/>
              </a:ext>
            </a:extLst>
          </p:cNvPr>
          <p:cNvSpPr/>
          <p:nvPr/>
        </p:nvSpPr>
        <p:spPr>
          <a:xfrm>
            <a:off x="1039808" y="1188611"/>
            <a:ext cx="900000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52" name="Connecteur droit 4">
            <a:extLst>
              <a:ext uri="{FF2B5EF4-FFF2-40B4-BE49-F238E27FC236}">
                <a16:creationId xmlns:a16="http://schemas.microsoft.com/office/drawing/2014/main" id="{4209B293-BDB3-4055-9ED8-E9C9D2330ECF}"/>
              </a:ext>
            </a:extLst>
          </p:cNvPr>
          <p:cNvCxnSpPr>
            <a:cxnSpLocks/>
            <a:stCxn id="57" idx="6"/>
            <a:endCxn id="51" idx="2"/>
          </p:cNvCxnSpPr>
          <p:nvPr/>
        </p:nvCxnSpPr>
        <p:spPr>
          <a:xfrm>
            <a:off x="761584" y="1057393"/>
            <a:ext cx="278224" cy="492513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Ellipse 167">
            <a:extLst>
              <a:ext uri="{FF2B5EF4-FFF2-40B4-BE49-F238E27FC236}">
                <a16:creationId xmlns:a16="http://schemas.microsoft.com/office/drawing/2014/main" id="{B6B5DEC9-F7D0-483B-8E8B-80BA39933868}"/>
              </a:ext>
            </a:extLst>
          </p:cNvPr>
          <p:cNvSpPr/>
          <p:nvPr/>
        </p:nvSpPr>
        <p:spPr>
          <a:xfrm>
            <a:off x="159274" y="1815285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F7032BC-36C1-43B6-A98B-ABA851C460D9}"/>
              </a:ext>
            </a:extLst>
          </p:cNvPr>
          <p:cNvSpPr/>
          <p:nvPr/>
        </p:nvSpPr>
        <p:spPr>
          <a:xfrm>
            <a:off x="220544" y="857816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57" name="Ellipse 151">
            <a:extLst>
              <a:ext uri="{FF2B5EF4-FFF2-40B4-BE49-F238E27FC236}">
                <a16:creationId xmlns:a16="http://schemas.microsoft.com/office/drawing/2014/main" id="{B3E65A96-838C-48C0-A490-C8FD3F8E8484}"/>
              </a:ext>
            </a:extLst>
          </p:cNvPr>
          <p:cNvSpPr/>
          <p:nvPr/>
        </p:nvSpPr>
        <p:spPr>
          <a:xfrm>
            <a:off x="149584" y="823393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04B950A-1071-422B-94A8-6D46279BC73C}"/>
              </a:ext>
            </a:extLst>
          </p:cNvPr>
          <p:cNvSpPr/>
          <p:nvPr/>
        </p:nvSpPr>
        <p:spPr>
          <a:xfrm>
            <a:off x="292969" y="1813649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0" name="Connecteur droit 4">
            <a:extLst>
              <a:ext uri="{FF2B5EF4-FFF2-40B4-BE49-F238E27FC236}">
                <a16:creationId xmlns:a16="http://schemas.microsoft.com/office/drawing/2014/main" id="{5148EB87-0FA9-4B2D-BECD-DCAAB91A987F}"/>
              </a:ext>
            </a:extLst>
          </p:cNvPr>
          <p:cNvCxnSpPr>
            <a:cxnSpLocks/>
            <a:stCxn id="55" idx="6"/>
            <a:endCxn id="51" idx="2"/>
          </p:cNvCxnSpPr>
          <p:nvPr/>
        </p:nvCxnSpPr>
        <p:spPr>
          <a:xfrm flipV="1">
            <a:off x="771274" y="1549906"/>
            <a:ext cx="268534" cy="499379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avec flèche 156">
            <a:extLst>
              <a:ext uri="{FF2B5EF4-FFF2-40B4-BE49-F238E27FC236}">
                <a16:creationId xmlns:a16="http://schemas.microsoft.com/office/drawing/2014/main" id="{739B2937-5186-4039-900E-204E6F12C620}"/>
              </a:ext>
            </a:extLst>
          </p:cNvPr>
          <p:cNvCxnSpPr>
            <a:cxnSpLocks/>
          </p:cNvCxnSpPr>
          <p:nvPr/>
        </p:nvCxnSpPr>
        <p:spPr>
          <a:xfrm flipV="1">
            <a:off x="1938470" y="1588740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ZoneTexte 171">
            <a:extLst>
              <a:ext uri="{FF2B5EF4-FFF2-40B4-BE49-F238E27FC236}">
                <a16:creationId xmlns:a16="http://schemas.microsoft.com/office/drawing/2014/main" id="{09BF9018-8E84-42FF-BF21-BB6717CDACAE}"/>
              </a:ext>
            </a:extLst>
          </p:cNvPr>
          <p:cNvSpPr txBox="1"/>
          <p:nvPr/>
        </p:nvSpPr>
        <p:spPr>
          <a:xfrm>
            <a:off x="2018131" y="1129569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F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51" name="Ellipse 155">
            <a:extLst>
              <a:ext uri="{FF2B5EF4-FFF2-40B4-BE49-F238E27FC236}">
                <a16:creationId xmlns:a16="http://schemas.microsoft.com/office/drawing/2014/main" id="{093726A5-D70A-4D2A-901B-72F5FD6A3453}"/>
              </a:ext>
            </a:extLst>
          </p:cNvPr>
          <p:cNvSpPr/>
          <p:nvPr/>
        </p:nvSpPr>
        <p:spPr>
          <a:xfrm>
            <a:off x="4069114" y="1130203"/>
            <a:ext cx="900000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152" name="Connecteur droit 4">
            <a:extLst>
              <a:ext uri="{FF2B5EF4-FFF2-40B4-BE49-F238E27FC236}">
                <a16:creationId xmlns:a16="http://schemas.microsoft.com/office/drawing/2014/main" id="{967BD697-D83E-4FE4-A8DB-A836AA6B1DE3}"/>
              </a:ext>
            </a:extLst>
          </p:cNvPr>
          <p:cNvCxnSpPr>
            <a:cxnSpLocks/>
            <a:stCxn id="155" idx="6"/>
            <a:endCxn id="151" idx="2"/>
          </p:cNvCxnSpPr>
          <p:nvPr/>
        </p:nvCxnSpPr>
        <p:spPr>
          <a:xfrm>
            <a:off x="3790890" y="998985"/>
            <a:ext cx="278224" cy="492513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Ellipse 167">
            <a:extLst>
              <a:ext uri="{FF2B5EF4-FFF2-40B4-BE49-F238E27FC236}">
                <a16:creationId xmlns:a16="http://schemas.microsoft.com/office/drawing/2014/main" id="{1FAE9F8C-53B1-4319-A5BE-4173D9820298}"/>
              </a:ext>
            </a:extLst>
          </p:cNvPr>
          <p:cNvSpPr/>
          <p:nvPr/>
        </p:nvSpPr>
        <p:spPr>
          <a:xfrm>
            <a:off x="3188580" y="1756877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8B2E53C0-02F6-4737-87BB-FD6650013965}"/>
              </a:ext>
            </a:extLst>
          </p:cNvPr>
          <p:cNvSpPr/>
          <p:nvPr/>
        </p:nvSpPr>
        <p:spPr>
          <a:xfrm>
            <a:off x="3249850" y="799408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155" name="Ellipse 151">
            <a:extLst>
              <a:ext uri="{FF2B5EF4-FFF2-40B4-BE49-F238E27FC236}">
                <a16:creationId xmlns:a16="http://schemas.microsoft.com/office/drawing/2014/main" id="{923FB272-029B-4DE9-9322-356EC685CFE4}"/>
              </a:ext>
            </a:extLst>
          </p:cNvPr>
          <p:cNvSpPr/>
          <p:nvPr/>
        </p:nvSpPr>
        <p:spPr>
          <a:xfrm>
            <a:off x="3178890" y="764985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8C83D3E1-6C60-4238-BDF4-378EA67524FF}"/>
              </a:ext>
            </a:extLst>
          </p:cNvPr>
          <p:cNvSpPr/>
          <p:nvPr/>
        </p:nvSpPr>
        <p:spPr>
          <a:xfrm>
            <a:off x="3322275" y="1755241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57" name="Connecteur droit 4">
            <a:extLst>
              <a:ext uri="{FF2B5EF4-FFF2-40B4-BE49-F238E27FC236}">
                <a16:creationId xmlns:a16="http://schemas.microsoft.com/office/drawing/2014/main" id="{5049B0B3-A7B5-49B6-887F-D7771F704F2D}"/>
              </a:ext>
            </a:extLst>
          </p:cNvPr>
          <p:cNvCxnSpPr>
            <a:cxnSpLocks/>
            <a:stCxn id="153" idx="6"/>
            <a:endCxn id="151" idx="2"/>
          </p:cNvCxnSpPr>
          <p:nvPr/>
        </p:nvCxnSpPr>
        <p:spPr>
          <a:xfrm flipV="1">
            <a:off x="3800580" y="1491498"/>
            <a:ext cx="268534" cy="499379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avec flèche 156">
            <a:extLst>
              <a:ext uri="{FF2B5EF4-FFF2-40B4-BE49-F238E27FC236}">
                <a16:creationId xmlns:a16="http://schemas.microsoft.com/office/drawing/2014/main" id="{01A42D40-614F-4C90-BBE4-907BEAE4EF50}"/>
              </a:ext>
            </a:extLst>
          </p:cNvPr>
          <p:cNvCxnSpPr>
            <a:cxnSpLocks/>
          </p:cNvCxnSpPr>
          <p:nvPr/>
        </p:nvCxnSpPr>
        <p:spPr>
          <a:xfrm flipV="1">
            <a:off x="4967776" y="1530332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ZoneTexte 171">
            <a:extLst>
              <a:ext uri="{FF2B5EF4-FFF2-40B4-BE49-F238E27FC236}">
                <a16:creationId xmlns:a16="http://schemas.microsoft.com/office/drawing/2014/main" id="{CF6F3138-31A9-41BA-8403-FE62528D69A7}"/>
              </a:ext>
            </a:extLst>
          </p:cNvPr>
          <p:cNvSpPr txBox="1"/>
          <p:nvPr/>
        </p:nvSpPr>
        <p:spPr>
          <a:xfrm>
            <a:off x="5047437" y="1071161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60" name="Ellipse 155">
            <a:extLst>
              <a:ext uri="{FF2B5EF4-FFF2-40B4-BE49-F238E27FC236}">
                <a16:creationId xmlns:a16="http://schemas.microsoft.com/office/drawing/2014/main" id="{EDD1FEA5-27DE-46F3-854B-0FC93DEE6306}"/>
              </a:ext>
            </a:extLst>
          </p:cNvPr>
          <p:cNvSpPr/>
          <p:nvPr/>
        </p:nvSpPr>
        <p:spPr>
          <a:xfrm>
            <a:off x="7290824" y="1085818"/>
            <a:ext cx="900000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161" name="Connecteur droit 4">
            <a:extLst>
              <a:ext uri="{FF2B5EF4-FFF2-40B4-BE49-F238E27FC236}">
                <a16:creationId xmlns:a16="http://schemas.microsoft.com/office/drawing/2014/main" id="{652A49C4-4538-49BF-B0B1-1AF36B64F3FB}"/>
              </a:ext>
            </a:extLst>
          </p:cNvPr>
          <p:cNvCxnSpPr>
            <a:cxnSpLocks/>
            <a:stCxn id="164" idx="6"/>
            <a:endCxn id="160" idx="2"/>
          </p:cNvCxnSpPr>
          <p:nvPr/>
        </p:nvCxnSpPr>
        <p:spPr>
          <a:xfrm>
            <a:off x="7012600" y="954600"/>
            <a:ext cx="278224" cy="492513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Ellipse 167">
            <a:extLst>
              <a:ext uri="{FF2B5EF4-FFF2-40B4-BE49-F238E27FC236}">
                <a16:creationId xmlns:a16="http://schemas.microsoft.com/office/drawing/2014/main" id="{5A27E3F9-87AF-4267-9F7C-B13C720AFBFD}"/>
              </a:ext>
            </a:extLst>
          </p:cNvPr>
          <p:cNvSpPr/>
          <p:nvPr/>
        </p:nvSpPr>
        <p:spPr>
          <a:xfrm>
            <a:off x="6410290" y="1712492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38C4E7DD-59C6-4135-A2A9-42E917305C0F}"/>
              </a:ext>
            </a:extLst>
          </p:cNvPr>
          <p:cNvSpPr/>
          <p:nvPr/>
        </p:nvSpPr>
        <p:spPr>
          <a:xfrm>
            <a:off x="6471560" y="755023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164" name="Ellipse 151">
            <a:extLst>
              <a:ext uri="{FF2B5EF4-FFF2-40B4-BE49-F238E27FC236}">
                <a16:creationId xmlns:a16="http://schemas.microsoft.com/office/drawing/2014/main" id="{67E992E7-465D-4D52-A75E-4C43E54B1DF9}"/>
              </a:ext>
            </a:extLst>
          </p:cNvPr>
          <p:cNvSpPr/>
          <p:nvPr/>
        </p:nvSpPr>
        <p:spPr>
          <a:xfrm>
            <a:off x="6400600" y="720600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A11E4BED-60E8-4F59-97A2-9537653340F0}"/>
              </a:ext>
            </a:extLst>
          </p:cNvPr>
          <p:cNvSpPr/>
          <p:nvPr/>
        </p:nvSpPr>
        <p:spPr>
          <a:xfrm>
            <a:off x="6543985" y="1710856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66" name="Connecteur droit 4">
            <a:extLst>
              <a:ext uri="{FF2B5EF4-FFF2-40B4-BE49-F238E27FC236}">
                <a16:creationId xmlns:a16="http://schemas.microsoft.com/office/drawing/2014/main" id="{97D780C8-750D-4335-9C0D-1F35EE9F0B7F}"/>
              </a:ext>
            </a:extLst>
          </p:cNvPr>
          <p:cNvCxnSpPr>
            <a:cxnSpLocks/>
            <a:stCxn id="162" idx="6"/>
            <a:endCxn id="160" idx="2"/>
          </p:cNvCxnSpPr>
          <p:nvPr/>
        </p:nvCxnSpPr>
        <p:spPr>
          <a:xfrm flipV="1">
            <a:off x="7022290" y="1447113"/>
            <a:ext cx="268534" cy="499379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necteur droit avec flèche 156">
            <a:extLst>
              <a:ext uri="{FF2B5EF4-FFF2-40B4-BE49-F238E27FC236}">
                <a16:creationId xmlns:a16="http://schemas.microsoft.com/office/drawing/2014/main" id="{E1C97CBC-23D5-4039-BB3C-4B206DFD0BC5}"/>
              </a:ext>
            </a:extLst>
          </p:cNvPr>
          <p:cNvCxnSpPr>
            <a:cxnSpLocks/>
          </p:cNvCxnSpPr>
          <p:nvPr/>
        </p:nvCxnSpPr>
        <p:spPr>
          <a:xfrm flipV="1">
            <a:off x="8189486" y="1485947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ZoneTexte 171">
            <a:extLst>
              <a:ext uri="{FF2B5EF4-FFF2-40B4-BE49-F238E27FC236}">
                <a16:creationId xmlns:a16="http://schemas.microsoft.com/office/drawing/2014/main" id="{DB6397D2-0E94-4E86-931A-0B8E77D728A4}"/>
              </a:ext>
            </a:extLst>
          </p:cNvPr>
          <p:cNvSpPr txBox="1"/>
          <p:nvPr/>
        </p:nvSpPr>
        <p:spPr>
          <a:xfrm>
            <a:off x="8269147" y="1026776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69" name="Ellipse 155">
            <a:extLst>
              <a:ext uri="{FF2B5EF4-FFF2-40B4-BE49-F238E27FC236}">
                <a16:creationId xmlns:a16="http://schemas.microsoft.com/office/drawing/2014/main" id="{5D949E45-0FB3-4ACF-8940-ED5E632760BC}"/>
              </a:ext>
            </a:extLst>
          </p:cNvPr>
          <p:cNvSpPr/>
          <p:nvPr/>
        </p:nvSpPr>
        <p:spPr>
          <a:xfrm>
            <a:off x="10418331" y="1092695"/>
            <a:ext cx="900000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170" name="Connecteur droit 4">
            <a:extLst>
              <a:ext uri="{FF2B5EF4-FFF2-40B4-BE49-F238E27FC236}">
                <a16:creationId xmlns:a16="http://schemas.microsoft.com/office/drawing/2014/main" id="{3E82FCB0-AF6A-4E1A-9AE6-670EB363FAA6}"/>
              </a:ext>
            </a:extLst>
          </p:cNvPr>
          <p:cNvCxnSpPr>
            <a:cxnSpLocks/>
            <a:stCxn id="173" idx="6"/>
            <a:endCxn id="169" idx="2"/>
          </p:cNvCxnSpPr>
          <p:nvPr/>
        </p:nvCxnSpPr>
        <p:spPr>
          <a:xfrm>
            <a:off x="10140107" y="961477"/>
            <a:ext cx="278224" cy="492513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Ellipse 167">
            <a:extLst>
              <a:ext uri="{FF2B5EF4-FFF2-40B4-BE49-F238E27FC236}">
                <a16:creationId xmlns:a16="http://schemas.microsoft.com/office/drawing/2014/main" id="{C5735808-BA8D-4F25-B81A-2472374BBC0D}"/>
              </a:ext>
            </a:extLst>
          </p:cNvPr>
          <p:cNvSpPr/>
          <p:nvPr/>
        </p:nvSpPr>
        <p:spPr>
          <a:xfrm>
            <a:off x="9537797" y="1719369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FC2E2D4C-D1FE-4306-B44A-A6409F1E6886}"/>
              </a:ext>
            </a:extLst>
          </p:cNvPr>
          <p:cNvSpPr/>
          <p:nvPr/>
        </p:nvSpPr>
        <p:spPr>
          <a:xfrm>
            <a:off x="9599067" y="761900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173" name="Ellipse 151">
            <a:extLst>
              <a:ext uri="{FF2B5EF4-FFF2-40B4-BE49-F238E27FC236}">
                <a16:creationId xmlns:a16="http://schemas.microsoft.com/office/drawing/2014/main" id="{D5DD2EA7-4797-4D50-9D8E-EF497C95CD2F}"/>
              </a:ext>
            </a:extLst>
          </p:cNvPr>
          <p:cNvSpPr/>
          <p:nvPr/>
        </p:nvSpPr>
        <p:spPr>
          <a:xfrm>
            <a:off x="9528107" y="727477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0B96C978-86C9-4332-AE76-AF19C191A516}"/>
              </a:ext>
            </a:extLst>
          </p:cNvPr>
          <p:cNvSpPr/>
          <p:nvPr/>
        </p:nvSpPr>
        <p:spPr>
          <a:xfrm>
            <a:off x="9671492" y="1717733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75" name="Connecteur droit 4">
            <a:extLst>
              <a:ext uri="{FF2B5EF4-FFF2-40B4-BE49-F238E27FC236}">
                <a16:creationId xmlns:a16="http://schemas.microsoft.com/office/drawing/2014/main" id="{9541F5D0-0419-45DC-B161-E5F5FBFF1466}"/>
              </a:ext>
            </a:extLst>
          </p:cNvPr>
          <p:cNvCxnSpPr>
            <a:cxnSpLocks/>
            <a:stCxn id="171" idx="6"/>
            <a:endCxn id="169" idx="2"/>
          </p:cNvCxnSpPr>
          <p:nvPr/>
        </p:nvCxnSpPr>
        <p:spPr>
          <a:xfrm flipV="1">
            <a:off x="10149797" y="1453990"/>
            <a:ext cx="268534" cy="499379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Connecteur droit avec flèche 156">
            <a:extLst>
              <a:ext uri="{FF2B5EF4-FFF2-40B4-BE49-F238E27FC236}">
                <a16:creationId xmlns:a16="http://schemas.microsoft.com/office/drawing/2014/main" id="{04FAF9CA-BE6A-42FB-8174-9D98799FBE6C}"/>
              </a:ext>
            </a:extLst>
          </p:cNvPr>
          <p:cNvCxnSpPr>
            <a:cxnSpLocks/>
          </p:cNvCxnSpPr>
          <p:nvPr/>
        </p:nvCxnSpPr>
        <p:spPr>
          <a:xfrm flipV="1">
            <a:off x="11316993" y="1492824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ZoneTexte 171">
            <a:extLst>
              <a:ext uri="{FF2B5EF4-FFF2-40B4-BE49-F238E27FC236}">
                <a16:creationId xmlns:a16="http://schemas.microsoft.com/office/drawing/2014/main" id="{126FA318-0074-48D3-8F93-E302BBE7C9B5}"/>
              </a:ext>
            </a:extLst>
          </p:cNvPr>
          <p:cNvSpPr txBox="1"/>
          <p:nvPr/>
        </p:nvSpPr>
        <p:spPr>
          <a:xfrm>
            <a:off x="11396654" y="1033653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78" name="Ellipse 155">
            <a:extLst>
              <a:ext uri="{FF2B5EF4-FFF2-40B4-BE49-F238E27FC236}">
                <a16:creationId xmlns:a16="http://schemas.microsoft.com/office/drawing/2014/main" id="{979F9322-6413-4DAF-8D87-721CB035E8AD}"/>
              </a:ext>
            </a:extLst>
          </p:cNvPr>
          <p:cNvSpPr/>
          <p:nvPr/>
        </p:nvSpPr>
        <p:spPr>
          <a:xfrm>
            <a:off x="1039808" y="3154768"/>
            <a:ext cx="900000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179" name="Connecteur droit 4">
            <a:extLst>
              <a:ext uri="{FF2B5EF4-FFF2-40B4-BE49-F238E27FC236}">
                <a16:creationId xmlns:a16="http://schemas.microsoft.com/office/drawing/2014/main" id="{153E1044-7E2D-487E-A1DB-A5ECCC286C78}"/>
              </a:ext>
            </a:extLst>
          </p:cNvPr>
          <p:cNvCxnSpPr>
            <a:cxnSpLocks/>
            <a:stCxn id="182" idx="6"/>
            <a:endCxn id="178" idx="2"/>
          </p:cNvCxnSpPr>
          <p:nvPr/>
        </p:nvCxnSpPr>
        <p:spPr>
          <a:xfrm>
            <a:off x="761584" y="3023550"/>
            <a:ext cx="278224" cy="492513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Ellipse 167">
            <a:extLst>
              <a:ext uri="{FF2B5EF4-FFF2-40B4-BE49-F238E27FC236}">
                <a16:creationId xmlns:a16="http://schemas.microsoft.com/office/drawing/2014/main" id="{B0839600-9ED5-4394-B029-61AA47EB8CB5}"/>
              </a:ext>
            </a:extLst>
          </p:cNvPr>
          <p:cNvSpPr/>
          <p:nvPr/>
        </p:nvSpPr>
        <p:spPr>
          <a:xfrm>
            <a:off x="159274" y="3781442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612301ED-A30A-4233-96C8-4D44034D9172}"/>
              </a:ext>
            </a:extLst>
          </p:cNvPr>
          <p:cNvSpPr/>
          <p:nvPr/>
        </p:nvSpPr>
        <p:spPr>
          <a:xfrm>
            <a:off x="220544" y="2823973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182" name="Ellipse 151">
            <a:extLst>
              <a:ext uri="{FF2B5EF4-FFF2-40B4-BE49-F238E27FC236}">
                <a16:creationId xmlns:a16="http://schemas.microsoft.com/office/drawing/2014/main" id="{8151A1C4-3EEB-4E91-9DCA-46F015F27092}"/>
              </a:ext>
            </a:extLst>
          </p:cNvPr>
          <p:cNvSpPr/>
          <p:nvPr/>
        </p:nvSpPr>
        <p:spPr>
          <a:xfrm>
            <a:off x="149584" y="2789550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41A1CA5B-CDD5-457B-8BA0-91BFAD7D93BE}"/>
              </a:ext>
            </a:extLst>
          </p:cNvPr>
          <p:cNvSpPr/>
          <p:nvPr/>
        </p:nvSpPr>
        <p:spPr>
          <a:xfrm>
            <a:off x="292969" y="3779806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84" name="Connecteur droit 4">
            <a:extLst>
              <a:ext uri="{FF2B5EF4-FFF2-40B4-BE49-F238E27FC236}">
                <a16:creationId xmlns:a16="http://schemas.microsoft.com/office/drawing/2014/main" id="{57CDA9AB-A195-45A8-BB78-8239DBE3AD6A}"/>
              </a:ext>
            </a:extLst>
          </p:cNvPr>
          <p:cNvCxnSpPr>
            <a:cxnSpLocks/>
            <a:stCxn id="180" idx="6"/>
            <a:endCxn id="178" idx="2"/>
          </p:cNvCxnSpPr>
          <p:nvPr/>
        </p:nvCxnSpPr>
        <p:spPr>
          <a:xfrm flipV="1">
            <a:off x="771274" y="3516063"/>
            <a:ext cx="268534" cy="499379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Connecteur droit avec flèche 156">
            <a:extLst>
              <a:ext uri="{FF2B5EF4-FFF2-40B4-BE49-F238E27FC236}">
                <a16:creationId xmlns:a16="http://schemas.microsoft.com/office/drawing/2014/main" id="{59F74AF3-5699-49A7-A34D-32BE0140C2E8}"/>
              </a:ext>
            </a:extLst>
          </p:cNvPr>
          <p:cNvCxnSpPr>
            <a:cxnSpLocks/>
          </p:cNvCxnSpPr>
          <p:nvPr/>
        </p:nvCxnSpPr>
        <p:spPr>
          <a:xfrm flipV="1">
            <a:off x="1938470" y="3554897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ZoneTexte 171">
            <a:extLst>
              <a:ext uri="{FF2B5EF4-FFF2-40B4-BE49-F238E27FC236}">
                <a16:creationId xmlns:a16="http://schemas.microsoft.com/office/drawing/2014/main" id="{C43C33F0-C5E2-40B2-891D-67BB8426EFDE}"/>
              </a:ext>
            </a:extLst>
          </p:cNvPr>
          <p:cNvSpPr txBox="1"/>
          <p:nvPr/>
        </p:nvSpPr>
        <p:spPr>
          <a:xfrm>
            <a:off x="2018131" y="3095726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87" name="Ellipse 155">
            <a:extLst>
              <a:ext uri="{FF2B5EF4-FFF2-40B4-BE49-F238E27FC236}">
                <a16:creationId xmlns:a16="http://schemas.microsoft.com/office/drawing/2014/main" id="{F0AA38AB-AB0C-4C3D-97CA-15592A855223}"/>
              </a:ext>
            </a:extLst>
          </p:cNvPr>
          <p:cNvSpPr/>
          <p:nvPr/>
        </p:nvSpPr>
        <p:spPr>
          <a:xfrm>
            <a:off x="4069114" y="3096360"/>
            <a:ext cx="900000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188" name="Connecteur droit 4">
            <a:extLst>
              <a:ext uri="{FF2B5EF4-FFF2-40B4-BE49-F238E27FC236}">
                <a16:creationId xmlns:a16="http://schemas.microsoft.com/office/drawing/2014/main" id="{F9EF7909-51B2-411B-8CD6-095034AB074A}"/>
              </a:ext>
            </a:extLst>
          </p:cNvPr>
          <p:cNvCxnSpPr>
            <a:cxnSpLocks/>
            <a:stCxn id="191" idx="6"/>
            <a:endCxn id="187" idx="2"/>
          </p:cNvCxnSpPr>
          <p:nvPr/>
        </p:nvCxnSpPr>
        <p:spPr>
          <a:xfrm>
            <a:off x="3790890" y="2965142"/>
            <a:ext cx="278224" cy="492513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Ellipse 167">
            <a:extLst>
              <a:ext uri="{FF2B5EF4-FFF2-40B4-BE49-F238E27FC236}">
                <a16:creationId xmlns:a16="http://schemas.microsoft.com/office/drawing/2014/main" id="{5553AFEB-0F7F-4B57-9D8B-4072A84E78F8}"/>
              </a:ext>
            </a:extLst>
          </p:cNvPr>
          <p:cNvSpPr/>
          <p:nvPr/>
        </p:nvSpPr>
        <p:spPr>
          <a:xfrm>
            <a:off x="3188580" y="3723034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2FF4DAA3-4678-4E7B-B76B-1216BF3148E7}"/>
              </a:ext>
            </a:extLst>
          </p:cNvPr>
          <p:cNvSpPr/>
          <p:nvPr/>
        </p:nvSpPr>
        <p:spPr>
          <a:xfrm>
            <a:off x="3249850" y="2765565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191" name="Ellipse 151">
            <a:extLst>
              <a:ext uri="{FF2B5EF4-FFF2-40B4-BE49-F238E27FC236}">
                <a16:creationId xmlns:a16="http://schemas.microsoft.com/office/drawing/2014/main" id="{F0AB6436-B3BF-4DEC-B644-2B20FD9F6939}"/>
              </a:ext>
            </a:extLst>
          </p:cNvPr>
          <p:cNvSpPr/>
          <p:nvPr/>
        </p:nvSpPr>
        <p:spPr>
          <a:xfrm>
            <a:off x="3178890" y="2731142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6803CE90-B435-47AF-9EBD-5C0FFF53A15C}"/>
              </a:ext>
            </a:extLst>
          </p:cNvPr>
          <p:cNvSpPr/>
          <p:nvPr/>
        </p:nvSpPr>
        <p:spPr>
          <a:xfrm>
            <a:off x="3322275" y="3721398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93" name="Connecteur droit 4">
            <a:extLst>
              <a:ext uri="{FF2B5EF4-FFF2-40B4-BE49-F238E27FC236}">
                <a16:creationId xmlns:a16="http://schemas.microsoft.com/office/drawing/2014/main" id="{58CF5B83-2DD3-4101-B3AE-E0394007A11F}"/>
              </a:ext>
            </a:extLst>
          </p:cNvPr>
          <p:cNvCxnSpPr>
            <a:cxnSpLocks/>
            <a:stCxn id="189" idx="6"/>
            <a:endCxn id="187" idx="2"/>
          </p:cNvCxnSpPr>
          <p:nvPr/>
        </p:nvCxnSpPr>
        <p:spPr>
          <a:xfrm flipV="1">
            <a:off x="3800580" y="3457655"/>
            <a:ext cx="268534" cy="499379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Connecteur droit avec flèche 156">
            <a:extLst>
              <a:ext uri="{FF2B5EF4-FFF2-40B4-BE49-F238E27FC236}">
                <a16:creationId xmlns:a16="http://schemas.microsoft.com/office/drawing/2014/main" id="{F2515EC2-452A-4516-BEFB-A9264874B805}"/>
              </a:ext>
            </a:extLst>
          </p:cNvPr>
          <p:cNvCxnSpPr>
            <a:cxnSpLocks/>
          </p:cNvCxnSpPr>
          <p:nvPr/>
        </p:nvCxnSpPr>
        <p:spPr>
          <a:xfrm flipV="1">
            <a:off x="4967776" y="3496489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ZoneTexte 171">
            <a:extLst>
              <a:ext uri="{FF2B5EF4-FFF2-40B4-BE49-F238E27FC236}">
                <a16:creationId xmlns:a16="http://schemas.microsoft.com/office/drawing/2014/main" id="{7275BC09-DCEC-43D7-A6B5-0A61C448CB0D}"/>
              </a:ext>
            </a:extLst>
          </p:cNvPr>
          <p:cNvSpPr txBox="1"/>
          <p:nvPr/>
        </p:nvSpPr>
        <p:spPr>
          <a:xfrm>
            <a:off x="5047437" y="3037318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F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96" name="Ellipse 155">
            <a:extLst>
              <a:ext uri="{FF2B5EF4-FFF2-40B4-BE49-F238E27FC236}">
                <a16:creationId xmlns:a16="http://schemas.microsoft.com/office/drawing/2014/main" id="{E7791AD9-209F-445E-BB6B-8C32D5C0604E}"/>
              </a:ext>
            </a:extLst>
          </p:cNvPr>
          <p:cNvSpPr/>
          <p:nvPr/>
        </p:nvSpPr>
        <p:spPr>
          <a:xfrm>
            <a:off x="7290824" y="3051975"/>
            <a:ext cx="900000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197" name="Connecteur droit 4">
            <a:extLst>
              <a:ext uri="{FF2B5EF4-FFF2-40B4-BE49-F238E27FC236}">
                <a16:creationId xmlns:a16="http://schemas.microsoft.com/office/drawing/2014/main" id="{F1DEBE19-19E3-41B5-A5BB-14F8C38A1316}"/>
              </a:ext>
            </a:extLst>
          </p:cNvPr>
          <p:cNvCxnSpPr>
            <a:cxnSpLocks/>
            <a:stCxn id="200" idx="6"/>
            <a:endCxn id="196" idx="2"/>
          </p:cNvCxnSpPr>
          <p:nvPr/>
        </p:nvCxnSpPr>
        <p:spPr>
          <a:xfrm>
            <a:off x="7012600" y="2920757"/>
            <a:ext cx="278224" cy="492513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Ellipse 167">
            <a:extLst>
              <a:ext uri="{FF2B5EF4-FFF2-40B4-BE49-F238E27FC236}">
                <a16:creationId xmlns:a16="http://schemas.microsoft.com/office/drawing/2014/main" id="{82BBF7BB-E437-4C7F-A065-3AD86F1670F6}"/>
              </a:ext>
            </a:extLst>
          </p:cNvPr>
          <p:cNvSpPr/>
          <p:nvPr/>
        </p:nvSpPr>
        <p:spPr>
          <a:xfrm>
            <a:off x="6410290" y="3678649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82F28A91-C2FB-49F0-A3C7-C1EC0A596C8A}"/>
              </a:ext>
            </a:extLst>
          </p:cNvPr>
          <p:cNvSpPr/>
          <p:nvPr/>
        </p:nvSpPr>
        <p:spPr>
          <a:xfrm>
            <a:off x="6471560" y="2721180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200" name="Ellipse 151">
            <a:extLst>
              <a:ext uri="{FF2B5EF4-FFF2-40B4-BE49-F238E27FC236}">
                <a16:creationId xmlns:a16="http://schemas.microsoft.com/office/drawing/2014/main" id="{34E41CAD-2071-4D6F-8757-879A3AC0DBD7}"/>
              </a:ext>
            </a:extLst>
          </p:cNvPr>
          <p:cNvSpPr/>
          <p:nvPr/>
        </p:nvSpPr>
        <p:spPr>
          <a:xfrm>
            <a:off x="6400600" y="2686757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9193CC7D-FAE3-4C52-B975-2504E248BE33}"/>
              </a:ext>
            </a:extLst>
          </p:cNvPr>
          <p:cNvSpPr/>
          <p:nvPr/>
        </p:nvSpPr>
        <p:spPr>
          <a:xfrm>
            <a:off x="6543985" y="3677013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02" name="Connecteur droit 4">
            <a:extLst>
              <a:ext uri="{FF2B5EF4-FFF2-40B4-BE49-F238E27FC236}">
                <a16:creationId xmlns:a16="http://schemas.microsoft.com/office/drawing/2014/main" id="{968638E1-A5DA-41D6-A538-544EBF63E28C}"/>
              </a:ext>
            </a:extLst>
          </p:cNvPr>
          <p:cNvCxnSpPr>
            <a:cxnSpLocks/>
            <a:stCxn id="198" idx="6"/>
            <a:endCxn id="196" idx="2"/>
          </p:cNvCxnSpPr>
          <p:nvPr/>
        </p:nvCxnSpPr>
        <p:spPr>
          <a:xfrm flipV="1">
            <a:off x="7022290" y="3413270"/>
            <a:ext cx="268534" cy="499379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necteur droit avec flèche 156">
            <a:extLst>
              <a:ext uri="{FF2B5EF4-FFF2-40B4-BE49-F238E27FC236}">
                <a16:creationId xmlns:a16="http://schemas.microsoft.com/office/drawing/2014/main" id="{4A25C275-F316-43D5-BF16-28B90BBA515D}"/>
              </a:ext>
            </a:extLst>
          </p:cNvPr>
          <p:cNvCxnSpPr>
            <a:cxnSpLocks/>
          </p:cNvCxnSpPr>
          <p:nvPr/>
        </p:nvCxnSpPr>
        <p:spPr>
          <a:xfrm flipV="1">
            <a:off x="8189486" y="3452104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ZoneTexte 171">
            <a:extLst>
              <a:ext uri="{FF2B5EF4-FFF2-40B4-BE49-F238E27FC236}">
                <a16:creationId xmlns:a16="http://schemas.microsoft.com/office/drawing/2014/main" id="{56C5CFBD-9B9B-4084-BAF9-C88A752504D3}"/>
              </a:ext>
            </a:extLst>
          </p:cNvPr>
          <p:cNvSpPr txBox="1"/>
          <p:nvPr/>
        </p:nvSpPr>
        <p:spPr>
          <a:xfrm>
            <a:off x="8269147" y="2992933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205" name="Ellipse 155">
            <a:extLst>
              <a:ext uri="{FF2B5EF4-FFF2-40B4-BE49-F238E27FC236}">
                <a16:creationId xmlns:a16="http://schemas.microsoft.com/office/drawing/2014/main" id="{F8A440C2-3D0F-4AB4-B9F2-30115F307645}"/>
              </a:ext>
            </a:extLst>
          </p:cNvPr>
          <p:cNvSpPr/>
          <p:nvPr/>
        </p:nvSpPr>
        <p:spPr>
          <a:xfrm>
            <a:off x="10418331" y="3058852"/>
            <a:ext cx="900000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206" name="Connecteur droit 4">
            <a:extLst>
              <a:ext uri="{FF2B5EF4-FFF2-40B4-BE49-F238E27FC236}">
                <a16:creationId xmlns:a16="http://schemas.microsoft.com/office/drawing/2014/main" id="{75421694-0498-43A3-8350-273CA0D0D1E6}"/>
              </a:ext>
            </a:extLst>
          </p:cNvPr>
          <p:cNvCxnSpPr>
            <a:cxnSpLocks/>
            <a:stCxn id="209" idx="6"/>
            <a:endCxn id="205" idx="2"/>
          </p:cNvCxnSpPr>
          <p:nvPr/>
        </p:nvCxnSpPr>
        <p:spPr>
          <a:xfrm>
            <a:off x="10140107" y="2927634"/>
            <a:ext cx="278224" cy="492513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Ellipse 167">
            <a:extLst>
              <a:ext uri="{FF2B5EF4-FFF2-40B4-BE49-F238E27FC236}">
                <a16:creationId xmlns:a16="http://schemas.microsoft.com/office/drawing/2014/main" id="{6CC89C2F-093C-4D7B-83CD-EC98BE9A4382}"/>
              </a:ext>
            </a:extLst>
          </p:cNvPr>
          <p:cNvSpPr/>
          <p:nvPr/>
        </p:nvSpPr>
        <p:spPr>
          <a:xfrm>
            <a:off x="9537797" y="3685526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FEEC2457-5FC0-4B44-8035-D4F44F733544}"/>
              </a:ext>
            </a:extLst>
          </p:cNvPr>
          <p:cNvSpPr/>
          <p:nvPr/>
        </p:nvSpPr>
        <p:spPr>
          <a:xfrm>
            <a:off x="9599067" y="2728057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209" name="Ellipse 151">
            <a:extLst>
              <a:ext uri="{FF2B5EF4-FFF2-40B4-BE49-F238E27FC236}">
                <a16:creationId xmlns:a16="http://schemas.microsoft.com/office/drawing/2014/main" id="{A883A1AA-441F-4313-99FB-DD89CB34E96A}"/>
              </a:ext>
            </a:extLst>
          </p:cNvPr>
          <p:cNvSpPr/>
          <p:nvPr/>
        </p:nvSpPr>
        <p:spPr>
          <a:xfrm>
            <a:off x="9528107" y="2693634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3579D671-82AF-4EC7-96E7-F3B5E0CDB524}"/>
              </a:ext>
            </a:extLst>
          </p:cNvPr>
          <p:cNvSpPr/>
          <p:nvPr/>
        </p:nvSpPr>
        <p:spPr>
          <a:xfrm>
            <a:off x="9671492" y="3683890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11" name="Connecteur droit 4">
            <a:extLst>
              <a:ext uri="{FF2B5EF4-FFF2-40B4-BE49-F238E27FC236}">
                <a16:creationId xmlns:a16="http://schemas.microsoft.com/office/drawing/2014/main" id="{0FD975B2-B63B-451F-9924-DE84B1952892}"/>
              </a:ext>
            </a:extLst>
          </p:cNvPr>
          <p:cNvCxnSpPr>
            <a:cxnSpLocks/>
            <a:stCxn id="207" idx="6"/>
            <a:endCxn id="205" idx="2"/>
          </p:cNvCxnSpPr>
          <p:nvPr/>
        </p:nvCxnSpPr>
        <p:spPr>
          <a:xfrm flipV="1">
            <a:off x="10149797" y="3420147"/>
            <a:ext cx="268534" cy="499379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necteur droit avec flèche 156">
            <a:extLst>
              <a:ext uri="{FF2B5EF4-FFF2-40B4-BE49-F238E27FC236}">
                <a16:creationId xmlns:a16="http://schemas.microsoft.com/office/drawing/2014/main" id="{AEE6204C-FC57-4EC5-93CF-9515B0582A82}"/>
              </a:ext>
            </a:extLst>
          </p:cNvPr>
          <p:cNvCxnSpPr>
            <a:cxnSpLocks/>
          </p:cNvCxnSpPr>
          <p:nvPr/>
        </p:nvCxnSpPr>
        <p:spPr>
          <a:xfrm flipV="1">
            <a:off x="11316993" y="3458981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ZoneTexte 171">
            <a:extLst>
              <a:ext uri="{FF2B5EF4-FFF2-40B4-BE49-F238E27FC236}">
                <a16:creationId xmlns:a16="http://schemas.microsoft.com/office/drawing/2014/main" id="{B2ADE3CF-A560-4EE1-ADCC-14544E115FE1}"/>
              </a:ext>
            </a:extLst>
          </p:cNvPr>
          <p:cNvSpPr txBox="1"/>
          <p:nvPr/>
        </p:nvSpPr>
        <p:spPr>
          <a:xfrm>
            <a:off x="11396654" y="2999810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cxnSp>
        <p:nvCxnSpPr>
          <p:cNvPr id="215" name="Connecteur droit 4">
            <a:extLst>
              <a:ext uri="{FF2B5EF4-FFF2-40B4-BE49-F238E27FC236}">
                <a16:creationId xmlns:a16="http://schemas.microsoft.com/office/drawing/2014/main" id="{FF115D97-CA83-4A01-A77C-8DB5EE6900CA}"/>
              </a:ext>
            </a:extLst>
          </p:cNvPr>
          <p:cNvCxnSpPr>
            <a:cxnSpLocks/>
            <a:stCxn id="218" idx="6"/>
            <a:endCxn id="4" idx="1"/>
          </p:cNvCxnSpPr>
          <p:nvPr/>
        </p:nvCxnSpPr>
        <p:spPr>
          <a:xfrm>
            <a:off x="759394" y="5506235"/>
            <a:ext cx="356547" cy="521582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Ellipse 167">
            <a:extLst>
              <a:ext uri="{FF2B5EF4-FFF2-40B4-BE49-F238E27FC236}">
                <a16:creationId xmlns:a16="http://schemas.microsoft.com/office/drawing/2014/main" id="{24C06116-EB07-41E4-AB48-3D2AE01B1456}"/>
              </a:ext>
            </a:extLst>
          </p:cNvPr>
          <p:cNvSpPr/>
          <p:nvPr/>
        </p:nvSpPr>
        <p:spPr>
          <a:xfrm>
            <a:off x="157084" y="6264127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30AD46F4-278C-450B-B503-10ED5ACA8254}"/>
              </a:ext>
            </a:extLst>
          </p:cNvPr>
          <p:cNvSpPr/>
          <p:nvPr/>
        </p:nvSpPr>
        <p:spPr>
          <a:xfrm>
            <a:off x="218354" y="5306658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218" name="Ellipse 151">
            <a:extLst>
              <a:ext uri="{FF2B5EF4-FFF2-40B4-BE49-F238E27FC236}">
                <a16:creationId xmlns:a16="http://schemas.microsoft.com/office/drawing/2014/main" id="{ACF7E45D-6AEB-4AE3-8856-A4A07014D2DA}"/>
              </a:ext>
            </a:extLst>
          </p:cNvPr>
          <p:cNvSpPr/>
          <p:nvPr/>
        </p:nvSpPr>
        <p:spPr>
          <a:xfrm>
            <a:off x="147394" y="5272235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1118F1AE-2E7C-4E05-9550-2EBAC1A93EEC}"/>
              </a:ext>
            </a:extLst>
          </p:cNvPr>
          <p:cNvSpPr/>
          <p:nvPr/>
        </p:nvSpPr>
        <p:spPr>
          <a:xfrm>
            <a:off x="290779" y="6262491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20" name="Connecteur droit 4">
            <a:extLst>
              <a:ext uri="{FF2B5EF4-FFF2-40B4-BE49-F238E27FC236}">
                <a16:creationId xmlns:a16="http://schemas.microsoft.com/office/drawing/2014/main" id="{E5D17410-358B-478B-A45E-52B031643AAE}"/>
              </a:ext>
            </a:extLst>
          </p:cNvPr>
          <p:cNvCxnSpPr>
            <a:cxnSpLocks/>
            <a:stCxn id="216" idx="6"/>
            <a:endCxn id="4" idx="1"/>
          </p:cNvCxnSpPr>
          <p:nvPr/>
        </p:nvCxnSpPr>
        <p:spPr>
          <a:xfrm flipV="1">
            <a:off x="769084" y="6027817"/>
            <a:ext cx="346857" cy="47031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necteur droit avec flèche 156">
            <a:extLst>
              <a:ext uri="{FF2B5EF4-FFF2-40B4-BE49-F238E27FC236}">
                <a16:creationId xmlns:a16="http://schemas.microsoft.com/office/drawing/2014/main" id="{B0FB4915-2FF5-4D6A-ABEB-FB735F424781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1890290" y="6027817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ZoneTexte 171">
            <a:extLst>
              <a:ext uri="{FF2B5EF4-FFF2-40B4-BE49-F238E27FC236}">
                <a16:creationId xmlns:a16="http://schemas.microsoft.com/office/drawing/2014/main" id="{2227C543-E296-45BA-894B-95C26B59182D}"/>
              </a:ext>
            </a:extLst>
          </p:cNvPr>
          <p:cNvSpPr txBox="1"/>
          <p:nvPr/>
        </p:nvSpPr>
        <p:spPr>
          <a:xfrm>
            <a:off x="2015941" y="5578411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F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BB6121-1693-4B6C-BD56-BA1DCED74461}"/>
              </a:ext>
            </a:extLst>
          </p:cNvPr>
          <p:cNvSpPr/>
          <p:nvPr/>
        </p:nvSpPr>
        <p:spPr>
          <a:xfrm>
            <a:off x="1115941" y="5703950"/>
            <a:ext cx="774349" cy="6477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XOR</a:t>
            </a:r>
          </a:p>
        </p:txBody>
      </p:sp>
      <p:cxnSp>
        <p:nvCxnSpPr>
          <p:cNvPr id="223" name="Connecteur droit 4">
            <a:extLst>
              <a:ext uri="{FF2B5EF4-FFF2-40B4-BE49-F238E27FC236}">
                <a16:creationId xmlns:a16="http://schemas.microsoft.com/office/drawing/2014/main" id="{C89E1F4D-79AC-40EA-B613-C00F9EFD7AB0}"/>
              </a:ext>
            </a:extLst>
          </p:cNvPr>
          <p:cNvCxnSpPr>
            <a:cxnSpLocks/>
            <a:stCxn id="226" idx="6"/>
            <a:endCxn id="231" idx="1"/>
          </p:cNvCxnSpPr>
          <p:nvPr/>
        </p:nvCxnSpPr>
        <p:spPr>
          <a:xfrm>
            <a:off x="10166369" y="5354145"/>
            <a:ext cx="356547" cy="521582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Ellipse 167">
            <a:extLst>
              <a:ext uri="{FF2B5EF4-FFF2-40B4-BE49-F238E27FC236}">
                <a16:creationId xmlns:a16="http://schemas.microsoft.com/office/drawing/2014/main" id="{7315817E-E470-41F7-865F-657437C6C1C2}"/>
              </a:ext>
            </a:extLst>
          </p:cNvPr>
          <p:cNvSpPr/>
          <p:nvPr/>
        </p:nvSpPr>
        <p:spPr>
          <a:xfrm>
            <a:off x="9564059" y="6112037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7093A050-00F0-4AD0-8DDE-FF56B393B2B7}"/>
              </a:ext>
            </a:extLst>
          </p:cNvPr>
          <p:cNvSpPr/>
          <p:nvPr/>
        </p:nvSpPr>
        <p:spPr>
          <a:xfrm>
            <a:off x="9625329" y="5154568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226" name="Ellipse 151">
            <a:extLst>
              <a:ext uri="{FF2B5EF4-FFF2-40B4-BE49-F238E27FC236}">
                <a16:creationId xmlns:a16="http://schemas.microsoft.com/office/drawing/2014/main" id="{C08C798F-15FC-41D0-9E01-575135A7CCAD}"/>
              </a:ext>
            </a:extLst>
          </p:cNvPr>
          <p:cNvSpPr/>
          <p:nvPr/>
        </p:nvSpPr>
        <p:spPr>
          <a:xfrm>
            <a:off x="9554369" y="5120145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FE3A51B6-EE31-48E2-B14A-1C2965644D61}"/>
              </a:ext>
            </a:extLst>
          </p:cNvPr>
          <p:cNvSpPr/>
          <p:nvPr/>
        </p:nvSpPr>
        <p:spPr>
          <a:xfrm>
            <a:off x="9697754" y="6110401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28" name="Connecteur droit 4">
            <a:extLst>
              <a:ext uri="{FF2B5EF4-FFF2-40B4-BE49-F238E27FC236}">
                <a16:creationId xmlns:a16="http://schemas.microsoft.com/office/drawing/2014/main" id="{129E72AC-E857-40E4-BE25-45E5E42DA1A8}"/>
              </a:ext>
            </a:extLst>
          </p:cNvPr>
          <p:cNvCxnSpPr>
            <a:cxnSpLocks/>
            <a:stCxn id="224" idx="6"/>
            <a:endCxn id="231" idx="1"/>
          </p:cNvCxnSpPr>
          <p:nvPr/>
        </p:nvCxnSpPr>
        <p:spPr>
          <a:xfrm flipV="1">
            <a:off x="10176059" y="5875727"/>
            <a:ext cx="346857" cy="47031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Connecteur droit avec flèche 156">
            <a:extLst>
              <a:ext uri="{FF2B5EF4-FFF2-40B4-BE49-F238E27FC236}">
                <a16:creationId xmlns:a16="http://schemas.microsoft.com/office/drawing/2014/main" id="{99814F12-C57A-4A1C-A714-13C09285C1ED}"/>
              </a:ext>
            </a:extLst>
          </p:cNvPr>
          <p:cNvCxnSpPr>
            <a:cxnSpLocks/>
            <a:stCxn id="231" idx="3"/>
          </p:cNvCxnSpPr>
          <p:nvPr/>
        </p:nvCxnSpPr>
        <p:spPr>
          <a:xfrm>
            <a:off x="11297265" y="5875727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ZoneTexte 171">
            <a:extLst>
              <a:ext uri="{FF2B5EF4-FFF2-40B4-BE49-F238E27FC236}">
                <a16:creationId xmlns:a16="http://schemas.microsoft.com/office/drawing/2014/main" id="{7E31D7B1-F975-4EB0-A70A-8814DC4194D6}"/>
              </a:ext>
            </a:extLst>
          </p:cNvPr>
          <p:cNvSpPr txBox="1"/>
          <p:nvPr/>
        </p:nvSpPr>
        <p:spPr>
          <a:xfrm>
            <a:off x="11422916" y="5426321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EBF7C5AA-7921-43F6-9760-35E8F8DC4539}"/>
              </a:ext>
            </a:extLst>
          </p:cNvPr>
          <p:cNvSpPr/>
          <p:nvPr/>
        </p:nvSpPr>
        <p:spPr>
          <a:xfrm>
            <a:off x="10522916" y="5551860"/>
            <a:ext cx="774349" cy="6477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XOR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92C73E-02C7-43AD-AA83-9729183439B6}"/>
              </a:ext>
            </a:extLst>
          </p:cNvPr>
          <p:cNvSpPr txBox="1"/>
          <p:nvPr/>
        </p:nvSpPr>
        <p:spPr>
          <a:xfrm>
            <a:off x="29180" y="455141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43176B32-B069-43BB-A279-8215D8C4A9DE}"/>
              </a:ext>
            </a:extLst>
          </p:cNvPr>
          <p:cNvSpPr txBox="1"/>
          <p:nvPr/>
        </p:nvSpPr>
        <p:spPr>
          <a:xfrm>
            <a:off x="-13708" y="1564738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x2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A89C6CA9-A4E3-4457-A04E-7E97A1D2B6BA}"/>
              </a:ext>
            </a:extLst>
          </p:cNvPr>
          <p:cNvSpPr txBox="1"/>
          <p:nvPr/>
        </p:nvSpPr>
        <p:spPr>
          <a:xfrm>
            <a:off x="43507" y="2436199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12CB3040-0DF7-4008-B0C0-F17F2E56E8B1}"/>
              </a:ext>
            </a:extLst>
          </p:cNvPr>
          <p:cNvSpPr txBox="1"/>
          <p:nvPr/>
        </p:nvSpPr>
        <p:spPr>
          <a:xfrm>
            <a:off x="72082" y="3522041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x2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0913373C-C47A-40C9-852F-C54AC7DA5CF4}"/>
              </a:ext>
            </a:extLst>
          </p:cNvPr>
          <p:cNvSpPr txBox="1"/>
          <p:nvPr/>
        </p:nvSpPr>
        <p:spPr>
          <a:xfrm>
            <a:off x="67315" y="4931769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68FF2129-091E-469D-BCED-BBE37F20DE0A}"/>
              </a:ext>
            </a:extLst>
          </p:cNvPr>
          <p:cNvSpPr txBox="1"/>
          <p:nvPr/>
        </p:nvSpPr>
        <p:spPr>
          <a:xfrm>
            <a:off x="95890" y="6017611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x2</a:t>
            </a:r>
          </a:p>
        </p:txBody>
      </p:sp>
      <p:cxnSp>
        <p:nvCxnSpPr>
          <p:cNvPr id="237" name="Connecteur droit 4">
            <a:extLst>
              <a:ext uri="{FF2B5EF4-FFF2-40B4-BE49-F238E27FC236}">
                <a16:creationId xmlns:a16="http://schemas.microsoft.com/office/drawing/2014/main" id="{2E32D60B-6C1C-42AC-8FF6-A50DEA2BDBA1}"/>
              </a:ext>
            </a:extLst>
          </p:cNvPr>
          <p:cNvCxnSpPr>
            <a:cxnSpLocks/>
            <a:stCxn id="240" idx="6"/>
            <a:endCxn id="245" idx="1"/>
          </p:cNvCxnSpPr>
          <p:nvPr/>
        </p:nvCxnSpPr>
        <p:spPr>
          <a:xfrm>
            <a:off x="3969324" y="5472891"/>
            <a:ext cx="356547" cy="521582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Ellipse 167">
            <a:extLst>
              <a:ext uri="{FF2B5EF4-FFF2-40B4-BE49-F238E27FC236}">
                <a16:creationId xmlns:a16="http://schemas.microsoft.com/office/drawing/2014/main" id="{B4F441D0-5327-4C4F-85E4-4A8C43178503}"/>
              </a:ext>
            </a:extLst>
          </p:cNvPr>
          <p:cNvSpPr/>
          <p:nvPr/>
        </p:nvSpPr>
        <p:spPr>
          <a:xfrm>
            <a:off x="3367014" y="6230783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2D0478F4-D88C-4159-B460-986A505C4393}"/>
              </a:ext>
            </a:extLst>
          </p:cNvPr>
          <p:cNvSpPr/>
          <p:nvPr/>
        </p:nvSpPr>
        <p:spPr>
          <a:xfrm>
            <a:off x="3428284" y="5273314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240" name="Ellipse 151">
            <a:extLst>
              <a:ext uri="{FF2B5EF4-FFF2-40B4-BE49-F238E27FC236}">
                <a16:creationId xmlns:a16="http://schemas.microsoft.com/office/drawing/2014/main" id="{F3F2E8EA-0BBC-40E5-9347-D8317C032586}"/>
              </a:ext>
            </a:extLst>
          </p:cNvPr>
          <p:cNvSpPr/>
          <p:nvPr/>
        </p:nvSpPr>
        <p:spPr>
          <a:xfrm>
            <a:off x="3357324" y="5238891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2F262946-F418-4759-9BAF-7601C035F552}"/>
              </a:ext>
            </a:extLst>
          </p:cNvPr>
          <p:cNvSpPr/>
          <p:nvPr/>
        </p:nvSpPr>
        <p:spPr>
          <a:xfrm>
            <a:off x="3500709" y="6229147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42" name="Connecteur droit 4">
            <a:extLst>
              <a:ext uri="{FF2B5EF4-FFF2-40B4-BE49-F238E27FC236}">
                <a16:creationId xmlns:a16="http://schemas.microsoft.com/office/drawing/2014/main" id="{F70A1EDB-E013-48C6-AC9A-C8870BB27E8F}"/>
              </a:ext>
            </a:extLst>
          </p:cNvPr>
          <p:cNvCxnSpPr>
            <a:cxnSpLocks/>
            <a:stCxn id="238" idx="6"/>
            <a:endCxn id="245" idx="1"/>
          </p:cNvCxnSpPr>
          <p:nvPr/>
        </p:nvCxnSpPr>
        <p:spPr>
          <a:xfrm flipV="1">
            <a:off x="3979014" y="5994473"/>
            <a:ext cx="346857" cy="47031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Connecteur droit avec flèche 156">
            <a:extLst>
              <a:ext uri="{FF2B5EF4-FFF2-40B4-BE49-F238E27FC236}">
                <a16:creationId xmlns:a16="http://schemas.microsoft.com/office/drawing/2014/main" id="{1B280D61-53D8-4F5E-B4CB-025E2799B81D}"/>
              </a:ext>
            </a:extLst>
          </p:cNvPr>
          <p:cNvCxnSpPr>
            <a:cxnSpLocks/>
            <a:stCxn id="245" idx="3"/>
          </p:cNvCxnSpPr>
          <p:nvPr/>
        </p:nvCxnSpPr>
        <p:spPr>
          <a:xfrm>
            <a:off x="5100220" y="5994473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ZoneTexte 171">
            <a:extLst>
              <a:ext uri="{FF2B5EF4-FFF2-40B4-BE49-F238E27FC236}">
                <a16:creationId xmlns:a16="http://schemas.microsoft.com/office/drawing/2014/main" id="{2D37F2B7-C825-4895-B3C5-0382FC68BE8D}"/>
              </a:ext>
            </a:extLst>
          </p:cNvPr>
          <p:cNvSpPr txBox="1"/>
          <p:nvPr/>
        </p:nvSpPr>
        <p:spPr>
          <a:xfrm>
            <a:off x="5240159" y="5545067"/>
            <a:ext cx="356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F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0800DDCD-E45E-4E5D-804F-B00B82B0ACBE}"/>
              </a:ext>
            </a:extLst>
          </p:cNvPr>
          <p:cNvSpPr/>
          <p:nvPr/>
        </p:nvSpPr>
        <p:spPr>
          <a:xfrm>
            <a:off x="4325871" y="5670606"/>
            <a:ext cx="774349" cy="6477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XOR</a:t>
            </a:r>
          </a:p>
        </p:txBody>
      </p:sp>
      <p:cxnSp>
        <p:nvCxnSpPr>
          <p:cNvPr id="248" name="Connecteur droit 4">
            <a:extLst>
              <a:ext uri="{FF2B5EF4-FFF2-40B4-BE49-F238E27FC236}">
                <a16:creationId xmlns:a16="http://schemas.microsoft.com/office/drawing/2014/main" id="{04BC46C5-A500-488E-A903-1788AE8A0AA2}"/>
              </a:ext>
            </a:extLst>
          </p:cNvPr>
          <p:cNvCxnSpPr>
            <a:cxnSpLocks/>
            <a:stCxn id="251" idx="6"/>
            <a:endCxn id="256" idx="1"/>
          </p:cNvCxnSpPr>
          <p:nvPr/>
        </p:nvCxnSpPr>
        <p:spPr>
          <a:xfrm>
            <a:off x="7050659" y="5525275"/>
            <a:ext cx="356547" cy="521582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Ellipse 167">
            <a:extLst>
              <a:ext uri="{FF2B5EF4-FFF2-40B4-BE49-F238E27FC236}">
                <a16:creationId xmlns:a16="http://schemas.microsoft.com/office/drawing/2014/main" id="{BB9B7B71-C13D-43C1-B724-4D308D396C32}"/>
              </a:ext>
            </a:extLst>
          </p:cNvPr>
          <p:cNvSpPr/>
          <p:nvPr/>
        </p:nvSpPr>
        <p:spPr>
          <a:xfrm>
            <a:off x="6448349" y="6283167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66123761-A62A-4867-B4A0-35F8AB50F1B4}"/>
              </a:ext>
            </a:extLst>
          </p:cNvPr>
          <p:cNvSpPr/>
          <p:nvPr/>
        </p:nvSpPr>
        <p:spPr>
          <a:xfrm>
            <a:off x="6509619" y="5325698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251" name="Ellipse 151">
            <a:extLst>
              <a:ext uri="{FF2B5EF4-FFF2-40B4-BE49-F238E27FC236}">
                <a16:creationId xmlns:a16="http://schemas.microsoft.com/office/drawing/2014/main" id="{FB9F9D0B-8B11-4FBF-9E61-6A9E866B1D6A}"/>
              </a:ext>
            </a:extLst>
          </p:cNvPr>
          <p:cNvSpPr/>
          <p:nvPr/>
        </p:nvSpPr>
        <p:spPr>
          <a:xfrm>
            <a:off x="6438659" y="5291275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C1031BBF-93E2-4D68-A602-15AEE339433E}"/>
              </a:ext>
            </a:extLst>
          </p:cNvPr>
          <p:cNvSpPr/>
          <p:nvPr/>
        </p:nvSpPr>
        <p:spPr>
          <a:xfrm>
            <a:off x="6582044" y="6281531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53" name="Connecteur droit 4">
            <a:extLst>
              <a:ext uri="{FF2B5EF4-FFF2-40B4-BE49-F238E27FC236}">
                <a16:creationId xmlns:a16="http://schemas.microsoft.com/office/drawing/2014/main" id="{2F90E7C2-57BC-4561-A058-975C0A812B1C}"/>
              </a:ext>
            </a:extLst>
          </p:cNvPr>
          <p:cNvCxnSpPr>
            <a:cxnSpLocks/>
            <a:stCxn id="249" idx="6"/>
            <a:endCxn id="256" idx="1"/>
          </p:cNvCxnSpPr>
          <p:nvPr/>
        </p:nvCxnSpPr>
        <p:spPr>
          <a:xfrm flipV="1">
            <a:off x="7060349" y="6046857"/>
            <a:ext cx="346857" cy="47031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Connecteur droit avec flèche 156">
            <a:extLst>
              <a:ext uri="{FF2B5EF4-FFF2-40B4-BE49-F238E27FC236}">
                <a16:creationId xmlns:a16="http://schemas.microsoft.com/office/drawing/2014/main" id="{EA01A792-99EC-475E-A8A5-BCF519A7ACC4}"/>
              </a:ext>
            </a:extLst>
          </p:cNvPr>
          <p:cNvCxnSpPr>
            <a:cxnSpLocks/>
            <a:stCxn id="256" idx="3"/>
          </p:cNvCxnSpPr>
          <p:nvPr/>
        </p:nvCxnSpPr>
        <p:spPr>
          <a:xfrm>
            <a:off x="8181555" y="6046857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ZoneTexte 171">
            <a:extLst>
              <a:ext uri="{FF2B5EF4-FFF2-40B4-BE49-F238E27FC236}">
                <a16:creationId xmlns:a16="http://schemas.microsoft.com/office/drawing/2014/main" id="{347CB87F-3170-4FB1-A43B-9759EE54732B}"/>
              </a:ext>
            </a:extLst>
          </p:cNvPr>
          <p:cNvSpPr txBox="1"/>
          <p:nvPr/>
        </p:nvSpPr>
        <p:spPr>
          <a:xfrm>
            <a:off x="8321494" y="5597451"/>
            <a:ext cx="356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6493AFB0-994F-4C81-ACB4-DE40628194D6}"/>
              </a:ext>
            </a:extLst>
          </p:cNvPr>
          <p:cNvSpPr/>
          <p:nvPr/>
        </p:nvSpPr>
        <p:spPr>
          <a:xfrm>
            <a:off x="7407206" y="5722990"/>
            <a:ext cx="774349" cy="6477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XOR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9132953-842C-4B26-811C-D7A585806822}"/>
              </a:ext>
            </a:extLst>
          </p:cNvPr>
          <p:cNvSpPr txBox="1"/>
          <p:nvPr/>
        </p:nvSpPr>
        <p:spPr>
          <a:xfrm>
            <a:off x="2587896" y="-10210"/>
            <a:ext cx="4260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800" b="1" dirty="0">
                <a:solidFill>
                  <a:srgbClr val="FF3300"/>
                </a:solidFill>
              </a:rPr>
              <a:t>XOR = (!AND) and (OR) </a:t>
            </a:r>
          </a:p>
        </p:txBody>
      </p:sp>
    </p:spTree>
    <p:extLst>
      <p:ext uri="{BB962C8B-B14F-4D97-AF65-F5344CB8AC3E}">
        <p14:creationId xmlns:p14="http://schemas.microsoft.com/office/powerpoint/2010/main" val="4136966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5" grpId="0" animBg="1"/>
      <p:bldP spid="56" grpId="0"/>
      <p:bldP spid="57" grpId="0" animBg="1"/>
      <p:bldP spid="58" grpId="0"/>
      <p:bldP spid="66" grpId="0"/>
      <p:bldP spid="151" grpId="0" animBg="1"/>
      <p:bldP spid="153" grpId="0" animBg="1"/>
      <p:bldP spid="154" grpId="0"/>
      <p:bldP spid="155" grpId="0" animBg="1"/>
      <p:bldP spid="156" grpId="0"/>
      <p:bldP spid="159" grpId="0"/>
      <p:bldP spid="160" grpId="0" animBg="1"/>
      <p:bldP spid="162" grpId="0" animBg="1"/>
      <p:bldP spid="163" grpId="0"/>
      <p:bldP spid="164" grpId="0" animBg="1"/>
      <p:bldP spid="165" grpId="0"/>
      <p:bldP spid="168" grpId="0"/>
      <p:bldP spid="169" grpId="0" animBg="1"/>
      <p:bldP spid="171" grpId="0" animBg="1"/>
      <p:bldP spid="172" grpId="0"/>
      <p:bldP spid="173" grpId="0" animBg="1"/>
      <p:bldP spid="174" grpId="0"/>
      <p:bldP spid="177" grpId="0"/>
      <p:bldP spid="178" grpId="0" animBg="1"/>
      <p:bldP spid="180" grpId="0" animBg="1"/>
      <p:bldP spid="181" grpId="0"/>
      <p:bldP spid="182" grpId="0" animBg="1"/>
      <p:bldP spid="183" grpId="0"/>
      <p:bldP spid="186" grpId="0"/>
      <p:bldP spid="187" grpId="0" animBg="1"/>
      <p:bldP spid="189" grpId="0" animBg="1"/>
      <p:bldP spid="190" grpId="0"/>
      <p:bldP spid="191" grpId="0" animBg="1"/>
      <p:bldP spid="192" grpId="0"/>
      <p:bldP spid="195" grpId="0"/>
      <p:bldP spid="196" grpId="0" animBg="1"/>
      <p:bldP spid="198" grpId="0" animBg="1"/>
      <p:bldP spid="199" grpId="0"/>
      <p:bldP spid="200" grpId="0" animBg="1"/>
      <p:bldP spid="201" grpId="0"/>
      <p:bldP spid="204" grpId="0"/>
      <p:bldP spid="205" grpId="0" animBg="1"/>
      <p:bldP spid="207" grpId="0" animBg="1"/>
      <p:bldP spid="208" grpId="0"/>
      <p:bldP spid="209" grpId="0" animBg="1"/>
      <p:bldP spid="210" grpId="0"/>
      <p:bldP spid="213" grpId="0"/>
      <p:bldP spid="216" grpId="0" animBg="1"/>
      <p:bldP spid="217" grpId="0"/>
      <p:bldP spid="218" grpId="0" animBg="1"/>
      <p:bldP spid="219" grpId="0"/>
      <p:bldP spid="222" grpId="0"/>
      <p:bldP spid="4" grpId="0" animBg="1"/>
      <p:bldP spid="224" grpId="0" animBg="1"/>
      <p:bldP spid="225" grpId="0"/>
      <p:bldP spid="226" grpId="0" animBg="1"/>
      <p:bldP spid="227" grpId="0"/>
      <p:bldP spid="230" grpId="0"/>
      <p:bldP spid="231" grpId="0" animBg="1"/>
      <p:bldP spid="9" grpId="0"/>
      <p:bldP spid="232" grpId="0"/>
      <p:bldP spid="233" grpId="0"/>
      <p:bldP spid="234" grpId="0"/>
      <p:bldP spid="235" grpId="0"/>
      <p:bldP spid="236" grpId="0"/>
      <p:bldP spid="238" grpId="0" animBg="1"/>
      <p:bldP spid="239" grpId="0"/>
      <p:bldP spid="240" grpId="0" animBg="1"/>
      <p:bldP spid="241" grpId="0"/>
      <p:bldP spid="244" grpId="0"/>
      <p:bldP spid="245" grpId="0" animBg="1"/>
      <p:bldP spid="249" grpId="0" animBg="1"/>
      <p:bldP spid="250" grpId="0"/>
      <p:bldP spid="251" grpId="0" animBg="1"/>
      <p:bldP spid="252" grpId="0"/>
      <p:bldP spid="255" grpId="0"/>
      <p:bldP spid="25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Ellipse 155">
            <a:extLst>
              <a:ext uri="{FF2B5EF4-FFF2-40B4-BE49-F238E27FC236}">
                <a16:creationId xmlns:a16="http://schemas.microsoft.com/office/drawing/2014/main" id="{09031D2B-AD94-42F3-952B-C5C4AC5CBE70}"/>
              </a:ext>
            </a:extLst>
          </p:cNvPr>
          <p:cNvSpPr/>
          <p:nvPr/>
        </p:nvSpPr>
        <p:spPr>
          <a:xfrm>
            <a:off x="979765" y="2775932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52" name="Connecteur droit 4">
            <a:extLst>
              <a:ext uri="{FF2B5EF4-FFF2-40B4-BE49-F238E27FC236}">
                <a16:creationId xmlns:a16="http://schemas.microsoft.com/office/drawing/2014/main" id="{4209B293-BDB3-4055-9ED8-E9C9D2330ECF}"/>
              </a:ext>
            </a:extLst>
          </p:cNvPr>
          <p:cNvCxnSpPr>
            <a:cxnSpLocks/>
            <a:stCxn id="57" idx="6"/>
            <a:endCxn id="51" idx="2"/>
          </p:cNvCxnSpPr>
          <p:nvPr/>
        </p:nvCxnSpPr>
        <p:spPr>
          <a:xfrm>
            <a:off x="481741" y="3001897"/>
            <a:ext cx="498024" cy="486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Ellipse 167">
            <a:extLst>
              <a:ext uri="{FF2B5EF4-FFF2-40B4-BE49-F238E27FC236}">
                <a16:creationId xmlns:a16="http://schemas.microsoft.com/office/drawing/2014/main" id="{B6B5DEC9-F7D0-483B-8E8B-80BA39933868}"/>
              </a:ext>
            </a:extLst>
          </p:cNvPr>
          <p:cNvSpPr/>
          <p:nvPr/>
        </p:nvSpPr>
        <p:spPr>
          <a:xfrm>
            <a:off x="70663" y="3759789"/>
            <a:ext cx="41107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F7032BC-36C1-43B6-A98B-ABA851C460D9}"/>
              </a:ext>
            </a:extLst>
          </p:cNvPr>
          <p:cNvSpPr/>
          <p:nvPr/>
        </p:nvSpPr>
        <p:spPr>
          <a:xfrm>
            <a:off x="131933" y="2802320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57" name="Ellipse 151">
            <a:extLst>
              <a:ext uri="{FF2B5EF4-FFF2-40B4-BE49-F238E27FC236}">
                <a16:creationId xmlns:a16="http://schemas.microsoft.com/office/drawing/2014/main" id="{B3E65A96-838C-48C0-A490-C8FD3F8E8484}"/>
              </a:ext>
            </a:extLst>
          </p:cNvPr>
          <p:cNvSpPr/>
          <p:nvPr/>
        </p:nvSpPr>
        <p:spPr>
          <a:xfrm>
            <a:off x="60973" y="2767897"/>
            <a:ext cx="42076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04B950A-1071-422B-94A8-6D46279BC73C}"/>
              </a:ext>
            </a:extLst>
          </p:cNvPr>
          <p:cNvSpPr/>
          <p:nvPr/>
        </p:nvSpPr>
        <p:spPr>
          <a:xfrm>
            <a:off x="47192" y="3772441"/>
            <a:ext cx="4671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0" name="Connecteur droit 4">
            <a:extLst>
              <a:ext uri="{FF2B5EF4-FFF2-40B4-BE49-F238E27FC236}">
                <a16:creationId xmlns:a16="http://schemas.microsoft.com/office/drawing/2014/main" id="{5148EB87-0FA9-4B2D-BECD-DCAAB91A987F}"/>
              </a:ext>
            </a:extLst>
          </p:cNvPr>
          <p:cNvCxnSpPr>
            <a:cxnSpLocks/>
            <a:stCxn id="55" idx="6"/>
            <a:endCxn id="51" idx="2"/>
          </p:cNvCxnSpPr>
          <p:nvPr/>
        </p:nvCxnSpPr>
        <p:spPr>
          <a:xfrm flipV="1">
            <a:off x="481741" y="3006764"/>
            <a:ext cx="498024" cy="9870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avec flèche 156">
            <a:extLst>
              <a:ext uri="{FF2B5EF4-FFF2-40B4-BE49-F238E27FC236}">
                <a16:creationId xmlns:a16="http://schemas.microsoft.com/office/drawing/2014/main" id="{739B2937-5186-4039-900E-204E6F12C620}"/>
              </a:ext>
            </a:extLst>
          </p:cNvPr>
          <p:cNvCxnSpPr>
            <a:cxnSpLocks/>
            <a:stCxn id="51" idx="6"/>
            <a:endCxn id="63" idx="1"/>
          </p:cNvCxnSpPr>
          <p:nvPr/>
        </p:nvCxnSpPr>
        <p:spPr>
          <a:xfrm>
            <a:off x="1735765" y="3006764"/>
            <a:ext cx="215209" cy="30294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ZoneTexte 171">
            <a:extLst>
              <a:ext uri="{FF2B5EF4-FFF2-40B4-BE49-F238E27FC236}">
                <a16:creationId xmlns:a16="http://schemas.microsoft.com/office/drawing/2014/main" id="{09BF9018-8E84-42FF-BF21-BB6717CDACAE}"/>
              </a:ext>
            </a:extLst>
          </p:cNvPr>
          <p:cNvSpPr txBox="1"/>
          <p:nvPr/>
        </p:nvSpPr>
        <p:spPr>
          <a:xfrm>
            <a:off x="1819335" y="2895416"/>
            <a:ext cx="5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F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67" name="Ellipse 155">
            <a:extLst>
              <a:ext uri="{FF2B5EF4-FFF2-40B4-BE49-F238E27FC236}">
                <a16:creationId xmlns:a16="http://schemas.microsoft.com/office/drawing/2014/main" id="{58CF7CBF-9151-4813-A239-AF4088D916C3}"/>
              </a:ext>
            </a:extLst>
          </p:cNvPr>
          <p:cNvSpPr/>
          <p:nvPr/>
        </p:nvSpPr>
        <p:spPr>
          <a:xfrm>
            <a:off x="979875" y="3761836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68" name="Connecteur droit 4">
            <a:extLst>
              <a:ext uri="{FF2B5EF4-FFF2-40B4-BE49-F238E27FC236}">
                <a16:creationId xmlns:a16="http://schemas.microsoft.com/office/drawing/2014/main" id="{010E3A13-AC02-4A7E-8E16-0339BE186804}"/>
              </a:ext>
            </a:extLst>
          </p:cNvPr>
          <p:cNvCxnSpPr>
            <a:cxnSpLocks/>
            <a:stCxn id="57" idx="6"/>
            <a:endCxn id="67" idx="2"/>
          </p:cNvCxnSpPr>
          <p:nvPr/>
        </p:nvCxnSpPr>
        <p:spPr>
          <a:xfrm>
            <a:off x="481741" y="3001897"/>
            <a:ext cx="498134" cy="99077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 droit 4">
            <a:extLst>
              <a:ext uri="{FF2B5EF4-FFF2-40B4-BE49-F238E27FC236}">
                <a16:creationId xmlns:a16="http://schemas.microsoft.com/office/drawing/2014/main" id="{C8F34714-ED17-407F-AE23-F335171D40F9}"/>
              </a:ext>
            </a:extLst>
          </p:cNvPr>
          <p:cNvCxnSpPr>
            <a:cxnSpLocks/>
            <a:stCxn id="55" idx="6"/>
            <a:endCxn id="67" idx="2"/>
          </p:cNvCxnSpPr>
          <p:nvPr/>
        </p:nvCxnSpPr>
        <p:spPr>
          <a:xfrm flipV="1">
            <a:off x="481741" y="3992668"/>
            <a:ext cx="498134" cy="112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avec flèche 156">
            <a:extLst>
              <a:ext uri="{FF2B5EF4-FFF2-40B4-BE49-F238E27FC236}">
                <a16:creationId xmlns:a16="http://schemas.microsoft.com/office/drawing/2014/main" id="{11C29E20-4F14-48EE-8B99-B15DCE8FE459}"/>
              </a:ext>
            </a:extLst>
          </p:cNvPr>
          <p:cNvCxnSpPr>
            <a:cxnSpLocks/>
            <a:stCxn id="67" idx="6"/>
            <a:endCxn id="63" idx="3"/>
          </p:cNvCxnSpPr>
          <p:nvPr/>
        </p:nvCxnSpPr>
        <p:spPr>
          <a:xfrm flipV="1">
            <a:off x="1735875" y="3666088"/>
            <a:ext cx="215099" cy="32658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ZoneTexte 171">
            <a:extLst>
              <a:ext uri="{FF2B5EF4-FFF2-40B4-BE49-F238E27FC236}">
                <a16:creationId xmlns:a16="http://schemas.microsoft.com/office/drawing/2014/main" id="{FC9E10F5-CF7C-4375-8100-F33BAF27CF9B}"/>
              </a:ext>
            </a:extLst>
          </p:cNvPr>
          <p:cNvSpPr txBox="1"/>
          <p:nvPr/>
        </p:nvSpPr>
        <p:spPr>
          <a:xfrm>
            <a:off x="1616214" y="3557616"/>
            <a:ext cx="5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T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63" name="Ellipse 155">
            <a:extLst>
              <a:ext uri="{FF2B5EF4-FFF2-40B4-BE49-F238E27FC236}">
                <a16:creationId xmlns:a16="http://schemas.microsoft.com/office/drawing/2014/main" id="{7EE4BAE6-2144-4612-9A80-2C6D6EAE387B}"/>
              </a:ext>
            </a:extLst>
          </p:cNvPr>
          <p:cNvSpPr/>
          <p:nvPr/>
        </p:nvSpPr>
        <p:spPr>
          <a:xfrm>
            <a:off x="1850805" y="3235897"/>
            <a:ext cx="684000" cy="50400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FF3300"/>
                </a:solidFill>
              </a:rPr>
              <a:t>AND</a:t>
            </a:r>
          </a:p>
        </p:txBody>
      </p:sp>
      <p:cxnSp>
        <p:nvCxnSpPr>
          <p:cNvPr id="116" name="Connecteur droit avec flèche 156">
            <a:extLst>
              <a:ext uri="{FF2B5EF4-FFF2-40B4-BE49-F238E27FC236}">
                <a16:creationId xmlns:a16="http://schemas.microsoft.com/office/drawing/2014/main" id="{C9BF3266-BBA7-4D08-AD90-482B6A941E88}"/>
              </a:ext>
            </a:extLst>
          </p:cNvPr>
          <p:cNvCxnSpPr>
            <a:cxnSpLocks/>
            <a:stCxn id="63" idx="6"/>
          </p:cNvCxnSpPr>
          <p:nvPr/>
        </p:nvCxnSpPr>
        <p:spPr>
          <a:xfrm>
            <a:off x="2534805" y="3487897"/>
            <a:ext cx="234591" cy="938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ZoneTexte 171">
            <a:extLst>
              <a:ext uri="{FF2B5EF4-FFF2-40B4-BE49-F238E27FC236}">
                <a16:creationId xmlns:a16="http://schemas.microsoft.com/office/drawing/2014/main" id="{DEB70EE6-CAF2-4B72-AFE4-02C2FB3EBC0A}"/>
              </a:ext>
            </a:extLst>
          </p:cNvPr>
          <p:cNvSpPr txBox="1"/>
          <p:nvPr/>
        </p:nvSpPr>
        <p:spPr>
          <a:xfrm>
            <a:off x="2491655" y="3121223"/>
            <a:ext cx="25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F</a:t>
            </a:r>
            <a:endParaRPr lang="fr-FR" sz="1400" b="1" dirty="0">
              <a:solidFill>
                <a:srgbClr val="0066FF"/>
              </a:solidFill>
            </a:endParaRPr>
          </a:p>
        </p:txBody>
      </p:sp>
      <p:cxnSp>
        <p:nvCxnSpPr>
          <p:cNvPr id="108" name="Connecteur droit 4">
            <a:extLst>
              <a:ext uri="{FF2B5EF4-FFF2-40B4-BE49-F238E27FC236}">
                <a16:creationId xmlns:a16="http://schemas.microsoft.com/office/drawing/2014/main" id="{DC662E2A-C6FE-42D0-A2D5-A8DCB4A9B834}"/>
              </a:ext>
            </a:extLst>
          </p:cNvPr>
          <p:cNvCxnSpPr>
            <a:cxnSpLocks/>
            <a:stCxn id="150" idx="6"/>
            <a:endCxn id="155" idx="1"/>
          </p:cNvCxnSpPr>
          <p:nvPr/>
        </p:nvCxnSpPr>
        <p:spPr>
          <a:xfrm>
            <a:off x="791318" y="527096"/>
            <a:ext cx="356547" cy="521582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Ellipse 167">
            <a:extLst>
              <a:ext uri="{FF2B5EF4-FFF2-40B4-BE49-F238E27FC236}">
                <a16:creationId xmlns:a16="http://schemas.microsoft.com/office/drawing/2014/main" id="{B7A8CE4A-10AF-41B0-B08D-6EE67A2D9EBD}"/>
              </a:ext>
            </a:extLst>
          </p:cNvPr>
          <p:cNvSpPr/>
          <p:nvPr/>
        </p:nvSpPr>
        <p:spPr>
          <a:xfrm>
            <a:off x="189008" y="1284988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F4B1BCD3-6088-4835-B787-976166372923}"/>
              </a:ext>
            </a:extLst>
          </p:cNvPr>
          <p:cNvSpPr/>
          <p:nvPr/>
        </p:nvSpPr>
        <p:spPr>
          <a:xfrm>
            <a:off x="250278" y="327519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150" name="Ellipse 151">
            <a:extLst>
              <a:ext uri="{FF2B5EF4-FFF2-40B4-BE49-F238E27FC236}">
                <a16:creationId xmlns:a16="http://schemas.microsoft.com/office/drawing/2014/main" id="{03CAE092-F06C-437C-9A6E-E99ED8D6B942}"/>
              </a:ext>
            </a:extLst>
          </p:cNvPr>
          <p:cNvSpPr/>
          <p:nvPr/>
        </p:nvSpPr>
        <p:spPr>
          <a:xfrm>
            <a:off x="179318" y="293096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0BDCD19A-3F1F-41A5-A877-34BB8B17C993}"/>
              </a:ext>
            </a:extLst>
          </p:cNvPr>
          <p:cNvSpPr/>
          <p:nvPr/>
        </p:nvSpPr>
        <p:spPr>
          <a:xfrm>
            <a:off x="322703" y="1283352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52" name="Connecteur droit 4">
            <a:extLst>
              <a:ext uri="{FF2B5EF4-FFF2-40B4-BE49-F238E27FC236}">
                <a16:creationId xmlns:a16="http://schemas.microsoft.com/office/drawing/2014/main" id="{A5237210-CC9D-4F27-A4EC-860567B00C0C}"/>
              </a:ext>
            </a:extLst>
          </p:cNvPr>
          <p:cNvCxnSpPr>
            <a:cxnSpLocks/>
            <a:stCxn id="114" idx="6"/>
            <a:endCxn id="155" idx="1"/>
          </p:cNvCxnSpPr>
          <p:nvPr/>
        </p:nvCxnSpPr>
        <p:spPr>
          <a:xfrm flipV="1">
            <a:off x="801008" y="1048678"/>
            <a:ext cx="346857" cy="47031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eur droit avec flèche 156">
            <a:extLst>
              <a:ext uri="{FF2B5EF4-FFF2-40B4-BE49-F238E27FC236}">
                <a16:creationId xmlns:a16="http://schemas.microsoft.com/office/drawing/2014/main" id="{BB6ECA5F-302C-4DED-8CD1-5815403556B8}"/>
              </a:ext>
            </a:extLst>
          </p:cNvPr>
          <p:cNvCxnSpPr>
            <a:cxnSpLocks/>
            <a:stCxn id="155" idx="3"/>
          </p:cNvCxnSpPr>
          <p:nvPr/>
        </p:nvCxnSpPr>
        <p:spPr>
          <a:xfrm>
            <a:off x="1922214" y="1048678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ZoneTexte 171">
            <a:extLst>
              <a:ext uri="{FF2B5EF4-FFF2-40B4-BE49-F238E27FC236}">
                <a16:creationId xmlns:a16="http://schemas.microsoft.com/office/drawing/2014/main" id="{F5D1DB81-240C-4E8A-B3DB-6B1DD76F4FA9}"/>
              </a:ext>
            </a:extLst>
          </p:cNvPr>
          <p:cNvSpPr txBox="1"/>
          <p:nvPr/>
        </p:nvSpPr>
        <p:spPr>
          <a:xfrm>
            <a:off x="2047865" y="599272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F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415F7B35-7EC5-4DF4-B53D-39F4045D2FA2}"/>
              </a:ext>
            </a:extLst>
          </p:cNvPr>
          <p:cNvSpPr/>
          <p:nvPr/>
        </p:nvSpPr>
        <p:spPr>
          <a:xfrm>
            <a:off x="1147865" y="724811"/>
            <a:ext cx="774349" cy="6477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XOR</a:t>
            </a:r>
          </a:p>
        </p:txBody>
      </p:sp>
      <p:cxnSp>
        <p:nvCxnSpPr>
          <p:cNvPr id="156" name="Connecteur droit 4">
            <a:extLst>
              <a:ext uri="{FF2B5EF4-FFF2-40B4-BE49-F238E27FC236}">
                <a16:creationId xmlns:a16="http://schemas.microsoft.com/office/drawing/2014/main" id="{E0B3E924-A370-4AD5-9A86-1EBD6D6814B5}"/>
              </a:ext>
            </a:extLst>
          </p:cNvPr>
          <p:cNvCxnSpPr>
            <a:cxnSpLocks/>
            <a:stCxn id="159" idx="6"/>
            <a:endCxn id="164" idx="1"/>
          </p:cNvCxnSpPr>
          <p:nvPr/>
        </p:nvCxnSpPr>
        <p:spPr>
          <a:xfrm>
            <a:off x="10198293" y="375006"/>
            <a:ext cx="356547" cy="521582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Ellipse 167">
            <a:extLst>
              <a:ext uri="{FF2B5EF4-FFF2-40B4-BE49-F238E27FC236}">
                <a16:creationId xmlns:a16="http://schemas.microsoft.com/office/drawing/2014/main" id="{9511EAF5-DF55-4869-A6FE-EE46F28A236C}"/>
              </a:ext>
            </a:extLst>
          </p:cNvPr>
          <p:cNvSpPr/>
          <p:nvPr/>
        </p:nvSpPr>
        <p:spPr>
          <a:xfrm>
            <a:off x="9595983" y="1132898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63ABE7C8-4FE3-43CC-BC9A-2856B76E89ED}"/>
              </a:ext>
            </a:extLst>
          </p:cNvPr>
          <p:cNvSpPr/>
          <p:nvPr/>
        </p:nvSpPr>
        <p:spPr>
          <a:xfrm>
            <a:off x="9657253" y="175429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159" name="Ellipse 151">
            <a:extLst>
              <a:ext uri="{FF2B5EF4-FFF2-40B4-BE49-F238E27FC236}">
                <a16:creationId xmlns:a16="http://schemas.microsoft.com/office/drawing/2014/main" id="{0485128F-F18B-419C-9600-5823C949F089}"/>
              </a:ext>
            </a:extLst>
          </p:cNvPr>
          <p:cNvSpPr/>
          <p:nvPr/>
        </p:nvSpPr>
        <p:spPr>
          <a:xfrm>
            <a:off x="9586293" y="141006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2FA01D03-6034-4014-93DA-2A1A734C3FEF}"/>
              </a:ext>
            </a:extLst>
          </p:cNvPr>
          <p:cNvSpPr/>
          <p:nvPr/>
        </p:nvSpPr>
        <p:spPr>
          <a:xfrm>
            <a:off x="9729678" y="1131262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61" name="Connecteur droit 4">
            <a:extLst>
              <a:ext uri="{FF2B5EF4-FFF2-40B4-BE49-F238E27FC236}">
                <a16:creationId xmlns:a16="http://schemas.microsoft.com/office/drawing/2014/main" id="{22624802-D7C6-41EE-AF23-329E40F5B069}"/>
              </a:ext>
            </a:extLst>
          </p:cNvPr>
          <p:cNvCxnSpPr>
            <a:cxnSpLocks/>
            <a:stCxn id="157" idx="6"/>
            <a:endCxn id="164" idx="1"/>
          </p:cNvCxnSpPr>
          <p:nvPr/>
        </p:nvCxnSpPr>
        <p:spPr>
          <a:xfrm flipV="1">
            <a:off x="10207983" y="896588"/>
            <a:ext cx="346857" cy="47031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necteur droit avec flèche 156">
            <a:extLst>
              <a:ext uri="{FF2B5EF4-FFF2-40B4-BE49-F238E27FC236}">
                <a16:creationId xmlns:a16="http://schemas.microsoft.com/office/drawing/2014/main" id="{05623557-7177-412F-A191-42E25F3950D0}"/>
              </a:ext>
            </a:extLst>
          </p:cNvPr>
          <p:cNvCxnSpPr>
            <a:cxnSpLocks/>
            <a:stCxn id="164" idx="3"/>
          </p:cNvCxnSpPr>
          <p:nvPr/>
        </p:nvCxnSpPr>
        <p:spPr>
          <a:xfrm>
            <a:off x="11329189" y="896588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ZoneTexte 171">
            <a:extLst>
              <a:ext uri="{FF2B5EF4-FFF2-40B4-BE49-F238E27FC236}">
                <a16:creationId xmlns:a16="http://schemas.microsoft.com/office/drawing/2014/main" id="{7C399B13-4396-4981-8781-CBF73AA0FAD2}"/>
              </a:ext>
            </a:extLst>
          </p:cNvPr>
          <p:cNvSpPr txBox="1"/>
          <p:nvPr/>
        </p:nvSpPr>
        <p:spPr>
          <a:xfrm>
            <a:off x="11454840" y="447182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81EF596D-9D91-4D16-B00F-49F893D0989C}"/>
              </a:ext>
            </a:extLst>
          </p:cNvPr>
          <p:cNvSpPr/>
          <p:nvPr/>
        </p:nvSpPr>
        <p:spPr>
          <a:xfrm>
            <a:off x="10554840" y="572721"/>
            <a:ext cx="774349" cy="6477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XOR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F1253FEA-7A06-4C45-B0F7-AAA7E1208F1F}"/>
              </a:ext>
            </a:extLst>
          </p:cNvPr>
          <p:cNvSpPr txBox="1"/>
          <p:nvPr/>
        </p:nvSpPr>
        <p:spPr>
          <a:xfrm>
            <a:off x="99239" y="-47370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55B46EC-765A-4592-B10F-2AFEC1532B22}"/>
              </a:ext>
            </a:extLst>
          </p:cNvPr>
          <p:cNvSpPr txBox="1"/>
          <p:nvPr/>
        </p:nvSpPr>
        <p:spPr>
          <a:xfrm>
            <a:off x="127814" y="1038472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x2</a:t>
            </a:r>
          </a:p>
        </p:txBody>
      </p:sp>
      <p:cxnSp>
        <p:nvCxnSpPr>
          <p:cNvPr id="167" name="Connecteur droit 4">
            <a:extLst>
              <a:ext uri="{FF2B5EF4-FFF2-40B4-BE49-F238E27FC236}">
                <a16:creationId xmlns:a16="http://schemas.microsoft.com/office/drawing/2014/main" id="{3004DB57-889B-4AB3-8E35-49789CA40F55}"/>
              </a:ext>
            </a:extLst>
          </p:cNvPr>
          <p:cNvCxnSpPr>
            <a:cxnSpLocks/>
            <a:stCxn id="170" idx="6"/>
            <a:endCxn id="175" idx="1"/>
          </p:cNvCxnSpPr>
          <p:nvPr/>
        </p:nvCxnSpPr>
        <p:spPr>
          <a:xfrm>
            <a:off x="4001248" y="493752"/>
            <a:ext cx="356547" cy="521582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Ellipse 167">
            <a:extLst>
              <a:ext uri="{FF2B5EF4-FFF2-40B4-BE49-F238E27FC236}">
                <a16:creationId xmlns:a16="http://schemas.microsoft.com/office/drawing/2014/main" id="{A0CA7FB9-9AA7-4EB9-84AA-CEAB3570A179}"/>
              </a:ext>
            </a:extLst>
          </p:cNvPr>
          <p:cNvSpPr/>
          <p:nvPr/>
        </p:nvSpPr>
        <p:spPr>
          <a:xfrm>
            <a:off x="3398938" y="1251644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8F9A17C9-E935-40A2-874F-D4C60D20A5A0}"/>
              </a:ext>
            </a:extLst>
          </p:cNvPr>
          <p:cNvSpPr/>
          <p:nvPr/>
        </p:nvSpPr>
        <p:spPr>
          <a:xfrm>
            <a:off x="3460208" y="294175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170" name="Ellipse 151">
            <a:extLst>
              <a:ext uri="{FF2B5EF4-FFF2-40B4-BE49-F238E27FC236}">
                <a16:creationId xmlns:a16="http://schemas.microsoft.com/office/drawing/2014/main" id="{B892F8F2-F53A-4900-9D67-8BD5AE2B146E}"/>
              </a:ext>
            </a:extLst>
          </p:cNvPr>
          <p:cNvSpPr/>
          <p:nvPr/>
        </p:nvSpPr>
        <p:spPr>
          <a:xfrm>
            <a:off x="3389248" y="259752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DBC247C0-27E0-4563-88BC-7E03DA83BCCB}"/>
              </a:ext>
            </a:extLst>
          </p:cNvPr>
          <p:cNvSpPr/>
          <p:nvPr/>
        </p:nvSpPr>
        <p:spPr>
          <a:xfrm>
            <a:off x="3532633" y="1250008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72" name="Connecteur droit 4">
            <a:extLst>
              <a:ext uri="{FF2B5EF4-FFF2-40B4-BE49-F238E27FC236}">
                <a16:creationId xmlns:a16="http://schemas.microsoft.com/office/drawing/2014/main" id="{5123365A-45C6-4ED0-959F-2A9CD40B4F74}"/>
              </a:ext>
            </a:extLst>
          </p:cNvPr>
          <p:cNvCxnSpPr>
            <a:cxnSpLocks/>
            <a:stCxn id="168" idx="6"/>
            <a:endCxn id="175" idx="1"/>
          </p:cNvCxnSpPr>
          <p:nvPr/>
        </p:nvCxnSpPr>
        <p:spPr>
          <a:xfrm flipV="1">
            <a:off x="4010938" y="1015334"/>
            <a:ext cx="346857" cy="47031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cteur droit avec flèche 156">
            <a:extLst>
              <a:ext uri="{FF2B5EF4-FFF2-40B4-BE49-F238E27FC236}">
                <a16:creationId xmlns:a16="http://schemas.microsoft.com/office/drawing/2014/main" id="{BF6F2DF7-F898-41F7-AA45-68F15443A1C1}"/>
              </a:ext>
            </a:extLst>
          </p:cNvPr>
          <p:cNvCxnSpPr>
            <a:cxnSpLocks/>
            <a:stCxn id="175" idx="3"/>
          </p:cNvCxnSpPr>
          <p:nvPr/>
        </p:nvCxnSpPr>
        <p:spPr>
          <a:xfrm>
            <a:off x="5132144" y="1015334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ZoneTexte 171">
            <a:extLst>
              <a:ext uri="{FF2B5EF4-FFF2-40B4-BE49-F238E27FC236}">
                <a16:creationId xmlns:a16="http://schemas.microsoft.com/office/drawing/2014/main" id="{3022C671-1966-4142-A048-E6EF3867321F}"/>
              </a:ext>
            </a:extLst>
          </p:cNvPr>
          <p:cNvSpPr txBox="1"/>
          <p:nvPr/>
        </p:nvSpPr>
        <p:spPr>
          <a:xfrm>
            <a:off x="5272083" y="565928"/>
            <a:ext cx="356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F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EECF57F6-C1F7-4B1D-A566-50F200FF156B}"/>
              </a:ext>
            </a:extLst>
          </p:cNvPr>
          <p:cNvSpPr/>
          <p:nvPr/>
        </p:nvSpPr>
        <p:spPr>
          <a:xfrm>
            <a:off x="4357795" y="691467"/>
            <a:ext cx="774349" cy="6477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XOR</a:t>
            </a:r>
          </a:p>
        </p:txBody>
      </p:sp>
      <p:cxnSp>
        <p:nvCxnSpPr>
          <p:cNvPr id="176" name="Connecteur droit 4">
            <a:extLst>
              <a:ext uri="{FF2B5EF4-FFF2-40B4-BE49-F238E27FC236}">
                <a16:creationId xmlns:a16="http://schemas.microsoft.com/office/drawing/2014/main" id="{7725FDD2-C531-485C-BE74-A776AE79F611}"/>
              </a:ext>
            </a:extLst>
          </p:cNvPr>
          <p:cNvCxnSpPr>
            <a:cxnSpLocks/>
            <a:stCxn id="179" idx="6"/>
            <a:endCxn id="184" idx="1"/>
          </p:cNvCxnSpPr>
          <p:nvPr/>
        </p:nvCxnSpPr>
        <p:spPr>
          <a:xfrm>
            <a:off x="7082583" y="546136"/>
            <a:ext cx="356547" cy="521582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Ellipse 167">
            <a:extLst>
              <a:ext uri="{FF2B5EF4-FFF2-40B4-BE49-F238E27FC236}">
                <a16:creationId xmlns:a16="http://schemas.microsoft.com/office/drawing/2014/main" id="{F97A39EF-0957-49A6-ADD5-466FF739DEE6}"/>
              </a:ext>
            </a:extLst>
          </p:cNvPr>
          <p:cNvSpPr/>
          <p:nvPr/>
        </p:nvSpPr>
        <p:spPr>
          <a:xfrm>
            <a:off x="6480273" y="1304028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E0BE415C-0AEF-4B4C-9213-454515542AA1}"/>
              </a:ext>
            </a:extLst>
          </p:cNvPr>
          <p:cNvSpPr/>
          <p:nvPr/>
        </p:nvSpPr>
        <p:spPr>
          <a:xfrm>
            <a:off x="6541543" y="346559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179" name="Ellipse 151">
            <a:extLst>
              <a:ext uri="{FF2B5EF4-FFF2-40B4-BE49-F238E27FC236}">
                <a16:creationId xmlns:a16="http://schemas.microsoft.com/office/drawing/2014/main" id="{E4906871-9AA5-4B11-A495-899A6262894C}"/>
              </a:ext>
            </a:extLst>
          </p:cNvPr>
          <p:cNvSpPr/>
          <p:nvPr/>
        </p:nvSpPr>
        <p:spPr>
          <a:xfrm>
            <a:off x="6470583" y="312136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C8C707FA-9B59-4139-9A0A-4826A2B38088}"/>
              </a:ext>
            </a:extLst>
          </p:cNvPr>
          <p:cNvSpPr/>
          <p:nvPr/>
        </p:nvSpPr>
        <p:spPr>
          <a:xfrm>
            <a:off x="6613968" y="1302392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81" name="Connecteur droit 4">
            <a:extLst>
              <a:ext uri="{FF2B5EF4-FFF2-40B4-BE49-F238E27FC236}">
                <a16:creationId xmlns:a16="http://schemas.microsoft.com/office/drawing/2014/main" id="{009DB4E1-EA01-452D-A9DD-EFA5C5B94BFC}"/>
              </a:ext>
            </a:extLst>
          </p:cNvPr>
          <p:cNvCxnSpPr>
            <a:cxnSpLocks/>
            <a:stCxn id="177" idx="6"/>
            <a:endCxn id="184" idx="1"/>
          </p:cNvCxnSpPr>
          <p:nvPr/>
        </p:nvCxnSpPr>
        <p:spPr>
          <a:xfrm flipV="1">
            <a:off x="7092273" y="1067718"/>
            <a:ext cx="346857" cy="47031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eur droit avec flèche 156">
            <a:extLst>
              <a:ext uri="{FF2B5EF4-FFF2-40B4-BE49-F238E27FC236}">
                <a16:creationId xmlns:a16="http://schemas.microsoft.com/office/drawing/2014/main" id="{683CA42B-E43B-41E3-9AAC-00D8A0CC99A1}"/>
              </a:ext>
            </a:extLst>
          </p:cNvPr>
          <p:cNvCxnSpPr>
            <a:cxnSpLocks/>
            <a:stCxn id="184" idx="3"/>
          </p:cNvCxnSpPr>
          <p:nvPr/>
        </p:nvCxnSpPr>
        <p:spPr>
          <a:xfrm>
            <a:off x="8213479" y="1067718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ZoneTexte 171">
            <a:extLst>
              <a:ext uri="{FF2B5EF4-FFF2-40B4-BE49-F238E27FC236}">
                <a16:creationId xmlns:a16="http://schemas.microsoft.com/office/drawing/2014/main" id="{675F6606-BBDC-4E9E-9FCB-7DCB5615414F}"/>
              </a:ext>
            </a:extLst>
          </p:cNvPr>
          <p:cNvSpPr txBox="1"/>
          <p:nvPr/>
        </p:nvSpPr>
        <p:spPr>
          <a:xfrm>
            <a:off x="8353418" y="618312"/>
            <a:ext cx="356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56C8F9DB-186D-4B00-95F0-8C5A61D685A1}"/>
              </a:ext>
            </a:extLst>
          </p:cNvPr>
          <p:cNvSpPr/>
          <p:nvPr/>
        </p:nvSpPr>
        <p:spPr>
          <a:xfrm>
            <a:off x="7439130" y="743851"/>
            <a:ext cx="774349" cy="6477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XOR</a:t>
            </a:r>
          </a:p>
        </p:txBody>
      </p:sp>
      <p:sp>
        <p:nvSpPr>
          <p:cNvPr id="185" name="Ellipse 155">
            <a:extLst>
              <a:ext uri="{FF2B5EF4-FFF2-40B4-BE49-F238E27FC236}">
                <a16:creationId xmlns:a16="http://schemas.microsoft.com/office/drawing/2014/main" id="{AAEAC967-245B-4957-8410-365F13FEAB1A}"/>
              </a:ext>
            </a:extLst>
          </p:cNvPr>
          <p:cNvSpPr/>
          <p:nvPr/>
        </p:nvSpPr>
        <p:spPr>
          <a:xfrm>
            <a:off x="4161121" y="2771164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186" name="Connecteur droit 4">
            <a:extLst>
              <a:ext uri="{FF2B5EF4-FFF2-40B4-BE49-F238E27FC236}">
                <a16:creationId xmlns:a16="http://schemas.microsoft.com/office/drawing/2014/main" id="{0AAF6824-1438-4410-A66E-9D6895ED82BA}"/>
              </a:ext>
            </a:extLst>
          </p:cNvPr>
          <p:cNvCxnSpPr>
            <a:cxnSpLocks/>
            <a:stCxn id="189" idx="6"/>
            <a:endCxn id="185" idx="2"/>
          </p:cNvCxnSpPr>
          <p:nvPr/>
        </p:nvCxnSpPr>
        <p:spPr>
          <a:xfrm>
            <a:off x="3663097" y="2997129"/>
            <a:ext cx="498024" cy="486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Ellipse 167">
            <a:extLst>
              <a:ext uri="{FF2B5EF4-FFF2-40B4-BE49-F238E27FC236}">
                <a16:creationId xmlns:a16="http://schemas.microsoft.com/office/drawing/2014/main" id="{8686109C-50D5-47F9-8CA9-FFA8D153A458}"/>
              </a:ext>
            </a:extLst>
          </p:cNvPr>
          <p:cNvSpPr/>
          <p:nvPr/>
        </p:nvSpPr>
        <p:spPr>
          <a:xfrm>
            <a:off x="3252019" y="3755021"/>
            <a:ext cx="41107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08EF327-C63C-4AC1-A3D5-D7BDE8E63B22}"/>
              </a:ext>
            </a:extLst>
          </p:cNvPr>
          <p:cNvSpPr/>
          <p:nvPr/>
        </p:nvSpPr>
        <p:spPr>
          <a:xfrm>
            <a:off x="3313289" y="2797552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189" name="Ellipse 151">
            <a:extLst>
              <a:ext uri="{FF2B5EF4-FFF2-40B4-BE49-F238E27FC236}">
                <a16:creationId xmlns:a16="http://schemas.microsoft.com/office/drawing/2014/main" id="{8125A19A-0E14-4E6D-A30B-EBD1C9E39485}"/>
              </a:ext>
            </a:extLst>
          </p:cNvPr>
          <p:cNvSpPr/>
          <p:nvPr/>
        </p:nvSpPr>
        <p:spPr>
          <a:xfrm>
            <a:off x="3242329" y="2763129"/>
            <a:ext cx="42076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7B9005E3-EA7A-409E-9631-5F71C6D8F8ED}"/>
              </a:ext>
            </a:extLst>
          </p:cNvPr>
          <p:cNvSpPr/>
          <p:nvPr/>
        </p:nvSpPr>
        <p:spPr>
          <a:xfrm>
            <a:off x="3228548" y="3767673"/>
            <a:ext cx="4671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91" name="Connecteur droit 4">
            <a:extLst>
              <a:ext uri="{FF2B5EF4-FFF2-40B4-BE49-F238E27FC236}">
                <a16:creationId xmlns:a16="http://schemas.microsoft.com/office/drawing/2014/main" id="{335EE2F7-A78F-4B1E-9031-3FCE894FEB9F}"/>
              </a:ext>
            </a:extLst>
          </p:cNvPr>
          <p:cNvCxnSpPr>
            <a:cxnSpLocks/>
            <a:stCxn id="187" idx="6"/>
            <a:endCxn id="185" idx="2"/>
          </p:cNvCxnSpPr>
          <p:nvPr/>
        </p:nvCxnSpPr>
        <p:spPr>
          <a:xfrm flipV="1">
            <a:off x="3663097" y="3001996"/>
            <a:ext cx="498024" cy="9870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Connecteur droit avec flèche 156">
            <a:extLst>
              <a:ext uri="{FF2B5EF4-FFF2-40B4-BE49-F238E27FC236}">
                <a16:creationId xmlns:a16="http://schemas.microsoft.com/office/drawing/2014/main" id="{A31233E1-62DE-41E4-AA9F-AA2098F0D373}"/>
              </a:ext>
            </a:extLst>
          </p:cNvPr>
          <p:cNvCxnSpPr>
            <a:cxnSpLocks/>
            <a:stCxn id="185" idx="6"/>
            <a:endCxn id="199" idx="1"/>
          </p:cNvCxnSpPr>
          <p:nvPr/>
        </p:nvCxnSpPr>
        <p:spPr>
          <a:xfrm>
            <a:off x="4917121" y="3001996"/>
            <a:ext cx="215209" cy="30294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ZoneTexte 171">
            <a:extLst>
              <a:ext uri="{FF2B5EF4-FFF2-40B4-BE49-F238E27FC236}">
                <a16:creationId xmlns:a16="http://schemas.microsoft.com/office/drawing/2014/main" id="{FD1099C9-13A0-4A3A-98DB-1DEB894E5D77}"/>
              </a:ext>
            </a:extLst>
          </p:cNvPr>
          <p:cNvSpPr txBox="1"/>
          <p:nvPr/>
        </p:nvSpPr>
        <p:spPr>
          <a:xfrm>
            <a:off x="5000691" y="2890648"/>
            <a:ext cx="5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T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194" name="Ellipse 155">
            <a:extLst>
              <a:ext uri="{FF2B5EF4-FFF2-40B4-BE49-F238E27FC236}">
                <a16:creationId xmlns:a16="http://schemas.microsoft.com/office/drawing/2014/main" id="{C0FA0B42-EDF9-4072-823B-3983183A0410}"/>
              </a:ext>
            </a:extLst>
          </p:cNvPr>
          <p:cNvSpPr/>
          <p:nvPr/>
        </p:nvSpPr>
        <p:spPr>
          <a:xfrm>
            <a:off x="4161231" y="3757068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195" name="Connecteur droit 4">
            <a:extLst>
              <a:ext uri="{FF2B5EF4-FFF2-40B4-BE49-F238E27FC236}">
                <a16:creationId xmlns:a16="http://schemas.microsoft.com/office/drawing/2014/main" id="{6EB98135-FDC9-4163-A3D4-6DF351B0F914}"/>
              </a:ext>
            </a:extLst>
          </p:cNvPr>
          <p:cNvCxnSpPr>
            <a:cxnSpLocks/>
            <a:stCxn id="189" idx="6"/>
            <a:endCxn id="194" idx="2"/>
          </p:cNvCxnSpPr>
          <p:nvPr/>
        </p:nvCxnSpPr>
        <p:spPr>
          <a:xfrm>
            <a:off x="3663097" y="2997129"/>
            <a:ext cx="498134" cy="99077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Connecteur droit 4">
            <a:extLst>
              <a:ext uri="{FF2B5EF4-FFF2-40B4-BE49-F238E27FC236}">
                <a16:creationId xmlns:a16="http://schemas.microsoft.com/office/drawing/2014/main" id="{896D1899-8490-4AC2-AC9B-AC3C3A1BD68B}"/>
              </a:ext>
            </a:extLst>
          </p:cNvPr>
          <p:cNvCxnSpPr>
            <a:cxnSpLocks/>
            <a:stCxn id="187" idx="6"/>
            <a:endCxn id="194" idx="2"/>
          </p:cNvCxnSpPr>
          <p:nvPr/>
        </p:nvCxnSpPr>
        <p:spPr>
          <a:xfrm flipV="1">
            <a:off x="3663097" y="3987900"/>
            <a:ext cx="498134" cy="112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Connecteur droit avec flèche 156">
            <a:extLst>
              <a:ext uri="{FF2B5EF4-FFF2-40B4-BE49-F238E27FC236}">
                <a16:creationId xmlns:a16="http://schemas.microsoft.com/office/drawing/2014/main" id="{8DA216DB-E49A-49E5-9BCD-9B3064AA4C21}"/>
              </a:ext>
            </a:extLst>
          </p:cNvPr>
          <p:cNvCxnSpPr>
            <a:cxnSpLocks/>
            <a:stCxn id="194" idx="6"/>
            <a:endCxn id="199" idx="3"/>
          </p:cNvCxnSpPr>
          <p:nvPr/>
        </p:nvCxnSpPr>
        <p:spPr>
          <a:xfrm flipV="1">
            <a:off x="4917231" y="3661320"/>
            <a:ext cx="215099" cy="32658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ZoneTexte 171">
            <a:extLst>
              <a:ext uri="{FF2B5EF4-FFF2-40B4-BE49-F238E27FC236}">
                <a16:creationId xmlns:a16="http://schemas.microsoft.com/office/drawing/2014/main" id="{298F3358-5ACE-4DCC-BD43-DE49187240F8}"/>
              </a:ext>
            </a:extLst>
          </p:cNvPr>
          <p:cNvSpPr txBox="1"/>
          <p:nvPr/>
        </p:nvSpPr>
        <p:spPr>
          <a:xfrm>
            <a:off x="4798161" y="3553063"/>
            <a:ext cx="5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F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199" name="Ellipse 155">
            <a:extLst>
              <a:ext uri="{FF2B5EF4-FFF2-40B4-BE49-F238E27FC236}">
                <a16:creationId xmlns:a16="http://schemas.microsoft.com/office/drawing/2014/main" id="{30D36AED-1EA0-4CA9-BC0E-5D30F43CDE07}"/>
              </a:ext>
            </a:extLst>
          </p:cNvPr>
          <p:cNvSpPr/>
          <p:nvPr/>
        </p:nvSpPr>
        <p:spPr>
          <a:xfrm>
            <a:off x="5032161" y="3231129"/>
            <a:ext cx="684000" cy="50400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FF3300"/>
                </a:solidFill>
              </a:rPr>
              <a:t>AND</a:t>
            </a:r>
          </a:p>
        </p:txBody>
      </p:sp>
      <p:cxnSp>
        <p:nvCxnSpPr>
          <p:cNvPr id="200" name="Connecteur droit avec flèche 156">
            <a:extLst>
              <a:ext uri="{FF2B5EF4-FFF2-40B4-BE49-F238E27FC236}">
                <a16:creationId xmlns:a16="http://schemas.microsoft.com/office/drawing/2014/main" id="{5896FD6A-F1F2-4FE2-8049-AF8DC9C5263B}"/>
              </a:ext>
            </a:extLst>
          </p:cNvPr>
          <p:cNvCxnSpPr>
            <a:cxnSpLocks/>
            <a:stCxn id="199" idx="6"/>
          </p:cNvCxnSpPr>
          <p:nvPr/>
        </p:nvCxnSpPr>
        <p:spPr>
          <a:xfrm>
            <a:off x="5716161" y="3483129"/>
            <a:ext cx="234591" cy="938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ZoneTexte 171">
            <a:extLst>
              <a:ext uri="{FF2B5EF4-FFF2-40B4-BE49-F238E27FC236}">
                <a16:creationId xmlns:a16="http://schemas.microsoft.com/office/drawing/2014/main" id="{3B8E0736-E65E-4EEC-BD30-0E3D353A21EA}"/>
              </a:ext>
            </a:extLst>
          </p:cNvPr>
          <p:cNvSpPr txBox="1"/>
          <p:nvPr/>
        </p:nvSpPr>
        <p:spPr>
          <a:xfrm>
            <a:off x="5673011" y="3116455"/>
            <a:ext cx="25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F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202" name="Ellipse 155">
            <a:extLst>
              <a:ext uri="{FF2B5EF4-FFF2-40B4-BE49-F238E27FC236}">
                <a16:creationId xmlns:a16="http://schemas.microsoft.com/office/drawing/2014/main" id="{D02CA68A-D72D-4316-9F13-2D7ACEED92F1}"/>
              </a:ext>
            </a:extLst>
          </p:cNvPr>
          <p:cNvSpPr/>
          <p:nvPr/>
        </p:nvSpPr>
        <p:spPr>
          <a:xfrm>
            <a:off x="7344191" y="2689437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203" name="Connecteur droit 4">
            <a:extLst>
              <a:ext uri="{FF2B5EF4-FFF2-40B4-BE49-F238E27FC236}">
                <a16:creationId xmlns:a16="http://schemas.microsoft.com/office/drawing/2014/main" id="{0CB3A9A2-DE50-4A1C-85BD-13700F05164F}"/>
              </a:ext>
            </a:extLst>
          </p:cNvPr>
          <p:cNvCxnSpPr>
            <a:cxnSpLocks/>
            <a:stCxn id="206" idx="6"/>
            <a:endCxn id="202" idx="2"/>
          </p:cNvCxnSpPr>
          <p:nvPr/>
        </p:nvCxnSpPr>
        <p:spPr>
          <a:xfrm>
            <a:off x="6846167" y="2915402"/>
            <a:ext cx="498024" cy="486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Ellipse 167">
            <a:extLst>
              <a:ext uri="{FF2B5EF4-FFF2-40B4-BE49-F238E27FC236}">
                <a16:creationId xmlns:a16="http://schemas.microsoft.com/office/drawing/2014/main" id="{C43559A3-5310-4799-9CD9-3DE237153E60}"/>
              </a:ext>
            </a:extLst>
          </p:cNvPr>
          <p:cNvSpPr/>
          <p:nvPr/>
        </p:nvSpPr>
        <p:spPr>
          <a:xfrm>
            <a:off x="6435089" y="3673294"/>
            <a:ext cx="41107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23C97ABE-55B1-48B1-AB8E-88B126D24A2C}"/>
              </a:ext>
            </a:extLst>
          </p:cNvPr>
          <p:cNvSpPr/>
          <p:nvPr/>
        </p:nvSpPr>
        <p:spPr>
          <a:xfrm>
            <a:off x="6496359" y="2715825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206" name="Ellipse 151">
            <a:extLst>
              <a:ext uri="{FF2B5EF4-FFF2-40B4-BE49-F238E27FC236}">
                <a16:creationId xmlns:a16="http://schemas.microsoft.com/office/drawing/2014/main" id="{D1C936F1-5DCE-4D59-8FFB-37B63AF0D5A7}"/>
              </a:ext>
            </a:extLst>
          </p:cNvPr>
          <p:cNvSpPr/>
          <p:nvPr/>
        </p:nvSpPr>
        <p:spPr>
          <a:xfrm>
            <a:off x="6425399" y="2681402"/>
            <a:ext cx="42076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6D6B980D-2A79-4353-8C68-91C39A47B43C}"/>
              </a:ext>
            </a:extLst>
          </p:cNvPr>
          <p:cNvSpPr/>
          <p:nvPr/>
        </p:nvSpPr>
        <p:spPr>
          <a:xfrm>
            <a:off x="6411618" y="3685946"/>
            <a:ext cx="4671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08" name="Connecteur droit 4">
            <a:extLst>
              <a:ext uri="{FF2B5EF4-FFF2-40B4-BE49-F238E27FC236}">
                <a16:creationId xmlns:a16="http://schemas.microsoft.com/office/drawing/2014/main" id="{17CCFA10-FF4B-40FA-BE38-DEF23048EAEB}"/>
              </a:ext>
            </a:extLst>
          </p:cNvPr>
          <p:cNvCxnSpPr>
            <a:cxnSpLocks/>
            <a:stCxn id="204" idx="6"/>
            <a:endCxn id="202" idx="2"/>
          </p:cNvCxnSpPr>
          <p:nvPr/>
        </p:nvCxnSpPr>
        <p:spPr>
          <a:xfrm flipV="1">
            <a:off x="6846167" y="2920269"/>
            <a:ext cx="498024" cy="9870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Connecteur droit avec flèche 156">
            <a:extLst>
              <a:ext uri="{FF2B5EF4-FFF2-40B4-BE49-F238E27FC236}">
                <a16:creationId xmlns:a16="http://schemas.microsoft.com/office/drawing/2014/main" id="{C885D3BB-0BC0-4A62-86EE-6E688B03A4FF}"/>
              </a:ext>
            </a:extLst>
          </p:cNvPr>
          <p:cNvCxnSpPr>
            <a:cxnSpLocks/>
            <a:stCxn id="202" idx="6"/>
            <a:endCxn id="216" idx="1"/>
          </p:cNvCxnSpPr>
          <p:nvPr/>
        </p:nvCxnSpPr>
        <p:spPr>
          <a:xfrm>
            <a:off x="8100191" y="2920269"/>
            <a:ext cx="215209" cy="30294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ZoneTexte 171">
            <a:extLst>
              <a:ext uri="{FF2B5EF4-FFF2-40B4-BE49-F238E27FC236}">
                <a16:creationId xmlns:a16="http://schemas.microsoft.com/office/drawing/2014/main" id="{0859C94E-3174-4EA5-A7BB-D30DCD15D143}"/>
              </a:ext>
            </a:extLst>
          </p:cNvPr>
          <p:cNvSpPr txBox="1"/>
          <p:nvPr/>
        </p:nvSpPr>
        <p:spPr>
          <a:xfrm>
            <a:off x="8183761" y="2808921"/>
            <a:ext cx="5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T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211" name="Ellipse 155">
            <a:extLst>
              <a:ext uri="{FF2B5EF4-FFF2-40B4-BE49-F238E27FC236}">
                <a16:creationId xmlns:a16="http://schemas.microsoft.com/office/drawing/2014/main" id="{18028776-048A-4C6E-AA73-CCC87F613EDA}"/>
              </a:ext>
            </a:extLst>
          </p:cNvPr>
          <p:cNvSpPr/>
          <p:nvPr/>
        </p:nvSpPr>
        <p:spPr>
          <a:xfrm>
            <a:off x="7344301" y="3675341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212" name="Connecteur droit 4">
            <a:extLst>
              <a:ext uri="{FF2B5EF4-FFF2-40B4-BE49-F238E27FC236}">
                <a16:creationId xmlns:a16="http://schemas.microsoft.com/office/drawing/2014/main" id="{A424813B-BAA1-4113-9518-01F0CC1417D0}"/>
              </a:ext>
            </a:extLst>
          </p:cNvPr>
          <p:cNvCxnSpPr>
            <a:cxnSpLocks/>
            <a:stCxn id="206" idx="6"/>
            <a:endCxn id="211" idx="2"/>
          </p:cNvCxnSpPr>
          <p:nvPr/>
        </p:nvCxnSpPr>
        <p:spPr>
          <a:xfrm>
            <a:off x="6846167" y="2915402"/>
            <a:ext cx="498134" cy="99077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Connecteur droit 4">
            <a:extLst>
              <a:ext uri="{FF2B5EF4-FFF2-40B4-BE49-F238E27FC236}">
                <a16:creationId xmlns:a16="http://schemas.microsoft.com/office/drawing/2014/main" id="{C6C2AD33-FD0C-46A2-881C-76239C4D851B}"/>
              </a:ext>
            </a:extLst>
          </p:cNvPr>
          <p:cNvCxnSpPr>
            <a:cxnSpLocks/>
            <a:stCxn id="204" idx="6"/>
            <a:endCxn id="211" idx="2"/>
          </p:cNvCxnSpPr>
          <p:nvPr/>
        </p:nvCxnSpPr>
        <p:spPr>
          <a:xfrm flipV="1">
            <a:off x="6846167" y="3906173"/>
            <a:ext cx="498134" cy="112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onnecteur droit avec flèche 156">
            <a:extLst>
              <a:ext uri="{FF2B5EF4-FFF2-40B4-BE49-F238E27FC236}">
                <a16:creationId xmlns:a16="http://schemas.microsoft.com/office/drawing/2014/main" id="{57C5886D-F78F-4EC4-B67B-EB5B5EC5A252}"/>
              </a:ext>
            </a:extLst>
          </p:cNvPr>
          <p:cNvCxnSpPr>
            <a:cxnSpLocks/>
            <a:stCxn id="211" idx="6"/>
            <a:endCxn id="216" idx="3"/>
          </p:cNvCxnSpPr>
          <p:nvPr/>
        </p:nvCxnSpPr>
        <p:spPr>
          <a:xfrm flipV="1">
            <a:off x="8100301" y="3579593"/>
            <a:ext cx="215099" cy="32658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ZoneTexte 171">
            <a:extLst>
              <a:ext uri="{FF2B5EF4-FFF2-40B4-BE49-F238E27FC236}">
                <a16:creationId xmlns:a16="http://schemas.microsoft.com/office/drawing/2014/main" id="{EF754DDD-67DE-430C-A8F1-A931E8FED4A2}"/>
              </a:ext>
            </a:extLst>
          </p:cNvPr>
          <p:cNvSpPr txBox="1"/>
          <p:nvPr/>
        </p:nvSpPr>
        <p:spPr>
          <a:xfrm>
            <a:off x="7981231" y="3471336"/>
            <a:ext cx="5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T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216" name="Ellipse 155">
            <a:extLst>
              <a:ext uri="{FF2B5EF4-FFF2-40B4-BE49-F238E27FC236}">
                <a16:creationId xmlns:a16="http://schemas.microsoft.com/office/drawing/2014/main" id="{067081DF-277D-483C-8884-B720D57C7681}"/>
              </a:ext>
            </a:extLst>
          </p:cNvPr>
          <p:cNvSpPr/>
          <p:nvPr/>
        </p:nvSpPr>
        <p:spPr>
          <a:xfrm>
            <a:off x="8215231" y="3149402"/>
            <a:ext cx="684000" cy="50400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FF3300"/>
                </a:solidFill>
              </a:rPr>
              <a:t>AND</a:t>
            </a:r>
          </a:p>
        </p:txBody>
      </p:sp>
      <p:cxnSp>
        <p:nvCxnSpPr>
          <p:cNvPr id="217" name="Connecteur droit avec flèche 156">
            <a:extLst>
              <a:ext uri="{FF2B5EF4-FFF2-40B4-BE49-F238E27FC236}">
                <a16:creationId xmlns:a16="http://schemas.microsoft.com/office/drawing/2014/main" id="{AC7DDF31-9683-4DC1-BC59-D48B9AF047AB}"/>
              </a:ext>
            </a:extLst>
          </p:cNvPr>
          <p:cNvCxnSpPr>
            <a:cxnSpLocks/>
            <a:stCxn id="216" idx="6"/>
          </p:cNvCxnSpPr>
          <p:nvPr/>
        </p:nvCxnSpPr>
        <p:spPr>
          <a:xfrm>
            <a:off x="8899231" y="3401402"/>
            <a:ext cx="234591" cy="938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ZoneTexte 171">
            <a:extLst>
              <a:ext uri="{FF2B5EF4-FFF2-40B4-BE49-F238E27FC236}">
                <a16:creationId xmlns:a16="http://schemas.microsoft.com/office/drawing/2014/main" id="{60FBEAEE-4337-4543-A712-1F8FC84B082B}"/>
              </a:ext>
            </a:extLst>
          </p:cNvPr>
          <p:cNvSpPr txBox="1"/>
          <p:nvPr/>
        </p:nvSpPr>
        <p:spPr>
          <a:xfrm>
            <a:off x="8856081" y="3034728"/>
            <a:ext cx="25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T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219" name="Ellipse 155">
            <a:extLst>
              <a:ext uri="{FF2B5EF4-FFF2-40B4-BE49-F238E27FC236}">
                <a16:creationId xmlns:a16="http://schemas.microsoft.com/office/drawing/2014/main" id="{1E270897-A37F-4AC9-B82F-ED7DFC911674}"/>
              </a:ext>
            </a:extLst>
          </p:cNvPr>
          <p:cNvSpPr/>
          <p:nvPr/>
        </p:nvSpPr>
        <p:spPr>
          <a:xfrm>
            <a:off x="10262433" y="2593689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220" name="Connecteur droit 4">
            <a:extLst>
              <a:ext uri="{FF2B5EF4-FFF2-40B4-BE49-F238E27FC236}">
                <a16:creationId xmlns:a16="http://schemas.microsoft.com/office/drawing/2014/main" id="{F59E8C34-B52A-4B20-99CE-2D3621079418}"/>
              </a:ext>
            </a:extLst>
          </p:cNvPr>
          <p:cNvCxnSpPr>
            <a:cxnSpLocks/>
            <a:stCxn id="223" idx="6"/>
            <a:endCxn id="219" idx="2"/>
          </p:cNvCxnSpPr>
          <p:nvPr/>
        </p:nvCxnSpPr>
        <p:spPr>
          <a:xfrm>
            <a:off x="9764409" y="2819654"/>
            <a:ext cx="498024" cy="486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Ellipse 167">
            <a:extLst>
              <a:ext uri="{FF2B5EF4-FFF2-40B4-BE49-F238E27FC236}">
                <a16:creationId xmlns:a16="http://schemas.microsoft.com/office/drawing/2014/main" id="{27E631EF-E959-4440-B120-03CA10615624}"/>
              </a:ext>
            </a:extLst>
          </p:cNvPr>
          <p:cNvSpPr/>
          <p:nvPr/>
        </p:nvSpPr>
        <p:spPr>
          <a:xfrm>
            <a:off x="9353331" y="3577546"/>
            <a:ext cx="41107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8CE5CCA1-59C4-49BB-B8C8-B7A79229A19D}"/>
              </a:ext>
            </a:extLst>
          </p:cNvPr>
          <p:cNvSpPr/>
          <p:nvPr/>
        </p:nvSpPr>
        <p:spPr>
          <a:xfrm>
            <a:off x="9414601" y="2620077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223" name="Ellipse 151">
            <a:extLst>
              <a:ext uri="{FF2B5EF4-FFF2-40B4-BE49-F238E27FC236}">
                <a16:creationId xmlns:a16="http://schemas.microsoft.com/office/drawing/2014/main" id="{EC3C1C5A-B40E-4EEC-B17B-5735857B36EC}"/>
              </a:ext>
            </a:extLst>
          </p:cNvPr>
          <p:cNvSpPr/>
          <p:nvPr/>
        </p:nvSpPr>
        <p:spPr>
          <a:xfrm>
            <a:off x="9343641" y="2585654"/>
            <a:ext cx="42076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F24D5840-E35D-47C5-A8C5-2AEED98B9C83}"/>
              </a:ext>
            </a:extLst>
          </p:cNvPr>
          <p:cNvSpPr/>
          <p:nvPr/>
        </p:nvSpPr>
        <p:spPr>
          <a:xfrm>
            <a:off x="9329860" y="3590198"/>
            <a:ext cx="4671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25" name="Connecteur droit 4">
            <a:extLst>
              <a:ext uri="{FF2B5EF4-FFF2-40B4-BE49-F238E27FC236}">
                <a16:creationId xmlns:a16="http://schemas.microsoft.com/office/drawing/2014/main" id="{D5B03866-F262-445A-9A32-A6D2A03249AC}"/>
              </a:ext>
            </a:extLst>
          </p:cNvPr>
          <p:cNvCxnSpPr>
            <a:cxnSpLocks/>
            <a:stCxn id="221" idx="6"/>
            <a:endCxn id="219" idx="2"/>
          </p:cNvCxnSpPr>
          <p:nvPr/>
        </p:nvCxnSpPr>
        <p:spPr>
          <a:xfrm flipV="1">
            <a:off x="9764409" y="2824521"/>
            <a:ext cx="498024" cy="9870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Connecteur droit avec flèche 156">
            <a:extLst>
              <a:ext uri="{FF2B5EF4-FFF2-40B4-BE49-F238E27FC236}">
                <a16:creationId xmlns:a16="http://schemas.microsoft.com/office/drawing/2014/main" id="{27D8CF7A-A07D-4E83-8E0C-97178786C885}"/>
              </a:ext>
            </a:extLst>
          </p:cNvPr>
          <p:cNvCxnSpPr>
            <a:cxnSpLocks/>
            <a:stCxn id="219" idx="6"/>
            <a:endCxn id="233" idx="1"/>
          </p:cNvCxnSpPr>
          <p:nvPr/>
        </p:nvCxnSpPr>
        <p:spPr>
          <a:xfrm>
            <a:off x="11018433" y="2824521"/>
            <a:ext cx="215209" cy="30294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ZoneTexte 171">
            <a:extLst>
              <a:ext uri="{FF2B5EF4-FFF2-40B4-BE49-F238E27FC236}">
                <a16:creationId xmlns:a16="http://schemas.microsoft.com/office/drawing/2014/main" id="{AFAC393F-D90B-4BDA-B42C-AF9AE4173817}"/>
              </a:ext>
            </a:extLst>
          </p:cNvPr>
          <p:cNvSpPr txBox="1"/>
          <p:nvPr/>
        </p:nvSpPr>
        <p:spPr>
          <a:xfrm>
            <a:off x="11102003" y="2713173"/>
            <a:ext cx="5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T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228" name="Ellipse 155">
            <a:extLst>
              <a:ext uri="{FF2B5EF4-FFF2-40B4-BE49-F238E27FC236}">
                <a16:creationId xmlns:a16="http://schemas.microsoft.com/office/drawing/2014/main" id="{B9E42A5D-33C1-4B7F-949E-75EB61BCBC39}"/>
              </a:ext>
            </a:extLst>
          </p:cNvPr>
          <p:cNvSpPr/>
          <p:nvPr/>
        </p:nvSpPr>
        <p:spPr>
          <a:xfrm>
            <a:off x="10262543" y="3579593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229" name="Connecteur droit 4">
            <a:extLst>
              <a:ext uri="{FF2B5EF4-FFF2-40B4-BE49-F238E27FC236}">
                <a16:creationId xmlns:a16="http://schemas.microsoft.com/office/drawing/2014/main" id="{057F16F0-E21A-43C6-92A4-4945FB697F9D}"/>
              </a:ext>
            </a:extLst>
          </p:cNvPr>
          <p:cNvCxnSpPr>
            <a:cxnSpLocks/>
            <a:stCxn id="223" idx="6"/>
            <a:endCxn id="228" idx="2"/>
          </p:cNvCxnSpPr>
          <p:nvPr/>
        </p:nvCxnSpPr>
        <p:spPr>
          <a:xfrm>
            <a:off x="9764409" y="2819654"/>
            <a:ext cx="498134" cy="99077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Connecteur droit 4">
            <a:extLst>
              <a:ext uri="{FF2B5EF4-FFF2-40B4-BE49-F238E27FC236}">
                <a16:creationId xmlns:a16="http://schemas.microsoft.com/office/drawing/2014/main" id="{60F0ADA8-7678-493B-B972-E5244B92B870}"/>
              </a:ext>
            </a:extLst>
          </p:cNvPr>
          <p:cNvCxnSpPr>
            <a:cxnSpLocks/>
            <a:stCxn id="221" idx="6"/>
            <a:endCxn id="228" idx="2"/>
          </p:cNvCxnSpPr>
          <p:nvPr/>
        </p:nvCxnSpPr>
        <p:spPr>
          <a:xfrm flipV="1">
            <a:off x="9764409" y="3810425"/>
            <a:ext cx="498134" cy="112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Connecteur droit avec flèche 156">
            <a:extLst>
              <a:ext uri="{FF2B5EF4-FFF2-40B4-BE49-F238E27FC236}">
                <a16:creationId xmlns:a16="http://schemas.microsoft.com/office/drawing/2014/main" id="{0BF9C3B5-BD0E-4555-998F-EBD0266E3731}"/>
              </a:ext>
            </a:extLst>
          </p:cNvPr>
          <p:cNvCxnSpPr>
            <a:cxnSpLocks/>
            <a:stCxn id="228" idx="6"/>
            <a:endCxn id="233" idx="3"/>
          </p:cNvCxnSpPr>
          <p:nvPr/>
        </p:nvCxnSpPr>
        <p:spPr>
          <a:xfrm flipV="1">
            <a:off x="11018543" y="3483845"/>
            <a:ext cx="215099" cy="32658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ZoneTexte 171">
            <a:extLst>
              <a:ext uri="{FF2B5EF4-FFF2-40B4-BE49-F238E27FC236}">
                <a16:creationId xmlns:a16="http://schemas.microsoft.com/office/drawing/2014/main" id="{F2BB868D-B2B4-46EE-A368-46E496A845C9}"/>
              </a:ext>
            </a:extLst>
          </p:cNvPr>
          <p:cNvSpPr txBox="1"/>
          <p:nvPr/>
        </p:nvSpPr>
        <p:spPr>
          <a:xfrm>
            <a:off x="10899473" y="3375588"/>
            <a:ext cx="5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T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233" name="Ellipse 155">
            <a:extLst>
              <a:ext uri="{FF2B5EF4-FFF2-40B4-BE49-F238E27FC236}">
                <a16:creationId xmlns:a16="http://schemas.microsoft.com/office/drawing/2014/main" id="{D9047CC6-3032-4667-B022-96B204817DDB}"/>
              </a:ext>
            </a:extLst>
          </p:cNvPr>
          <p:cNvSpPr/>
          <p:nvPr/>
        </p:nvSpPr>
        <p:spPr>
          <a:xfrm>
            <a:off x="11133473" y="3053654"/>
            <a:ext cx="684000" cy="50400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FF3300"/>
                </a:solidFill>
              </a:rPr>
              <a:t>AND</a:t>
            </a:r>
          </a:p>
        </p:txBody>
      </p:sp>
      <p:cxnSp>
        <p:nvCxnSpPr>
          <p:cNvPr id="234" name="Connecteur droit avec flèche 156">
            <a:extLst>
              <a:ext uri="{FF2B5EF4-FFF2-40B4-BE49-F238E27FC236}">
                <a16:creationId xmlns:a16="http://schemas.microsoft.com/office/drawing/2014/main" id="{2373DEA8-0C78-4DC0-96C7-F6062EEA9161}"/>
              </a:ext>
            </a:extLst>
          </p:cNvPr>
          <p:cNvCxnSpPr>
            <a:cxnSpLocks/>
            <a:stCxn id="233" idx="6"/>
          </p:cNvCxnSpPr>
          <p:nvPr/>
        </p:nvCxnSpPr>
        <p:spPr>
          <a:xfrm>
            <a:off x="11817473" y="3305654"/>
            <a:ext cx="234591" cy="938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ZoneTexte 171">
            <a:extLst>
              <a:ext uri="{FF2B5EF4-FFF2-40B4-BE49-F238E27FC236}">
                <a16:creationId xmlns:a16="http://schemas.microsoft.com/office/drawing/2014/main" id="{E9DD16C4-54F8-43E7-A7C8-92B6C80580B9}"/>
              </a:ext>
            </a:extLst>
          </p:cNvPr>
          <p:cNvSpPr txBox="1"/>
          <p:nvPr/>
        </p:nvSpPr>
        <p:spPr>
          <a:xfrm>
            <a:off x="11774323" y="2938980"/>
            <a:ext cx="25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T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109" name="Ellipse 155">
            <a:extLst>
              <a:ext uri="{FF2B5EF4-FFF2-40B4-BE49-F238E27FC236}">
                <a16:creationId xmlns:a16="http://schemas.microsoft.com/office/drawing/2014/main" id="{F7CDB9BC-603B-4249-BF06-C77F3E9BC513}"/>
              </a:ext>
            </a:extLst>
          </p:cNvPr>
          <p:cNvSpPr/>
          <p:nvPr/>
        </p:nvSpPr>
        <p:spPr>
          <a:xfrm>
            <a:off x="4597380" y="4872975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110" name="Connecteur droit 4">
            <a:extLst>
              <a:ext uri="{FF2B5EF4-FFF2-40B4-BE49-F238E27FC236}">
                <a16:creationId xmlns:a16="http://schemas.microsoft.com/office/drawing/2014/main" id="{F5C88C59-B413-44A8-A4EE-5FBD59734706}"/>
              </a:ext>
            </a:extLst>
          </p:cNvPr>
          <p:cNvCxnSpPr>
            <a:cxnSpLocks/>
            <a:stCxn id="113" idx="6"/>
            <a:endCxn id="109" idx="2"/>
          </p:cNvCxnSpPr>
          <p:nvPr/>
        </p:nvCxnSpPr>
        <p:spPr>
          <a:xfrm>
            <a:off x="4099356" y="5098940"/>
            <a:ext cx="498024" cy="486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Ellipse 167">
            <a:extLst>
              <a:ext uri="{FF2B5EF4-FFF2-40B4-BE49-F238E27FC236}">
                <a16:creationId xmlns:a16="http://schemas.microsoft.com/office/drawing/2014/main" id="{70DA9476-A10D-4F45-BD19-D4CD7AB5350C}"/>
              </a:ext>
            </a:extLst>
          </p:cNvPr>
          <p:cNvSpPr/>
          <p:nvPr/>
        </p:nvSpPr>
        <p:spPr>
          <a:xfrm>
            <a:off x="3688278" y="5856832"/>
            <a:ext cx="41107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1768250F-F657-4449-8941-4B5501B877F1}"/>
              </a:ext>
            </a:extLst>
          </p:cNvPr>
          <p:cNvSpPr/>
          <p:nvPr/>
        </p:nvSpPr>
        <p:spPr>
          <a:xfrm>
            <a:off x="3749548" y="4899363"/>
            <a:ext cx="4283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X1</a:t>
            </a:r>
            <a:endParaRPr lang="fr-FR" dirty="0"/>
          </a:p>
        </p:txBody>
      </p:sp>
      <p:sp>
        <p:nvSpPr>
          <p:cNvPr id="113" name="Ellipse 151">
            <a:extLst>
              <a:ext uri="{FF2B5EF4-FFF2-40B4-BE49-F238E27FC236}">
                <a16:creationId xmlns:a16="http://schemas.microsoft.com/office/drawing/2014/main" id="{5758AD48-48F0-461D-B032-27B04B04662E}"/>
              </a:ext>
            </a:extLst>
          </p:cNvPr>
          <p:cNvSpPr/>
          <p:nvPr/>
        </p:nvSpPr>
        <p:spPr>
          <a:xfrm>
            <a:off x="3678588" y="4864940"/>
            <a:ext cx="42076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8650BD26-BA24-415F-A7CC-8A0B8C50D0AD}"/>
              </a:ext>
            </a:extLst>
          </p:cNvPr>
          <p:cNvSpPr/>
          <p:nvPr/>
        </p:nvSpPr>
        <p:spPr>
          <a:xfrm>
            <a:off x="3664807" y="5869484"/>
            <a:ext cx="4671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X2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18" name="Connecteur droit 4">
            <a:extLst>
              <a:ext uri="{FF2B5EF4-FFF2-40B4-BE49-F238E27FC236}">
                <a16:creationId xmlns:a16="http://schemas.microsoft.com/office/drawing/2014/main" id="{791E1B71-C24F-419C-924C-BA96D4B62120}"/>
              </a:ext>
            </a:extLst>
          </p:cNvPr>
          <p:cNvCxnSpPr>
            <a:cxnSpLocks/>
            <a:stCxn id="111" idx="6"/>
            <a:endCxn id="109" idx="2"/>
          </p:cNvCxnSpPr>
          <p:nvPr/>
        </p:nvCxnSpPr>
        <p:spPr>
          <a:xfrm flipV="1">
            <a:off x="4099356" y="5103807"/>
            <a:ext cx="498024" cy="9870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avec flèche 156">
            <a:extLst>
              <a:ext uri="{FF2B5EF4-FFF2-40B4-BE49-F238E27FC236}">
                <a16:creationId xmlns:a16="http://schemas.microsoft.com/office/drawing/2014/main" id="{07125431-5481-4041-B995-D37C867046A1}"/>
              </a:ext>
            </a:extLst>
          </p:cNvPr>
          <p:cNvCxnSpPr>
            <a:cxnSpLocks/>
            <a:stCxn id="109" idx="6"/>
            <a:endCxn id="126" idx="1"/>
          </p:cNvCxnSpPr>
          <p:nvPr/>
        </p:nvCxnSpPr>
        <p:spPr>
          <a:xfrm>
            <a:off x="5353380" y="5103807"/>
            <a:ext cx="215209" cy="30294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Ellipse 155">
            <a:extLst>
              <a:ext uri="{FF2B5EF4-FFF2-40B4-BE49-F238E27FC236}">
                <a16:creationId xmlns:a16="http://schemas.microsoft.com/office/drawing/2014/main" id="{0D92E3F5-2DAD-4567-B442-54A4922AEFA8}"/>
              </a:ext>
            </a:extLst>
          </p:cNvPr>
          <p:cNvSpPr/>
          <p:nvPr/>
        </p:nvSpPr>
        <p:spPr>
          <a:xfrm>
            <a:off x="4597490" y="5858879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122" name="Connecteur droit 4">
            <a:extLst>
              <a:ext uri="{FF2B5EF4-FFF2-40B4-BE49-F238E27FC236}">
                <a16:creationId xmlns:a16="http://schemas.microsoft.com/office/drawing/2014/main" id="{903E66D9-0FA3-4770-BAD3-AD517BAA5531}"/>
              </a:ext>
            </a:extLst>
          </p:cNvPr>
          <p:cNvCxnSpPr>
            <a:cxnSpLocks/>
            <a:stCxn id="113" idx="6"/>
            <a:endCxn id="121" idx="2"/>
          </p:cNvCxnSpPr>
          <p:nvPr/>
        </p:nvCxnSpPr>
        <p:spPr>
          <a:xfrm>
            <a:off x="4099356" y="5098940"/>
            <a:ext cx="498134" cy="99077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4">
            <a:extLst>
              <a:ext uri="{FF2B5EF4-FFF2-40B4-BE49-F238E27FC236}">
                <a16:creationId xmlns:a16="http://schemas.microsoft.com/office/drawing/2014/main" id="{13DB2E73-896B-499F-B001-6F4DE20C5C1C}"/>
              </a:ext>
            </a:extLst>
          </p:cNvPr>
          <p:cNvCxnSpPr>
            <a:cxnSpLocks/>
            <a:stCxn id="111" idx="6"/>
            <a:endCxn id="121" idx="2"/>
          </p:cNvCxnSpPr>
          <p:nvPr/>
        </p:nvCxnSpPr>
        <p:spPr>
          <a:xfrm flipV="1">
            <a:off x="4099356" y="6089711"/>
            <a:ext cx="498134" cy="112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eur droit avec flèche 156">
            <a:extLst>
              <a:ext uri="{FF2B5EF4-FFF2-40B4-BE49-F238E27FC236}">
                <a16:creationId xmlns:a16="http://schemas.microsoft.com/office/drawing/2014/main" id="{550F7A94-F2CC-4FE8-B9FD-E97EE3C246CC}"/>
              </a:ext>
            </a:extLst>
          </p:cNvPr>
          <p:cNvCxnSpPr>
            <a:cxnSpLocks/>
            <a:stCxn id="121" idx="6"/>
            <a:endCxn id="126" idx="3"/>
          </p:cNvCxnSpPr>
          <p:nvPr/>
        </p:nvCxnSpPr>
        <p:spPr>
          <a:xfrm flipV="1">
            <a:off x="5353490" y="5763131"/>
            <a:ext cx="215099" cy="32658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Ellipse 155">
            <a:extLst>
              <a:ext uri="{FF2B5EF4-FFF2-40B4-BE49-F238E27FC236}">
                <a16:creationId xmlns:a16="http://schemas.microsoft.com/office/drawing/2014/main" id="{E7456B76-6C8F-431C-B1CC-D2BB600C5663}"/>
              </a:ext>
            </a:extLst>
          </p:cNvPr>
          <p:cNvSpPr/>
          <p:nvPr/>
        </p:nvSpPr>
        <p:spPr>
          <a:xfrm>
            <a:off x="5468420" y="5332940"/>
            <a:ext cx="684000" cy="50400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FF3300"/>
                </a:solidFill>
              </a:rPr>
              <a:t>AND</a:t>
            </a:r>
          </a:p>
        </p:txBody>
      </p:sp>
      <p:cxnSp>
        <p:nvCxnSpPr>
          <p:cNvPr id="127" name="Connecteur droit avec flèche 156">
            <a:extLst>
              <a:ext uri="{FF2B5EF4-FFF2-40B4-BE49-F238E27FC236}">
                <a16:creationId xmlns:a16="http://schemas.microsoft.com/office/drawing/2014/main" id="{103198E8-AB11-4EBF-BECA-0629914226E4}"/>
              </a:ext>
            </a:extLst>
          </p:cNvPr>
          <p:cNvCxnSpPr>
            <a:cxnSpLocks/>
            <a:stCxn id="126" idx="6"/>
          </p:cNvCxnSpPr>
          <p:nvPr/>
        </p:nvCxnSpPr>
        <p:spPr>
          <a:xfrm>
            <a:off x="6152420" y="5584940"/>
            <a:ext cx="234591" cy="938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ZoneTexte 171">
            <a:extLst>
              <a:ext uri="{FF2B5EF4-FFF2-40B4-BE49-F238E27FC236}">
                <a16:creationId xmlns:a16="http://schemas.microsoft.com/office/drawing/2014/main" id="{3D7BC3EA-A498-48A9-9368-0BD1365841D7}"/>
              </a:ext>
            </a:extLst>
          </p:cNvPr>
          <p:cNvSpPr txBox="1"/>
          <p:nvPr/>
        </p:nvSpPr>
        <p:spPr>
          <a:xfrm>
            <a:off x="6109270" y="5218266"/>
            <a:ext cx="25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y</a:t>
            </a:r>
            <a:endParaRPr lang="fr-FR" sz="1400" b="1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089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5" grpId="0" animBg="1"/>
      <p:bldP spid="56" grpId="0"/>
      <p:bldP spid="57" grpId="0" animBg="1"/>
      <p:bldP spid="58" grpId="0"/>
      <p:bldP spid="66" grpId="0"/>
      <p:bldP spid="67" grpId="0" animBg="1"/>
      <p:bldP spid="71" grpId="0"/>
      <p:bldP spid="63" grpId="0" animBg="1"/>
      <p:bldP spid="128" grpId="0"/>
      <p:bldP spid="185" grpId="0" animBg="1"/>
      <p:bldP spid="187" grpId="0" animBg="1"/>
      <p:bldP spid="188" grpId="0"/>
      <p:bldP spid="189" grpId="0" animBg="1"/>
      <p:bldP spid="190" grpId="0"/>
      <p:bldP spid="193" grpId="0"/>
      <p:bldP spid="194" grpId="0" animBg="1"/>
      <p:bldP spid="198" grpId="0"/>
      <p:bldP spid="199" grpId="0" animBg="1"/>
      <p:bldP spid="201" grpId="0"/>
      <p:bldP spid="202" grpId="0" animBg="1"/>
      <p:bldP spid="204" grpId="0" animBg="1"/>
      <p:bldP spid="205" grpId="0"/>
      <p:bldP spid="206" grpId="0" animBg="1"/>
      <p:bldP spid="207" grpId="0"/>
      <p:bldP spid="210" grpId="0"/>
      <p:bldP spid="211" grpId="0" animBg="1"/>
      <p:bldP spid="215" grpId="0"/>
      <p:bldP spid="216" grpId="0" animBg="1"/>
      <p:bldP spid="218" grpId="0"/>
      <p:bldP spid="219" grpId="0" animBg="1"/>
      <p:bldP spid="221" grpId="0" animBg="1"/>
      <p:bldP spid="222" grpId="0"/>
      <p:bldP spid="223" grpId="0" animBg="1"/>
      <p:bldP spid="224" grpId="0"/>
      <p:bldP spid="227" grpId="0"/>
      <p:bldP spid="228" grpId="0" animBg="1"/>
      <p:bldP spid="232" grpId="0"/>
      <p:bldP spid="233" grpId="0" animBg="1"/>
      <p:bldP spid="235" grpId="0"/>
      <p:bldP spid="109" grpId="0" animBg="1"/>
      <p:bldP spid="111" grpId="0" animBg="1"/>
      <p:bldP spid="112" grpId="0"/>
      <p:bldP spid="113" grpId="0" animBg="1"/>
      <p:bldP spid="117" grpId="0"/>
      <p:bldP spid="121" grpId="0" animBg="1"/>
      <p:bldP spid="126" grpId="0" animBg="1"/>
      <p:bldP spid="12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594225-E592-400C-A800-F4EF8E683D07}"/>
              </a:ext>
            </a:extLst>
          </p:cNvPr>
          <p:cNvSpPr txBox="1"/>
          <p:nvPr/>
        </p:nvSpPr>
        <p:spPr>
          <a:xfrm>
            <a:off x="472440" y="1085858"/>
            <a:ext cx="11445240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fr-MA" sz="3200" dirty="0"/>
              <a:t>Utiliser </a:t>
            </a:r>
            <a:r>
              <a:rPr lang="fr-MA" sz="3200" dirty="0" err="1"/>
              <a:t>keras</a:t>
            </a:r>
            <a:r>
              <a:rPr lang="fr-MA" sz="3200" dirty="0"/>
              <a:t> pour créer un réseau de neurone avec plusieurs neurones (couche, layer)</a:t>
            </a:r>
          </a:p>
          <a:p>
            <a:pPr>
              <a:spcAft>
                <a:spcPts val="1200"/>
              </a:spcAft>
            </a:pPr>
            <a:r>
              <a:rPr lang="fr-MA" sz="3200" dirty="0"/>
              <a:t>Ce qu’il faut connaitre:</a:t>
            </a:r>
          </a:p>
          <a:p>
            <a:pPr>
              <a:spcAft>
                <a:spcPts val="1200"/>
              </a:spcAft>
            </a:pPr>
            <a:endParaRPr lang="fr-MA" sz="3200" dirty="0"/>
          </a:p>
          <a:p>
            <a:pPr marL="514350" indent="-514350">
              <a:spcAft>
                <a:spcPts val="12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sz="3200" b="1" dirty="0"/>
              <a:t>Comment créer un </a:t>
            </a:r>
            <a:r>
              <a:rPr lang="fr-MA" sz="3200" b="1" dirty="0" err="1"/>
              <a:t>multilayer</a:t>
            </a:r>
            <a:r>
              <a:rPr lang="fr-MA" sz="3200" b="1" dirty="0"/>
              <a:t> neural network (en général)?</a:t>
            </a:r>
          </a:p>
          <a:p>
            <a:pPr marL="514350" indent="-514350">
              <a:spcAft>
                <a:spcPts val="12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sz="3200" dirty="0"/>
              <a:t>Découvrir les éléments du neural network créé: </a:t>
            </a:r>
            <a:r>
              <a:rPr lang="fr-MA" sz="3200" dirty="0" err="1"/>
              <a:t>coeficients</a:t>
            </a:r>
            <a:r>
              <a:rPr lang="fr-MA" sz="3200" dirty="0"/>
              <a:t>, </a:t>
            </a:r>
            <a:r>
              <a:rPr lang="fr-MA" sz="3200" dirty="0" err="1"/>
              <a:t>bias</a:t>
            </a:r>
            <a:endParaRPr lang="fr-MA" sz="3200" dirty="0"/>
          </a:p>
        </p:txBody>
      </p:sp>
    </p:spTree>
    <p:extLst>
      <p:ext uri="{BB962C8B-B14F-4D97-AF65-F5344CB8AC3E}">
        <p14:creationId xmlns:p14="http://schemas.microsoft.com/office/powerpoint/2010/main" val="3115562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594225-E592-400C-A800-F4EF8E683D07}"/>
              </a:ext>
            </a:extLst>
          </p:cNvPr>
          <p:cNvSpPr txBox="1"/>
          <p:nvPr/>
        </p:nvSpPr>
        <p:spPr>
          <a:xfrm>
            <a:off x="1500188" y="1085858"/>
            <a:ext cx="897255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fr-MA" sz="3200" dirty="0"/>
              <a:t>Neural Network Model  et ses paramètres</a:t>
            </a:r>
          </a:p>
          <a:p>
            <a:pPr>
              <a:spcAft>
                <a:spcPts val="1200"/>
              </a:spcAft>
            </a:pPr>
            <a:endParaRPr lang="fr-MA" sz="3200" dirty="0"/>
          </a:p>
          <a:p>
            <a:pPr marL="514350" indent="-514350">
              <a:spcAft>
                <a:spcPts val="12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sz="3200" dirty="0"/>
              <a:t>Architecture</a:t>
            </a:r>
          </a:p>
          <a:p>
            <a:pPr marL="514350" indent="-514350">
              <a:spcAft>
                <a:spcPts val="12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sz="3200" dirty="0"/>
              <a:t>Créer le modèle</a:t>
            </a:r>
          </a:p>
          <a:p>
            <a:pPr marL="514350" indent="-514350">
              <a:spcAft>
                <a:spcPts val="12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sz="3200" dirty="0"/>
              <a:t>Créer une couche et l’ajouter au modèle</a:t>
            </a:r>
          </a:p>
          <a:p>
            <a:pPr marL="514350" indent="-514350">
              <a:spcAft>
                <a:spcPts val="12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sz="3200" dirty="0"/>
              <a:t>Paramètres d’une couche</a:t>
            </a:r>
          </a:p>
        </p:txBody>
      </p:sp>
    </p:spTree>
    <p:extLst>
      <p:ext uri="{BB962C8B-B14F-4D97-AF65-F5344CB8AC3E}">
        <p14:creationId xmlns:p14="http://schemas.microsoft.com/office/powerpoint/2010/main" val="39876433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>
            <a:extLst>
              <a:ext uri="{FF2B5EF4-FFF2-40B4-BE49-F238E27FC236}">
                <a16:creationId xmlns:a16="http://schemas.microsoft.com/office/drawing/2014/main" id="{45C7F174-A682-4A7B-99A1-791FB437E2E7}"/>
              </a:ext>
            </a:extLst>
          </p:cNvPr>
          <p:cNvSpPr txBox="1"/>
          <p:nvPr/>
        </p:nvSpPr>
        <p:spPr>
          <a:xfrm>
            <a:off x="3773840" y="1153033"/>
            <a:ext cx="1576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600" b="1" dirty="0"/>
              <a:t>HIDDEN LAYER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D4B581-39F6-4427-981C-F35E07099098}"/>
              </a:ext>
            </a:extLst>
          </p:cNvPr>
          <p:cNvSpPr txBox="1"/>
          <p:nvPr/>
        </p:nvSpPr>
        <p:spPr>
          <a:xfrm>
            <a:off x="6637142" y="1366866"/>
            <a:ext cx="1576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600" b="1" dirty="0"/>
              <a:t>OUTPUT LAYER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E004398F-A987-40E4-99E5-5A4E11D98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897" y="1825250"/>
            <a:ext cx="5351952" cy="46045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75C2866-21FD-31F8-8944-64EBA441C27D}"/>
              </a:ext>
            </a:extLst>
          </p:cNvPr>
          <p:cNvSpPr txBox="1"/>
          <p:nvPr/>
        </p:nvSpPr>
        <p:spPr>
          <a:xfrm>
            <a:off x="1239985" y="2050115"/>
            <a:ext cx="14052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600" b="1" dirty="0"/>
              <a:t>INPUT LAYER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35DAE5-A67A-302E-C6CA-C6BB21F22A49}"/>
              </a:ext>
            </a:extLst>
          </p:cNvPr>
          <p:cNvSpPr txBox="1"/>
          <p:nvPr/>
        </p:nvSpPr>
        <p:spPr>
          <a:xfrm>
            <a:off x="1932" y="112925"/>
            <a:ext cx="6093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sz="2400" b="1" dirty="0"/>
              <a:t>Réseau de neurones de trois couches</a:t>
            </a:r>
          </a:p>
        </p:txBody>
      </p:sp>
    </p:spTree>
    <p:extLst>
      <p:ext uri="{BB962C8B-B14F-4D97-AF65-F5344CB8AC3E}">
        <p14:creationId xmlns:p14="http://schemas.microsoft.com/office/powerpoint/2010/main" val="1875040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5" grpId="0"/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6F0BD0-FD5F-4E95-B19D-ADCE1E3DF4BC}"/>
              </a:ext>
            </a:extLst>
          </p:cNvPr>
          <p:cNvSpPr txBox="1"/>
          <p:nvPr/>
        </p:nvSpPr>
        <p:spPr>
          <a:xfrm>
            <a:off x="42861" y="28572"/>
            <a:ext cx="668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dirty="0"/>
              <a:t> </a:t>
            </a:r>
            <a:r>
              <a:rPr lang="fr-MA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Model et ses paramètres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827F15-ADE7-497F-93F0-0EC83277F495}"/>
              </a:ext>
            </a:extLst>
          </p:cNvPr>
          <p:cNvSpPr txBox="1"/>
          <p:nvPr/>
        </p:nvSpPr>
        <p:spPr>
          <a:xfrm>
            <a:off x="133338" y="500104"/>
            <a:ext cx="7134249" cy="584775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fr-MA" sz="1600" dirty="0" err="1"/>
              <a:t>from</a:t>
            </a:r>
            <a:r>
              <a:rPr lang="fr-MA" sz="1600" dirty="0"/>
              <a:t> </a:t>
            </a:r>
            <a:r>
              <a:rPr lang="fr-MA" sz="1600" dirty="0" err="1"/>
              <a:t>keras.models</a:t>
            </a:r>
            <a:r>
              <a:rPr lang="fr-MA" sz="1600" dirty="0"/>
              <a:t> import </a:t>
            </a:r>
            <a:r>
              <a:rPr lang="fr-MA" sz="1600" dirty="0" err="1"/>
              <a:t>Sequential</a:t>
            </a:r>
            <a:endParaRPr lang="fr-MA" sz="1600" dirty="0"/>
          </a:p>
          <a:p>
            <a:r>
              <a:rPr lang="fr-MA" sz="1600" dirty="0" err="1"/>
              <a:t>from</a:t>
            </a:r>
            <a:r>
              <a:rPr lang="fr-MA" sz="1600" dirty="0"/>
              <a:t> </a:t>
            </a:r>
            <a:r>
              <a:rPr lang="fr-MA" sz="1600" dirty="0" err="1"/>
              <a:t>keras.layers</a:t>
            </a:r>
            <a:r>
              <a:rPr lang="fr-MA" sz="1600" dirty="0"/>
              <a:t> import </a:t>
            </a:r>
            <a:r>
              <a:rPr lang="fr-MA" sz="1600" dirty="0" err="1"/>
              <a:t>Flatten</a:t>
            </a:r>
            <a:r>
              <a:rPr lang="fr-MA" sz="1600" dirty="0"/>
              <a:t>, Dense, Activation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04578A-3140-4515-842A-9D1A07265A68}"/>
              </a:ext>
            </a:extLst>
          </p:cNvPr>
          <p:cNvSpPr txBox="1"/>
          <p:nvPr/>
        </p:nvSpPr>
        <p:spPr>
          <a:xfrm>
            <a:off x="128588" y="1214359"/>
            <a:ext cx="7134249" cy="338554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fr-MA" sz="1600" b="1" dirty="0"/>
              <a:t>model</a:t>
            </a:r>
            <a:r>
              <a:rPr lang="fr-MA" sz="1600" dirty="0"/>
              <a:t> = </a:t>
            </a:r>
            <a:r>
              <a:rPr lang="fr-MA" sz="1600" dirty="0" err="1"/>
              <a:t>Sequential</a:t>
            </a:r>
            <a:r>
              <a:rPr lang="fr-MA" sz="1600" dirty="0"/>
              <a:t>()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D5763C-62A9-40FA-B467-23143573246E}"/>
              </a:ext>
            </a:extLst>
          </p:cNvPr>
          <p:cNvSpPr txBox="1"/>
          <p:nvPr/>
        </p:nvSpPr>
        <p:spPr>
          <a:xfrm>
            <a:off x="133339" y="1676694"/>
            <a:ext cx="7138999" cy="2970044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MA" sz="1600" dirty="0"/>
              <a:t>#input_layer=Flatten(input_shape=</a:t>
            </a:r>
            <a:r>
              <a:rPr lang="fr-MA" sz="1600" b="1" dirty="0">
                <a:solidFill>
                  <a:srgbClr val="FF0000"/>
                </a:solidFill>
              </a:rPr>
              <a:t>[2, 1]</a:t>
            </a:r>
            <a:r>
              <a:rPr lang="fr-MA" sz="1600" dirty="0"/>
              <a:t>)</a:t>
            </a:r>
          </a:p>
          <a:p>
            <a:pPr>
              <a:spcAft>
                <a:spcPts val="600"/>
              </a:spcAft>
            </a:pPr>
            <a:r>
              <a:rPr lang="fr-MA" sz="1600" dirty="0"/>
              <a:t>#model.add(input_layer)</a:t>
            </a:r>
          </a:p>
          <a:p>
            <a:pPr>
              <a:spcAft>
                <a:spcPts val="600"/>
              </a:spcAft>
            </a:pPr>
            <a:r>
              <a:rPr lang="fr-MA" sz="1600" dirty="0" err="1"/>
              <a:t>hidden_layer</a:t>
            </a:r>
            <a:r>
              <a:rPr lang="fr-MA" sz="1600" dirty="0"/>
              <a:t>=Dense(</a:t>
            </a:r>
            <a:r>
              <a:rPr lang="fr-MA" sz="1600" b="1" dirty="0">
                <a:solidFill>
                  <a:srgbClr val="FF0000"/>
                </a:solidFill>
              </a:rPr>
              <a:t>4</a:t>
            </a:r>
            <a:r>
              <a:rPr lang="fr-MA" sz="1600" dirty="0"/>
              <a:t>, </a:t>
            </a:r>
            <a:r>
              <a:rPr lang="fr-MA" sz="2400" b="1" dirty="0" err="1"/>
              <a:t>input_dim</a:t>
            </a:r>
            <a:r>
              <a:rPr lang="fr-MA" sz="2400" b="1" dirty="0"/>
              <a:t>=</a:t>
            </a:r>
            <a:r>
              <a:rPr lang="fr-MA" sz="2400" b="1" dirty="0">
                <a:solidFill>
                  <a:srgbClr val="FF0000"/>
                </a:solidFill>
              </a:rPr>
              <a:t>2</a:t>
            </a:r>
            <a:r>
              <a:rPr lang="fr-MA" sz="1600" dirty="0"/>
              <a:t>,kernel_initializer='</a:t>
            </a:r>
            <a:r>
              <a:rPr lang="fr-MA" sz="1600" dirty="0" err="1"/>
              <a:t>ones</a:t>
            </a:r>
            <a:r>
              <a:rPr lang="fr-MA" sz="1600" dirty="0"/>
              <a:t>',</a:t>
            </a:r>
            <a:r>
              <a:rPr lang="fr-MA" sz="1600" dirty="0" err="1"/>
              <a:t>bias_initializer</a:t>
            </a:r>
            <a:r>
              <a:rPr lang="fr-MA" sz="1600" dirty="0"/>
              <a:t>='</a:t>
            </a:r>
            <a:r>
              <a:rPr lang="fr-MA" sz="1600" dirty="0" err="1"/>
              <a:t>zeros</a:t>
            </a:r>
            <a:r>
              <a:rPr lang="fr-MA" sz="1600" dirty="0"/>
              <a:t>')</a:t>
            </a:r>
          </a:p>
          <a:p>
            <a:pPr>
              <a:spcAft>
                <a:spcPts val="6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dirty="0" err="1"/>
              <a:t>hidden_layer</a:t>
            </a:r>
            <a:r>
              <a:rPr lang="fr-MA" sz="1600" dirty="0"/>
              <a:t>)</a:t>
            </a:r>
          </a:p>
          <a:p>
            <a:pPr>
              <a:spcAft>
                <a:spcPts val="600"/>
              </a:spcAft>
            </a:pPr>
            <a:r>
              <a:rPr lang="fr-MA" sz="1600" dirty="0" err="1"/>
              <a:t>output_layer</a:t>
            </a:r>
            <a:r>
              <a:rPr lang="fr-MA" sz="1600" dirty="0"/>
              <a:t>=Dense(</a:t>
            </a:r>
            <a:r>
              <a:rPr lang="fr-MA" sz="1600" b="1" dirty="0">
                <a:solidFill>
                  <a:srgbClr val="FF0000"/>
                </a:solidFill>
              </a:rPr>
              <a:t>3</a:t>
            </a:r>
            <a:r>
              <a:rPr lang="fr-MA" sz="1600" dirty="0"/>
              <a:t>, </a:t>
            </a:r>
            <a:r>
              <a:rPr lang="fr-MA" sz="1600" dirty="0" err="1"/>
              <a:t>kernel_initializer</a:t>
            </a:r>
            <a:r>
              <a:rPr lang="fr-MA" sz="1600" dirty="0"/>
              <a:t>='random_</a:t>
            </a:r>
            <a:r>
              <a:rPr lang="fr-MA" sz="1600" dirty="0" err="1"/>
              <a:t>uniform</a:t>
            </a:r>
            <a:r>
              <a:rPr lang="fr-MA" sz="1600" dirty="0"/>
              <a:t>',</a:t>
            </a:r>
            <a:r>
              <a:rPr lang="fr-MA" sz="1600" dirty="0" err="1"/>
              <a:t>bias_initializer</a:t>
            </a:r>
            <a:r>
              <a:rPr lang="fr-MA" sz="1600" dirty="0"/>
              <a:t>='</a:t>
            </a:r>
            <a:r>
              <a:rPr lang="fr-MA" sz="1600" dirty="0" err="1"/>
              <a:t>ones</a:t>
            </a:r>
            <a:r>
              <a:rPr lang="fr-MA" sz="1600" dirty="0"/>
              <a:t>')</a:t>
            </a:r>
          </a:p>
          <a:p>
            <a:pPr>
              <a:spcAft>
                <a:spcPts val="6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dirty="0" err="1"/>
              <a:t>output_layer</a:t>
            </a:r>
            <a:r>
              <a:rPr lang="fr-MA" sz="1600" dirty="0"/>
              <a:t>)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print(</a:t>
            </a:r>
            <a:r>
              <a:rPr lang="en-US" sz="1600" dirty="0" err="1"/>
              <a:t>model.summary</a:t>
            </a:r>
            <a:r>
              <a:rPr lang="en-US" sz="1600" dirty="0"/>
              <a:t>())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print(</a:t>
            </a:r>
            <a:r>
              <a:rPr lang="en-US" sz="1600" dirty="0" err="1"/>
              <a:t>model.get_weights</a:t>
            </a:r>
            <a:r>
              <a:rPr lang="en-US" sz="1600" dirty="0"/>
              <a:t>()) </a:t>
            </a:r>
            <a:r>
              <a:rPr lang="en-US" sz="1600" dirty="0">
                <a:solidFill>
                  <a:srgbClr val="00B050"/>
                </a:solidFill>
              </a:rPr>
              <a:t>#initial weights</a:t>
            </a:r>
            <a:endParaRPr lang="fr-MA" sz="1600" dirty="0">
              <a:solidFill>
                <a:srgbClr val="00B05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DF276A-9090-4380-BE03-7AB330C50780}"/>
              </a:ext>
            </a:extLst>
          </p:cNvPr>
          <p:cNvSpPr txBox="1"/>
          <p:nvPr/>
        </p:nvSpPr>
        <p:spPr>
          <a:xfrm>
            <a:off x="128589" y="4730976"/>
            <a:ext cx="7138999" cy="861774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fr-MA" sz="1600" dirty="0" err="1"/>
              <a:t>model.compile</a:t>
            </a:r>
            <a:r>
              <a:rPr lang="fr-MA" sz="1600" dirty="0"/>
              <a:t>(</a:t>
            </a:r>
            <a:r>
              <a:rPr lang="fr-MA" sz="1600" dirty="0" err="1"/>
              <a:t>loss</a:t>
            </a:r>
            <a:r>
              <a:rPr lang="fr-MA" sz="1600" dirty="0"/>
              <a:t>="</a:t>
            </a:r>
            <a:r>
              <a:rPr lang="fr-MA" sz="1600" dirty="0" err="1"/>
              <a:t>categorial_crossentropy</a:t>
            </a:r>
            <a:r>
              <a:rPr lang="fr-MA" sz="1600" dirty="0"/>
              <a:t>", </a:t>
            </a:r>
          </a:p>
          <a:p>
            <a:r>
              <a:rPr lang="fr-MA" sz="1600" dirty="0"/>
              <a:t>              </a:t>
            </a:r>
            <a:r>
              <a:rPr lang="fr-MA" sz="1600" dirty="0" err="1"/>
              <a:t>optimizer</a:t>
            </a:r>
            <a:r>
              <a:rPr lang="fr-MA" sz="1600" dirty="0"/>
              <a:t>="</a:t>
            </a:r>
            <a:r>
              <a:rPr lang="fr-MA" sz="1600" dirty="0" err="1"/>
              <a:t>adam</a:t>
            </a:r>
            <a:r>
              <a:rPr lang="fr-MA" sz="1600" dirty="0"/>
              <a:t>",</a:t>
            </a:r>
          </a:p>
          <a:p>
            <a:r>
              <a:rPr lang="fr-MA" sz="1600" dirty="0"/>
              <a:t>              </a:t>
            </a:r>
            <a:r>
              <a:rPr lang="fr-MA" sz="1600" dirty="0" err="1"/>
              <a:t>metrics</a:t>
            </a:r>
            <a:r>
              <a:rPr lang="fr-MA" sz="1600" dirty="0"/>
              <a:t>=["</a:t>
            </a:r>
            <a:r>
              <a:rPr lang="fr-MA" sz="1600" dirty="0" err="1"/>
              <a:t>accuracy</a:t>
            </a:r>
            <a:r>
              <a:rPr lang="fr-MA" sz="1600" dirty="0"/>
              <a:t>"])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347DB6-B85E-4BF8-8E46-0C95ED3F5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687" y="278752"/>
            <a:ext cx="4435088" cy="381569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2EC5CB1-5E31-4B41-A2EB-3770E3EE18AE}"/>
              </a:ext>
            </a:extLst>
          </p:cNvPr>
          <p:cNvSpPr txBox="1"/>
          <p:nvPr/>
        </p:nvSpPr>
        <p:spPr>
          <a:xfrm>
            <a:off x="7366385" y="4144743"/>
            <a:ext cx="480596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400" dirty="0"/>
              <a:t>[</a:t>
            </a:r>
            <a:r>
              <a:rPr lang="fr-MA" sz="1400" dirty="0" err="1"/>
              <a:t>array</a:t>
            </a:r>
            <a:r>
              <a:rPr lang="fr-MA" sz="1400" dirty="0"/>
              <a:t>([</a:t>
            </a:r>
            <a:r>
              <a:rPr lang="fr-MA" sz="1400" b="1" dirty="0">
                <a:solidFill>
                  <a:srgbClr val="0066FF"/>
                </a:solidFill>
              </a:rPr>
              <a:t>[1., 1., 1., 1.]</a:t>
            </a:r>
            <a:r>
              <a:rPr lang="fr-MA" sz="1400" dirty="0"/>
              <a:t>,</a:t>
            </a:r>
            <a:r>
              <a:rPr lang="fr-MA" sz="1400" b="1" dirty="0">
                <a:solidFill>
                  <a:srgbClr val="FF0000"/>
                </a:solidFill>
              </a:rPr>
              <a:t>[1., 1., 1., 1.]</a:t>
            </a:r>
            <a:r>
              <a:rPr lang="fr-MA" sz="1400" dirty="0"/>
              <a:t>], </a:t>
            </a:r>
            <a:r>
              <a:rPr lang="fr-MA" sz="1400" dirty="0" err="1"/>
              <a:t>dtype</a:t>
            </a:r>
            <a:r>
              <a:rPr lang="fr-MA" sz="1400" dirty="0"/>
              <a:t>=float32),</a:t>
            </a:r>
          </a:p>
          <a:p>
            <a:r>
              <a:rPr lang="fr-MA" sz="1400" dirty="0"/>
              <a:t>        </a:t>
            </a:r>
            <a:r>
              <a:rPr lang="fr-MA" sz="1400" dirty="0" err="1"/>
              <a:t>array</a:t>
            </a:r>
            <a:r>
              <a:rPr lang="fr-MA" sz="1400" dirty="0"/>
              <a:t>(</a:t>
            </a:r>
            <a:r>
              <a:rPr lang="fr-MA" sz="1400" b="1" dirty="0">
                <a:solidFill>
                  <a:srgbClr val="C00000"/>
                </a:solidFill>
              </a:rPr>
              <a:t>[0., 0., 0., 0.]</a:t>
            </a:r>
            <a:r>
              <a:rPr lang="fr-MA" sz="1400" dirty="0"/>
              <a:t>, </a:t>
            </a:r>
            <a:r>
              <a:rPr lang="fr-MA" sz="1400" dirty="0" err="1"/>
              <a:t>dtype</a:t>
            </a:r>
            <a:r>
              <a:rPr lang="fr-MA" sz="1400" dirty="0"/>
              <a:t>=float32),</a:t>
            </a:r>
          </a:p>
          <a:p>
            <a:r>
              <a:rPr lang="fr-MA" sz="1400" dirty="0"/>
              <a:t> </a:t>
            </a:r>
            <a:r>
              <a:rPr lang="fr-MA" sz="1400" dirty="0" err="1"/>
              <a:t>array</a:t>
            </a:r>
            <a:r>
              <a:rPr lang="fr-MA" sz="1400" dirty="0"/>
              <a:t>([</a:t>
            </a:r>
            <a:r>
              <a:rPr lang="fr-MA" sz="1400" b="1" dirty="0">
                <a:solidFill>
                  <a:srgbClr val="00B050"/>
                </a:solidFill>
              </a:rPr>
              <a:t>[-0.03575971, -0.02119735,  0.01558626]</a:t>
            </a:r>
            <a:r>
              <a:rPr lang="fr-MA" sz="1400" dirty="0"/>
              <a:t>,</a:t>
            </a:r>
          </a:p>
          <a:p>
            <a:r>
              <a:rPr lang="fr-MA" sz="1400" dirty="0"/>
              <a:t>       </a:t>
            </a:r>
            <a:r>
              <a:rPr lang="fr-MA" sz="1400" b="1" dirty="0">
                <a:solidFill>
                  <a:schemeClr val="accent2">
                    <a:lumMod val="75000"/>
                  </a:schemeClr>
                </a:solidFill>
              </a:rPr>
              <a:t>[ 0.04222678, -0.04578313,  0.0360521 ]</a:t>
            </a:r>
            <a:r>
              <a:rPr lang="fr-MA" sz="1400" dirty="0"/>
              <a:t>,</a:t>
            </a:r>
          </a:p>
          <a:p>
            <a:r>
              <a:rPr lang="fr-MA" sz="1400" dirty="0"/>
              <a:t>      </a:t>
            </a:r>
            <a:r>
              <a:rPr lang="fr-MA" sz="1400" b="1" dirty="0"/>
              <a:t> [-0.02753322,  0.00745941, -0.04211374]</a:t>
            </a:r>
            <a:r>
              <a:rPr lang="fr-MA" sz="1400" dirty="0"/>
              <a:t>,</a:t>
            </a:r>
          </a:p>
          <a:p>
            <a:r>
              <a:rPr lang="fr-MA" sz="1400" dirty="0"/>
              <a:t>      </a:t>
            </a:r>
            <a:r>
              <a:rPr lang="fr-MA" sz="1400" b="1" dirty="0">
                <a:solidFill>
                  <a:schemeClr val="accent2"/>
                </a:solidFill>
              </a:rPr>
              <a:t> [-0.04299896, -0.04190966,  0.02975568]</a:t>
            </a:r>
            <a:r>
              <a:rPr lang="fr-MA" sz="1400" dirty="0"/>
              <a:t>], </a:t>
            </a:r>
            <a:r>
              <a:rPr lang="fr-MA" sz="1400" dirty="0" err="1"/>
              <a:t>dtype</a:t>
            </a:r>
            <a:r>
              <a:rPr lang="fr-MA" sz="1400" dirty="0"/>
              <a:t>=float32),</a:t>
            </a:r>
          </a:p>
          <a:p>
            <a:r>
              <a:rPr lang="fr-MA" sz="1400" dirty="0"/>
              <a:t>       </a:t>
            </a:r>
            <a:r>
              <a:rPr lang="fr-MA" sz="1400" b="1" dirty="0" err="1">
                <a:solidFill>
                  <a:srgbClr val="C00000"/>
                </a:solidFill>
              </a:rPr>
              <a:t>array</a:t>
            </a:r>
            <a:r>
              <a:rPr lang="fr-MA" sz="1400" b="1" dirty="0">
                <a:solidFill>
                  <a:srgbClr val="C00000"/>
                </a:solidFill>
              </a:rPr>
              <a:t>([1., 1., 1.]</a:t>
            </a:r>
            <a:r>
              <a:rPr lang="fr-MA" sz="1400" dirty="0"/>
              <a:t>, </a:t>
            </a:r>
            <a:r>
              <a:rPr lang="fr-MA" sz="1400" dirty="0" err="1"/>
              <a:t>dtype</a:t>
            </a:r>
            <a:r>
              <a:rPr lang="fr-MA" sz="1400" dirty="0"/>
              <a:t>=float32)]</a:t>
            </a:r>
          </a:p>
        </p:txBody>
      </p:sp>
    </p:spTree>
    <p:extLst>
      <p:ext uri="{BB962C8B-B14F-4D97-AF65-F5344CB8AC3E}">
        <p14:creationId xmlns:p14="http://schemas.microsoft.com/office/powerpoint/2010/main" val="971799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ZoneTexte 6">
            <a:extLst>
              <a:ext uri="{FF2B5EF4-FFF2-40B4-BE49-F238E27FC236}">
                <a16:creationId xmlns:a16="http://schemas.microsoft.com/office/drawing/2014/main" id="{495D7798-583D-41BD-AB86-A3AF634A2D8B}"/>
              </a:ext>
            </a:extLst>
          </p:cNvPr>
          <p:cNvSpPr txBox="1"/>
          <p:nvPr/>
        </p:nvSpPr>
        <p:spPr>
          <a:xfrm>
            <a:off x="91440" y="1418848"/>
            <a:ext cx="62147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buClr>
                <a:srgbClr val="FF3300"/>
              </a:buClr>
            </a:pPr>
            <a:r>
              <a:rPr lang="fr-MA" sz="2000" b="1" dirty="0">
                <a:solidFill>
                  <a:srgbClr val="0070C0"/>
                </a:solidFill>
              </a:rPr>
              <a:t>Les étapes à suivre pour créer le modèle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333DA5-3225-4A02-AABF-6FA114419412}"/>
              </a:ext>
            </a:extLst>
          </p:cNvPr>
          <p:cNvSpPr txBox="1"/>
          <p:nvPr/>
        </p:nvSpPr>
        <p:spPr>
          <a:xfrm>
            <a:off x="257189" y="2426037"/>
            <a:ext cx="742188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</a:t>
            </a:r>
            <a:endParaRPr lang="fr-MA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Model</a:t>
            </a:r>
          </a:p>
          <a:p>
            <a:pPr marL="914400" lvl="1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Create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the model, </a:t>
            </a:r>
            <a:r>
              <a:rPr lang="fr-MA" dirty="0">
                <a:solidFill>
                  <a:srgbClr val="0070C0"/>
                </a:solidFill>
              </a:rPr>
              <a:t>compile the model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keras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tensorflow</a:t>
            </a:r>
            <a:endParaRPr lang="fr-MA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371600" lvl="2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Optimizer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function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fr-MA" b="1" dirty="0" err="1">
                <a:solidFill>
                  <a:srgbClr val="FF0000"/>
                </a:solidFill>
              </a:rPr>
              <a:t>sgd</a:t>
            </a:r>
            <a:r>
              <a:rPr lang="fr-MA" b="1" dirty="0">
                <a:solidFill>
                  <a:srgbClr val="FF0000"/>
                </a:solidFill>
              </a:rPr>
              <a:t>, </a:t>
            </a:r>
            <a:r>
              <a:rPr lang="fr-MA" b="1" dirty="0" err="1">
                <a:solidFill>
                  <a:srgbClr val="FF0000"/>
                </a:solidFill>
              </a:rPr>
              <a:t>adam</a:t>
            </a:r>
            <a:endParaRPr lang="fr-MA" b="1" dirty="0">
              <a:solidFill>
                <a:srgbClr val="FF0000"/>
              </a:solidFill>
            </a:endParaRPr>
          </a:p>
          <a:p>
            <a:pPr marL="1371600" lvl="2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Loss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function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 </a:t>
            </a:r>
            <a:r>
              <a:rPr lang="fr-MA" dirty="0" err="1">
                <a:solidFill>
                  <a:srgbClr val="FF0000"/>
                </a:solidFill>
              </a:rPr>
              <a:t>binary_crossentropy</a:t>
            </a:r>
            <a:endParaRPr lang="fr-MA" dirty="0">
              <a:solidFill>
                <a:srgbClr val="FF0000"/>
              </a:solidFill>
            </a:endParaRPr>
          </a:p>
          <a:p>
            <a:pPr marL="914400" lvl="1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Train the model</a:t>
            </a:r>
            <a:endParaRPr lang="fr-MA" dirty="0">
              <a:solidFill>
                <a:srgbClr val="0070C0"/>
              </a:solidFill>
            </a:endParaRPr>
          </a:p>
          <a:p>
            <a:pPr marL="914400" lvl="1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Parameters</a:t>
            </a:r>
            <a:endParaRPr lang="fr-MA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Prediction</a:t>
            </a:r>
            <a:endParaRPr lang="fr-MA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Evaluation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3BB11F5-3B40-45C6-A6F1-32FFDA87BDE0}"/>
              </a:ext>
            </a:extLst>
          </p:cNvPr>
          <p:cNvSpPr/>
          <p:nvPr/>
        </p:nvSpPr>
        <p:spPr>
          <a:xfrm>
            <a:off x="7929553" y="4496600"/>
            <a:ext cx="614362" cy="642937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109FC7F-5D8C-40FE-8261-E1FEFBE15D70}"/>
              </a:ext>
            </a:extLst>
          </p:cNvPr>
          <p:cNvSpPr/>
          <p:nvPr/>
        </p:nvSpPr>
        <p:spPr>
          <a:xfrm>
            <a:off x="7929553" y="6091552"/>
            <a:ext cx="614362" cy="6429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8B4D3BE-2F49-4B34-9C00-8D464BBF2861}"/>
              </a:ext>
            </a:extLst>
          </p:cNvPr>
          <p:cNvSpPr/>
          <p:nvPr/>
        </p:nvSpPr>
        <p:spPr>
          <a:xfrm>
            <a:off x="9982192" y="4471683"/>
            <a:ext cx="614362" cy="64293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8FFF1AC-9D5D-408A-AA15-84356F14E1C7}"/>
              </a:ext>
            </a:extLst>
          </p:cNvPr>
          <p:cNvSpPr/>
          <p:nvPr/>
        </p:nvSpPr>
        <p:spPr>
          <a:xfrm>
            <a:off x="9982192" y="6127281"/>
            <a:ext cx="614362" cy="642937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2BDDE0F-2C95-47D8-BA8F-5AEA51A7D5AE}"/>
              </a:ext>
            </a:extLst>
          </p:cNvPr>
          <p:cNvSpPr/>
          <p:nvPr/>
        </p:nvSpPr>
        <p:spPr>
          <a:xfrm>
            <a:off x="11320449" y="5189064"/>
            <a:ext cx="614362" cy="6429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0AE8DFA-5378-488B-BE51-C0C4F802CB1D}"/>
              </a:ext>
            </a:extLst>
          </p:cNvPr>
          <p:cNvCxnSpPr>
            <a:cxnSpLocks/>
          </p:cNvCxnSpPr>
          <p:nvPr/>
        </p:nvCxnSpPr>
        <p:spPr>
          <a:xfrm flipV="1">
            <a:off x="8543915" y="4793152"/>
            <a:ext cx="1438277" cy="24917"/>
          </a:xfrm>
          <a:prstGeom prst="straightConnector1">
            <a:avLst/>
          </a:prstGeom>
          <a:ln>
            <a:solidFill>
              <a:srgbClr val="0065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BB9B8BA-89DB-454F-8249-0A679BF814C4}"/>
              </a:ext>
            </a:extLst>
          </p:cNvPr>
          <p:cNvCxnSpPr>
            <a:cxnSpLocks/>
            <a:stCxn id="4" idx="6"/>
            <a:endCxn id="8" idx="2"/>
          </p:cNvCxnSpPr>
          <p:nvPr/>
        </p:nvCxnSpPr>
        <p:spPr>
          <a:xfrm>
            <a:off x="8543915" y="4818069"/>
            <a:ext cx="1438277" cy="1630681"/>
          </a:xfrm>
          <a:prstGeom prst="straightConnector1">
            <a:avLst/>
          </a:prstGeom>
          <a:ln>
            <a:solidFill>
              <a:srgbClr val="0065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7095409-861E-4DEE-8BE3-0825D920EF16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 flipV="1">
            <a:off x="8543915" y="4793152"/>
            <a:ext cx="1438277" cy="16198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9F06218-C8D3-4BA1-A1AD-CFB89BC12A4E}"/>
              </a:ext>
            </a:extLst>
          </p:cNvPr>
          <p:cNvCxnSpPr>
            <a:cxnSpLocks/>
            <a:stCxn id="6" idx="6"/>
            <a:endCxn id="8" idx="2"/>
          </p:cNvCxnSpPr>
          <p:nvPr/>
        </p:nvCxnSpPr>
        <p:spPr>
          <a:xfrm>
            <a:off x="8543915" y="6413021"/>
            <a:ext cx="1438277" cy="357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52F4094-4A99-4120-8014-335AB03C75B1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>
            <a:off x="10596554" y="4793152"/>
            <a:ext cx="723895" cy="717381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1ACA90C-D7CA-46A3-9F2B-3CE8EECB0321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 flipV="1">
            <a:off x="10596554" y="5510533"/>
            <a:ext cx="723895" cy="938217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C5C451A-6BE6-475C-AF26-B7084CB79225}"/>
              </a:ext>
            </a:extLst>
          </p:cNvPr>
          <p:cNvCxnSpPr>
            <a:cxnSpLocks/>
          </p:cNvCxnSpPr>
          <p:nvPr/>
        </p:nvCxnSpPr>
        <p:spPr>
          <a:xfrm>
            <a:off x="9805386" y="4273534"/>
            <a:ext cx="176806" cy="51961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B42753D-697C-476C-B644-8ED19CC8E4B9}"/>
              </a:ext>
            </a:extLst>
          </p:cNvPr>
          <p:cNvCxnSpPr>
            <a:cxnSpLocks/>
          </p:cNvCxnSpPr>
          <p:nvPr/>
        </p:nvCxnSpPr>
        <p:spPr>
          <a:xfrm>
            <a:off x="9944096" y="5719384"/>
            <a:ext cx="141683" cy="52308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05D7658-28B6-4C0C-BBE7-8D540E75E4F5}"/>
              </a:ext>
            </a:extLst>
          </p:cNvPr>
          <p:cNvCxnSpPr>
            <a:cxnSpLocks/>
          </p:cNvCxnSpPr>
          <p:nvPr/>
        </p:nvCxnSpPr>
        <p:spPr>
          <a:xfrm>
            <a:off x="11320449" y="4870735"/>
            <a:ext cx="123212" cy="37950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BA05EBA-51D0-408C-8A87-2EB34EC5B1EB}"/>
              </a:ext>
            </a:extLst>
          </p:cNvPr>
          <p:cNvSpPr txBox="1"/>
          <p:nvPr/>
        </p:nvSpPr>
        <p:spPr>
          <a:xfrm>
            <a:off x="9524992" y="409547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8C05EB-7F5E-4AB7-B2A6-7C6F16E0CC28}"/>
              </a:ext>
            </a:extLst>
          </p:cNvPr>
          <p:cNvSpPr txBox="1"/>
          <p:nvPr/>
        </p:nvSpPr>
        <p:spPr>
          <a:xfrm>
            <a:off x="9576786" y="555433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326566-5E61-433E-A199-E59A9736FBEF}"/>
              </a:ext>
            </a:extLst>
          </p:cNvPr>
          <p:cNvSpPr txBox="1"/>
          <p:nvPr/>
        </p:nvSpPr>
        <p:spPr>
          <a:xfrm>
            <a:off x="11091849" y="450891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79DF87-9E2B-4542-9F2D-DD1D92C3B6C8}"/>
              </a:ext>
            </a:extLst>
          </p:cNvPr>
          <p:cNvSpPr txBox="1"/>
          <p:nvPr/>
        </p:nvSpPr>
        <p:spPr>
          <a:xfrm>
            <a:off x="8724896" y="440292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0066FF"/>
                </a:solidFill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2FFF26-F070-4580-B11F-657EF6E079AE}"/>
              </a:ext>
            </a:extLst>
          </p:cNvPr>
          <p:cNvSpPr txBox="1"/>
          <p:nvPr/>
        </p:nvSpPr>
        <p:spPr>
          <a:xfrm>
            <a:off x="8762992" y="481323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0066FF"/>
                </a:solidFill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C3DEE3-3D71-49C7-A3D7-F77CDF6BADF6}"/>
              </a:ext>
            </a:extLst>
          </p:cNvPr>
          <p:cNvSpPr txBox="1"/>
          <p:nvPr/>
        </p:nvSpPr>
        <p:spPr>
          <a:xfrm>
            <a:off x="8777866" y="5511498"/>
            <a:ext cx="29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74957D-888C-4B96-BFDF-3C4F9EAA8120}"/>
              </a:ext>
            </a:extLst>
          </p:cNvPr>
          <p:cNvSpPr txBox="1"/>
          <p:nvPr/>
        </p:nvSpPr>
        <p:spPr>
          <a:xfrm>
            <a:off x="8827724" y="6033246"/>
            <a:ext cx="29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22960A-C5D3-4A56-A708-6498BED97621}"/>
              </a:ext>
            </a:extLst>
          </p:cNvPr>
          <p:cNvSpPr txBox="1"/>
          <p:nvPr/>
        </p:nvSpPr>
        <p:spPr>
          <a:xfrm>
            <a:off x="10272703" y="5039395"/>
            <a:ext cx="853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b="1" dirty="0">
                <a:solidFill>
                  <a:srgbClr val="00B050"/>
                </a:solidFill>
              </a:rPr>
              <a:t>-0.033</a:t>
            </a:r>
            <a:endParaRPr lang="fr-MA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517D55-034C-4B75-931C-2C3075FD6861}"/>
              </a:ext>
            </a:extLst>
          </p:cNvPr>
          <p:cNvSpPr txBox="1"/>
          <p:nvPr/>
        </p:nvSpPr>
        <p:spPr>
          <a:xfrm>
            <a:off x="10347118" y="5696164"/>
            <a:ext cx="853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b="1" dirty="0">
                <a:solidFill>
                  <a:schemeClr val="accent2">
                    <a:lumMod val="75000"/>
                  </a:schemeClr>
                </a:solidFill>
              </a:rPr>
              <a:t>0.041</a:t>
            </a:r>
            <a:endParaRPr lang="fr-MA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9C9536-86A9-495F-8213-F25002236A47}"/>
              </a:ext>
            </a:extLst>
          </p:cNvPr>
          <p:cNvSpPr txBox="1"/>
          <p:nvPr/>
        </p:nvSpPr>
        <p:spPr>
          <a:xfrm>
            <a:off x="91440" y="123174"/>
            <a:ext cx="6093618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sz="3200" b="1" dirty="0"/>
              <a:t>Revenons à</a:t>
            </a:r>
          </a:p>
          <a:p>
            <a:pPr>
              <a:spcAft>
                <a:spcPts val="1200"/>
              </a:spcAft>
            </a:pPr>
            <a:r>
              <a:rPr lang="fr-MA" sz="3200" b="1" dirty="0"/>
              <a:t>XOR </a:t>
            </a:r>
            <a:r>
              <a:rPr lang="fr-MA" sz="3200" b="1" dirty="0" err="1"/>
              <a:t>Problem</a:t>
            </a:r>
            <a:r>
              <a:rPr lang="fr-MA" sz="3200" b="1" dirty="0"/>
              <a:t> (simple XOR)</a:t>
            </a:r>
          </a:p>
        </p:txBody>
      </p:sp>
      <p:sp>
        <p:nvSpPr>
          <p:cNvPr id="2" name="Ellipse 155">
            <a:extLst>
              <a:ext uri="{FF2B5EF4-FFF2-40B4-BE49-F238E27FC236}">
                <a16:creationId xmlns:a16="http://schemas.microsoft.com/office/drawing/2014/main" id="{C603C7D9-53C6-2B5C-C95E-A9C0403592DE}"/>
              </a:ext>
            </a:extLst>
          </p:cNvPr>
          <p:cNvSpPr/>
          <p:nvPr/>
        </p:nvSpPr>
        <p:spPr>
          <a:xfrm>
            <a:off x="9047146" y="2647908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3" name="Connecteur droit 4">
            <a:extLst>
              <a:ext uri="{FF2B5EF4-FFF2-40B4-BE49-F238E27FC236}">
                <a16:creationId xmlns:a16="http://schemas.microsoft.com/office/drawing/2014/main" id="{AB9A5BC8-F405-97FD-5725-220A960366D0}"/>
              </a:ext>
            </a:extLst>
          </p:cNvPr>
          <p:cNvCxnSpPr>
            <a:cxnSpLocks/>
            <a:stCxn id="31" idx="6"/>
            <a:endCxn id="2" idx="2"/>
          </p:cNvCxnSpPr>
          <p:nvPr/>
        </p:nvCxnSpPr>
        <p:spPr>
          <a:xfrm>
            <a:off x="8549122" y="2873873"/>
            <a:ext cx="498024" cy="486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lipse 167">
            <a:extLst>
              <a:ext uri="{FF2B5EF4-FFF2-40B4-BE49-F238E27FC236}">
                <a16:creationId xmlns:a16="http://schemas.microsoft.com/office/drawing/2014/main" id="{0B6E65E5-7F36-F837-784B-7CA5F1CDB1E3}"/>
              </a:ext>
            </a:extLst>
          </p:cNvPr>
          <p:cNvSpPr/>
          <p:nvPr/>
        </p:nvSpPr>
        <p:spPr>
          <a:xfrm>
            <a:off x="8138044" y="3631765"/>
            <a:ext cx="41107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6A16003-0FA0-D3C1-BCE6-BF3F13D3FEDA}"/>
              </a:ext>
            </a:extLst>
          </p:cNvPr>
          <p:cNvSpPr/>
          <p:nvPr/>
        </p:nvSpPr>
        <p:spPr>
          <a:xfrm>
            <a:off x="8199314" y="2674296"/>
            <a:ext cx="4283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X1</a:t>
            </a:r>
            <a:endParaRPr lang="fr-FR" dirty="0"/>
          </a:p>
        </p:txBody>
      </p:sp>
      <p:sp>
        <p:nvSpPr>
          <p:cNvPr id="31" name="Ellipse 151">
            <a:extLst>
              <a:ext uri="{FF2B5EF4-FFF2-40B4-BE49-F238E27FC236}">
                <a16:creationId xmlns:a16="http://schemas.microsoft.com/office/drawing/2014/main" id="{6048D7FB-2B2C-B9C0-2AC7-D51104AE0030}"/>
              </a:ext>
            </a:extLst>
          </p:cNvPr>
          <p:cNvSpPr/>
          <p:nvPr/>
        </p:nvSpPr>
        <p:spPr>
          <a:xfrm>
            <a:off x="8128354" y="2639873"/>
            <a:ext cx="42076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4DE14B3-FAFD-7FD9-951F-6AFF9D689311}"/>
              </a:ext>
            </a:extLst>
          </p:cNvPr>
          <p:cNvSpPr/>
          <p:nvPr/>
        </p:nvSpPr>
        <p:spPr>
          <a:xfrm>
            <a:off x="8114573" y="3644417"/>
            <a:ext cx="4671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X2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4" name="Connecteur droit 4">
            <a:extLst>
              <a:ext uri="{FF2B5EF4-FFF2-40B4-BE49-F238E27FC236}">
                <a16:creationId xmlns:a16="http://schemas.microsoft.com/office/drawing/2014/main" id="{6B6E591A-6C4B-B7CE-9C0D-F2ADD92962D9}"/>
              </a:ext>
            </a:extLst>
          </p:cNvPr>
          <p:cNvCxnSpPr>
            <a:cxnSpLocks/>
            <a:stCxn id="29" idx="6"/>
            <a:endCxn id="2" idx="2"/>
          </p:cNvCxnSpPr>
          <p:nvPr/>
        </p:nvCxnSpPr>
        <p:spPr>
          <a:xfrm flipV="1">
            <a:off x="8549122" y="2878740"/>
            <a:ext cx="498024" cy="9870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156">
            <a:extLst>
              <a:ext uri="{FF2B5EF4-FFF2-40B4-BE49-F238E27FC236}">
                <a16:creationId xmlns:a16="http://schemas.microsoft.com/office/drawing/2014/main" id="{69FC98D9-04F4-FBB6-E8CD-814C0350E892}"/>
              </a:ext>
            </a:extLst>
          </p:cNvPr>
          <p:cNvCxnSpPr>
            <a:cxnSpLocks/>
            <a:stCxn id="2" idx="6"/>
            <a:endCxn id="40" idx="1"/>
          </p:cNvCxnSpPr>
          <p:nvPr/>
        </p:nvCxnSpPr>
        <p:spPr>
          <a:xfrm>
            <a:off x="9803146" y="2878740"/>
            <a:ext cx="215209" cy="30294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lipse 155">
            <a:extLst>
              <a:ext uri="{FF2B5EF4-FFF2-40B4-BE49-F238E27FC236}">
                <a16:creationId xmlns:a16="http://schemas.microsoft.com/office/drawing/2014/main" id="{716E0112-771B-0458-1069-08EDF9B80B76}"/>
              </a:ext>
            </a:extLst>
          </p:cNvPr>
          <p:cNvSpPr/>
          <p:nvPr/>
        </p:nvSpPr>
        <p:spPr>
          <a:xfrm>
            <a:off x="9047256" y="3633812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37" name="Connecteur droit 4">
            <a:extLst>
              <a:ext uri="{FF2B5EF4-FFF2-40B4-BE49-F238E27FC236}">
                <a16:creationId xmlns:a16="http://schemas.microsoft.com/office/drawing/2014/main" id="{FCBFD80A-8015-81D4-0853-2A862032564A}"/>
              </a:ext>
            </a:extLst>
          </p:cNvPr>
          <p:cNvCxnSpPr>
            <a:cxnSpLocks/>
            <a:stCxn id="31" idx="6"/>
            <a:endCxn id="36" idx="2"/>
          </p:cNvCxnSpPr>
          <p:nvPr/>
        </p:nvCxnSpPr>
        <p:spPr>
          <a:xfrm>
            <a:off x="8549122" y="2873873"/>
            <a:ext cx="498134" cy="99077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4">
            <a:extLst>
              <a:ext uri="{FF2B5EF4-FFF2-40B4-BE49-F238E27FC236}">
                <a16:creationId xmlns:a16="http://schemas.microsoft.com/office/drawing/2014/main" id="{32D57D94-413A-DAAF-2ED6-D362D79593E3}"/>
              </a:ext>
            </a:extLst>
          </p:cNvPr>
          <p:cNvCxnSpPr>
            <a:cxnSpLocks/>
            <a:stCxn id="29" idx="6"/>
            <a:endCxn id="36" idx="2"/>
          </p:cNvCxnSpPr>
          <p:nvPr/>
        </p:nvCxnSpPr>
        <p:spPr>
          <a:xfrm flipV="1">
            <a:off x="8549122" y="3864644"/>
            <a:ext cx="498134" cy="112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156">
            <a:extLst>
              <a:ext uri="{FF2B5EF4-FFF2-40B4-BE49-F238E27FC236}">
                <a16:creationId xmlns:a16="http://schemas.microsoft.com/office/drawing/2014/main" id="{62DAB40F-880B-EBB1-447A-EAD825B58E11}"/>
              </a:ext>
            </a:extLst>
          </p:cNvPr>
          <p:cNvCxnSpPr>
            <a:cxnSpLocks/>
            <a:stCxn id="36" idx="6"/>
            <a:endCxn id="40" idx="3"/>
          </p:cNvCxnSpPr>
          <p:nvPr/>
        </p:nvCxnSpPr>
        <p:spPr>
          <a:xfrm flipV="1">
            <a:off x="9803256" y="3538064"/>
            <a:ext cx="215099" cy="32658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Ellipse 155">
            <a:extLst>
              <a:ext uri="{FF2B5EF4-FFF2-40B4-BE49-F238E27FC236}">
                <a16:creationId xmlns:a16="http://schemas.microsoft.com/office/drawing/2014/main" id="{4D926CBA-F7EB-A213-CA70-4ABED403DA18}"/>
              </a:ext>
            </a:extLst>
          </p:cNvPr>
          <p:cNvSpPr/>
          <p:nvPr/>
        </p:nvSpPr>
        <p:spPr>
          <a:xfrm>
            <a:off x="9918186" y="3107873"/>
            <a:ext cx="684000" cy="50400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FF3300"/>
                </a:solidFill>
              </a:rPr>
              <a:t>AND</a:t>
            </a:r>
          </a:p>
        </p:txBody>
      </p:sp>
      <p:cxnSp>
        <p:nvCxnSpPr>
          <p:cNvPr id="41" name="Connecteur droit avec flèche 156">
            <a:extLst>
              <a:ext uri="{FF2B5EF4-FFF2-40B4-BE49-F238E27FC236}">
                <a16:creationId xmlns:a16="http://schemas.microsoft.com/office/drawing/2014/main" id="{8CE82289-9ABF-E95B-E86D-BE41D0BE4A91}"/>
              </a:ext>
            </a:extLst>
          </p:cNvPr>
          <p:cNvCxnSpPr>
            <a:cxnSpLocks/>
            <a:stCxn id="40" idx="6"/>
          </p:cNvCxnSpPr>
          <p:nvPr/>
        </p:nvCxnSpPr>
        <p:spPr>
          <a:xfrm>
            <a:off x="10602186" y="3359873"/>
            <a:ext cx="234591" cy="938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ZoneTexte 171">
            <a:extLst>
              <a:ext uri="{FF2B5EF4-FFF2-40B4-BE49-F238E27FC236}">
                <a16:creationId xmlns:a16="http://schemas.microsoft.com/office/drawing/2014/main" id="{BC4BDCC0-B8CB-DCAE-A5AF-3E8CB670E777}"/>
              </a:ext>
            </a:extLst>
          </p:cNvPr>
          <p:cNvSpPr txBox="1"/>
          <p:nvPr/>
        </p:nvSpPr>
        <p:spPr>
          <a:xfrm>
            <a:off x="10559036" y="2993199"/>
            <a:ext cx="25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y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92E2767-EBF2-5404-3E55-96448E370EB4}"/>
              </a:ext>
            </a:extLst>
          </p:cNvPr>
          <p:cNvSpPr txBox="1"/>
          <p:nvPr/>
        </p:nvSpPr>
        <p:spPr>
          <a:xfrm>
            <a:off x="7541218" y="2011827"/>
            <a:ext cx="4260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800" b="1" dirty="0">
                <a:solidFill>
                  <a:srgbClr val="FF3300"/>
                </a:solidFill>
              </a:rPr>
              <a:t>XOR = (!AND) and (OR) 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4B4F8A8-A1F0-9577-A7AC-EFC8530B93C4}"/>
              </a:ext>
            </a:extLst>
          </p:cNvPr>
          <p:cNvCxnSpPr/>
          <p:nvPr/>
        </p:nvCxnSpPr>
        <p:spPr>
          <a:xfrm>
            <a:off x="8082867" y="1567260"/>
            <a:ext cx="156484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6B0EA06E-54BF-9634-0E50-586F24000170}"/>
              </a:ext>
            </a:extLst>
          </p:cNvPr>
          <p:cNvSpPr/>
          <p:nvPr/>
        </p:nvSpPr>
        <p:spPr>
          <a:xfrm>
            <a:off x="8252551" y="586873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59EDC8F-0A75-52C8-68E2-C0224EADCF96}"/>
              </a:ext>
            </a:extLst>
          </p:cNvPr>
          <p:cNvSpPr/>
          <p:nvPr/>
        </p:nvSpPr>
        <p:spPr>
          <a:xfrm>
            <a:off x="9121388" y="586864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FFCBA49-0724-D8A5-E0C9-0C3252603D31}"/>
              </a:ext>
            </a:extLst>
          </p:cNvPr>
          <p:cNvSpPr/>
          <p:nvPr/>
        </p:nvSpPr>
        <p:spPr>
          <a:xfrm>
            <a:off x="9121387" y="1312737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CDFF581-55F1-C7BA-20D4-8D975C2B39B4}"/>
              </a:ext>
            </a:extLst>
          </p:cNvPr>
          <p:cNvSpPr/>
          <p:nvPr/>
        </p:nvSpPr>
        <p:spPr>
          <a:xfrm>
            <a:off x="8252551" y="1303319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BA7F508-5C3A-6197-4B59-760537803F14}"/>
              </a:ext>
            </a:extLst>
          </p:cNvPr>
          <p:cNvSpPr txBox="1"/>
          <p:nvPr/>
        </p:nvSpPr>
        <p:spPr>
          <a:xfrm>
            <a:off x="8252551" y="1640318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4E90111-E896-7A2E-B936-237BE5B2B7B7}"/>
              </a:ext>
            </a:extLst>
          </p:cNvPr>
          <p:cNvSpPr txBox="1"/>
          <p:nvPr/>
        </p:nvSpPr>
        <p:spPr>
          <a:xfrm>
            <a:off x="9078965" y="1640327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CA7FF6A-38CB-7862-A1E7-4E9F3B876FDE}"/>
              </a:ext>
            </a:extLst>
          </p:cNvPr>
          <p:cNvCxnSpPr>
            <a:cxnSpLocks/>
          </p:cNvCxnSpPr>
          <p:nvPr/>
        </p:nvCxnSpPr>
        <p:spPr>
          <a:xfrm flipV="1">
            <a:off x="8095434" y="316169"/>
            <a:ext cx="0" cy="12423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98E0A14-84B8-0993-91A2-E3C87BEE62FE}"/>
              </a:ext>
            </a:extLst>
          </p:cNvPr>
          <p:cNvSpPr txBox="1"/>
          <p:nvPr/>
        </p:nvSpPr>
        <p:spPr>
          <a:xfrm>
            <a:off x="7717581" y="1270986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B2DA5C2-1D56-67E0-8AAB-89A12F88172F}"/>
              </a:ext>
            </a:extLst>
          </p:cNvPr>
          <p:cNvSpPr txBox="1"/>
          <p:nvPr/>
        </p:nvSpPr>
        <p:spPr>
          <a:xfrm>
            <a:off x="7745862" y="557736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2CF2AEB-8653-8CD5-28F9-2B12FAE9613D}"/>
              </a:ext>
            </a:extLst>
          </p:cNvPr>
          <p:cNvCxnSpPr>
            <a:cxnSpLocks/>
          </p:cNvCxnSpPr>
          <p:nvPr/>
        </p:nvCxnSpPr>
        <p:spPr>
          <a:xfrm flipH="1">
            <a:off x="7717581" y="1073919"/>
            <a:ext cx="2244707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589C9AE-51D6-320F-8B0A-226F9068A023}"/>
              </a:ext>
            </a:extLst>
          </p:cNvPr>
          <p:cNvCxnSpPr>
            <a:cxnSpLocks/>
          </p:cNvCxnSpPr>
          <p:nvPr/>
        </p:nvCxnSpPr>
        <p:spPr>
          <a:xfrm>
            <a:off x="8768895" y="97834"/>
            <a:ext cx="0" cy="1921365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026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73F484B-74F8-486F-9623-2AF50A6FBEFD}"/>
              </a:ext>
            </a:extLst>
          </p:cNvPr>
          <p:cNvSpPr txBox="1"/>
          <p:nvPr/>
        </p:nvSpPr>
        <p:spPr>
          <a:xfrm>
            <a:off x="346472" y="1165950"/>
            <a:ext cx="10489168" cy="1877437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sz="3200" dirty="0"/>
              <a:t>X=</a:t>
            </a:r>
            <a:r>
              <a:rPr lang="fr-MA" sz="3200" dirty="0" err="1"/>
              <a:t>np.array</a:t>
            </a:r>
            <a:r>
              <a:rPr lang="fr-MA" sz="3200" dirty="0"/>
              <a:t>([[0,0],[0,1],[1,0],[1,1]])</a:t>
            </a:r>
          </a:p>
          <a:p>
            <a:pPr>
              <a:spcAft>
                <a:spcPts val="1200"/>
              </a:spcAft>
            </a:pPr>
            <a:r>
              <a:rPr lang="fr-MA" sz="3200" dirty="0"/>
              <a:t>y = </a:t>
            </a:r>
            <a:r>
              <a:rPr lang="fr-MA" sz="3200" dirty="0" err="1"/>
              <a:t>np.array</a:t>
            </a:r>
            <a:r>
              <a:rPr lang="fr-MA" sz="3200" dirty="0"/>
              <a:t>(</a:t>
            </a:r>
            <a:r>
              <a:rPr lang="fr-MA" sz="3200" dirty="0" err="1"/>
              <a:t>np.logical_xor</a:t>
            </a:r>
            <a:r>
              <a:rPr lang="fr-MA" sz="3200" dirty="0"/>
              <a:t>(X[:, 0] &gt; 0, X[:, 1] &gt; 0), </a:t>
            </a:r>
            <a:r>
              <a:rPr lang="fr-MA" sz="3200" dirty="0" err="1"/>
              <a:t>dtype</a:t>
            </a:r>
            <a:r>
              <a:rPr lang="fr-MA" sz="3200" dirty="0"/>
              <a:t>=</a:t>
            </a:r>
            <a:r>
              <a:rPr lang="fr-MA" sz="3200" dirty="0" err="1"/>
              <a:t>int</a:t>
            </a:r>
            <a:r>
              <a:rPr lang="fr-MA" sz="3200" dirty="0"/>
              <a:t>)</a:t>
            </a:r>
          </a:p>
          <a:p>
            <a:pPr>
              <a:spcAft>
                <a:spcPts val="1200"/>
              </a:spcAft>
            </a:pPr>
            <a:endParaRPr lang="fr-MA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1ACF5E-673A-4796-8EF1-4F2101419132}"/>
              </a:ext>
            </a:extLst>
          </p:cNvPr>
          <p:cNvSpPr txBox="1"/>
          <p:nvPr/>
        </p:nvSpPr>
        <p:spPr>
          <a:xfrm>
            <a:off x="100013" y="71438"/>
            <a:ext cx="668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FF3300"/>
                </a:solidFill>
              </a:rPr>
              <a:t>1.</a:t>
            </a:r>
            <a:r>
              <a:rPr lang="fr-MA" sz="2400" dirty="0"/>
              <a:t> </a:t>
            </a:r>
            <a:r>
              <a:rPr lang="fr-MA" sz="2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Dataset</a:t>
            </a:r>
            <a:endParaRPr lang="fr-MA" sz="2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218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37">
            <a:extLst>
              <a:ext uri="{FF2B5EF4-FFF2-40B4-BE49-F238E27FC236}">
                <a16:creationId xmlns:a16="http://schemas.microsoft.com/office/drawing/2014/main" id="{A6EF7B91-6584-4E82-B05C-08B96C1C0A58}"/>
              </a:ext>
            </a:extLst>
          </p:cNvPr>
          <p:cNvSpPr txBox="1"/>
          <p:nvPr/>
        </p:nvSpPr>
        <p:spPr>
          <a:xfrm>
            <a:off x="7881931" y="5222308"/>
            <a:ext cx="423743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dirty="0"/>
              <a:t>[</a:t>
            </a:r>
            <a:r>
              <a:rPr lang="fr-MA" sz="1600" dirty="0" err="1"/>
              <a:t>array</a:t>
            </a:r>
            <a:r>
              <a:rPr lang="fr-MA" sz="1600" dirty="0"/>
              <a:t>([</a:t>
            </a:r>
            <a:r>
              <a:rPr lang="fr-MA" sz="1600" b="1" dirty="0">
                <a:solidFill>
                  <a:srgbClr val="0066FF"/>
                </a:solidFill>
              </a:rPr>
              <a:t>[1., 1.]</a:t>
            </a:r>
            <a:r>
              <a:rPr lang="fr-MA" sz="1600" dirty="0"/>
              <a:t>,  </a:t>
            </a:r>
            <a:r>
              <a:rPr lang="fr-MA" sz="1600" b="1" dirty="0">
                <a:solidFill>
                  <a:srgbClr val="FF0000"/>
                </a:solidFill>
              </a:rPr>
              <a:t>[1., 1.]</a:t>
            </a:r>
            <a:r>
              <a:rPr lang="fr-MA" sz="1600" dirty="0"/>
              <a:t>], </a:t>
            </a:r>
            <a:r>
              <a:rPr lang="fr-MA" sz="1600" dirty="0" err="1"/>
              <a:t>dtype</a:t>
            </a:r>
            <a:r>
              <a:rPr lang="fr-MA" sz="1600" dirty="0"/>
              <a:t>=float32), </a:t>
            </a:r>
            <a:r>
              <a:rPr lang="fr-MA" sz="1600" dirty="0" err="1"/>
              <a:t>array</a:t>
            </a:r>
            <a:r>
              <a:rPr lang="fr-MA" sz="1600" dirty="0"/>
              <a:t>(</a:t>
            </a:r>
            <a:r>
              <a:rPr lang="fr-MA" sz="1600" b="1" dirty="0">
                <a:solidFill>
                  <a:srgbClr val="C00000"/>
                </a:solidFill>
              </a:rPr>
              <a:t>[0., 0.]</a:t>
            </a:r>
            <a:r>
              <a:rPr lang="fr-MA" sz="1600" dirty="0"/>
              <a:t>, </a:t>
            </a:r>
            <a:r>
              <a:rPr lang="fr-MA" sz="1600" dirty="0" err="1"/>
              <a:t>dtype</a:t>
            </a:r>
            <a:r>
              <a:rPr lang="fr-MA" sz="1600" dirty="0"/>
              <a:t>=float32), </a:t>
            </a:r>
          </a:p>
          <a:p>
            <a:r>
              <a:rPr lang="fr-MA" sz="1600" dirty="0" err="1"/>
              <a:t>array</a:t>
            </a:r>
            <a:r>
              <a:rPr lang="fr-MA" sz="1600" dirty="0"/>
              <a:t>([</a:t>
            </a:r>
            <a:r>
              <a:rPr lang="fr-MA" sz="1600" b="1" dirty="0">
                <a:solidFill>
                  <a:srgbClr val="00B050"/>
                </a:solidFill>
              </a:rPr>
              <a:t>[-0.03330588]</a:t>
            </a:r>
            <a:r>
              <a:rPr lang="fr-MA" sz="1600" dirty="0"/>
              <a:t>, </a:t>
            </a:r>
            <a:r>
              <a:rPr lang="fr-MA" sz="1600" b="1" dirty="0">
                <a:solidFill>
                  <a:schemeClr val="accent2">
                    <a:lumMod val="75000"/>
                  </a:schemeClr>
                </a:solidFill>
              </a:rPr>
              <a:t>[ 0.04190588]</a:t>
            </a:r>
            <a:r>
              <a:rPr lang="fr-MA" sz="1600" dirty="0"/>
              <a:t>], </a:t>
            </a:r>
            <a:r>
              <a:rPr lang="fr-MA" sz="1600" dirty="0" err="1"/>
              <a:t>dtype</a:t>
            </a:r>
            <a:r>
              <a:rPr lang="fr-MA" sz="1600" dirty="0"/>
              <a:t>=float32), </a:t>
            </a:r>
            <a:r>
              <a:rPr lang="fr-MA" sz="1600" dirty="0" err="1"/>
              <a:t>array</a:t>
            </a:r>
            <a:r>
              <a:rPr lang="fr-MA" sz="1600" dirty="0"/>
              <a:t>(</a:t>
            </a:r>
            <a:r>
              <a:rPr lang="fr-MA" sz="1600" dirty="0">
                <a:solidFill>
                  <a:srgbClr val="C00000"/>
                </a:solidFill>
              </a:rPr>
              <a:t>[0.]</a:t>
            </a:r>
            <a:r>
              <a:rPr lang="fr-MA" sz="1600" dirty="0"/>
              <a:t>, </a:t>
            </a:r>
            <a:r>
              <a:rPr lang="fr-MA" sz="1600" dirty="0" err="1"/>
              <a:t>dtype</a:t>
            </a:r>
            <a:r>
              <a:rPr lang="fr-MA" sz="1600" dirty="0"/>
              <a:t>=float32)]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10F0FB3E-78D3-426B-9A26-8E6693892353}"/>
              </a:ext>
            </a:extLst>
          </p:cNvPr>
          <p:cNvSpPr txBox="1"/>
          <p:nvPr/>
        </p:nvSpPr>
        <p:spPr>
          <a:xfrm>
            <a:off x="0" y="417352"/>
            <a:ext cx="9418741" cy="4370427"/>
          </a:xfrm>
          <a:prstGeom prst="rect">
            <a:avLst/>
          </a:prstGeom>
          <a:solidFill>
            <a:srgbClr val="FFFF99"/>
          </a:solidFill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sz="1600" dirty="0" err="1"/>
              <a:t>from</a:t>
            </a:r>
            <a:r>
              <a:rPr lang="fr-MA" sz="1600" dirty="0"/>
              <a:t> </a:t>
            </a:r>
            <a:r>
              <a:rPr lang="fr-MA" sz="1600" dirty="0" err="1"/>
              <a:t>keras.models</a:t>
            </a:r>
            <a:r>
              <a:rPr lang="fr-MA" sz="1600" dirty="0"/>
              <a:t> import </a:t>
            </a:r>
            <a:r>
              <a:rPr lang="fr-MA" sz="1600" dirty="0" err="1"/>
              <a:t>Sequential</a:t>
            </a:r>
            <a:r>
              <a:rPr lang="fr-MA" sz="1600" dirty="0"/>
              <a:t> 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from</a:t>
            </a:r>
            <a:r>
              <a:rPr lang="fr-MA" sz="1600" dirty="0"/>
              <a:t> </a:t>
            </a:r>
            <a:r>
              <a:rPr lang="fr-MA" sz="1600" dirty="0" err="1"/>
              <a:t>keras.layers</a:t>
            </a:r>
            <a:r>
              <a:rPr lang="fr-MA" sz="1600" dirty="0"/>
              <a:t> import Activation, </a:t>
            </a:r>
            <a:r>
              <a:rPr lang="fr-MA" sz="1600" dirty="0" err="1"/>
              <a:t>Dense,Flatten</a:t>
            </a:r>
            <a:r>
              <a:rPr lang="fr-MA" sz="1600" dirty="0"/>
              <a:t> </a:t>
            </a:r>
          </a:p>
          <a:p>
            <a:pPr>
              <a:spcAft>
                <a:spcPts val="1200"/>
              </a:spcAft>
            </a:pPr>
            <a:r>
              <a:rPr lang="fr-MA" sz="1600" dirty="0"/>
              <a:t>model = </a:t>
            </a:r>
            <a:r>
              <a:rPr lang="fr-MA" sz="1600" dirty="0" err="1"/>
              <a:t>Sequential</a:t>
            </a:r>
            <a:r>
              <a:rPr lang="fr-MA" sz="1600" dirty="0"/>
              <a:t>() </a:t>
            </a:r>
          </a:p>
          <a:p>
            <a:pPr>
              <a:spcAft>
                <a:spcPts val="1200"/>
              </a:spcAft>
            </a:pPr>
            <a:r>
              <a:rPr lang="fr-MA" sz="1600" dirty="0">
                <a:solidFill>
                  <a:srgbClr val="00B050"/>
                </a:solidFill>
              </a:rPr>
              <a:t>#input_layer = </a:t>
            </a:r>
            <a:r>
              <a:rPr lang="fr-MA" sz="1600" dirty="0" err="1">
                <a:solidFill>
                  <a:srgbClr val="00B050"/>
                </a:solidFill>
              </a:rPr>
              <a:t>Flatten</a:t>
            </a:r>
            <a:r>
              <a:rPr lang="fr-MA" sz="1600" dirty="0">
                <a:solidFill>
                  <a:srgbClr val="00B050"/>
                </a:solidFill>
              </a:rPr>
              <a:t>(</a:t>
            </a:r>
            <a:r>
              <a:rPr lang="fr-MA" sz="1600" dirty="0" err="1">
                <a:solidFill>
                  <a:srgbClr val="00B050"/>
                </a:solidFill>
              </a:rPr>
              <a:t>input_shape</a:t>
            </a:r>
            <a:r>
              <a:rPr lang="fr-MA" sz="1600" dirty="0">
                <a:solidFill>
                  <a:srgbClr val="00B050"/>
                </a:solidFill>
              </a:rPr>
              <a:t>=[2,1])</a:t>
            </a:r>
          </a:p>
          <a:p>
            <a:pPr>
              <a:spcAft>
                <a:spcPts val="1200"/>
              </a:spcAft>
            </a:pPr>
            <a:r>
              <a:rPr lang="fr-MA" sz="1600" b="1" dirty="0" err="1"/>
              <a:t>hidden_layer</a:t>
            </a:r>
            <a:r>
              <a:rPr lang="fr-MA" sz="1600" b="1" dirty="0"/>
              <a:t> = Dense(</a:t>
            </a:r>
            <a:r>
              <a:rPr lang="fr-MA" sz="1600" b="1" dirty="0">
                <a:solidFill>
                  <a:srgbClr val="FF0000"/>
                </a:solidFill>
              </a:rPr>
              <a:t>2</a:t>
            </a:r>
            <a:r>
              <a:rPr lang="fr-MA" sz="1600" b="1" dirty="0"/>
              <a:t>,</a:t>
            </a:r>
            <a:r>
              <a:rPr lang="fr-MA" sz="1600" b="1" dirty="0">
                <a:solidFill>
                  <a:srgbClr val="FF0000"/>
                </a:solidFill>
              </a:rPr>
              <a:t>input_dim=2</a:t>
            </a:r>
            <a:r>
              <a:rPr lang="fr-MA" sz="1600" b="1" dirty="0"/>
              <a:t>, </a:t>
            </a:r>
            <a:r>
              <a:rPr lang="fr-MA" sz="1600" b="1" dirty="0" err="1"/>
              <a:t>kernel_initializer</a:t>
            </a:r>
            <a:r>
              <a:rPr lang="fr-MA" sz="1600" b="1" dirty="0"/>
              <a:t>='</a:t>
            </a:r>
            <a:r>
              <a:rPr lang="fr-MA" sz="1600" b="1" dirty="0" err="1"/>
              <a:t>ones</a:t>
            </a:r>
            <a:r>
              <a:rPr lang="fr-MA" sz="1600" b="1" dirty="0"/>
              <a:t>',</a:t>
            </a:r>
            <a:r>
              <a:rPr lang="fr-MA" sz="1600" b="1" dirty="0" err="1"/>
              <a:t>bias_initializer</a:t>
            </a:r>
            <a:r>
              <a:rPr lang="fr-MA" sz="1600" b="1" dirty="0"/>
              <a:t>='</a:t>
            </a:r>
            <a:r>
              <a:rPr lang="fr-MA" sz="1600" b="1" dirty="0" err="1"/>
              <a:t>zeros</a:t>
            </a:r>
            <a:r>
              <a:rPr lang="fr-MA" sz="1600" b="1" dirty="0"/>
              <a:t>’, activation=‘</a:t>
            </a:r>
            <a:r>
              <a:rPr lang="fr-MA" sz="1600" b="1" dirty="0">
                <a:solidFill>
                  <a:srgbClr val="FF0000"/>
                </a:solidFill>
              </a:rPr>
              <a:t>relu</a:t>
            </a:r>
            <a:r>
              <a:rPr lang="fr-MA" sz="1600" b="1" dirty="0"/>
              <a:t>’) </a:t>
            </a:r>
          </a:p>
          <a:p>
            <a:pPr>
              <a:spcAft>
                <a:spcPts val="1200"/>
              </a:spcAft>
            </a:pPr>
            <a:r>
              <a:rPr lang="fr-MA" sz="1400" b="1" dirty="0" err="1"/>
              <a:t>output_layer</a:t>
            </a:r>
            <a:r>
              <a:rPr lang="fr-MA" sz="1400" b="1" dirty="0"/>
              <a:t> = Dense(</a:t>
            </a:r>
            <a:r>
              <a:rPr lang="fr-MA" sz="1400" b="1" dirty="0">
                <a:solidFill>
                  <a:srgbClr val="FF0000"/>
                </a:solidFill>
              </a:rPr>
              <a:t>1</a:t>
            </a:r>
            <a:r>
              <a:rPr lang="fr-MA" sz="1400" b="1" dirty="0"/>
              <a:t>,kernel_initializer='random_</a:t>
            </a:r>
            <a:r>
              <a:rPr lang="fr-MA" sz="1400" b="1" dirty="0" err="1"/>
              <a:t>uniform</a:t>
            </a:r>
            <a:r>
              <a:rPr lang="fr-MA" sz="1400" b="1" dirty="0"/>
              <a:t>',</a:t>
            </a:r>
            <a:r>
              <a:rPr lang="fr-MA" sz="1400" b="1" dirty="0" err="1"/>
              <a:t>bias_initializer</a:t>
            </a:r>
            <a:r>
              <a:rPr lang="fr-MA" sz="1400" b="1" dirty="0"/>
              <a:t>='</a:t>
            </a:r>
            <a:r>
              <a:rPr lang="fr-MA" sz="1400" b="1" dirty="0" err="1"/>
              <a:t>zeros</a:t>
            </a:r>
            <a:r>
              <a:rPr lang="fr-MA" sz="1400" b="1" dirty="0"/>
              <a:t>’, activation=‘</a:t>
            </a:r>
            <a:r>
              <a:rPr lang="fr-MA" sz="2000" b="1" dirty="0" err="1">
                <a:solidFill>
                  <a:srgbClr val="C00000"/>
                </a:solidFill>
              </a:rPr>
              <a:t>sigmoid</a:t>
            </a:r>
            <a:r>
              <a:rPr lang="fr-MA" sz="1400" b="1" dirty="0"/>
              <a:t>’) </a:t>
            </a:r>
          </a:p>
          <a:p>
            <a:pPr>
              <a:spcAft>
                <a:spcPts val="1200"/>
              </a:spcAft>
            </a:pPr>
            <a:r>
              <a:rPr lang="fr-MA" sz="1600" dirty="0">
                <a:solidFill>
                  <a:srgbClr val="00B050"/>
                </a:solidFill>
              </a:rPr>
              <a:t>#model.add(input_layer) 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b="1" dirty="0" err="1"/>
              <a:t>hidden_layer</a:t>
            </a:r>
            <a:r>
              <a:rPr lang="fr-MA" sz="1600" dirty="0"/>
              <a:t>) 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b="1" dirty="0" err="1"/>
              <a:t>output_layer</a:t>
            </a:r>
            <a:r>
              <a:rPr lang="fr-MA" sz="1600" dirty="0"/>
              <a:t>) </a:t>
            </a:r>
          </a:p>
          <a:p>
            <a:pPr>
              <a:spcAft>
                <a:spcPts val="1200"/>
              </a:spcAft>
            </a:pPr>
            <a:r>
              <a:rPr lang="fr-MA" sz="1600" dirty="0"/>
              <a:t>coef=</a:t>
            </a:r>
            <a:r>
              <a:rPr lang="fr-MA" sz="1600" dirty="0" err="1"/>
              <a:t>model.get_weights</a:t>
            </a:r>
            <a:r>
              <a:rPr lang="fr-MA" sz="1600" dirty="0"/>
              <a:t>()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print</a:t>
            </a:r>
            <a:r>
              <a:rPr lang="fr-MA" sz="1600" dirty="0"/>
              <a:t>(coef)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FC7893-88A3-4842-99B4-446EB8B50005}"/>
              </a:ext>
            </a:extLst>
          </p:cNvPr>
          <p:cNvSpPr txBox="1"/>
          <p:nvPr/>
        </p:nvSpPr>
        <p:spPr>
          <a:xfrm>
            <a:off x="42861" y="-28578"/>
            <a:ext cx="668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FF3300"/>
                </a:solidFill>
              </a:rPr>
              <a:t>2.</a:t>
            </a:r>
            <a:r>
              <a:rPr lang="fr-MA" sz="2400" dirty="0"/>
              <a:t> </a:t>
            </a:r>
            <a:r>
              <a:rPr lang="fr-MA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Model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C039B9-8A5E-4C5F-84E8-8DFBDCD4B2AD}"/>
              </a:ext>
            </a:extLst>
          </p:cNvPr>
          <p:cNvSpPr txBox="1"/>
          <p:nvPr/>
        </p:nvSpPr>
        <p:spPr>
          <a:xfrm>
            <a:off x="-25012" y="4848073"/>
            <a:ext cx="7806927" cy="584775"/>
          </a:xfrm>
          <a:prstGeom prst="rect">
            <a:avLst/>
          </a:prstGeom>
          <a:solidFill>
            <a:srgbClr val="FFFF99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fr-MA" sz="1600" b="1" dirty="0">
                <a:solidFill>
                  <a:srgbClr val="00B050"/>
                </a:solidFill>
              </a:rPr>
              <a:t>#</a:t>
            </a:r>
            <a:r>
              <a:rPr lang="en-US" sz="1600" b="1" dirty="0">
                <a:solidFill>
                  <a:srgbClr val="00B050"/>
                </a:solidFill>
              </a:rPr>
              <a:t>opt=</a:t>
            </a:r>
            <a:r>
              <a:rPr lang="en-US" sz="1600" b="1" dirty="0" err="1">
                <a:solidFill>
                  <a:srgbClr val="00B050"/>
                </a:solidFill>
              </a:rPr>
              <a:t>tf.keras.optimizers.SGD</a:t>
            </a:r>
            <a:r>
              <a:rPr lang="en-US" sz="1600" b="1" dirty="0">
                <a:solidFill>
                  <a:srgbClr val="00B050"/>
                </a:solidFill>
              </a:rPr>
              <a:t>(</a:t>
            </a:r>
            <a:r>
              <a:rPr lang="en-US" sz="1600" b="1" dirty="0" err="1">
                <a:solidFill>
                  <a:srgbClr val="00B050"/>
                </a:solidFill>
              </a:rPr>
              <a:t>learning_rate</a:t>
            </a:r>
            <a:r>
              <a:rPr lang="en-US" sz="1600" b="1" dirty="0">
                <a:solidFill>
                  <a:srgbClr val="00B050"/>
                </a:solidFill>
              </a:rPr>
              <a:t>=0.001)</a:t>
            </a:r>
            <a:endParaRPr lang="fr-MA" sz="1600" b="1" dirty="0">
              <a:solidFill>
                <a:srgbClr val="00B050"/>
              </a:solidFill>
            </a:endParaRPr>
          </a:p>
          <a:p>
            <a:r>
              <a:rPr lang="fr-MA" sz="1600" b="1" dirty="0" err="1"/>
              <a:t>model.compile</a:t>
            </a:r>
            <a:r>
              <a:rPr lang="fr-MA" sz="1600" b="1" dirty="0"/>
              <a:t>(</a:t>
            </a:r>
            <a:r>
              <a:rPr lang="fr-MA" sz="1600" b="1" dirty="0" err="1"/>
              <a:t>loss</a:t>
            </a:r>
            <a:r>
              <a:rPr lang="fr-MA" sz="1600" b="1" dirty="0"/>
              <a:t>='binary_</a:t>
            </a:r>
            <a:r>
              <a:rPr lang="fr-MA" sz="1600" b="1" dirty="0" err="1"/>
              <a:t>crossentropy</a:t>
            </a:r>
            <a:r>
              <a:rPr lang="fr-MA" sz="1600" b="1" dirty="0"/>
              <a:t>',</a:t>
            </a:r>
            <a:r>
              <a:rPr lang="fr-MA" sz="1600" b="1" dirty="0" err="1"/>
              <a:t>optimizer</a:t>
            </a:r>
            <a:r>
              <a:rPr lang="fr-MA" sz="1600" b="1" dirty="0"/>
              <a:t>='</a:t>
            </a:r>
            <a:r>
              <a:rPr lang="fr-MA" sz="1600" b="1" dirty="0" err="1"/>
              <a:t>sgd</a:t>
            </a:r>
            <a:r>
              <a:rPr lang="fr-MA" sz="1600" b="1" dirty="0"/>
              <a:t>',</a:t>
            </a:r>
            <a:r>
              <a:rPr lang="fr-MA" sz="1600" b="1" dirty="0" err="1"/>
              <a:t>metrics</a:t>
            </a:r>
            <a:r>
              <a:rPr lang="fr-MA" sz="1600" b="1" dirty="0"/>
              <a:t>=['</a:t>
            </a:r>
            <a:r>
              <a:rPr lang="fr-MA" sz="1600" b="1" dirty="0" err="1"/>
              <a:t>accuracy</a:t>
            </a:r>
            <a:r>
              <a:rPr lang="fr-MA" sz="1600" b="1" dirty="0"/>
              <a:t>’])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919E7E-5CAB-BEB4-5DB9-77CFCB0E2B14}"/>
              </a:ext>
            </a:extLst>
          </p:cNvPr>
          <p:cNvSpPr txBox="1"/>
          <p:nvPr/>
        </p:nvSpPr>
        <p:spPr>
          <a:xfrm>
            <a:off x="-25012" y="5490244"/>
            <a:ext cx="6093618" cy="1231106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b="1" dirty="0" err="1"/>
              <a:t>model.fit</a:t>
            </a:r>
            <a:r>
              <a:rPr lang="fr-MA" b="1" dirty="0"/>
              <a:t>(</a:t>
            </a:r>
            <a:r>
              <a:rPr lang="fr-MA" b="1" dirty="0" err="1"/>
              <a:t>X,y,epochs</a:t>
            </a:r>
            <a:r>
              <a:rPr lang="fr-MA" b="1" dirty="0"/>
              <a:t>=1000)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print</a:t>
            </a:r>
            <a:r>
              <a:rPr lang="fr-MA" dirty="0"/>
              <a:t>(</a:t>
            </a:r>
            <a:r>
              <a:rPr lang="fr-MA" dirty="0" err="1"/>
              <a:t>model.get_weights</a:t>
            </a:r>
            <a:r>
              <a:rPr lang="fr-MA" dirty="0"/>
              <a:t>())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print</a:t>
            </a:r>
            <a:r>
              <a:rPr lang="fr-MA" dirty="0"/>
              <a:t>(</a:t>
            </a:r>
            <a:r>
              <a:rPr lang="fr-MA" dirty="0" err="1"/>
              <a:t>model.predict</a:t>
            </a:r>
            <a:r>
              <a:rPr lang="fr-MA" dirty="0"/>
              <a:t>(X)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F4F60B-E252-CB29-C60D-1C1E31298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6039" y="1450201"/>
            <a:ext cx="2700625" cy="197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1428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57281E-2533-5139-2451-645B98A73C37}"/>
              </a:ext>
            </a:extLst>
          </p:cNvPr>
          <p:cNvSpPr txBox="1"/>
          <p:nvPr/>
        </p:nvSpPr>
        <p:spPr>
          <a:xfrm>
            <a:off x="0" y="4698157"/>
            <a:ext cx="1063909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dirty="0">
                <a:hlinkClick r:id="rId2"/>
              </a:rPr>
              <a:t>https://induraj2020.medium.com/different-variants-of-gradient-descent-6854d3118c4c</a:t>
            </a:r>
            <a:endParaRPr lang="fr-MA" dirty="0"/>
          </a:p>
          <a:p>
            <a:r>
              <a:rPr lang="fr-MA" dirty="0">
                <a:hlinkClick r:id="rId3"/>
              </a:rPr>
              <a:t>https://towardsdatascience.com/stochastic-gradient-descent-clearly-explained-53d239905d31</a:t>
            </a:r>
            <a:endParaRPr lang="fr-MA" dirty="0"/>
          </a:p>
          <a:p>
            <a:r>
              <a:rPr lang="fr-MA" dirty="0">
                <a:hlinkClick r:id="rId4"/>
              </a:rPr>
              <a:t>https://realpython.com/gradient-descent-algorithm-python/</a:t>
            </a:r>
            <a:endParaRPr lang="fr-MA" dirty="0"/>
          </a:p>
          <a:p>
            <a:r>
              <a:rPr lang="fr-MA" dirty="0">
                <a:hlinkClick r:id="rId5"/>
              </a:rPr>
              <a:t>https://towardsdatascience.com/7-tips-to-choose-the-best-optimizer-47bb9c1219e</a:t>
            </a:r>
            <a:endParaRPr lang="fr-MA" dirty="0"/>
          </a:p>
          <a:p>
            <a:endParaRPr lang="fr-MA" dirty="0"/>
          </a:p>
          <a:p>
            <a:endParaRPr lang="fr-MA" dirty="0"/>
          </a:p>
          <a:p>
            <a:endParaRPr lang="fr-M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7D093B-91D9-E0CC-9F89-A00C3921786A}"/>
              </a:ext>
            </a:extLst>
          </p:cNvPr>
          <p:cNvSpPr txBox="1"/>
          <p:nvPr/>
        </p:nvSpPr>
        <p:spPr>
          <a:xfrm>
            <a:off x="0" y="0"/>
            <a:ext cx="7520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Optimizers</a:t>
            </a:r>
            <a:endParaRPr lang="fr-MA" sz="2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37590-D598-9AED-58A1-E9C20C52F7EB}"/>
              </a:ext>
            </a:extLst>
          </p:cNvPr>
          <p:cNvSpPr txBox="1"/>
          <p:nvPr/>
        </p:nvSpPr>
        <p:spPr>
          <a:xfrm>
            <a:off x="0" y="523220"/>
            <a:ext cx="12155533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indent="-2160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rgbClr val="0070C0"/>
                </a:solidFill>
              </a:rPr>
              <a:t>Batch Gradient </a:t>
            </a:r>
            <a:r>
              <a:rPr lang="fr-MA" dirty="0" err="1">
                <a:solidFill>
                  <a:srgbClr val="0070C0"/>
                </a:solidFill>
              </a:rPr>
              <a:t>Descent</a:t>
            </a:r>
            <a:endParaRPr lang="fr-MA" dirty="0">
              <a:solidFill>
                <a:srgbClr val="0070C0"/>
              </a:solidFill>
            </a:endParaRPr>
          </a:p>
          <a:p>
            <a:pPr marL="216000" indent="-2160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rgbClr val="0070C0"/>
                </a:solidFill>
              </a:rPr>
              <a:t>Stochastic</a:t>
            </a:r>
            <a:r>
              <a:rPr lang="fr-MA" dirty="0">
                <a:solidFill>
                  <a:srgbClr val="0070C0"/>
                </a:solidFill>
              </a:rPr>
              <a:t> Gradient </a:t>
            </a:r>
            <a:r>
              <a:rPr lang="fr-MA" dirty="0" err="1">
                <a:solidFill>
                  <a:srgbClr val="0070C0"/>
                </a:solidFill>
              </a:rPr>
              <a:t>Descent</a:t>
            </a:r>
            <a:endParaRPr lang="fr-MA" dirty="0">
              <a:solidFill>
                <a:srgbClr val="0070C0"/>
              </a:solidFill>
            </a:endParaRPr>
          </a:p>
          <a:p>
            <a:pPr marL="216000" indent="-2160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rgbClr val="0070C0"/>
                </a:solidFill>
              </a:rPr>
              <a:t>Mini-Batch Gradient </a:t>
            </a:r>
            <a:r>
              <a:rPr lang="fr-MA" dirty="0" err="1">
                <a:solidFill>
                  <a:srgbClr val="0070C0"/>
                </a:solidFill>
              </a:rPr>
              <a:t>Descent</a:t>
            </a:r>
            <a:endParaRPr lang="fr-MA" dirty="0">
              <a:solidFill>
                <a:srgbClr val="0070C0"/>
              </a:solidFill>
            </a:endParaRPr>
          </a:p>
          <a:p>
            <a:pPr marL="216000" indent="-2160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rgbClr val="0070C0"/>
                </a:solidFill>
              </a:rPr>
              <a:t>Momentum Gradient </a:t>
            </a:r>
            <a:r>
              <a:rPr lang="fr-MA" dirty="0" err="1">
                <a:solidFill>
                  <a:srgbClr val="0070C0"/>
                </a:solidFill>
              </a:rPr>
              <a:t>Descent</a:t>
            </a:r>
            <a:endParaRPr lang="fr-MA" dirty="0">
              <a:solidFill>
                <a:srgbClr val="0070C0"/>
              </a:solidFill>
            </a:endParaRPr>
          </a:p>
          <a:p>
            <a:pPr marL="216000" indent="-2160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rgbClr val="0070C0"/>
                </a:solidFill>
              </a:rPr>
              <a:t>Adagrad</a:t>
            </a:r>
            <a:endParaRPr lang="fr-MA" dirty="0">
              <a:solidFill>
                <a:srgbClr val="0070C0"/>
              </a:solidFill>
            </a:endParaRPr>
          </a:p>
          <a:p>
            <a:pPr marL="216000" indent="-2160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rgbClr val="0070C0"/>
                </a:solidFill>
              </a:rPr>
              <a:t>RMSProp</a:t>
            </a:r>
            <a:endParaRPr lang="fr-MA" dirty="0">
              <a:solidFill>
                <a:srgbClr val="0070C0"/>
              </a:solidFill>
            </a:endParaRPr>
          </a:p>
          <a:p>
            <a:pPr marL="216000" indent="-2160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rgbClr val="0070C0"/>
                </a:solidFill>
              </a:rPr>
              <a:t>ADAM</a:t>
            </a:r>
          </a:p>
          <a:p>
            <a:pPr marL="216000" indent="-2160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7775789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9663CA-DB5F-1B90-20A9-F33A1D1EB11E}"/>
              </a:ext>
            </a:extLst>
          </p:cNvPr>
          <p:cNvSpPr txBox="1"/>
          <p:nvPr/>
        </p:nvSpPr>
        <p:spPr>
          <a:xfrm>
            <a:off x="94593" y="1122030"/>
            <a:ext cx="6294120" cy="4247317"/>
          </a:xfrm>
          <a:prstGeom prst="rect">
            <a:avLst/>
          </a:prstGeom>
          <a:solidFill>
            <a:srgbClr val="FFFFCC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MA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def</a:t>
            </a: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fit(</a:t>
            </a:r>
            <a:r>
              <a:rPr lang="fr-MA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X,y</a:t>
            </a: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):</a:t>
            </a:r>
          </a:p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learning_rate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=0.001</a:t>
            </a:r>
          </a:p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epochs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=10000</a:t>
            </a:r>
            <a:endParaRPr lang="fr-MA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n=</a:t>
            </a:r>
            <a:r>
              <a:rPr lang="fr-MA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len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(y)</a:t>
            </a:r>
          </a:p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W=</a:t>
            </a:r>
            <a:r>
              <a:rPr lang="fr-MA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np.array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fr-MA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np.zeros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fr-MA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X.shape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[1])) </a:t>
            </a:r>
          </a:p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=0</a:t>
            </a:r>
          </a:p>
          <a:p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for k in range(</a:t>
            </a:r>
            <a:r>
              <a:rPr lang="fr-MA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epochs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):</a:t>
            </a:r>
          </a:p>
          <a:p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yhat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=bias+np.dot(X,W)</a:t>
            </a:r>
          </a:p>
          <a:p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</a:t>
            </a:r>
            <a:r>
              <a:rPr lang="fr-MA" dirty="0">
                <a:solidFill>
                  <a:srgbClr val="00B050"/>
                </a:solidFill>
              </a:rPr>
              <a:t>#mean </a:t>
            </a:r>
            <a:r>
              <a:rPr lang="fr-MA" dirty="0" err="1">
                <a:solidFill>
                  <a:srgbClr val="00B050"/>
                </a:solidFill>
              </a:rPr>
              <a:t>squared</a:t>
            </a:r>
            <a:r>
              <a:rPr lang="fr-MA" dirty="0">
                <a:solidFill>
                  <a:srgbClr val="00B050"/>
                </a:solidFill>
              </a:rPr>
              <a:t> </a:t>
            </a:r>
            <a:r>
              <a:rPr lang="fr-MA" dirty="0" err="1">
                <a:solidFill>
                  <a:srgbClr val="00B050"/>
                </a:solidFill>
              </a:rPr>
              <a:t>function</a:t>
            </a:r>
            <a:r>
              <a:rPr lang="fr-MA" dirty="0">
                <a:solidFill>
                  <a:srgbClr val="00B050"/>
                </a:solidFill>
              </a:rPr>
              <a:t> as a </a:t>
            </a:r>
            <a:r>
              <a:rPr lang="fr-MA" dirty="0" err="1">
                <a:solidFill>
                  <a:srgbClr val="00B050"/>
                </a:solidFill>
              </a:rPr>
              <a:t>cost</a:t>
            </a:r>
            <a:r>
              <a:rPr lang="fr-MA" dirty="0">
                <a:solidFill>
                  <a:srgbClr val="00B050"/>
                </a:solidFill>
              </a:rPr>
              <a:t> </a:t>
            </a:r>
            <a:r>
              <a:rPr lang="fr-MA" dirty="0" err="1">
                <a:solidFill>
                  <a:srgbClr val="00B050"/>
                </a:solidFill>
              </a:rPr>
              <a:t>function</a:t>
            </a:r>
            <a:endParaRPr lang="fr-MA" dirty="0">
              <a:solidFill>
                <a:srgbClr val="00B050"/>
              </a:solidFill>
            </a:endParaRPr>
          </a:p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dbias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=-(2/n)*</a:t>
            </a:r>
            <a:r>
              <a:rPr lang="fr-MA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np.sum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(y-</a:t>
            </a:r>
            <a:r>
              <a:rPr lang="fr-MA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yhat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</a:p>
          <a:p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</a:t>
            </a:r>
            <a:r>
              <a:rPr lang="fr-MA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bias-dbias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 </a:t>
            </a:r>
            <a:r>
              <a:rPr lang="fr-MA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learning_rate</a:t>
            </a:r>
            <a:endParaRPr lang="fr-MA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dW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</a:t>
            </a:r>
            <a:r>
              <a:rPr lang="fr-MA" b="1" dirty="0">
                <a:solidFill>
                  <a:srgbClr val="0065FA"/>
                </a:solidFill>
              </a:rPr>
              <a:t> </a:t>
            </a:r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(2/n)* np.dot(</a:t>
            </a:r>
            <a:r>
              <a:rPr lang="fr-MA" b="1" dirty="0">
                <a:solidFill>
                  <a:srgbClr val="FF0000"/>
                </a:solidFill>
              </a:rPr>
              <a:t>X</a:t>
            </a:r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.T,(y-</a:t>
            </a:r>
            <a:r>
              <a:rPr lang="fr-MA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yhat</a:t>
            </a:r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))</a:t>
            </a:r>
          </a:p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W=W-</a:t>
            </a:r>
            <a:r>
              <a:rPr lang="fr-MA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dW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 </a:t>
            </a:r>
            <a:r>
              <a:rPr lang="fr-MA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learning_rate</a:t>
            </a:r>
            <a:endParaRPr lang="fr-MA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</a:p>
          <a:p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return </a:t>
            </a:r>
            <a:r>
              <a:rPr lang="fr-MA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bias,W</a:t>
            </a:r>
            <a:endParaRPr lang="fr-MA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947A9-7284-5117-C052-60F7E56C3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685" y="505797"/>
            <a:ext cx="4887007" cy="1562318"/>
          </a:xfrm>
          <a:prstGeom prst="rect">
            <a:avLst/>
          </a:prstGeom>
          <a:ln>
            <a:solidFill>
              <a:srgbClr val="FF330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6C3A430-FBE6-3AE6-F3C6-55CE902B206C}"/>
                  </a:ext>
                </a:extLst>
              </p:cNvPr>
              <p:cNvSpPr txBox="1"/>
              <p:nvPr/>
            </p:nvSpPr>
            <p:spPr>
              <a:xfrm>
                <a:off x="517054" y="5691158"/>
                <a:ext cx="3093720" cy="7634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MA" sz="1600" b="1" smtClean="0">
                          <a:latin typeface="Cambria Math" panose="02040503050406030204" pitchFamily="18" charset="0"/>
                        </a:rPr>
                        <m:t>𝐦𝐬</m:t>
                      </m:r>
                      <m:r>
                        <a:rPr lang="fr-MA" sz="1600" b="1" smtClean="0">
                          <a:latin typeface="Cambria Math" panose="02040503050406030204" pitchFamily="18" charset="0"/>
                        </a:rPr>
                        <m:t>𝓔</m:t>
                      </m:r>
                      <m:r>
                        <a:rPr lang="fr-MA" sz="1600" b="1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MA" sz="16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MA" sz="1600" b="1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MA" sz="16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fr-MA" sz="16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fr-MA" sz="16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fr-MA" sz="1600" b="1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MA" sz="1600" b="1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fr-MA" sz="16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p>
                            <m:sSupPr>
                              <m:ctrlPr>
                                <a:rPr lang="fr-MA" sz="16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fr-MA" sz="1600" b="1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MA" sz="1600" b="1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fr-MA" sz="1600" b="1" i="1" baseline="-2500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fr-MA" sz="1600" b="1" i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fr-MA" sz="1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𝒚𝒉𝒂𝒕</m:t>
                                  </m:r>
                                  <m:r>
                                    <a:rPr lang="fr-MA" sz="1600" b="1" i="1" baseline="-250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e>
                              </m:d>
                            </m:e>
                            <m:sup>
                              <m:r>
                                <a:rPr lang="fr-MA" sz="1600" b="1" i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fr-MA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6C3A430-FBE6-3AE6-F3C6-55CE902B20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54" y="5691158"/>
                <a:ext cx="3093720" cy="7634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6F162EF-92FD-8699-DBB7-7F573CCFAB82}"/>
              </a:ext>
            </a:extLst>
          </p:cNvPr>
          <p:cNvSpPr txBox="1"/>
          <p:nvPr/>
        </p:nvSpPr>
        <p:spPr>
          <a:xfrm>
            <a:off x="0" y="0"/>
            <a:ext cx="7520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Batch Gradient </a:t>
            </a:r>
            <a:r>
              <a:rPr lang="fr-MA" sz="2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Descent</a:t>
            </a:r>
            <a:r>
              <a:rPr lang="fr-MA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- </a:t>
            </a:r>
            <a:r>
              <a:rPr lang="fr-MA" sz="2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recall</a:t>
            </a:r>
            <a:endParaRPr lang="fr-MA" sz="2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BA3F12-2D27-00EB-145D-CCECC7FBED35}"/>
              </a:ext>
            </a:extLst>
          </p:cNvPr>
          <p:cNvSpPr txBox="1"/>
          <p:nvPr/>
        </p:nvSpPr>
        <p:spPr>
          <a:xfrm>
            <a:off x="6848907" y="-17423"/>
            <a:ext cx="5022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Formulation </a:t>
            </a:r>
            <a:r>
              <a:rPr lang="fr-MA" sz="20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used</a:t>
            </a:r>
            <a:r>
              <a:rPr lang="fr-MA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in </a:t>
            </a:r>
            <a:r>
              <a:rPr lang="fr-MA" sz="20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litterature</a:t>
            </a:r>
            <a:endParaRPr lang="fr-MA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070F20-CE58-EF0D-0F66-9386F72F05BF}"/>
              </a:ext>
            </a:extLst>
          </p:cNvPr>
          <p:cNvSpPr txBox="1"/>
          <p:nvPr/>
        </p:nvSpPr>
        <p:spPr>
          <a:xfrm>
            <a:off x="6511158" y="2123419"/>
            <a:ext cx="558624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Pour la mise à jour des poids, à chaque itération le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dataset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est utilisée entièrement</a:t>
            </a:r>
          </a:p>
          <a:p>
            <a:pPr marL="360000" lvl="1" indent="-108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Le nombre de dérivés à calculer est énorme (si d est grand)</a:t>
            </a:r>
            <a:endParaRPr lang="fr-MA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60000" lvl="1" indent="-108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Convergence lente dans le cas de large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dataset</a:t>
            </a:r>
            <a:endParaRPr lang="fr-MA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50F7A63-8E77-7933-CE71-0B25C97C03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7984090"/>
              </p:ext>
            </p:extLst>
          </p:nvPr>
        </p:nvGraphicFramePr>
        <p:xfrm>
          <a:off x="6511158" y="3653588"/>
          <a:ext cx="5586248" cy="3154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562">
                  <a:extLst>
                    <a:ext uri="{9D8B030D-6E8A-4147-A177-3AD203B41FA5}">
                      <a16:colId xmlns:a16="http://schemas.microsoft.com/office/drawing/2014/main" val="115782873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3405320581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2827754896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1675775566"/>
                    </a:ext>
                  </a:extLst>
                </a:gridCol>
              </a:tblGrid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N°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X1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 err="1">
                          <a:solidFill>
                            <a:schemeClr val="bg1"/>
                          </a:solidFill>
                        </a:rPr>
                        <a:t>xd</a:t>
                      </a:r>
                      <a:endParaRPr lang="fr-MA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24600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819597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93449"/>
                  </a:ext>
                </a:extLst>
              </a:tr>
              <a:tr h="662815"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235290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483629"/>
                  </a:ext>
                </a:extLst>
              </a:tr>
              <a:tr h="662815"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560411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606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77260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5644E0-AAA6-1CC3-8CCE-337B73EEE9C9}"/>
              </a:ext>
            </a:extLst>
          </p:cNvPr>
          <p:cNvSpPr txBox="1"/>
          <p:nvPr/>
        </p:nvSpPr>
        <p:spPr>
          <a:xfrm>
            <a:off x="0" y="0"/>
            <a:ext cx="7520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Stochastic</a:t>
            </a:r>
            <a:r>
              <a:rPr lang="fr-MA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Gradient </a:t>
            </a:r>
            <a:r>
              <a:rPr lang="fr-MA" sz="2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Descent</a:t>
            </a:r>
            <a:endParaRPr lang="fr-MA" sz="2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54B16F8-36D2-8C9D-81EF-F4E92F762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2503547"/>
              </p:ext>
            </p:extLst>
          </p:nvPr>
        </p:nvGraphicFramePr>
        <p:xfrm>
          <a:off x="6511158" y="3429000"/>
          <a:ext cx="5586248" cy="3154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562">
                  <a:extLst>
                    <a:ext uri="{9D8B030D-6E8A-4147-A177-3AD203B41FA5}">
                      <a16:colId xmlns:a16="http://schemas.microsoft.com/office/drawing/2014/main" val="115782873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3405320581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2827754896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1675775566"/>
                    </a:ext>
                  </a:extLst>
                </a:gridCol>
              </a:tblGrid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N°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X1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 err="1">
                          <a:solidFill>
                            <a:schemeClr val="bg1"/>
                          </a:solidFill>
                        </a:rPr>
                        <a:t>xd</a:t>
                      </a:r>
                      <a:endParaRPr lang="fr-MA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24600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819597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93449"/>
                  </a:ext>
                </a:extLst>
              </a:tr>
              <a:tr h="662815"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4235290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483629"/>
                  </a:ext>
                </a:extLst>
              </a:tr>
              <a:tr h="662815"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560411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606768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92248EA1-72CE-FCAF-E218-7422BADDD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233" y="1215555"/>
            <a:ext cx="6068272" cy="1924319"/>
          </a:xfrm>
          <a:prstGeom prst="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262D60B-F069-414F-4697-D6F4C46D60DA}"/>
              </a:ext>
            </a:extLst>
          </p:cNvPr>
          <p:cNvSpPr txBox="1"/>
          <p:nvPr/>
        </p:nvSpPr>
        <p:spPr>
          <a:xfrm>
            <a:off x="94593" y="640770"/>
            <a:ext cx="5586248" cy="3877985"/>
          </a:xfrm>
          <a:prstGeom prst="rect">
            <a:avLst/>
          </a:prstGeom>
          <a:solidFill>
            <a:srgbClr val="FFFFCC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MA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def</a:t>
            </a:r>
            <a:r>
              <a:rPr lang="fr-MA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fit(</a:t>
            </a:r>
            <a:r>
              <a:rPr lang="fr-MA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X,y</a:t>
            </a:r>
            <a:r>
              <a:rPr lang="fr-MA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):</a:t>
            </a:r>
          </a:p>
          <a:p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learning_rate</a:t>
            </a:r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=0.001</a:t>
            </a:r>
          </a:p>
          <a:p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epochs</a:t>
            </a:r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=10000</a:t>
            </a:r>
            <a:endParaRPr lang="fr-MA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n=</a:t>
            </a:r>
            <a:r>
              <a:rPr lang="fr-MA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len</a:t>
            </a:r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(y)</a:t>
            </a:r>
          </a:p>
          <a:p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W=</a:t>
            </a:r>
            <a:r>
              <a:rPr lang="fr-MA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np.array</a:t>
            </a:r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fr-MA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np.zeros</a:t>
            </a:r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fr-MA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X.shape</a:t>
            </a:r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[1])) </a:t>
            </a:r>
          </a:p>
          <a:p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</a:t>
            </a:r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=0</a:t>
            </a:r>
          </a:p>
          <a:p>
            <a:r>
              <a:rPr lang="fr-MA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for k in range(</a:t>
            </a:r>
            <a:r>
              <a:rPr lang="fr-MA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epochs</a:t>
            </a:r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):</a:t>
            </a:r>
          </a:p>
          <a:p>
            <a:r>
              <a:rPr lang="fr-MA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</a:t>
            </a:r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yhat</a:t>
            </a:r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=bias+np.dot(X,W)</a:t>
            </a:r>
          </a:p>
          <a:p>
            <a:r>
              <a:rPr lang="fr-MA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</a:t>
            </a:r>
            <a:r>
              <a:rPr lang="fr-MA" sz="1600" dirty="0">
                <a:solidFill>
                  <a:srgbClr val="00B050"/>
                </a:solidFill>
              </a:rPr>
              <a:t>#mean </a:t>
            </a:r>
            <a:r>
              <a:rPr lang="fr-MA" sz="1600" dirty="0" err="1">
                <a:solidFill>
                  <a:srgbClr val="00B050"/>
                </a:solidFill>
              </a:rPr>
              <a:t>squared</a:t>
            </a:r>
            <a:r>
              <a:rPr lang="fr-MA" sz="1600" dirty="0">
                <a:solidFill>
                  <a:srgbClr val="00B050"/>
                </a:solidFill>
              </a:rPr>
              <a:t> </a:t>
            </a:r>
            <a:r>
              <a:rPr lang="fr-MA" sz="1600" dirty="0" err="1">
                <a:solidFill>
                  <a:srgbClr val="00B050"/>
                </a:solidFill>
              </a:rPr>
              <a:t>function</a:t>
            </a:r>
            <a:r>
              <a:rPr lang="fr-MA" sz="1600" dirty="0">
                <a:solidFill>
                  <a:srgbClr val="00B050"/>
                </a:solidFill>
              </a:rPr>
              <a:t> as a </a:t>
            </a:r>
            <a:r>
              <a:rPr lang="fr-MA" sz="1600" dirty="0" err="1">
                <a:solidFill>
                  <a:srgbClr val="00B050"/>
                </a:solidFill>
              </a:rPr>
              <a:t>cost</a:t>
            </a:r>
            <a:r>
              <a:rPr lang="fr-MA" sz="1600" dirty="0">
                <a:solidFill>
                  <a:srgbClr val="00B050"/>
                </a:solidFill>
              </a:rPr>
              <a:t> </a:t>
            </a:r>
            <a:r>
              <a:rPr lang="fr-MA" sz="1600" dirty="0" err="1">
                <a:solidFill>
                  <a:srgbClr val="00B050"/>
                </a:solidFill>
              </a:rPr>
              <a:t>function</a:t>
            </a:r>
            <a:endParaRPr lang="fr-MA" sz="1600" dirty="0">
              <a:solidFill>
                <a:srgbClr val="00B050"/>
              </a:solidFill>
            </a:endParaRPr>
          </a:p>
          <a:p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dbias</a:t>
            </a:r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=-(2/n)*</a:t>
            </a:r>
            <a:r>
              <a:rPr lang="fr-MA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np.sum</a:t>
            </a:r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(y-</a:t>
            </a:r>
            <a:r>
              <a:rPr lang="fr-MA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yhat</a:t>
            </a:r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</a:p>
          <a:p>
            <a:r>
              <a:rPr lang="fr-MA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</a:t>
            </a:r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</a:t>
            </a:r>
            <a:r>
              <a:rPr lang="fr-MA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bias-dbias</a:t>
            </a:r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 </a:t>
            </a:r>
            <a:r>
              <a:rPr lang="fr-MA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learning_rate</a:t>
            </a:r>
            <a:endParaRPr lang="fr-MA" sz="1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dW</a:t>
            </a:r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</a:t>
            </a:r>
            <a:r>
              <a:rPr lang="fr-MA" sz="1600" b="1" dirty="0">
                <a:solidFill>
                  <a:srgbClr val="0065FA"/>
                </a:solidFill>
              </a:rPr>
              <a:t>??</a:t>
            </a:r>
            <a:r>
              <a:rPr lang="fr-MA" sz="1600" b="1" strike="sngStrik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-(2/n)* np.dot(</a:t>
            </a:r>
            <a:r>
              <a:rPr lang="fr-MA" sz="1600" b="1" strike="sngStrike" dirty="0">
                <a:solidFill>
                  <a:srgbClr val="FF0000"/>
                </a:solidFill>
              </a:rPr>
              <a:t>X</a:t>
            </a:r>
            <a:r>
              <a:rPr lang="fr-MA" sz="1600" b="1" strike="sngStrik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.T,(y-</a:t>
            </a:r>
            <a:r>
              <a:rPr lang="fr-MA" sz="1600" b="1" strike="sngStrike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yhat</a:t>
            </a:r>
            <a:r>
              <a:rPr lang="fr-MA" sz="1600" b="1" strike="sngStrik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))</a:t>
            </a:r>
          </a:p>
          <a:p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W=W-</a:t>
            </a:r>
            <a:r>
              <a:rPr lang="fr-MA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dW</a:t>
            </a:r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 </a:t>
            </a:r>
            <a:r>
              <a:rPr lang="fr-MA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learning_rate</a:t>
            </a:r>
            <a:endParaRPr lang="fr-MA" sz="1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</a:p>
          <a:p>
            <a:r>
              <a:rPr lang="fr-MA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return </a:t>
            </a:r>
            <a:r>
              <a:rPr lang="fr-MA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bias,W</a:t>
            </a:r>
            <a:endParaRPr lang="fr-MA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8F7B86-4617-A1E3-EB9B-A71D52288A29}"/>
              </a:ext>
            </a:extLst>
          </p:cNvPr>
          <p:cNvSpPr txBox="1"/>
          <p:nvPr/>
        </p:nvSpPr>
        <p:spPr>
          <a:xfrm>
            <a:off x="36468" y="4595842"/>
            <a:ext cx="6474690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updates the model parameters for each training example in the dataset selected randomly</a:t>
            </a:r>
            <a:endParaRPr lang="fr-MA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can lead to faster convergence because the updates are more frequent and noisy</a:t>
            </a:r>
          </a:p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but it can also result in more oscillations in the cost function due to the randomness of the updates.</a:t>
            </a:r>
            <a:endParaRPr lang="fr-MA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endParaRPr lang="fr-MA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F1E177-7CB8-9A5D-394A-B25085BF13E3}"/>
              </a:ext>
            </a:extLst>
          </p:cNvPr>
          <p:cNvSpPr txBox="1"/>
          <p:nvPr/>
        </p:nvSpPr>
        <p:spPr>
          <a:xfrm>
            <a:off x="6014719" y="768638"/>
            <a:ext cx="5022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Formulation </a:t>
            </a:r>
            <a:r>
              <a:rPr lang="fr-MA" sz="20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used</a:t>
            </a:r>
            <a:r>
              <a:rPr lang="fr-MA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in </a:t>
            </a:r>
            <a:r>
              <a:rPr lang="fr-MA" sz="20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litterature</a:t>
            </a:r>
            <a:endParaRPr lang="fr-MA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52691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5644E0-AAA6-1CC3-8CCE-337B73EEE9C9}"/>
              </a:ext>
            </a:extLst>
          </p:cNvPr>
          <p:cNvSpPr txBox="1"/>
          <p:nvPr/>
        </p:nvSpPr>
        <p:spPr>
          <a:xfrm>
            <a:off x="0" y="0"/>
            <a:ext cx="7520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Mini-Batch Gradient </a:t>
            </a:r>
            <a:r>
              <a:rPr lang="fr-MA" sz="2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Descent</a:t>
            </a:r>
            <a:endParaRPr lang="fr-MA" sz="2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54B16F8-36D2-8C9D-81EF-F4E92F762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558244"/>
              </p:ext>
            </p:extLst>
          </p:nvPr>
        </p:nvGraphicFramePr>
        <p:xfrm>
          <a:off x="6493458" y="3429000"/>
          <a:ext cx="558624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562">
                  <a:extLst>
                    <a:ext uri="{9D8B030D-6E8A-4147-A177-3AD203B41FA5}">
                      <a16:colId xmlns:a16="http://schemas.microsoft.com/office/drawing/2014/main" val="115782873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3405320581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2827754896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1675775566"/>
                    </a:ext>
                  </a:extLst>
                </a:gridCol>
              </a:tblGrid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N°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X1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 err="1">
                          <a:solidFill>
                            <a:schemeClr val="bg1"/>
                          </a:solidFill>
                        </a:rPr>
                        <a:t>xd</a:t>
                      </a:r>
                      <a:endParaRPr lang="fr-MA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24600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819597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93449"/>
                  </a:ext>
                </a:extLst>
              </a:tr>
              <a:tr h="254267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6372384"/>
                  </a:ext>
                </a:extLst>
              </a:tr>
              <a:tr h="254267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K1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235290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483629"/>
                  </a:ext>
                </a:extLst>
              </a:tr>
              <a:tr h="308811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K2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684181"/>
                  </a:ext>
                </a:extLst>
              </a:tr>
              <a:tr h="308811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560411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60676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4CD724B-C708-4AB9-8493-6FEAF1797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7028" y="1457714"/>
            <a:ext cx="5882606" cy="1461949"/>
          </a:xfrm>
          <a:prstGeom prst="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</p:pic>
      <p:sp>
        <p:nvSpPr>
          <p:cNvPr id="6" name="Left Brace 5">
            <a:extLst>
              <a:ext uri="{FF2B5EF4-FFF2-40B4-BE49-F238E27FC236}">
                <a16:creationId xmlns:a16="http://schemas.microsoft.com/office/drawing/2014/main" id="{9D76FC98-C898-489C-7E79-BC2A959CD81A}"/>
              </a:ext>
            </a:extLst>
          </p:cNvPr>
          <p:cNvSpPr/>
          <p:nvPr/>
        </p:nvSpPr>
        <p:spPr>
          <a:xfrm>
            <a:off x="6304547" y="4749554"/>
            <a:ext cx="188911" cy="120206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0BB19A-E46E-46D0-1200-9C36DC113991}"/>
              </a:ext>
            </a:extLst>
          </p:cNvPr>
          <p:cNvSpPr txBox="1"/>
          <p:nvPr/>
        </p:nvSpPr>
        <p:spPr>
          <a:xfrm>
            <a:off x="6047873" y="5197642"/>
            <a:ext cx="417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C7E035-7CC2-5FC6-00B2-52ECE55CBF99}"/>
              </a:ext>
            </a:extLst>
          </p:cNvPr>
          <p:cNvSpPr txBox="1"/>
          <p:nvPr/>
        </p:nvSpPr>
        <p:spPr>
          <a:xfrm>
            <a:off x="112294" y="523220"/>
            <a:ext cx="5586248" cy="3323987"/>
          </a:xfrm>
          <a:prstGeom prst="rect">
            <a:avLst/>
          </a:prstGeom>
          <a:solidFill>
            <a:srgbClr val="FFFFCC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MA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def</a:t>
            </a:r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fit(</a:t>
            </a:r>
            <a:r>
              <a:rPr lang="fr-MA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X,y</a:t>
            </a:r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):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learning_rate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=0.001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epochs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=10000</a:t>
            </a:r>
            <a:endParaRPr lang="fr-MA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n=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len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(y)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W=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np.array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np.zeros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X.shape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[1])) 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=0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for k in range(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epochs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):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yhat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=bias+np.dot(X,W)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</a:t>
            </a:r>
            <a:r>
              <a:rPr lang="fr-MA" sz="1400" dirty="0">
                <a:solidFill>
                  <a:srgbClr val="00B050"/>
                </a:solidFill>
              </a:rPr>
              <a:t>#mean </a:t>
            </a:r>
            <a:r>
              <a:rPr lang="fr-MA" sz="1400" dirty="0" err="1">
                <a:solidFill>
                  <a:srgbClr val="00B050"/>
                </a:solidFill>
              </a:rPr>
              <a:t>squared</a:t>
            </a:r>
            <a:r>
              <a:rPr lang="fr-MA" sz="1400" dirty="0">
                <a:solidFill>
                  <a:srgbClr val="00B050"/>
                </a:solidFill>
              </a:rPr>
              <a:t> </a:t>
            </a:r>
            <a:r>
              <a:rPr lang="fr-MA" sz="1400" dirty="0" err="1">
                <a:solidFill>
                  <a:srgbClr val="00B050"/>
                </a:solidFill>
              </a:rPr>
              <a:t>function</a:t>
            </a:r>
            <a:r>
              <a:rPr lang="fr-MA" sz="1400" dirty="0">
                <a:solidFill>
                  <a:srgbClr val="00B050"/>
                </a:solidFill>
              </a:rPr>
              <a:t> as a </a:t>
            </a:r>
            <a:r>
              <a:rPr lang="fr-MA" sz="1400" dirty="0" err="1">
                <a:solidFill>
                  <a:srgbClr val="00B050"/>
                </a:solidFill>
              </a:rPr>
              <a:t>cost</a:t>
            </a:r>
            <a:r>
              <a:rPr lang="fr-MA" sz="1400" dirty="0">
                <a:solidFill>
                  <a:srgbClr val="00B050"/>
                </a:solidFill>
              </a:rPr>
              <a:t> </a:t>
            </a:r>
            <a:r>
              <a:rPr lang="fr-MA" sz="1400" dirty="0" err="1">
                <a:solidFill>
                  <a:srgbClr val="00B050"/>
                </a:solidFill>
              </a:rPr>
              <a:t>function</a:t>
            </a:r>
            <a:endParaRPr lang="fr-MA" sz="1400" dirty="0">
              <a:solidFill>
                <a:srgbClr val="00B050"/>
              </a:solidFill>
            </a:endParaRP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dbias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=-(2/n)*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np.sum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(y-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yhat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bias-dbias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learning_rate</a:t>
            </a:r>
            <a:endParaRPr lang="fr-MA" sz="1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dW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</a:t>
            </a:r>
            <a:r>
              <a:rPr lang="fr-MA" sz="1400" b="1" dirty="0">
                <a:solidFill>
                  <a:srgbClr val="0065FA"/>
                </a:solidFill>
              </a:rPr>
              <a:t>??</a:t>
            </a:r>
            <a:r>
              <a:rPr lang="fr-MA" sz="1400" b="1" strike="sngStrik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-(2/n)* np.dot(</a:t>
            </a:r>
            <a:r>
              <a:rPr lang="fr-MA" sz="1400" b="1" strike="sngStrike" dirty="0">
                <a:solidFill>
                  <a:srgbClr val="FF0000"/>
                </a:solidFill>
              </a:rPr>
              <a:t>X</a:t>
            </a:r>
            <a:r>
              <a:rPr lang="fr-MA" sz="1400" b="1" strike="sngStrik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.T,(y-</a:t>
            </a:r>
            <a:r>
              <a:rPr lang="fr-MA" sz="1400" b="1" strike="sngStrike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yhat</a:t>
            </a:r>
            <a:r>
              <a:rPr lang="fr-MA" sz="1400" b="1" strike="sngStrik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))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W=W-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dW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learning_rate</a:t>
            </a:r>
            <a:endParaRPr lang="fr-MA" sz="1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return </a:t>
            </a:r>
            <a:r>
              <a:rPr lang="fr-MA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bias,W</a:t>
            </a:r>
            <a:endParaRPr lang="fr-MA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2FD035-F8F1-83B6-920B-1D29753601B4}"/>
              </a:ext>
            </a:extLst>
          </p:cNvPr>
          <p:cNvSpPr txBox="1"/>
          <p:nvPr/>
        </p:nvSpPr>
        <p:spPr>
          <a:xfrm>
            <a:off x="36468" y="3889994"/>
            <a:ext cx="5850986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rgbClr val="242424"/>
                </a:solidFill>
                <a:effectLst/>
                <a:latin typeface="source-serif-pro"/>
              </a:rPr>
              <a:t>It is a compromise between batch gradient descent and stochastic gradient descent</a:t>
            </a:r>
          </a:p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sz="1600" b="1" i="1" dirty="0">
                <a:solidFill>
                  <a:srgbClr val="242424"/>
                </a:solidFill>
                <a:effectLst/>
                <a:latin typeface="source-serif-pro"/>
              </a:rPr>
              <a:t>the gradients are computed on a small random subset of the training dataset: mini-batch</a:t>
            </a:r>
          </a:p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rgbClr val="242424"/>
                </a:solidFill>
                <a:effectLst/>
                <a:latin typeface="source-serif-pro"/>
              </a:rPr>
              <a:t>This reduces the computational cost of the algorithm compared to batch gradient descent</a:t>
            </a:r>
          </a:p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rgbClr val="242424"/>
                </a:solidFill>
                <a:effectLst/>
                <a:latin typeface="source-serif-pro"/>
              </a:rPr>
              <a:t>Also reducing the variance of the updates compared to SGD.</a:t>
            </a:r>
          </a:p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rgbClr val="242424"/>
                </a:solidFill>
                <a:effectLst/>
                <a:latin typeface="source-serif-pro"/>
              </a:rPr>
              <a:t>It is widely used in deep learning because </a:t>
            </a:r>
            <a:r>
              <a:rPr lang="en-US" sz="1600" b="0" i="0" dirty="0">
                <a:solidFill>
                  <a:srgbClr val="0065FA"/>
                </a:solidFill>
                <a:effectLst/>
                <a:latin typeface="source-serif-pro"/>
              </a:rPr>
              <a:t>it strikes a good balance between convergence speed and stability</a:t>
            </a:r>
            <a:r>
              <a:rPr lang="en-US" sz="1600" b="0" i="0" dirty="0">
                <a:solidFill>
                  <a:srgbClr val="242424"/>
                </a:solidFill>
                <a:effectLst/>
                <a:latin typeface="source-serif-pro"/>
              </a:rPr>
              <a:t>.</a:t>
            </a:r>
            <a:endParaRPr lang="fr-MA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ABA096-3387-691B-7932-8133EE93F7C3}"/>
              </a:ext>
            </a:extLst>
          </p:cNvPr>
          <p:cNvSpPr txBox="1"/>
          <p:nvPr/>
        </p:nvSpPr>
        <p:spPr>
          <a:xfrm>
            <a:off x="6592235" y="1009271"/>
            <a:ext cx="5022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Formulation </a:t>
            </a:r>
            <a:r>
              <a:rPr lang="fr-MA" sz="20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used</a:t>
            </a:r>
            <a:r>
              <a:rPr lang="fr-MA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in </a:t>
            </a:r>
            <a:r>
              <a:rPr lang="fr-MA" sz="20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litterature</a:t>
            </a:r>
            <a:endParaRPr lang="fr-MA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37959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5644E0-AAA6-1CC3-8CCE-337B73EEE9C9}"/>
              </a:ext>
            </a:extLst>
          </p:cNvPr>
          <p:cNvSpPr txBox="1"/>
          <p:nvPr/>
        </p:nvSpPr>
        <p:spPr>
          <a:xfrm>
            <a:off x="0" y="0"/>
            <a:ext cx="7520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Momentum Gradient </a:t>
            </a:r>
            <a:r>
              <a:rPr lang="fr-MA" sz="2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Descent</a:t>
            </a:r>
            <a:endParaRPr lang="fr-MA" sz="2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54B16F8-36D2-8C9D-81EF-F4E92F762081}"/>
              </a:ext>
            </a:extLst>
          </p:cNvPr>
          <p:cNvGraphicFramePr>
            <a:graphicFrameLocks noGrp="1"/>
          </p:cNvGraphicFramePr>
          <p:nvPr/>
        </p:nvGraphicFramePr>
        <p:xfrm>
          <a:off x="6493458" y="3429000"/>
          <a:ext cx="558624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562">
                  <a:extLst>
                    <a:ext uri="{9D8B030D-6E8A-4147-A177-3AD203B41FA5}">
                      <a16:colId xmlns:a16="http://schemas.microsoft.com/office/drawing/2014/main" val="115782873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3405320581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2827754896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1675775566"/>
                    </a:ext>
                  </a:extLst>
                </a:gridCol>
              </a:tblGrid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N°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X1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 err="1">
                          <a:solidFill>
                            <a:schemeClr val="bg1"/>
                          </a:solidFill>
                        </a:rPr>
                        <a:t>xd</a:t>
                      </a:r>
                      <a:endParaRPr lang="fr-MA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24600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819597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93449"/>
                  </a:ext>
                </a:extLst>
              </a:tr>
              <a:tr h="254267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6372384"/>
                  </a:ext>
                </a:extLst>
              </a:tr>
              <a:tr h="254267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K1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235290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483629"/>
                  </a:ext>
                </a:extLst>
              </a:tr>
              <a:tr h="308811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K2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684181"/>
                  </a:ext>
                </a:extLst>
              </a:tr>
              <a:tr h="308811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560411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606768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1C6DCE38-1B98-8788-4A68-30B07DED7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462" y="810298"/>
            <a:ext cx="6152803" cy="2093323"/>
          </a:xfrm>
          <a:prstGeom prst="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0A46C6-80D3-4D5D-CDBC-F4EB75D8B8C8}"/>
              </a:ext>
            </a:extLst>
          </p:cNvPr>
          <p:cNvSpPr txBox="1"/>
          <p:nvPr/>
        </p:nvSpPr>
        <p:spPr>
          <a:xfrm>
            <a:off x="83735" y="560560"/>
            <a:ext cx="5586248" cy="3323987"/>
          </a:xfrm>
          <a:prstGeom prst="rect">
            <a:avLst/>
          </a:prstGeom>
          <a:solidFill>
            <a:srgbClr val="FFFFCC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MA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def</a:t>
            </a:r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fit(</a:t>
            </a:r>
            <a:r>
              <a:rPr lang="fr-MA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X,y</a:t>
            </a:r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):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learning_rate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=0.001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epochs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=10000</a:t>
            </a:r>
            <a:endParaRPr lang="fr-MA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n=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len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(y)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W=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np.array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np.zeros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X.shape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[1])) 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=0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for k in range(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epochs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):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yhat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=bias+np.dot(X,W)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</a:t>
            </a:r>
            <a:r>
              <a:rPr lang="fr-MA" sz="1400" dirty="0">
                <a:solidFill>
                  <a:srgbClr val="00B050"/>
                </a:solidFill>
              </a:rPr>
              <a:t>#mean </a:t>
            </a:r>
            <a:r>
              <a:rPr lang="fr-MA" sz="1400" dirty="0" err="1">
                <a:solidFill>
                  <a:srgbClr val="00B050"/>
                </a:solidFill>
              </a:rPr>
              <a:t>squared</a:t>
            </a:r>
            <a:r>
              <a:rPr lang="fr-MA" sz="1400" dirty="0">
                <a:solidFill>
                  <a:srgbClr val="00B050"/>
                </a:solidFill>
              </a:rPr>
              <a:t> </a:t>
            </a:r>
            <a:r>
              <a:rPr lang="fr-MA" sz="1400" dirty="0" err="1">
                <a:solidFill>
                  <a:srgbClr val="00B050"/>
                </a:solidFill>
              </a:rPr>
              <a:t>function</a:t>
            </a:r>
            <a:r>
              <a:rPr lang="fr-MA" sz="1400" dirty="0">
                <a:solidFill>
                  <a:srgbClr val="00B050"/>
                </a:solidFill>
              </a:rPr>
              <a:t> as a </a:t>
            </a:r>
            <a:r>
              <a:rPr lang="fr-MA" sz="1400" dirty="0" err="1">
                <a:solidFill>
                  <a:srgbClr val="00B050"/>
                </a:solidFill>
              </a:rPr>
              <a:t>cost</a:t>
            </a:r>
            <a:r>
              <a:rPr lang="fr-MA" sz="1400" dirty="0">
                <a:solidFill>
                  <a:srgbClr val="00B050"/>
                </a:solidFill>
              </a:rPr>
              <a:t> </a:t>
            </a:r>
            <a:r>
              <a:rPr lang="fr-MA" sz="1400" dirty="0" err="1">
                <a:solidFill>
                  <a:srgbClr val="00B050"/>
                </a:solidFill>
              </a:rPr>
              <a:t>function</a:t>
            </a:r>
            <a:endParaRPr lang="fr-MA" sz="1400" dirty="0">
              <a:solidFill>
                <a:srgbClr val="00B050"/>
              </a:solidFill>
            </a:endParaRP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dbias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=-(2/n)*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np.sum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(y-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yhat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bias-dbias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learning_rate</a:t>
            </a:r>
            <a:endParaRPr lang="fr-MA" sz="1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dW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</a:t>
            </a:r>
            <a:r>
              <a:rPr lang="fr-MA" sz="1400" b="1" dirty="0">
                <a:solidFill>
                  <a:srgbClr val="0065FA"/>
                </a:solidFill>
              </a:rPr>
              <a:t>??</a:t>
            </a:r>
            <a:r>
              <a:rPr lang="fr-MA" sz="1400" b="1" strike="sngStrik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-(2/n)* np.dot(</a:t>
            </a:r>
            <a:r>
              <a:rPr lang="fr-MA" sz="1400" b="1" strike="sngStrike" dirty="0">
                <a:solidFill>
                  <a:srgbClr val="FF0000"/>
                </a:solidFill>
              </a:rPr>
              <a:t>X</a:t>
            </a:r>
            <a:r>
              <a:rPr lang="fr-MA" sz="1400" b="1" strike="sngStrik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.T,(y-</a:t>
            </a:r>
            <a:r>
              <a:rPr lang="fr-MA" sz="1400" b="1" strike="sngStrike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yhat</a:t>
            </a:r>
            <a:r>
              <a:rPr lang="fr-MA" sz="1400" b="1" strike="sngStrik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))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W=W-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dW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learning_rate</a:t>
            </a:r>
            <a:endParaRPr lang="fr-MA" sz="1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return </a:t>
            </a:r>
            <a:r>
              <a:rPr lang="fr-MA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bias,W</a:t>
            </a:r>
            <a:endParaRPr lang="fr-MA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20273E-7DD0-5E0F-B08F-D18E07CCB14C}"/>
              </a:ext>
            </a:extLst>
          </p:cNvPr>
          <p:cNvSpPr txBox="1"/>
          <p:nvPr/>
        </p:nvSpPr>
        <p:spPr>
          <a:xfrm>
            <a:off x="6014720" y="399669"/>
            <a:ext cx="5022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Formulation </a:t>
            </a:r>
            <a:r>
              <a:rPr lang="fr-MA" sz="20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used</a:t>
            </a:r>
            <a:r>
              <a:rPr lang="fr-MA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in </a:t>
            </a:r>
            <a:r>
              <a:rPr lang="fr-MA" sz="20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litterature</a:t>
            </a:r>
            <a:endParaRPr lang="fr-MA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0C15E9-6212-73CE-59E4-3E9A4262A931}"/>
              </a:ext>
            </a:extLst>
          </p:cNvPr>
          <p:cNvSpPr txBox="1"/>
          <p:nvPr/>
        </p:nvSpPr>
        <p:spPr>
          <a:xfrm>
            <a:off x="23161" y="3884547"/>
            <a:ext cx="5850986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sz="1600" b="1" i="1" dirty="0">
                <a:solidFill>
                  <a:srgbClr val="242424"/>
                </a:solidFill>
                <a:effectLst/>
                <a:latin typeface="source-serif-pro"/>
              </a:rPr>
              <a:t>adds a momentum term to the update rule</a:t>
            </a:r>
            <a:r>
              <a:rPr lang="en-US" sz="1600" b="0" i="0" dirty="0">
                <a:solidFill>
                  <a:srgbClr val="242424"/>
                </a:solidFill>
                <a:effectLst/>
                <a:latin typeface="source-serif-pro"/>
              </a:rPr>
              <a:t>.</a:t>
            </a:r>
          </a:p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rgbClr val="242424"/>
                </a:solidFill>
                <a:effectLst/>
                <a:latin typeface="source-serif-pro"/>
              </a:rPr>
              <a:t>The momentum term accumulates the gradient values over time and dampens the oscillations in the cost function, l</a:t>
            </a:r>
            <a:r>
              <a:rPr lang="en-US" sz="1600" b="0" i="0" dirty="0">
                <a:solidFill>
                  <a:srgbClr val="0065FA"/>
                </a:solidFill>
                <a:effectLst/>
                <a:latin typeface="source-serif-pro"/>
              </a:rPr>
              <a:t>eading to faster convergence</a:t>
            </a:r>
            <a:r>
              <a:rPr lang="en-US" sz="1600" b="0" i="0" dirty="0">
                <a:solidFill>
                  <a:srgbClr val="242424"/>
                </a:solidFill>
                <a:effectLst/>
                <a:latin typeface="source-serif-pro"/>
              </a:rPr>
              <a:t>.</a:t>
            </a:r>
          </a:p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rgbClr val="242424"/>
                </a:solidFill>
                <a:effectLst/>
                <a:latin typeface="source-serif-pro"/>
              </a:rPr>
              <a:t>This is particularly </a:t>
            </a:r>
            <a:r>
              <a:rPr lang="en-US" sz="1600" b="0" i="0" dirty="0">
                <a:solidFill>
                  <a:srgbClr val="0065FA"/>
                </a:solidFill>
                <a:effectLst/>
                <a:latin typeface="source-serif-pro"/>
              </a:rPr>
              <a:t>useful in cases where the cost function has a lot of noise or curvature</a:t>
            </a:r>
            <a:r>
              <a:rPr lang="en-US" sz="1600" b="0" i="0" dirty="0">
                <a:solidFill>
                  <a:srgbClr val="242424"/>
                </a:solidFill>
                <a:effectLst/>
                <a:latin typeface="source-serif-pro"/>
              </a:rPr>
              <a:t>, which can cause traditional gradient descent to get stuck in local minima.</a:t>
            </a:r>
            <a:endParaRPr lang="fr-MA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16613F3-AA79-8863-C926-4400A758A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5676" y="2156983"/>
            <a:ext cx="2184198" cy="171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6244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5644E0-AAA6-1CC3-8CCE-337B73EEE9C9}"/>
              </a:ext>
            </a:extLst>
          </p:cNvPr>
          <p:cNvSpPr txBox="1"/>
          <p:nvPr/>
        </p:nvSpPr>
        <p:spPr>
          <a:xfrm>
            <a:off x="0" y="0"/>
            <a:ext cx="7520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Adagrad</a:t>
            </a:r>
            <a:endParaRPr lang="fr-MA" sz="2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54B16F8-36D2-8C9D-81EF-F4E92F762081}"/>
              </a:ext>
            </a:extLst>
          </p:cNvPr>
          <p:cNvGraphicFramePr>
            <a:graphicFrameLocks noGrp="1"/>
          </p:cNvGraphicFramePr>
          <p:nvPr/>
        </p:nvGraphicFramePr>
        <p:xfrm>
          <a:off x="6493458" y="3429000"/>
          <a:ext cx="558624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562">
                  <a:extLst>
                    <a:ext uri="{9D8B030D-6E8A-4147-A177-3AD203B41FA5}">
                      <a16:colId xmlns:a16="http://schemas.microsoft.com/office/drawing/2014/main" val="115782873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3405320581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2827754896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1675775566"/>
                    </a:ext>
                  </a:extLst>
                </a:gridCol>
              </a:tblGrid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N°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X1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 err="1">
                          <a:solidFill>
                            <a:schemeClr val="bg1"/>
                          </a:solidFill>
                        </a:rPr>
                        <a:t>xd</a:t>
                      </a:r>
                      <a:endParaRPr lang="fr-MA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24600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819597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93449"/>
                  </a:ext>
                </a:extLst>
              </a:tr>
              <a:tr h="254267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6372384"/>
                  </a:ext>
                </a:extLst>
              </a:tr>
              <a:tr h="254267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K1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235290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483629"/>
                  </a:ext>
                </a:extLst>
              </a:tr>
              <a:tr h="308811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K2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684181"/>
                  </a:ext>
                </a:extLst>
              </a:tr>
              <a:tr h="308811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560411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60676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70C7E0F-26A3-EBE5-C952-325DDA643A6D}"/>
              </a:ext>
            </a:extLst>
          </p:cNvPr>
          <p:cNvSpPr txBox="1"/>
          <p:nvPr/>
        </p:nvSpPr>
        <p:spPr>
          <a:xfrm>
            <a:off x="112294" y="640770"/>
            <a:ext cx="5359723" cy="3323987"/>
          </a:xfrm>
          <a:prstGeom prst="rect">
            <a:avLst/>
          </a:prstGeom>
          <a:solidFill>
            <a:srgbClr val="FFFFCC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MA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def</a:t>
            </a:r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fit(</a:t>
            </a:r>
            <a:r>
              <a:rPr lang="fr-MA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X,y</a:t>
            </a:r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):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400" b="1" strike="sngStrike" dirty="0" err="1">
                <a:solidFill>
                  <a:srgbClr val="FF3300"/>
                </a:solidFill>
              </a:rPr>
              <a:t>learning_rate</a:t>
            </a:r>
            <a:r>
              <a:rPr lang="fr-MA" sz="1400" b="1" strike="sngStrike" dirty="0">
                <a:solidFill>
                  <a:srgbClr val="FF3300"/>
                </a:solidFill>
              </a:rPr>
              <a:t>=0.001</a:t>
            </a:r>
          </a:p>
          <a:p>
            <a:r>
              <a:rPr lang="fr-MA" sz="1400" b="1" dirty="0">
                <a:solidFill>
                  <a:srgbClr val="FF3300"/>
                </a:solidFill>
              </a:rPr>
              <a:t>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epochs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=10000</a:t>
            </a:r>
            <a:endParaRPr lang="fr-MA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n=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len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(y)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W=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np.array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np.zeros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X.shape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[1])) 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=0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for k in range(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epochs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):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yhat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=bias+np.dot(X,W)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</a:t>
            </a:r>
            <a:r>
              <a:rPr lang="fr-MA" sz="1400" dirty="0">
                <a:solidFill>
                  <a:srgbClr val="00B050"/>
                </a:solidFill>
              </a:rPr>
              <a:t>#mean </a:t>
            </a:r>
            <a:r>
              <a:rPr lang="fr-MA" sz="1400" dirty="0" err="1">
                <a:solidFill>
                  <a:srgbClr val="00B050"/>
                </a:solidFill>
              </a:rPr>
              <a:t>squared</a:t>
            </a:r>
            <a:r>
              <a:rPr lang="fr-MA" sz="1400" dirty="0">
                <a:solidFill>
                  <a:srgbClr val="00B050"/>
                </a:solidFill>
              </a:rPr>
              <a:t> </a:t>
            </a:r>
            <a:r>
              <a:rPr lang="fr-MA" sz="1400" dirty="0" err="1">
                <a:solidFill>
                  <a:srgbClr val="00B050"/>
                </a:solidFill>
              </a:rPr>
              <a:t>function</a:t>
            </a:r>
            <a:r>
              <a:rPr lang="fr-MA" sz="1400" dirty="0">
                <a:solidFill>
                  <a:srgbClr val="00B050"/>
                </a:solidFill>
              </a:rPr>
              <a:t> as a </a:t>
            </a:r>
            <a:r>
              <a:rPr lang="fr-MA" sz="1400" dirty="0" err="1">
                <a:solidFill>
                  <a:srgbClr val="00B050"/>
                </a:solidFill>
              </a:rPr>
              <a:t>cost</a:t>
            </a:r>
            <a:r>
              <a:rPr lang="fr-MA" sz="1400" dirty="0">
                <a:solidFill>
                  <a:srgbClr val="00B050"/>
                </a:solidFill>
              </a:rPr>
              <a:t> </a:t>
            </a:r>
            <a:r>
              <a:rPr lang="fr-MA" sz="1400" dirty="0" err="1">
                <a:solidFill>
                  <a:srgbClr val="00B050"/>
                </a:solidFill>
              </a:rPr>
              <a:t>function</a:t>
            </a:r>
            <a:endParaRPr lang="fr-MA" sz="1400" dirty="0">
              <a:solidFill>
                <a:srgbClr val="00B050"/>
              </a:solidFill>
            </a:endParaRP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dbias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=-(2/n)*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np.sum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(y-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yhat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bias-dbias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 </a:t>
            </a:r>
            <a:r>
              <a:rPr lang="fr-MA" sz="1400" b="1" strike="sngStrike" dirty="0" err="1">
                <a:solidFill>
                  <a:srgbClr val="FF3300"/>
                </a:solidFill>
              </a:rPr>
              <a:t>learning_rate</a:t>
            </a:r>
            <a:endParaRPr lang="fr-MA" sz="1400" b="1" strike="sngStrike" dirty="0">
              <a:solidFill>
                <a:srgbClr val="FF3300"/>
              </a:solidFill>
            </a:endParaRP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dW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</a:t>
            </a:r>
            <a:r>
              <a:rPr lang="fr-MA" sz="1400" b="1" dirty="0">
                <a:solidFill>
                  <a:srgbClr val="0065FA"/>
                </a:solidFill>
              </a:rPr>
              <a:t>??</a:t>
            </a:r>
            <a:r>
              <a:rPr lang="fr-MA" sz="1400" b="1" strike="sngStrik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-(2/n)* np.dot(X.T,(y-</a:t>
            </a:r>
            <a:r>
              <a:rPr lang="fr-MA" sz="1400" b="1" strike="sngStrike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yhat</a:t>
            </a:r>
            <a:r>
              <a:rPr lang="fr-MA" sz="1400" b="1" strike="sngStrik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))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W=W-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dW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</a:t>
            </a:r>
            <a:r>
              <a:rPr lang="fr-MA" sz="1400" b="1" strike="sngStrike" dirty="0">
                <a:solidFill>
                  <a:srgbClr val="FF3300"/>
                </a:solidFill>
              </a:rPr>
              <a:t> </a:t>
            </a:r>
            <a:r>
              <a:rPr lang="fr-MA" sz="1400" b="1" strike="sngStrike" dirty="0" err="1">
                <a:solidFill>
                  <a:srgbClr val="FF3300"/>
                </a:solidFill>
              </a:rPr>
              <a:t>learning_rate</a:t>
            </a:r>
            <a:endParaRPr lang="fr-MA" sz="1400" b="1" strike="sngStrike" dirty="0">
              <a:solidFill>
                <a:srgbClr val="FF3300"/>
              </a:solidFill>
            </a:endParaRP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return </a:t>
            </a:r>
            <a:r>
              <a:rPr lang="fr-MA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bias,W</a:t>
            </a:r>
            <a:endParaRPr lang="fr-MA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DF3E73-4B61-4F03-1829-37B1BFD95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960" y="1427877"/>
            <a:ext cx="6239746" cy="1724266"/>
          </a:xfrm>
          <a:prstGeom prst="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DD76B7-D250-8726-30B1-FA2B11827C0A}"/>
              </a:ext>
            </a:extLst>
          </p:cNvPr>
          <p:cNvSpPr txBox="1"/>
          <p:nvPr/>
        </p:nvSpPr>
        <p:spPr>
          <a:xfrm>
            <a:off x="23161" y="4012883"/>
            <a:ext cx="5850986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sz="1600" b="1" i="1" dirty="0">
                <a:solidFill>
                  <a:srgbClr val="0065FA"/>
                </a:solidFill>
                <a:effectLst/>
                <a:latin typeface="source-serif-pro"/>
              </a:rPr>
              <a:t>adapts the learning rate for each parameter</a:t>
            </a:r>
            <a:r>
              <a:rPr lang="en-US" sz="1600" b="1" i="1" dirty="0">
                <a:solidFill>
                  <a:srgbClr val="242424"/>
                </a:solidFill>
                <a:effectLst/>
                <a:latin typeface="source-serif-pro"/>
              </a:rPr>
              <a:t> based on its historical gradient values.</a:t>
            </a:r>
            <a:endParaRPr lang="en-US" sz="1600" dirty="0">
              <a:solidFill>
                <a:srgbClr val="242424"/>
              </a:solidFill>
              <a:latin typeface="source-serif-pro"/>
            </a:endParaRPr>
          </a:p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rgbClr val="242424"/>
                </a:solidFill>
                <a:effectLst/>
                <a:latin typeface="source-serif-pro"/>
              </a:rPr>
              <a:t>Parameters with large gradients have their learning rates reduced, while parameters with small gradients have their learning rates increased.</a:t>
            </a:r>
          </a:p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rgbClr val="242424"/>
                </a:solidFill>
                <a:effectLst/>
                <a:latin typeface="source-serif-pro"/>
              </a:rPr>
              <a:t>This helps to normalize the updates and </a:t>
            </a:r>
            <a:r>
              <a:rPr lang="en-US" sz="1600" b="0" i="0" dirty="0">
                <a:solidFill>
                  <a:srgbClr val="0065FA"/>
                </a:solidFill>
                <a:effectLst/>
                <a:latin typeface="source-serif-pro"/>
              </a:rPr>
              <a:t>can be useful in cases where the cost function has a lot of curvature </a:t>
            </a:r>
            <a:r>
              <a:rPr lang="en-US" sz="1600" b="0" i="0" dirty="0">
                <a:solidFill>
                  <a:schemeClr val="accent2">
                    <a:lumMod val="75000"/>
                  </a:schemeClr>
                </a:solidFill>
                <a:effectLst/>
                <a:latin typeface="source-serif-pro"/>
              </a:rPr>
              <a:t>or different scales of gradients</a:t>
            </a:r>
            <a:r>
              <a:rPr lang="en-US" sz="1600" b="0" i="0" dirty="0">
                <a:solidFill>
                  <a:srgbClr val="0065FA"/>
                </a:solidFill>
                <a:effectLst/>
                <a:latin typeface="source-serif-pro"/>
              </a:rPr>
              <a:t>.</a:t>
            </a:r>
            <a:endParaRPr lang="fr-MA" sz="1600" dirty="0">
              <a:solidFill>
                <a:srgbClr val="0065FA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E6D64C-ACC4-4047-2969-F7D753F48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1088" y="2205109"/>
            <a:ext cx="2184198" cy="17178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E37888-627F-59D7-1F7C-1E759ACF98FD}"/>
              </a:ext>
            </a:extLst>
          </p:cNvPr>
          <p:cNvSpPr txBox="1"/>
          <p:nvPr/>
        </p:nvSpPr>
        <p:spPr>
          <a:xfrm>
            <a:off x="5870342" y="993223"/>
            <a:ext cx="5022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Formulation </a:t>
            </a:r>
            <a:r>
              <a:rPr lang="fr-MA" sz="20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used</a:t>
            </a:r>
            <a:r>
              <a:rPr lang="fr-MA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in </a:t>
            </a:r>
            <a:r>
              <a:rPr lang="fr-MA" sz="20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litterature</a:t>
            </a:r>
            <a:endParaRPr lang="fr-MA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77094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5644E0-AAA6-1CC3-8CCE-337B73EEE9C9}"/>
              </a:ext>
            </a:extLst>
          </p:cNvPr>
          <p:cNvSpPr txBox="1"/>
          <p:nvPr/>
        </p:nvSpPr>
        <p:spPr>
          <a:xfrm>
            <a:off x="0" y="0"/>
            <a:ext cx="7520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RMSProp</a:t>
            </a:r>
            <a:endParaRPr lang="fr-MA" sz="2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54B16F8-36D2-8C9D-81EF-F4E92F762081}"/>
              </a:ext>
            </a:extLst>
          </p:cNvPr>
          <p:cNvGraphicFramePr>
            <a:graphicFrameLocks noGrp="1"/>
          </p:cNvGraphicFramePr>
          <p:nvPr/>
        </p:nvGraphicFramePr>
        <p:xfrm>
          <a:off x="6493458" y="3429000"/>
          <a:ext cx="558624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562">
                  <a:extLst>
                    <a:ext uri="{9D8B030D-6E8A-4147-A177-3AD203B41FA5}">
                      <a16:colId xmlns:a16="http://schemas.microsoft.com/office/drawing/2014/main" val="115782873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3405320581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2827754896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1675775566"/>
                    </a:ext>
                  </a:extLst>
                </a:gridCol>
              </a:tblGrid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N°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X1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 err="1">
                          <a:solidFill>
                            <a:schemeClr val="bg1"/>
                          </a:solidFill>
                        </a:rPr>
                        <a:t>xd</a:t>
                      </a:r>
                      <a:endParaRPr lang="fr-MA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24600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819597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93449"/>
                  </a:ext>
                </a:extLst>
              </a:tr>
              <a:tr h="254267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6372384"/>
                  </a:ext>
                </a:extLst>
              </a:tr>
              <a:tr h="254267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K1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235290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483629"/>
                  </a:ext>
                </a:extLst>
              </a:tr>
              <a:tr h="308811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K2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684181"/>
                  </a:ext>
                </a:extLst>
              </a:tr>
              <a:tr h="308811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560411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60676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70C7E0F-26A3-EBE5-C952-325DDA643A6D}"/>
              </a:ext>
            </a:extLst>
          </p:cNvPr>
          <p:cNvSpPr txBox="1"/>
          <p:nvPr/>
        </p:nvSpPr>
        <p:spPr>
          <a:xfrm>
            <a:off x="112294" y="640770"/>
            <a:ext cx="5359723" cy="3323987"/>
          </a:xfrm>
          <a:prstGeom prst="rect">
            <a:avLst/>
          </a:prstGeom>
          <a:solidFill>
            <a:srgbClr val="FFFFCC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MA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def</a:t>
            </a:r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fit(</a:t>
            </a:r>
            <a:r>
              <a:rPr lang="fr-MA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X,y</a:t>
            </a:r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):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400" b="1" strike="sngStrike" dirty="0" err="1">
                <a:solidFill>
                  <a:srgbClr val="FF3300"/>
                </a:solidFill>
              </a:rPr>
              <a:t>learning_rate</a:t>
            </a:r>
            <a:r>
              <a:rPr lang="fr-MA" sz="1400" b="1" strike="sngStrike" dirty="0">
                <a:solidFill>
                  <a:srgbClr val="FF3300"/>
                </a:solidFill>
              </a:rPr>
              <a:t>=0.001</a:t>
            </a:r>
          </a:p>
          <a:p>
            <a:r>
              <a:rPr lang="fr-MA" sz="1400" b="1" dirty="0">
                <a:solidFill>
                  <a:srgbClr val="FF3300"/>
                </a:solidFill>
              </a:rPr>
              <a:t>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epochs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=10000</a:t>
            </a:r>
            <a:endParaRPr lang="fr-MA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n=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len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(y)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W=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np.array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np.zeros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X.shape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[1])) 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=0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for k in range(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epochs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):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yhat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=bias+np.dot(X,W)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</a:t>
            </a:r>
            <a:r>
              <a:rPr lang="fr-MA" sz="1400" dirty="0">
                <a:solidFill>
                  <a:srgbClr val="00B050"/>
                </a:solidFill>
              </a:rPr>
              <a:t>#mean </a:t>
            </a:r>
            <a:r>
              <a:rPr lang="fr-MA" sz="1400" dirty="0" err="1">
                <a:solidFill>
                  <a:srgbClr val="00B050"/>
                </a:solidFill>
              </a:rPr>
              <a:t>squared</a:t>
            </a:r>
            <a:r>
              <a:rPr lang="fr-MA" sz="1400" dirty="0">
                <a:solidFill>
                  <a:srgbClr val="00B050"/>
                </a:solidFill>
              </a:rPr>
              <a:t> </a:t>
            </a:r>
            <a:r>
              <a:rPr lang="fr-MA" sz="1400" dirty="0" err="1">
                <a:solidFill>
                  <a:srgbClr val="00B050"/>
                </a:solidFill>
              </a:rPr>
              <a:t>function</a:t>
            </a:r>
            <a:r>
              <a:rPr lang="fr-MA" sz="1400" dirty="0">
                <a:solidFill>
                  <a:srgbClr val="00B050"/>
                </a:solidFill>
              </a:rPr>
              <a:t> as a </a:t>
            </a:r>
            <a:r>
              <a:rPr lang="fr-MA" sz="1400" dirty="0" err="1">
                <a:solidFill>
                  <a:srgbClr val="00B050"/>
                </a:solidFill>
              </a:rPr>
              <a:t>cost</a:t>
            </a:r>
            <a:r>
              <a:rPr lang="fr-MA" sz="1400" dirty="0">
                <a:solidFill>
                  <a:srgbClr val="00B050"/>
                </a:solidFill>
              </a:rPr>
              <a:t> </a:t>
            </a:r>
            <a:r>
              <a:rPr lang="fr-MA" sz="1400" dirty="0" err="1">
                <a:solidFill>
                  <a:srgbClr val="00B050"/>
                </a:solidFill>
              </a:rPr>
              <a:t>function</a:t>
            </a:r>
            <a:endParaRPr lang="fr-MA" sz="1400" dirty="0">
              <a:solidFill>
                <a:srgbClr val="00B050"/>
              </a:solidFill>
            </a:endParaRP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dbias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=-(2/n)*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np.sum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(y-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yhat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bias-dbias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 </a:t>
            </a:r>
            <a:r>
              <a:rPr lang="fr-MA" sz="1400" b="1" strike="sngStrike" dirty="0" err="1">
                <a:solidFill>
                  <a:srgbClr val="FF3300"/>
                </a:solidFill>
              </a:rPr>
              <a:t>learning_rate</a:t>
            </a:r>
            <a:endParaRPr lang="fr-MA" sz="1400" b="1" strike="sngStrike" dirty="0">
              <a:solidFill>
                <a:srgbClr val="FF3300"/>
              </a:solidFill>
            </a:endParaRP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dW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</a:t>
            </a:r>
            <a:r>
              <a:rPr lang="fr-MA" sz="1400" b="1" dirty="0">
                <a:solidFill>
                  <a:srgbClr val="0065FA"/>
                </a:solidFill>
              </a:rPr>
              <a:t>??</a:t>
            </a:r>
            <a:r>
              <a:rPr lang="fr-MA" sz="1400" b="1" strike="sngStrik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-(2/n)* np.dot(X.T,(y-</a:t>
            </a:r>
            <a:r>
              <a:rPr lang="fr-MA" sz="1400" b="1" strike="sngStrike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yhat</a:t>
            </a:r>
            <a:r>
              <a:rPr lang="fr-MA" sz="1400" b="1" strike="sngStrik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))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W=W-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dW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</a:t>
            </a:r>
            <a:r>
              <a:rPr lang="fr-MA" sz="1400" b="1" strike="sngStrike" dirty="0">
                <a:solidFill>
                  <a:srgbClr val="FF3300"/>
                </a:solidFill>
              </a:rPr>
              <a:t> </a:t>
            </a:r>
            <a:r>
              <a:rPr lang="fr-MA" sz="1400" b="1" strike="sngStrike" dirty="0" err="1">
                <a:solidFill>
                  <a:srgbClr val="FF3300"/>
                </a:solidFill>
              </a:rPr>
              <a:t>learning_rate</a:t>
            </a:r>
            <a:endParaRPr lang="fr-MA" sz="1400" b="1" strike="sngStrike" dirty="0">
              <a:solidFill>
                <a:srgbClr val="FF3300"/>
              </a:solidFill>
            </a:endParaRP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return </a:t>
            </a:r>
            <a:r>
              <a:rPr lang="fr-MA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bias,W</a:t>
            </a:r>
            <a:endParaRPr lang="fr-MA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DD76B7-D250-8726-30B1-FA2B11827C0A}"/>
              </a:ext>
            </a:extLst>
          </p:cNvPr>
          <p:cNvSpPr txBox="1"/>
          <p:nvPr/>
        </p:nvSpPr>
        <p:spPr>
          <a:xfrm>
            <a:off x="634" y="3964757"/>
            <a:ext cx="5850986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242424"/>
                </a:solidFill>
                <a:effectLst/>
                <a:latin typeface="source-serif-pro"/>
              </a:rPr>
              <a:t>adapts the learning rate for each parameter, but instead of using the historical gradient values, </a:t>
            </a:r>
            <a:r>
              <a:rPr lang="en-US" sz="1600" dirty="0">
                <a:solidFill>
                  <a:srgbClr val="0065FA"/>
                </a:solidFill>
                <a:effectLst/>
                <a:latin typeface="source-serif-pro"/>
              </a:rPr>
              <a:t>it uses a moving average of the squared gradient values</a:t>
            </a:r>
          </a:p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242424"/>
                </a:solidFill>
                <a:effectLst/>
                <a:latin typeface="source-serif-pro"/>
              </a:rPr>
              <a:t>This helps to </a:t>
            </a:r>
            <a:r>
              <a:rPr lang="en-US" sz="1600" dirty="0">
                <a:solidFill>
                  <a:srgbClr val="0065FA"/>
                </a:solidFill>
                <a:effectLst/>
                <a:latin typeface="source-serif-pro"/>
              </a:rPr>
              <a:t>reduce the learning rate for parameters that have large squared gradient values, which can cause the algorithm to oscillate or diverge.</a:t>
            </a:r>
            <a:endParaRPr lang="fr-MA" sz="1600" dirty="0">
              <a:solidFill>
                <a:srgbClr val="0065FA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E6D64C-ACC4-4047-2969-F7D753F48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1088" y="2205109"/>
            <a:ext cx="2184198" cy="171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4021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5644E0-AAA6-1CC3-8CCE-337B73EEE9C9}"/>
              </a:ext>
            </a:extLst>
          </p:cNvPr>
          <p:cNvSpPr txBox="1"/>
          <p:nvPr/>
        </p:nvSpPr>
        <p:spPr>
          <a:xfrm>
            <a:off x="0" y="0"/>
            <a:ext cx="7520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Adam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54B16F8-36D2-8C9D-81EF-F4E92F762081}"/>
              </a:ext>
            </a:extLst>
          </p:cNvPr>
          <p:cNvGraphicFramePr>
            <a:graphicFrameLocks noGrp="1"/>
          </p:cNvGraphicFramePr>
          <p:nvPr/>
        </p:nvGraphicFramePr>
        <p:xfrm>
          <a:off x="6493458" y="3429000"/>
          <a:ext cx="558624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562">
                  <a:extLst>
                    <a:ext uri="{9D8B030D-6E8A-4147-A177-3AD203B41FA5}">
                      <a16:colId xmlns:a16="http://schemas.microsoft.com/office/drawing/2014/main" val="115782873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3405320581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2827754896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1675775566"/>
                    </a:ext>
                  </a:extLst>
                </a:gridCol>
              </a:tblGrid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N°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X1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 err="1">
                          <a:solidFill>
                            <a:schemeClr val="bg1"/>
                          </a:solidFill>
                        </a:rPr>
                        <a:t>xd</a:t>
                      </a:r>
                      <a:endParaRPr lang="fr-MA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24600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819597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93449"/>
                  </a:ext>
                </a:extLst>
              </a:tr>
              <a:tr h="254267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6372384"/>
                  </a:ext>
                </a:extLst>
              </a:tr>
              <a:tr h="254267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K1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235290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483629"/>
                  </a:ext>
                </a:extLst>
              </a:tr>
              <a:tr h="308811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K2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684181"/>
                  </a:ext>
                </a:extLst>
              </a:tr>
              <a:tr h="308811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560411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60676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70C7E0F-26A3-EBE5-C952-325DDA643A6D}"/>
              </a:ext>
            </a:extLst>
          </p:cNvPr>
          <p:cNvSpPr txBox="1"/>
          <p:nvPr/>
        </p:nvSpPr>
        <p:spPr>
          <a:xfrm>
            <a:off x="112294" y="640770"/>
            <a:ext cx="5359723" cy="3323987"/>
          </a:xfrm>
          <a:prstGeom prst="rect">
            <a:avLst/>
          </a:prstGeom>
          <a:solidFill>
            <a:srgbClr val="FFFFCC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MA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def</a:t>
            </a:r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fit(</a:t>
            </a:r>
            <a:r>
              <a:rPr lang="fr-MA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X,y</a:t>
            </a:r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):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400" b="1" strike="sngStrike" dirty="0" err="1">
                <a:solidFill>
                  <a:srgbClr val="FF3300"/>
                </a:solidFill>
              </a:rPr>
              <a:t>learning_rate</a:t>
            </a:r>
            <a:r>
              <a:rPr lang="fr-MA" sz="1400" b="1" strike="sngStrike" dirty="0">
                <a:solidFill>
                  <a:srgbClr val="FF3300"/>
                </a:solidFill>
              </a:rPr>
              <a:t>=0.001</a:t>
            </a:r>
          </a:p>
          <a:p>
            <a:r>
              <a:rPr lang="fr-MA" sz="1400" b="1" dirty="0">
                <a:solidFill>
                  <a:srgbClr val="FF3300"/>
                </a:solidFill>
              </a:rPr>
              <a:t>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epochs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=10000</a:t>
            </a:r>
            <a:endParaRPr lang="fr-MA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n=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len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(y)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W=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np.array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np.zeros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X.shape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[1])) 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=0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for k in range(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epochs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):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yhat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=bias+np.dot(X,W)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</a:t>
            </a:r>
            <a:r>
              <a:rPr lang="fr-MA" sz="1400" dirty="0">
                <a:solidFill>
                  <a:srgbClr val="00B050"/>
                </a:solidFill>
              </a:rPr>
              <a:t>#mean </a:t>
            </a:r>
            <a:r>
              <a:rPr lang="fr-MA" sz="1400" dirty="0" err="1">
                <a:solidFill>
                  <a:srgbClr val="00B050"/>
                </a:solidFill>
              </a:rPr>
              <a:t>squared</a:t>
            </a:r>
            <a:r>
              <a:rPr lang="fr-MA" sz="1400" dirty="0">
                <a:solidFill>
                  <a:srgbClr val="00B050"/>
                </a:solidFill>
              </a:rPr>
              <a:t> </a:t>
            </a:r>
            <a:r>
              <a:rPr lang="fr-MA" sz="1400" dirty="0" err="1">
                <a:solidFill>
                  <a:srgbClr val="00B050"/>
                </a:solidFill>
              </a:rPr>
              <a:t>function</a:t>
            </a:r>
            <a:r>
              <a:rPr lang="fr-MA" sz="1400" dirty="0">
                <a:solidFill>
                  <a:srgbClr val="00B050"/>
                </a:solidFill>
              </a:rPr>
              <a:t> as a </a:t>
            </a:r>
            <a:r>
              <a:rPr lang="fr-MA" sz="1400" dirty="0" err="1">
                <a:solidFill>
                  <a:srgbClr val="00B050"/>
                </a:solidFill>
              </a:rPr>
              <a:t>cost</a:t>
            </a:r>
            <a:r>
              <a:rPr lang="fr-MA" sz="1400" dirty="0">
                <a:solidFill>
                  <a:srgbClr val="00B050"/>
                </a:solidFill>
              </a:rPr>
              <a:t> </a:t>
            </a:r>
            <a:r>
              <a:rPr lang="fr-MA" sz="1400" dirty="0" err="1">
                <a:solidFill>
                  <a:srgbClr val="00B050"/>
                </a:solidFill>
              </a:rPr>
              <a:t>function</a:t>
            </a:r>
            <a:endParaRPr lang="fr-MA" sz="1400" dirty="0">
              <a:solidFill>
                <a:srgbClr val="00B050"/>
              </a:solidFill>
            </a:endParaRP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dbias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=-(2/n)*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np.sum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(y-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yhat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bias-dbias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 </a:t>
            </a:r>
            <a:r>
              <a:rPr lang="fr-MA" sz="1400" b="1" strike="sngStrike" dirty="0" err="1">
                <a:solidFill>
                  <a:srgbClr val="FF3300"/>
                </a:solidFill>
              </a:rPr>
              <a:t>learning_rate</a:t>
            </a:r>
            <a:endParaRPr lang="fr-MA" sz="1400" b="1" strike="sngStrike" dirty="0">
              <a:solidFill>
                <a:srgbClr val="FF3300"/>
              </a:solidFill>
            </a:endParaRP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dW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</a:t>
            </a:r>
            <a:r>
              <a:rPr lang="fr-MA" sz="1400" b="1" dirty="0">
                <a:solidFill>
                  <a:srgbClr val="0065FA"/>
                </a:solidFill>
              </a:rPr>
              <a:t>??</a:t>
            </a:r>
            <a:r>
              <a:rPr lang="fr-MA" sz="1400" b="1" strike="sngStrik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-(2/n)* np.dot(X.T,(y-</a:t>
            </a:r>
            <a:r>
              <a:rPr lang="fr-MA" sz="1400" b="1" strike="sngStrike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yhat</a:t>
            </a:r>
            <a:r>
              <a:rPr lang="fr-MA" sz="1400" b="1" strike="sngStrik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))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W=W-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dW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</a:t>
            </a:r>
            <a:r>
              <a:rPr lang="fr-MA" sz="1400" b="1" strike="sngStrike" dirty="0">
                <a:solidFill>
                  <a:srgbClr val="FF3300"/>
                </a:solidFill>
              </a:rPr>
              <a:t> </a:t>
            </a:r>
            <a:r>
              <a:rPr lang="fr-MA" sz="1400" b="1" strike="sngStrike" dirty="0" err="1">
                <a:solidFill>
                  <a:srgbClr val="FF3300"/>
                </a:solidFill>
              </a:rPr>
              <a:t>learning_rate</a:t>
            </a:r>
            <a:endParaRPr lang="fr-MA" sz="1400" b="1" strike="sngStrike" dirty="0">
              <a:solidFill>
                <a:srgbClr val="FF3300"/>
              </a:solidFill>
            </a:endParaRP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return </a:t>
            </a:r>
            <a:r>
              <a:rPr lang="fr-MA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bias,W</a:t>
            </a:r>
            <a:endParaRPr lang="fr-MA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DD76B7-D250-8726-30B1-FA2B11827C0A}"/>
              </a:ext>
            </a:extLst>
          </p:cNvPr>
          <p:cNvSpPr txBox="1"/>
          <p:nvPr/>
        </p:nvSpPr>
        <p:spPr>
          <a:xfrm>
            <a:off x="0" y="3964757"/>
            <a:ext cx="5850986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242424"/>
                </a:solidFill>
                <a:effectLst/>
                <a:latin typeface="source-serif-pro"/>
              </a:rPr>
              <a:t>combines the ideas of </a:t>
            </a:r>
            <a:r>
              <a:rPr lang="en-US" sz="1600" dirty="0" err="1">
                <a:solidFill>
                  <a:srgbClr val="242424"/>
                </a:solidFill>
                <a:effectLst/>
                <a:latin typeface="source-serif-pro"/>
              </a:rPr>
              <a:t>Adagrad</a:t>
            </a:r>
            <a:r>
              <a:rPr lang="en-US" sz="1600" dirty="0">
                <a:solidFill>
                  <a:srgbClr val="242424"/>
                </a:solidFill>
                <a:effectLst/>
                <a:latin typeface="source-serif-pro"/>
              </a:rPr>
              <a:t> and </a:t>
            </a:r>
            <a:r>
              <a:rPr lang="en-US" sz="1600" dirty="0" err="1">
                <a:solidFill>
                  <a:srgbClr val="242424"/>
                </a:solidFill>
                <a:effectLst/>
                <a:latin typeface="source-serif-pro"/>
              </a:rPr>
              <a:t>RMSProp</a:t>
            </a:r>
            <a:r>
              <a:rPr lang="en-US" sz="1600" dirty="0">
                <a:solidFill>
                  <a:srgbClr val="242424"/>
                </a:solidFill>
                <a:effectLst/>
                <a:latin typeface="source-serif-pro"/>
              </a:rPr>
              <a:t>.</a:t>
            </a:r>
          </a:p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242424"/>
                </a:solidFill>
                <a:effectLst/>
                <a:latin typeface="source-serif-pro"/>
              </a:rPr>
              <a:t>It adapts the learning rate for each parameter based on the historical gradient values and also uses a moving average of the gradient values to compute the momentum term.</a:t>
            </a:r>
          </a:p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65FA"/>
                </a:solidFill>
                <a:effectLst/>
                <a:latin typeface="source-serif-pro"/>
              </a:rPr>
              <a:t>Adam is one of the most widely used optimization algorithms in deep learning because it is efficient, stable, </a:t>
            </a:r>
          </a:p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effectLst/>
                <a:latin typeface="source-serif-pro"/>
              </a:rPr>
              <a:t>and robust to different types of cost functions and datasets.</a:t>
            </a:r>
            <a:endParaRPr lang="fr-MA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E6D64C-ACC4-4047-2969-F7D753F48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1088" y="2205109"/>
            <a:ext cx="2184198" cy="171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9221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0D11DC-B9F3-65B6-7987-24F5C9170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095" y="907592"/>
            <a:ext cx="10667999" cy="54563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85B63E-B79B-4067-F905-10B24C6668A9}"/>
              </a:ext>
            </a:extLst>
          </p:cNvPr>
          <p:cNvSpPr txBox="1"/>
          <p:nvPr/>
        </p:nvSpPr>
        <p:spPr>
          <a:xfrm>
            <a:off x="0" y="0"/>
            <a:ext cx="7520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Comparaisons</a:t>
            </a:r>
          </a:p>
        </p:txBody>
      </p:sp>
    </p:spTree>
    <p:extLst>
      <p:ext uri="{BB962C8B-B14F-4D97-AF65-F5344CB8AC3E}">
        <p14:creationId xmlns:p14="http://schemas.microsoft.com/office/powerpoint/2010/main" val="38716006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D59FFBD5-8690-7152-4FFF-33E09D1BE439}"/>
              </a:ext>
            </a:extLst>
          </p:cNvPr>
          <p:cNvSpPr/>
          <p:nvPr/>
        </p:nvSpPr>
        <p:spPr>
          <a:xfrm>
            <a:off x="2799150" y="2528412"/>
            <a:ext cx="4099819" cy="291007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281D473-E27A-F016-CF3E-E9DE6536639C}"/>
              </a:ext>
            </a:extLst>
          </p:cNvPr>
          <p:cNvSpPr/>
          <p:nvPr/>
        </p:nvSpPr>
        <p:spPr>
          <a:xfrm>
            <a:off x="2854633" y="2976730"/>
            <a:ext cx="614362" cy="64293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0C30A63-C80A-2F50-46E8-F033965C24A5}"/>
              </a:ext>
            </a:extLst>
          </p:cNvPr>
          <p:cNvSpPr/>
          <p:nvPr/>
        </p:nvSpPr>
        <p:spPr>
          <a:xfrm>
            <a:off x="2854633" y="4718899"/>
            <a:ext cx="614362" cy="64293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DEEBACA-9B58-0565-AD06-042A497FC2DF}"/>
              </a:ext>
            </a:extLst>
          </p:cNvPr>
          <p:cNvSpPr/>
          <p:nvPr/>
        </p:nvSpPr>
        <p:spPr>
          <a:xfrm>
            <a:off x="4907272" y="2983889"/>
            <a:ext cx="614362" cy="64293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8247C69-A4A8-8262-C57A-7560A18CD886}"/>
              </a:ext>
            </a:extLst>
          </p:cNvPr>
          <p:cNvSpPr/>
          <p:nvPr/>
        </p:nvSpPr>
        <p:spPr>
          <a:xfrm>
            <a:off x="4907272" y="4765071"/>
            <a:ext cx="614362" cy="64293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44A4770-5499-694C-BAD6-6D498BDEC9E8}"/>
              </a:ext>
            </a:extLst>
          </p:cNvPr>
          <p:cNvSpPr/>
          <p:nvPr/>
        </p:nvSpPr>
        <p:spPr>
          <a:xfrm>
            <a:off x="6245529" y="3826854"/>
            <a:ext cx="614362" cy="64293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F2BF91-079F-5F1A-213A-DF50EF578A40}"/>
              </a:ext>
            </a:extLst>
          </p:cNvPr>
          <p:cNvCxnSpPr>
            <a:cxnSpLocks/>
          </p:cNvCxnSpPr>
          <p:nvPr/>
        </p:nvCxnSpPr>
        <p:spPr>
          <a:xfrm>
            <a:off x="3468995" y="3298198"/>
            <a:ext cx="1438277" cy="715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219E559-6E4E-CEFA-A285-779C74947FDD}"/>
              </a:ext>
            </a:extLst>
          </p:cNvPr>
          <p:cNvCxnSpPr>
            <a:cxnSpLocks/>
            <a:stCxn id="40" idx="6"/>
            <a:endCxn id="43" idx="2"/>
          </p:cNvCxnSpPr>
          <p:nvPr/>
        </p:nvCxnSpPr>
        <p:spPr>
          <a:xfrm>
            <a:off x="3468995" y="3298199"/>
            <a:ext cx="1438277" cy="178834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6945AF2-FEFC-1C13-8BB6-07CC2C8AE1DA}"/>
              </a:ext>
            </a:extLst>
          </p:cNvPr>
          <p:cNvCxnSpPr>
            <a:cxnSpLocks/>
            <a:stCxn id="41" idx="6"/>
            <a:endCxn id="42" idx="2"/>
          </p:cNvCxnSpPr>
          <p:nvPr/>
        </p:nvCxnSpPr>
        <p:spPr>
          <a:xfrm flipV="1">
            <a:off x="3468995" y="3305358"/>
            <a:ext cx="1438277" cy="17350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B769CBF-B152-1EEE-5442-5E17BAA7CFAD}"/>
              </a:ext>
            </a:extLst>
          </p:cNvPr>
          <p:cNvCxnSpPr>
            <a:cxnSpLocks/>
            <a:stCxn id="41" idx="6"/>
            <a:endCxn id="43" idx="2"/>
          </p:cNvCxnSpPr>
          <p:nvPr/>
        </p:nvCxnSpPr>
        <p:spPr>
          <a:xfrm>
            <a:off x="3468995" y="5040368"/>
            <a:ext cx="1438277" cy="4617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5EF00AE-C319-3FB7-82AF-C4E4AF681C8D}"/>
              </a:ext>
            </a:extLst>
          </p:cNvPr>
          <p:cNvCxnSpPr>
            <a:cxnSpLocks/>
            <a:stCxn id="42" idx="6"/>
            <a:endCxn id="44" idx="2"/>
          </p:cNvCxnSpPr>
          <p:nvPr/>
        </p:nvCxnSpPr>
        <p:spPr>
          <a:xfrm>
            <a:off x="5521634" y="3305358"/>
            <a:ext cx="723895" cy="84296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923F8D4-4DC1-BFDE-22D4-2BCCFC1A2A51}"/>
              </a:ext>
            </a:extLst>
          </p:cNvPr>
          <p:cNvCxnSpPr>
            <a:cxnSpLocks/>
            <a:stCxn id="43" idx="6"/>
            <a:endCxn id="44" idx="2"/>
          </p:cNvCxnSpPr>
          <p:nvPr/>
        </p:nvCxnSpPr>
        <p:spPr>
          <a:xfrm flipV="1">
            <a:off x="5521634" y="4148323"/>
            <a:ext cx="723895" cy="93821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40CE6E3-5A54-1954-7732-D3F9B75AE766}"/>
              </a:ext>
            </a:extLst>
          </p:cNvPr>
          <p:cNvCxnSpPr>
            <a:cxnSpLocks/>
            <a:endCxn id="42" idx="2"/>
          </p:cNvCxnSpPr>
          <p:nvPr/>
        </p:nvCxnSpPr>
        <p:spPr>
          <a:xfrm>
            <a:off x="4730466" y="2785740"/>
            <a:ext cx="176806" cy="51961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DEDA951-73A0-EE20-8D1A-D4F55ABB256C}"/>
              </a:ext>
            </a:extLst>
          </p:cNvPr>
          <p:cNvCxnSpPr>
            <a:cxnSpLocks/>
          </p:cNvCxnSpPr>
          <p:nvPr/>
        </p:nvCxnSpPr>
        <p:spPr>
          <a:xfrm>
            <a:off x="4869176" y="4357174"/>
            <a:ext cx="141683" cy="52308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AD8AE5A-8EB4-968C-1C62-72CC4CB25657}"/>
              </a:ext>
            </a:extLst>
          </p:cNvPr>
          <p:cNvCxnSpPr>
            <a:cxnSpLocks/>
          </p:cNvCxnSpPr>
          <p:nvPr/>
        </p:nvCxnSpPr>
        <p:spPr>
          <a:xfrm>
            <a:off x="6245529" y="3508525"/>
            <a:ext cx="123212" cy="37950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FC7ACE59-B8D0-FB59-3BB4-72703C93CCD2}"/>
              </a:ext>
            </a:extLst>
          </p:cNvPr>
          <p:cNvSpPr txBox="1"/>
          <p:nvPr/>
        </p:nvSpPr>
        <p:spPr>
          <a:xfrm>
            <a:off x="4454566" y="2497932"/>
            <a:ext cx="838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bias1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6729493-3826-B5D9-C15C-293573A2324B}"/>
              </a:ext>
            </a:extLst>
          </p:cNvPr>
          <p:cNvSpPr txBox="1"/>
          <p:nvPr/>
        </p:nvSpPr>
        <p:spPr>
          <a:xfrm>
            <a:off x="4501865" y="4085447"/>
            <a:ext cx="770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bias2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FEBB906-3D23-1044-A724-2E88FED0CB87}"/>
              </a:ext>
            </a:extLst>
          </p:cNvPr>
          <p:cNvSpPr txBox="1"/>
          <p:nvPr/>
        </p:nvSpPr>
        <p:spPr>
          <a:xfrm>
            <a:off x="6016929" y="3146705"/>
            <a:ext cx="842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bias3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A78B5DA-6B97-EBFC-9F6C-701CE6C8823B}"/>
              </a:ext>
            </a:extLst>
          </p:cNvPr>
          <p:cNvSpPr txBox="1"/>
          <p:nvPr/>
        </p:nvSpPr>
        <p:spPr>
          <a:xfrm>
            <a:off x="3649975" y="2914586"/>
            <a:ext cx="762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w11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7C03D5E-FA55-02DC-29C3-0D05E116AD86}"/>
              </a:ext>
            </a:extLst>
          </p:cNvPr>
          <p:cNvSpPr txBox="1"/>
          <p:nvPr/>
        </p:nvSpPr>
        <p:spPr>
          <a:xfrm>
            <a:off x="3688072" y="3356432"/>
            <a:ext cx="723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w21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B32DB27-3487-A06D-318F-859E5C8DEC77}"/>
              </a:ext>
            </a:extLst>
          </p:cNvPr>
          <p:cNvSpPr txBox="1"/>
          <p:nvPr/>
        </p:nvSpPr>
        <p:spPr>
          <a:xfrm>
            <a:off x="3702946" y="4149288"/>
            <a:ext cx="891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w12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7A19331-8C29-D4B9-0AE3-B8B508BDDFCF}"/>
              </a:ext>
            </a:extLst>
          </p:cNvPr>
          <p:cNvSpPr txBox="1"/>
          <p:nvPr/>
        </p:nvSpPr>
        <p:spPr>
          <a:xfrm>
            <a:off x="3752804" y="4671036"/>
            <a:ext cx="605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w22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330C1CD-CA9E-24D2-295D-5E37E75B9F5C}"/>
              </a:ext>
            </a:extLst>
          </p:cNvPr>
          <p:cNvSpPr txBox="1"/>
          <p:nvPr/>
        </p:nvSpPr>
        <p:spPr>
          <a:xfrm>
            <a:off x="5197783" y="3677185"/>
            <a:ext cx="853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w31</a:t>
            </a:r>
            <a:endParaRPr lang="fr-MA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3C41ED1-391C-F9EE-190F-B81FA981A485}"/>
              </a:ext>
            </a:extLst>
          </p:cNvPr>
          <p:cNvSpPr txBox="1"/>
          <p:nvPr/>
        </p:nvSpPr>
        <p:spPr>
          <a:xfrm>
            <a:off x="5272198" y="4333954"/>
            <a:ext cx="853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w32</a:t>
            </a:r>
            <a:endParaRPr lang="fr-MA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38974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138">
            <a:extLst>
              <a:ext uri="{FF2B5EF4-FFF2-40B4-BE49-F238E27FC236}">
                <a16:creationId xmlns:a16="http://schemas.microsoft.com/office/drawing/2014/main" id="{10F0FB3E-78D3-426B-9A26-8E6693892353}"/>
              </a:ext>
            </a:extLst>
          </p:cNvPr>
          <p:cNvSpPr txBox="1"/>
          <p:nvPr/>
        </p:nvSpPr>
        <p:spPr>
          <a:xfrm>
            <a:off x="48126" y="1290710"/>
            <a:ext cx="11601450" cy="3247043"/>
          </a:xfrm>
          <a:prstGeom prst="rect">
            <a:avLst/>
          </a:prstGeom>
          <a:solidFill>
            <a:srgbClr val="FFFF99"/>
          </a:solidFill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endParaRPr lang="fr-MA" sz="1600" dirty="0"/>
          </a:p>
          <a:p>
            <a:pPr>
              <a:spcAft>
                <a:spcPts val="600"/>
              </a:spcAft>
            </a:pPr>
            <a:r>
              <a:rPr lang="fr-MA" sz="1600" dirty="0"/>
              <a:t>model = </a:t>
            </a:r>
            <a:r>
              <a:rPr lang="fr-MA" sz="1600" dirty="0" err="1"/>
              <a:t>Sequential</a:t>
            </a:r>
            <a:r>
              <a:rPr lang="fr-MA" sz="1600" dirty="0"/>
              <a:t>() </a:t>
            </a:r>
          </a:p>
          <a:p>
            <a:pPr>
              <a:spcAft>
                <a:spcPts val="600"/>
              </a:spcAft>
            </a:pPr>
            <a:r>
              <a:rPr lang="fr-MA" sz="1600" dirty="0" err="1"/>
              <a:t>hidden_layer</a:t>
            </a:r>
            <a:r>
              <a:rPr lang="fr-MA" sz="1600" dirty="0"/>
              <a:t> = Dense(2,input_dim=2, </a:t>
            </a:r>
            <a:r>
              <a:rPr lang="fr-MA" sz="1600" dirty="0" err="1"/>
              <a:t>kernel_initializer</a:t>
            </a:r>
            <a:r>
              <a:rPr lang="fr-MA" sz="1600" dirty="0"/>
              <a:t>='</a:t>
            </a:r>
            <a:r>
              <a:rPr lang="fr-MA" sz="1600" dirty="0" err="1"/>
              <a:t>ones</a:t>
            </a:r>
            <a:r>
              <a:rPr lang="fr-MA" sz="1600" dirty="0"/>
              <a:t>',</a:t>
            </a:r>
            <a:r>
              <a:rPr lang="fr-MA" sz="1600" dirty="0" err="1"/>
              <a:t>bias_initializer</a:t>
            </a:r>
            <a:r>
              <a:rPr lang="fr-MA" sz="1600" dirty="0"/>
              <a:t>='</a:t>
            </a:r>
            <a:r>
              <a:rPr lang="fr-MA" sz="1600" dirty="0" err="1"/>
              <a:t>zeros</a:t>
            </a:r>
            <a:r>
              <a:rPr lang="fr-MA" sz="1600" dirty="0"/>
              <a:t>',</a:t>
            </a:r>
            <a:r>
              <a:rPr lang="fr-MA" sz="1600" b="1" dirty="0">
                <a:solidFill>
                  <a:srgbClr val="0066FF"/>
                </a:solidFill>
              </a:rPr>
              <a:t>activation=</a:t>
            </a:r>
            <a:r>
              <a:rPr lang="fr-MA" sz="1600" b="1" dirty="0" err="1">
                <a:solidFill>
                  <a:srgbClr val="0066FF"/>
                </a:solidFill>
              </a:rPr>
              <a:t>act</a:t>
            </a:r>
            <a:r>
              <a:rPr lang="fr-MA" sz="1600" dirty="0"/>
              <a:t>) </a:t>
            </a:r>
          </a:p>
          <a:p>
            <a:pPr>
              <a:spcAft>
                <a:spcPts val="6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dirty="0" err="1"/>
              <a:t>hidden_layer</a:t>
            </a:r>
            <a:r>
              <a:rPr lang="fr-MA" sz="1600" dirty="0"/>
              <a:t>)                  </a:t>
            </a:r>
          </a:p>
          <a:p>
            <a:pPr>
              <a:spcAft>
                <a:spcPts val="600"/>
              </a:spcAft>
            </a:pPr>
            <a:r>
              <a:rPr lang="fr-MA" sz="1600" dirty="0" err="1"/>
              <a:t>output_layer</a:t>
            </a:r>
            <a:r>
              <a:rPr lang="fr-MA" sz="1600" dirty="0"/>
              <a:t> = Dense(1,kernel_initializer='random_</a:t>
            </a:r>
            <a:r>
              <a:rPr lang="fr-MA" sz="1600" dirty="0" err="1"/>
              <a:t>uniform</a:t>
            </a:r>
            <a:r>
              <a:rPr lang="fr-MA" sz="1600" dirty="0"/>
              <a:t>',</a:t>
            </a:r>
            <a:r>
              <a:rPr lang="fr-MA" sz="1600" dirty="0" err="1"/>
              <a:t>bias_initializer</a:t>
            </a:r>
            <a:r>
              <a:rPr lang="fr-MA" sz="1600" dirty="0"/>
              <a:t>='</a:t>
            </a:r>
            <a:r>
              <a:rPr lang="fr-MA" sz="1600" dirty="0" err="1"/>
              <a:t>zeros</a:t>
            </a:r>
            <a:r>
              <a:rPr lang="fr-MA" sz="1600" dirty="0"/>
              <a:t>',activation=</a:t>
            </a:r>
            <a:r>
              <a:rPr lang="fr-MA" sz="1600" b="1" dirty="0">
                <a:solidFill>
                  <a:srgbClr val="0066FF"/>
                </a:solidFill>
              </a:rPr>
              <a:t>'</a:t>
            </a:r>
            <a:r>
              <a:rPr lang="fr-MA" sz="1600" b="1" dirty="0" err="1">
                <a:solidFill>
                  <a:srgbClr val="0066FF"/>
                </a:solidFill>
              </a:rPr>
              <a:t>sigmoid</a:t>
            </a:r>
            <a:r>
              <a:rPr lang="fr-MA" sz="1600" b="1" dirty="0">
                <a:solidFill>
                  <a:srgbClr val="0066FF"/>
                </a:solidFill>
              </a:rPr>
              <a:t>'</a:t>
            </a:r>
            <a:r>
              <a:rPr lang="fr-MA" sz="1600" dirty="0"/>
              <a:t>) </a:t>
            </a:r>
          </a:p>
          <a:p>
            <a:pPr>
              <a:spcAft>
                <a:spcPts val="6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dirty="0" err="1"/>
              <a:t>output_layer</a:t>
            </a:r>
            <a:r>
              <a:rPr lang="fr-MA" sz="1600" dirty="0"/>
              <a:t>)</a:t>
            </a:r>
          </a:p>
          <a:p>
            <a:pPr>
              <a:spcAft>
                <a:spcPts val="6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b="1" dirty="0" err="1"/>
              <a:t>hidden_layer</a:t>
            </a:r>
            <a:r>
              <a:rPr lang="fr-MA" sz="1600" dirty="0"/>
              <a:t>) </a:t>
            </a:r>
          </a:p>
          <a:p>
            <a:pPr>
              <a:spcAft>
                <a:spcPts val="6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b="1" dirty="0" err="1"/>
              <a:t>output_layer</a:t>
            </a:r>
            <a:r>
              <a:rPr lang="fr-MA" sz="1600" dirty="0"/>
              <a:t>) </a:t>
            </a:r>
          </a:p>
          <a:p>
            <a:pPr>
              <a:spcAft>
                <a:spcPts val="600"/>
              </a:spcAft>
            </a:pPr>
            <a:r>
              <a:rPr lang="fr-MA" sz="1600" dirty="0"/>
              <a:t>coef=</a:t>
            </a:r>
            <a:r>
              <a:rPr lang="fr-MA" sz="1600" dirty="0" err="1"/>
              <a:t>model.get_weights</a:t>
            </a:r>
            <a:r>
              <a:rPr lang="fr-MA" sz="1600" dirty="0"/>
              <a:t>()</a:t>
            </a:r>
          </a:p>
          <a:p>
            <a:pPr>
              <a:spcAft>
                <a:spcPts val="600"/>
              </a:spcAft>
            </a:pPr>
            <a:r>
              <a:rPr lang="fr-MA" sz="1600" dirty="0" err="1"/>
              <a:t>print</a:t>
            </a:r>
            <a:r>
              <a:rPr lang="fr-MA" sz="1600" dirty="0"/>
              <a:t>(coef)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FC7893-88A3-4842-99B4-446EB8B50005}"/>
              </a:ext>
            </a:extLst>
          </p:cNvPr>
          <p:cNvSpPr txBox="1"/>
          <p:nvPr/>
        </p:nvSpPr>
        <p:spPr>
          <a:xfrm>
            <a:off x="42861" y="-28578"/>
            <a:ext cx="668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FF3300"/>
                </a:solidFill>
              </a:rPr>
              <a:t>2.</a:t>
            </a:r>
            <a:r>
              <a:rPr lang="fr-MA" sz="2400" dirty="0"/>
              <a:t> </a:t>
            </a:r>
            <a:r>
              <a:rPr lang="fr-MA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Model (avec une autre fonction d’activation)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B69060-5029-4F3A-AEED-FC0FD9DAEBC7}"/>
              </a:ext>
            </a:extLst>
          </p:cNvPr>
          <p:cNvSpPr txBox="1"/>
          <p:nvPr/>
        </p:nvSpPr>
        <p:spPr>
          <a:xfrm>
            <a:off x="51690" y="630146"/>
            <a:ext cx="7806927" cy="584775"/>
          </a:xfrm>
          <a:prstGeom prst="rect">
            <a:avLst/>
          </a:prstGeom>
          <a:solidFill>
            <a:srgbClr val="FFFF99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fr-MA" sz="1600" dirty="0" err="1"/>
              <a:t>from</a:t>
            </a:r>
            <a:r>
              <a:rPr lang="fr-MA" sz="1600" dirty="0"/>
              <a:t> </a:t>
            </a:r>
            <a:r>
              <a:rPr lang="fr-MA" sz="1600" dirty="0" err="1"/>
              <a:t>keras.layers</a:t>
            </a:r>
            <a:r>
              <a:rPr lang="fr-MA" sz="1600" dirty="0"/>
              <a:t> import </a:t>
            </a:r>
            <a:r>
              <a:rPr lang="fr-MA" sz="1600" dirty="0" err="1"/>
              <a:t>LeakyReLU</a:t>
            </a:r>
            <a:endParaRPr lang="fr-MA" sz="1600" dirty="0"/>
          </a:p>
          <a:p>
            <a:r>
              <a:rPr lang="fr-MA" sz="1600" b="1" dirty="0" err="1">
                <a:solidFill>
                  <a:srgbClr val="0066FF"/>
                </a:solidFill>
              </a:rPr>
              <a:t>act</a:t>
            </a:r>
            <a:r>
              <a:rPr lang="fr-MA" sz="1600" b="1" dirty="0">
                <a:solidFill>
                  <a:srgbClr val="0066FF"/>
                </a:solidFill>
              </a:rPr>
              <a:t> = </a:t>
            </a:r>
            <a:r>
              <a:rPr lang="fr-MA" sz="1600" b="1" dirty="0" err="1">
                <a:solidFill>
                  <a:srgbClr val="0066FF"/>
                </a:solidFill>
              </a:rPr>
              <a:t>LeakyReLU</a:t>
            </a:r>
            <a:r>
              <a:rPr lang="fr-MA" sz="1600" b="1" dirty="0">
                <a:solidFill>
                  <a:srgbClr val="0066FF"/>
                </a:solidFill>
              </a:rPr>
              <a:t>(alpha = 0.3)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D55077-9366-1454-C1A5-B490BF71A054}"/>
              </a:ext>
            </a:extLst>
          </p:cNvPr>
          <p:cNvSpPr txBox="1"/>
          <p:nvPr/>
        </p:nvSpPr>
        <p:spPr>
          <a:xfrm>
            <a:off x="71240" y="4613766"/>
            <a:ext cx="7806927" cy="338554"/>
          </a:xfrm>
          <a:prstGeom prst="rect">
            <a:avLst/>
          </a:prstGeom>
          <a:solidFill>
            <a:srgbClr val="FFFF99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fr-MA" sz="1600" b="1" dirty="0" err="1"/>
              <a:t>model.compile</a:t>
            </a:r>
            <a:r>
              <a:rPr lang="fr-MA" sz="1600" b="1" dirty="0"/>
              <a:t>(</a:t>
            </a:r>
            <a:r>
              <a:rPr lang="fr-MA" sz="1600" b="1" dirty="0" err="1"/>
              <a:t>loss</a:t>
            </a:r>
            <a:r>
              <a:rPr lang="fr-MA" sz="1600" b="1" dirty="0"/>
              <a:t>='binary_</a:t>
            </a:r>
            <a:r>
              <a:rPr lang="fr-MA" sz="1600" b="1" dirty="0" err="1"/>
              <a:t>crossentropy</a:t>
            </a:r>
            <a:r>
              <a:rPr lang="fr-MA" sz="1600" b="1" dirty="0"/>
              <a:t>',</a:t>
            </a:r>
            <a:r>
              <a:rPr lang="fr-MA" sz="1600" b="1" dirty="0" err="1"/>
              <a:t>optimizer</a:t>
            </a:r>
            <a:r>
              <a:rPr lang="fr-MA" sz="1600" b="1" dirty="0"/>
              <a:t>='</a:t>
            </a:r>
            <a:r>
              <a:rPr lang="fr-MA" sz="1600" b="1" dirty="0" err="1"/>
              <a:t>adam</a:t>
            </a:r>
            <a:r>
              <a:rPr lang="fr-MA" sz="1600" b="1" dirty="0"/>
              <a:t>',</a:t>
            </a:r>
            <a:r>
              <a:rPr lang="fr-MA" sz="1600" b="1" dirty="0" err="1"/>
              <a:t>metrics</a:t>
            </a:r>
            <a:r>
              <a:rPr lang="fr-MA" sz="1600" b="1" dirty="0"/>
              <a:t>=['</a:t>
            </a:r>
            <a:r>
              <a:rPr lang="fr-MA" sz="1600" b="1" dirty="0" err="1"/>
              <a:t>accuracy</a:t>
            </a:r>
            <a:r>
              <a:rPr lang="fr-MA" sz="1600" b="1" dirty="0"/>
              <a:t>'])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1A37CC-E3F9-EAEA-E844-704E1657B9AB}"/>
              </a:ext>
            </a:extLst>
          </p:cNvPr>
          <p:cNvSpPr txBox="1"/>
          <p:nvPr/>
        </p:nvSpPr>
        <p:spPr>
          <a:xfrm>
            <a:off x="42861" y="5028333"/>
            <a:ext cx="4774168" cy="1077218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MA" dirty="0" err="1"/>
              <a:t>model.fit</a:t>
            </a:r>
            <a:r>
              <a:rPr lang="fr-MA" dirty="0"/>
              <a:t>(</a:t>
            </a:r>
            <a:r>
              <a:rPr lang="fr-MA" dirty="0" err="1"/>
              <a:t>X,y,epochs</a:t>
            </a:r>
            <a:r>
              <a:rPr lang="fr-MA" dirty="0"/>
              <a:t>=1000)</a:t>
            </a:r>
          </a:p>
          <a:p>
            <a:pPr>
              <a:spcAft>
                <a:spcPts val="600"/>
              </a:spcAft>
            </a:pPr>
            <a:r>
              <a:rPr lang="fr-MA" dirty="0" err="1"/>
              <a:t>print</a:t>
            </a:r>
            <a:r>
              <a:rPr lang="fr-MA" dirty="0"/>
              <a:t>(</a:t>
            </a:r>
            <a:r>
              <a:rPr lang="fr-MA" dirty="0" err="1"/>
              <a:t>model.get_weights</a:t>
            </a:r>
            <a:r>
              <a:rPr lang="fr-MA" dirty="0"/>
              <a:t>())</a:t>
            </a:r>
          </a:p>
          <a:p>
            <a:pPr>
              <a:spcAft>
                <a:spcPts val="600"/>
              </a:spcAft>
            </a:pPr>
            <a:r>
              <a:rPr lang="fr-MA" dirty="0" err="1"/>
              <a:t>print</a:t>
            </a:r>
            <a:r>
              <a:rPr lang="fr-MA" dirty="0"/>
              <a:t>(</a:t>
            </a:r>
            <a:r>
              <a:rPr lang="fr-MA" dirty="0" err="1"/>
              <a:t>model.predict</a:t>
            </a:r>
            <a:r>
              <a:rPr lang="fr-MA" dirty="0"/>
              <a:t>(X))</a:t>
            </a:r>
          </a:p>
        </p:txBody>
      </p:sp>
    </p:spTree>
    <p:extLst>
      <p:ext uri="{BB962C8B-B14F-4D97-AF65-F5344CB8AC3E}">
        <p14:creationId xmlns:p14="http://schemas.microsoft.com/office/powerpoint/2010/main" val="12556118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538588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36192</TotalTime>
  <Words>3655</Words>
  <Application>Microsoft Office PowerPoint</Application>
  <PresentationFormat>Widescreen</PresentationFormat>
  <Paragraphs>729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Calibri</vt:lpstr>
      <vt:lpstr>Calibri Light</vt:lpstr>
      <vt:lpstr>Cambria Math</vt:lpstr>
      <vt:lpstr>source-serif-pro</vt:lpstr>
      <vt:lpstr>Wingdings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Moha</dc:creator>
  <cp:lastModifiedBy>abdelwahab naji</cp:lastModifiedBy>
  <cp:revision>629</cp:revision>
  <dcterms:created xsi:type="dcterms:W3CDTF">2019-09-13T15:50:46Z</dcterms:created>
  <dcterms:modified xsi:type="dcterms:W3CDTF">2023-10-21T12:50:44Z</dcterms:modified>
</cp:coreProperties>
</file>