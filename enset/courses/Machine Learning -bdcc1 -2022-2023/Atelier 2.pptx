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695" r:id="rId2"/>
    <p:sldId id="420" r:id="rId3"/>
    <p:sldId id="722" r:id="rId4"/>
    <p:sldId id="753" r:id="rId5"/>
    <p:sldId id="497" r:id="rId6"/>
    <p:sldId id="748" r:id="rId7"/>
    <p:sldId id="747" r:id="rId8"/>
    <p:sldId id="745" r:id="rId9"/>
    <p:sldId id="746" r:id="rId10"/>
    <p:sldId id="764" r:id="rId11"/>
    <p:sldId id="765" r:id="rId12"/>
    <p:sldId id="749" r:id="rId13"/>
    <p:sldId id="751" r:id="rId14"/>
    <p:sldId id="773" r:id="rId15"/>
    <p:sldId id="758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65FA"/>
    <a:srgbClr val="0066FF"/>
    <a:srgbClr val="0180FF"/>
    <a:srgbClr val="FFFFCC"/>
    <a:srgbClr val="FFEFE7"/>
    <a:srgbClr val="FFFF99"/>
    <a:srgbClr val="FDF3ED"/>
    <a:srgbClr val="FEF6F0"/>
    <a:srgbClr val="2865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82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039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07/06/2023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873459" y="2472243"/>
            <a:ext cx="100583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 err="1">
                <a:solidFill>
                  <a:srgbClr val="FF0000"/>
                </a:solidFill>
              </a:rPr>
              <a:t>L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inear</a:t>
            </a:r>
            <a:r>
              <a:rPr lang="fr-FR" sz="4800" b="1" dirty="0">
                <a:solidFill>
                  <a:srgbClr val="FF0000"/>
                </a:solidFill>
              </a:rPr>
              <a:t> </a:t>
            </a:r>
            <a:r>
              <a:rPr lang="fr-FR" sz="4800" b="1" dirty="0" err="1">
                <a:solidFill>
                  <a:srgbClr val="FF0000"/>
                </a:solidFill>
              </a:rPr>
              <a:t>R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egression</a:t>
            </a:r>
            <a:endParaRPr lang="fr-FR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4800" b="1" dirty="0" err="1">
                <a:solidFill>
                  <a:srgbClr val="FF0000"/>
                </a:solidFill>
              </a:rPr>
              <a:t>L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ogistic</a:t>
            </a:r>
            <a:r>
              <a:rPr lang="fr-FR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sz="4800" b="1" dirty="0" err="1">
                <a:solidFill>
                  <a:srgbClr val="FF0000"/>
                </a:solidFill>
              </a:rPr>
              <a:t>R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egression</a:t>
            </a:r>
            <a:r>
              <a:rPr lang="fr-FR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algn="ctr"/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eural </a:t>
            </a:r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6866" y="4669426"/>
            <a:ext cx="11063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dirty="0">
                <a:solidFill>
                  <a:srgbClr val="FF3300"/>
                </a:solidFill>
              </a:rPr>
              <a:t>2022/2023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014" y="1659535"/>
            <a:ext cx="1518883" cy="113916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048" y="42910"/>
            <a:ext cx="1746816" cy="1377399"/>
          </a:xfrm>
          <a:prstGeom prst="rect">
            <a:avLst/>
          </a:prstGeom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5DCD0953-05C4-9B9D-A9D3-FAC989F23C02}"/>
              </a:ext>
            </a:extLst>
          </p:cNvPr>
          <p:cNvSpPr txBox="1"/>
          <p:nvPr/>
        </p:nvSpPr>
        <p:spPr>
          <a:xfrm>
            <a:off x="0" y="5050844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6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6F60AAF-D276-4E9C-8DCF-33C7E6AFA9F8}"/>
              </a:ext>
            </a:extLst>
          </p:cNvPr>
          <p:cNvSpPr/>
          <p:nvPr/>
        </p:nvSpPr>
        <p:spPr>
          <a:xfrm>
            <a:off x="355955" y="3231954"/>
            <a:ext cx="1813560" cy="12801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5DB2D-D038-4D5F-A5D3-2A806DDAB9A9}"/>
              </a:ext>
            </a:extLst>
          </p:cNvPr>
          <p:cNvSpPr/>
          <p:nvPr/>
        </p:nvSpPr>
        <p:spPr>
          <a:xfrm>
            <a:off x="218795" y="2698554"/>
            <a:ext cx="2148840" cy="181356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D6723-48FA-47B0-BDB0-8D7E68C52CFA}"/>
              </a:ext>
            </a:extLst>
          </p:cNvPr>
          <p:cNvSpPr txBox="1"/>
          <p:nvPr/>
        </p:nvSpPr>
        <p:spPr>
          <a:xfrm>
            <a:off x="615035" y="3231954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/>
              <a:t>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7A5E6-2FDC-415B-AB50-1E86F5BF528C}"/>
              </a:ext>
            </a:extLst>
          </p:cNvPr>
          <p:cNvSpPr txBox="1"/>
          <p:nvPr/>
        </p:nvSpPr>
        <p:spPr>
          <a:xfrm>
            <a:off x="569315" y="268018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 err="1"/>
              <a:t>Artificial</a:t>
            </a:r>
            <a:r>
              <a:rPr lang="fr-MA" sz="1400" dirty="0"/>
              <a:t> intelligence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C403EA-B94A-4A81-BDE2-3BD4516EB5F4}"/>
              </a:ext>
            </a:extLst>
          </p:cNvPr>
          <p:cNvSpPr/>
          <p:nvPr/>
        </p:nvSpPr>
        <p:spPr>
          <a:xfrm>
            <a:off x="3135084" y="3236715"/>
            <a:ext cx="1008000" cy="4851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6BBB9-0261-478C-AE09-8E452A868ECA}"/>
              </a:ext>
            </a:extLst>
          </p:cNvPr>
          <p:cNvSpPr txBox="1"/>
          <p:nvPr/>
        </p:nvSpPr>
        <p:spPr>
          <a:xfrm>
            <a:off x="3087187" y="3236714"/>
            <a:ext cx="1071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/>
              <a:t>ML </a:t>
            </a:r>
            <a:r>
              <a:rPr lang="fr-MA" sz="1200" b="1" dirty="0" err="1"/>
              <a:t>problem</a:t>
            </a:r>
            <a:r>
              <a:rPr lang="fr-MA" sz="1200" b="1" dirty="0"/>
              <a:t>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16424-D999-4ACE-A4B3-342A49AAB693}"/>
              </a:ext>
            </a:extLst>
          </p:cNvPr>
          <p:cNvSpPr txBox="1"/>
          <p:nvPr/>
        </p:nvSpPr>
        <p:spPr>
          <a:xfrm>
            <a:off x="4635162" y="822587"/>
            <a:ext cx="98682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/>
              <a:t>Regression</a:t>
            </a:r>
            <a:endParaRPr lang="fr-M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DBC9C-60D2-4DE2-AC7A-9DA8FC11DC4D}"/>
              </a:ext>
            </a:extLst>
          </p:cNvPr>
          <p:cNvSpPr txBox="1"/>
          <p:nvPr/>
        </p:nvSpPr>
        <p:spPr>
          <a:xfrm>
            <a:off x="5876115" y="2804516"/>
            <a:ext cx="936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CC6A9-A885-4A02-9696-9A2C84E89263}"/>
              </a:ext>
            </a:extLst>
          </p:cNvPr>
          <p:cNvSpPr txBox="1"/>
          <p:nvPr/>
        </p:nvSpPr>
        <p:spPr>
          <a:xfrm>
            <a:off x="5968566" y="5517357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8BDE5-BDF7-4C30-B116-099B66C5F3E3}"/>
              </a:ext>
            </a:extLst>
          </p:cNvPr>
          <p:cNvSpPr txBox="1"/>
          <p:nvPr/>
        </p:nvSpPr>
        <p:spPr>
          <a:xfrm>
            <a:off x="7338475" y="452658"/>
            <a:ext cx="1049673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008F4-336A-4724-9B59-EB0A136E8349}"/>
              </a:ext>
            </a:extLst>
          </p:cNvPr>
          <p:cNvSpPr txBox="1"/>
          <p:nvPr/>
        </p:nvSpPr>
        <p:spPr>
          <a:xfrm>
            <a:off x="7351018" y="824754"/>
            <a:ext cx="1296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Linear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Regression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8C676-97A9-4814-A5B2-030BDBE69B6F}"/>
              </a:ext>
            </a:extLst>
          </p:cNvPr>
          <p:cNvSpPr txBox="1"/>
          <p:nvPr/>
        </p:nvSpPr>
        <p:spPr>
          <a:xfrm>
            <a:off x="7331975" y="1122893"/>
            <a:ext cx="79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SVR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CE60-CC01-4A0E-AD83-4FF87A8A0D54}"/>
              </a:ext>
            </a:extLst>
          </p:cNvPr>
          <p:cNvSpPr txBox="1"/>
          <p:nvPr/>
        </p:nvSpPr>
        <p:spPr>
          <a:xfrm>
            <a:off x="7322750" y="1507017"/>
            <a:ext cx="115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Neural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4F26-857C-4F90-BE27-3E32A25EF531}"/>
              </a:ext>
            </a:extLst>
          </p:cNvPr>
          <p:cNvSpPr txBox="1"/>
          <p:nvPr/>
        </p:nvSpPr>
        <p:spPr>
          <a:xfrm>
            <a:off x="6508575" y="2404746"/>
            <a:ext cx="1260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2F0EA-1FFF-4EAD-BD08-205B022C709F}"/>
              </a:ext>
            </a:extLst>
          </p:cNvPr>
          <p:cNvSpPr txBox="1"/>
          <p:nvPr/>
        </p:nvSpPr>
        <p:spPr>
          <a:xfrm>
            <a:off x="7605871" y="2709902"/>
            <a:ext cx="64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KNN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17C6F-1F9E-481D-8226-13E57A60C8FD}"/>
              </a:ext>
            </a:extLst>
          </p:cNvPr>
          <p:cNvSpPr txBox="1"/>
          <p:nvPr/>
        </p:nvSpPr>
        <p:spPr>
          <a:xfrm>
            <a:off x="7575387" y="3022750"/>
            <a:ext cx="100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Naive</a:t>
            </a:r>
            <a:r>
              <a:rPr lang="fr-MA" sz="1200" dirty="0">
                <a:solidFill>
                  <a:schemeClr val="bg1"/>
                </a:solidFill>
              </a:rPr>
              <a:t> bayes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3C4D8B-A40F-478A-8113-336A7661BCCA}"/>
              </a:ext>
            </a:extLst>
          </p:cNvPr>
          <p:cNvSpPr txBox="1"/>
          <p:nvPr/>
        </p:nvSpPr>
        <p:spPr>
          <a:xfrm>
            <a:off x="7651583" y="3332574"/>
            <a:ext cx="1249684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Neural 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DF5F62-CB1A-4431-A7DC-5318D6F964B1}"/>
              </a:ext>
            </a:extLst>
          </p:cNvPr>
          <p:cNvSpPr txBox="1"/>
          <p:nvPr/>
        </p:nvSpPr>
        <p:spPr>
          <a:xfrm>
            <a:off x="7692963" y="5322648"/>
            <a:ext cx="7924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K-</a:t>
            </a:r>
            <a:r>
              <a:rPr lang="fr-MA" sz="1200" dirty="0" err="1">
                <a:solidFill>
                  <a:schemeClr val="bg1"/>
                </a:solidFill>
              </a:rPr>
              <a:t>means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3EE6B-C845-4499-B712-8C1F47164E68}"/>
              </a:ext>
            </a:extLst>
          </p:cNvPr>
          <p:cNvSpPr txBox="1"/>
          <p:nvPr/>
        </p:nvSpPr>
        <p:spPr>
          <a:xfrm>
            <a:off x="7696077" y="5683244"/>
            <a:ext cx="82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DBScan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3E60AB-A0F9-4295-9027-A55889A2B40B}"/>
              </a:ext>
            </a:extLst>
          </p:cNvPr>
          <p:cNvSpPr txBox="1"/>
          <p:nvPr/>
        </p:nvSpPr>
        <p:spPr>
          <a:xfrm>
            <a:off x="7723435" y="6010619"/>
            <a:ext cx="900000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hierarchical</a:t>
            </a:r>
            <a:r>
              <a:rPr lang="fr-MA" sz="1200" dirty="0">
                <a:solidFill>
                  <a:schemeClr val="bg1"/>
                </a:solidFill>
              </a:rPr>
              <a:t> clustering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82DFF-1463-469D-8851-09571CAFD5EE}"/>
              </a:ext>
            </a:extLst>
          </p:cNvPr>
          <p:cNvSpPr txBox="1"/>
          <p:nvPr/>
        </p:nvSpPr>
        <p:spPr>
          <a:xfrm>
            <a:off x="5912594" y="423003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2D3083-D484-4F50-90F8-F19D32F5BD78}"/>
              </a:ext>
            </a:extLst>
          </p:cNvPr>
          <p:cNvSpPr txBox="1"/>
          <p:nvPr/>
        </p:nvSpPr>
        <p:spPr>
          <a:xfrm>
            <a:off x="5345710" y="1149130"/>
            <a:ext cx="99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A4934-A319-49B7-9001-F084EE000C13}"/>
              </a:ext>
            </a:extLst>
          </p:cNvPr>
          <p:cNvSpPr txBox="1"/>
          <p:nvPr/>
        </p:nvSpPr>
        <p:spPr>
          <a:xfrm>
            <a:off x="9600800" y="5243892"/>
            <a:ext cx="19905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/>
              <a:t>How </a:t>
            </a:r>
            <a:r>
              <a:rPr lang="fr-MA" sz="1200" dirty="0" err="1"/>
              <a:t>it</a:t>
            </a:r>
            <a:r>
              <a:rPr lang="fr-MA" sz="1200" dirty="0"/>
              <a:t> </a:t>
            </a:r>
            <a:r>
              <a:rPr lang="fr-MA" sz="1200" dirty="0" err="1"/>
              <a:t>works</a:t>
            </a:r>
            <a:r>
              <a:rPr lang="fr-MA" sz="1200" dirty="0"/>
              <a:t>?</a:t>
            </a:r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Algorithmis</a:t>
            </a:r>
            <a:r>
              <a:rPr lang="fr-MA" sz="1200" dirty="0"/>
              <a:t>: </a:t>
            </a:r>
            <a:r>
              <a:rPr lang="fr-MA" sz="1200" dirty="0" err="1"/>
              <a:t>Optimizers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b="1" dirty="0">
                <a:solidFill>
                  <a:srgbClr val="FF6565"/>
                </a:solidFill>
              </a:rPr>
              <a:t>Math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BA2B4F-D0F0-41F2-80B2-AE4A8339BFD1}"/>
              </a:ext>
            </a:extLst>
          </p:cNvPr>
          <p:cNvSpPr/>
          <p:nvPr/>
        </p:nvSpPr>
        <p:spPr>
          <a:xfrm>
            <a:off x="1227938" y="3767742"/>
            <a:ext cx="877111" cy="491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6A43F6-157D-4CF3-9685-2AB772FBAA19}"/>
              </a:ext>
            </a:extLst>
          </p:cNvPr>
          <p:cNvSpPr txBox="1"/>
          <p:nvPr/>
        </p:nvSpPr>
        <p:spPr>
          <a:xfrm>
            <a:off x="1118314" y="3730649"/>
            <a:ext cx="103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dirty="0" err="1"/>
              <a:t>Deep</a:t>
            </a:r>
            <a:r>
              <a:rPr lang="fr-MA" sz="1200" dirty="0"/>
              <a:t> Learning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797E59-A1F0-47D9-B9B3-6AF3C58A884E}"/>
              </a:ext>
            </a:extLst>
          </p:cNvPr>
          <p:cNvSpPr txBox="1"/>
          <p:nvPr/>
        </p:nvSpPr>
        <p:spPr>
          <a:xfrm>
            <a:off x="9355846" y="3064956"/>
            <a:ext cx="796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400" b="1" dirty="0"/>
              <a:t>How to </a:t>
            </a:r>
            <a:r>
              <a:rPr lang="fr-MA" sz="1400" b="1" dirty="0" err="1"/>
              <a:t>Learn</a:t>
            </a:r>
            <a:r>
              <a:rPr lang="fr-MA" sz="1400" b="1" dirty="0"/>
              <a:t>?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4867949-0792-4191-A1BA-0512F7B27CA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621986" y="961087"/>
            <a:ext cx="175292" cy="18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D4C5795-E1F3-4760-AEA1-0355D7783DA8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5621986" y="561503"/>
            <a:ext cx="290608" cy="39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9E2510C-B7B9-4B52-9DEC-3E9592F02BF4}"/>
              </a:ext>
            </a:extLst>
          </p:cNvPr>
          <p:cNvCxnSpPr>
            <a:cxnSpLocks/>
            <a:stCxn id="17" idx="3"/>
            <a:endCxn id="628" idx="1"/>
          </p:cNvCxnSpPr>
          <p:nvPr/>
        </p:nvCxnSpPr>
        <p:spPr>
          <a:xfrm flipV="1">
            <a:off x="6812594" y="280808"/>
            <a:ext cx="492680" cy="2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E554E2-E61F-4943-BAA1-9327993DD275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6812594" y="561503"/>
            <a:ext cx="538424" cy="401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CD3AF77-6812-47D6-A6FE-754C7460E148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6812594" y="561503"/>
            <a:ext cx="519381" cy="69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128DE53-A646-4D74-A1E0-7F0E92576FC1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6812594" y="561503"/>
            <a:ext cx="510156" cy="1084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DCB05A3-9510-4D84-B90F-B9CF122BE912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6868566" y="5461148"/>
            <a:ext cx="824397" cy="19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793BAE8-3FC4-43F2-B74D-99EF53A78595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>
            <a:off x="6868566" y="5655857"/>
            <a:ext cx="827511" cy="16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2C0A453-D668-44CE-8615-52A7EB35BC8A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6868566" y="5655857"/>
            <a:ext cx="854869" cy="58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4D975351-301D-4B39-9A85-26DFEF279475}"/>
              </a:ext>
            </a:extLst>
          </p:cNvPr>
          <p:cNvCxnSpPr>
            <a:cxnSpLocks/>
            <a:stCxn id="3" idx="2"/>
            <a:endCxn id="246" idx="2"/>
          </p:cNvCxnSpPr>
          <p:nvPr/>
        </p:nvCxnSpPr>
        <p:spPr>
          <a:xfrm rot="16200000" flipH="1">
            <a:off x="3028250" y="4332661"/>
            <a:ext cx="1986501" cy="7648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5B08F18-D8B8-4F27-A789-6D5C542B2C75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6812115" y="2681745"/>
            <a:ext cx="326460" cy="26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B1CDD4C-723E-47F0-9781-52358DD54C6C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6812115" y="2848402"/>
            <a:ext cx="793756" cy="9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0A9A4E6-72B3-4962-A58F-E25C9D90D0DF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6812115" y="2943016"/>
            <a:ext cx="763272" cy="21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8432E18D-C63B-45E4-B392-87275894ED26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6812115" y="2943016"/>
            <a:ext cx="839468" cy="52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F65EE324-EF4D-4503-B5D3-5EE7CDCD5FB5}"/>
              </a:ext>
            </a:extLst>
          </p:cNvPr>
          <p:cNvSpPr txBox="1"/>
          <p:nvPr/>
        </p:nvSpPr>
        <p:spPr>
          <a:xfrm>
            <a:off x="4690528" y="3335278"/>
            <a:ext cx="1008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Classification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8424C67-E1AD-41C2-A8CC-B65AE298AF5F}"/>
              </a:ext>
            </a:extLst>
          </p:cNvPr>
          <p:cNvSpPr txBox="1"/>
          <p:nvPr/>
        </p:nvSpPr>
        <p:spPr>
          <a:xfrm>
            <a:off x="5290465" y="3771800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B4DF386-9991-4FEE-80EF-2E7391D773F2}"/>
              </a:ext>
            </a:extLst>
          </p:cNvPr>
          <p:cNvCxnSpPr>
            <a:cxnSpLocks/>
          </p:cNvCxnSpPr>
          <p:nvPr/>
        </p:nvCxnSpPr>
        <p:spPr>
          <a:xfrm>
            <a:off x="5514603" y="3574779"/>
            <a:ext cx="216807" cy="26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C669000-A321-42F2-80BC-9D342F601FF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483490" y="2943016"/>
            <a:ext cx="392625" cy="35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D08B262A-F3DB-47FD-B45C-D2D22AFA0D9A}"/>
              </a:ext>
            </a:extLst>
          </p:cNvPr>
          <p:cNvSpPr txBox="1"/>
          <p:nvPr/>
        </p:nvSpPr>
        <p:spPr>
          <a:xfrm>
            <a:off x="4631885" y="5581579"/>
            <a:ext cx="864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Clustering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44E5C1E5-4BA9-4431-AA6B-9B1D47805A55}"/>
              </a:ext>
            </a:extLst>
          </p:cNvPr>
          <p:cNvCxnSpPr>
            <a:cxnSpLocks/>
            <a:stCxn id="309" idx="3"/>
            <a:endCxn id="10" idx="1"/>
          </p:cNvCxnSpPr>
          <p:nvPr/>
        </p:nvCxnSpPr>
        <p:spPr>
          <a:xfrm flipV="1">
            <a:off x="5495885" y="5655857"/>
            <a:ext cx="472681" cy="6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A665D8C0-08EE-4622-A353-40B9B25494AB}"/>
              </a:ext>
            </a:extLst>
          </p:cNvPr>
          <p:cNvSpPr txBox="1"/>
          <p:nvPr/>
        </p:nvSpPr>
        <p:spPr>
          <a:xfrm>
            <a:off x="4947342" y="6131325"/>
            <a:ext cx="1063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0CC748EC-B76D-4F9F-880B-591EDE05678D}"/>
              </a:ext>
            </a:extLst>
          </p:cNvPr>
          <p:cNvCxnSpPr>
            <a:cxnSpLocks/>
            <a:stCxn id="309" idx="3"/>
            <a:endCxn id="323" idx="0"/>
          </p:cNvCxnSpPr>
          <p:nvPr/>
        </p:nvCxnSpPr>
        <p:spPr>
          <a:xfrm flipH="1">
            <a:off x="5479175" y="5720079"/>
            <a:ext cx="16710" cy="411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TextBox 590">
            <a:extLst>
              <a:ext uri="{FF2B5EF4-FFF2-40B4-BE49-F238E27FC236}">
                <a16:creationId xmlns:a16="http://schemas.microsoft.com/office/drawing/2014/main" id="{19155187-09AE-4FF8-9F81-CB218E6F861B}"/>
              </a:ext>
            </a:extLst>
          </p:cNvPr>
          <p:cNvSpPr txBox="1"/>
          <p:nvPr/>
        </p:nvSpPr>
        <p:spPr>
          <a:xfrm>
            <a:off x="9570320" y="4885848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From</a:t>
            </a:r>
            <a:r>
              <a:rPr lang="fr-MA" sz="1400" dirty="0">
                <a:solidFill>
                  <a:schemeClr val="bg1"/>
                </a:solidFill>
              </a:rPr>
              <a:t> scratch &amp; by hand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EDABA87D-27D7-42AA-932F-87B23F3FABEB}"/>
              </a:ext>
            </a:extLst>
          </p:cNvPr>
          <p:cNvSpPr txBox="1"/>
          <p:nvPr/>
        </p:nvSpPr>
        <p:spPr>
          <a:xfrm>
            <a:off x="6173760" y="910521"/>
            <a:ext cx="9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RMSE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MAE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AC65FC6C-398B-4267-89BD-46079F1AB423}"/>
              </a:ext>
            </a:extLst>
          </p:cNvPr>
          <p:cNvSpPr txBox="1"/>
          <p:nvPr/>
        </p:nvSpPr>
        <p:spPr>
          <a:xfrm>
            <a:off x="6080150" y="3701190"/>
            <a:ext cx="165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/>
              <a:t>Cross </a:t>
            </a:r>
            <a:r>
              <a:rPr lang="fr-MA" sz="1100" dirty="0" err="1"/>
              <a:t>entropy</a:t>
            </a:r>
            <a:endParaRPr lang="fr-MA" sz="1100" dirty="0"/>
          </a:p>
          <a:p>
            <a:r>
              <a:rPr lang="fr-MA" sz="1100" dirty="0" err="1"/>
              <a:t>Logarithmic</a:t>
            </a:r>
            <a:r>
              <a:rPr lang="fr-MA" sz="1100" dirty="0"/>
              <a:t> </a:t>
            </a:r>
            <a:r>
              <a:rPr lang="fr-MA" sz="1100" dirty="0" err="1"/>
              <a:t>Loss</a:t>
            </a:r>
            <a:endParaRPr lang="fr-MA" sz="1100" dirty="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6E3027C1-3E48-4542-9EEF-55A0DD15EE83}"/>
              </a:ext>
            </a:extLst>
          </p:cNvPr>
          <p:cNvSpPr txBox="1"/>
          <p:nvPr/>
        </p:nvSpPr>
        <p:spPr>
          <a:xfrm>
            <a:off x="5869295" y="6032548"/>
            <a:ext cx="17258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100">
                <a:solidFill>
                  <a:srgbClr val="FF6565"/>
                </a:solidFill>
              </a:defRPr>
            </a:lvl1pPr>
          </a:lstStyle>
          <a:p>
            <a:r>
              <a:rPr lang="fr-MA" dirty="0">
                <a:solidFill>
                  <a:srgbClr val="7030A0"/>
                </a:solidFill>
              </a:rPr>
              <a:t>Davies-</a:t>
            </a:r>
            <a:r>
              <a:rPr lang="fr-MA" dirty="0" err="1">
                <a:solidFill>
                  <a:srgbClr val="7030A0"/>
                </a:solidFill>
              </a:rPr>
              <a:t>Bouldin</a:t>
            </a:r>
            <a:r>
              <a:rPr lang="fr-MA" dirty="0">
                <a:solidFill>
                  <a:srgbClr val="7030A0"/>
                </a:solidFill>
              </a:rPr>
              <a:t> Index</a:t>
            </a:r>
          </a:p>
          <a:p>
            <a:r>
              <a:rPr lang="fr-MA" dirty="0">
                <a:solidFill>
                  <a:srgbClr val="7030A0"/>
                </a:solidFill>
              </a:rPr>
              <a:t>Dunn Index</a:t>
            </a:r>
          </a:p>
          <a:p>
            <a:r>
              <a:rPr lang="fr-MA" dirty="0">
                <a:solidFill>
                  <a:srgbClr val="7030A0"/>
                </a:solidFill>
              </a:rPr>
              <a:t>Silhouette Coefficient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3F961A39-B8B5-4EF7-91EB-35D0D8F82AFA}"/>
              </a:ext>
            </a:extLst>
          </p:cNvPr>
          <p:cNvSpPr txBox="1"/>
          <p:nvPr/>
        </p:nvSpPr>
        <p:spPr>
          <a:xfrm>
            <a:off x="7305274" y="142308"/>
            <a:ext cx="1172837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696519DD-17EA-44A5-B013-4E890B175CAF}"/>
              </a:ext>
            </a:extLst>
          </p:cNvPr>
          <p:cNvSpPr txBox="1"/>
          <p:nvPr/>
        </p:nvSpPr>
        <p:spPr>
          <a:xfrm>
            <a:off x="7694190" y="363851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8E05A1B4-0074-4FCF-BDF8-6D3A4B76D99B}"/>
              </a:ext>
            </a:extLst>
          </p:cNvPr>
          <p:cNvCxnSpPr>
            <a:cxnSpLocks/>
            <a:stCxn id="9" idx="3"/>
            <a:endCxn id="630" idx="1"/>
          </p:cNvCxnSpPr>
          <p:nvPr/>
        </p:nvCxnSpPr>
        <p:spPr>
          <a:xfrm>
            <a:off x="6812115" y="2943016"/>
            <a:ext cx="882075" cy="83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D185DD7-B94E-411B-9227-9F7221657EEF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6812594" y="561503"/>
            <a:ext cx="525881" cy="29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Right Brace 653">
            <a:extLst>
              <a:ext uri="{FF2B5EF4-FFF2-40B4-BE49-F238E27FC236}">
                <a16:creationId xmlns:a16="http://schemas.microsoft.com/office/drawing/2014/main" id="{25033683-0DEB-4BE7-B5E0-D4CB5187FF27}"/>
              </a:ext>
            </a:extLst>
          </p:cNvPr>
          <p:cNvSpPr/>
          <p:nvPr/>
        </p:nvSpPr>
        <p:spPr>
          <a:xfrm>
            <a:off x="8931138" y="233182"/>
            <a:ext cx="470702" cy="6383201"/>
          </a:xfrm>
          <a:prstGeom prst="rightBrace">
            <a:avLst>
              <a:gd name="adj1" fmla="val 8333"/>
              <a:gd name="adj2" fmla="val 49541"/>
            </a:avLst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369270B7-193B-416F-9A96-A2048632A540}"/>
              </a:ext>
            </a:extLst>
          </p:cNvPr>
          <p:cNvSpPr txBox="1"/>
          <p:nvPr/>
        </p:nvSpPr>
        <p:spPr>
          <a:xfrm>
            <a:off x="7694190" y="444578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5220908D-5F10-452C-BE07-04D47DEFCCE8}"/>
              </a:ext>
            </a:extLst>
          </p:cNvPr>
          <p:cNvSpPr txBox="1"/>
          <p:nvPr/>
        </p:nvSpPr>
        <p:spPr>
          <a:xfrm>
            <a:off x="7723436" y="6507421"/>
            <a:ext cx="9273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84AA514B-328B-4C0A-ACFE-784030D548BC}"/>
              </a:ext>
            </a:extLst>
          </p:cNvPr>
          <p:cNvCxnSpPr>
            <a:cxnSpLocks/>
            <a:stCxn id="9" idx="3"/>
            <a:endCxn id="660" idx="1"/>
          </p:cNvCxnSpPr>
          <p:nvPr/>
        </p:nvCxnSpPr>
        <p:spPr>
          <a:xfrm>
            <a:off x="6812115" y="2943016"/>
            <a:ext cx="882075" cy="164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B693401B-3557-4076-BE1C-9CCD93D480C0}"/>
              </a:ext>
            </a:extLst>
          </p:cNvPr>
          <p:cNvCxnSpPr>
            <a:cxnSpLocks/>
            <a:stCxn id="10" idx="3"/>
            <a:endCxn id="666" idx="1"/>
          </p:cNvCxnSpPr>
          <p:nvPr/>
        </p:nvCxnSpPr>
        <p:spPr>
          <a:xfrm>
            <a:off x="6868566" y="5655857"/>
            <a:ext cx="854870" cy="99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TextBox 683">
            <a:extLst>
              <a:ext uri="{FF2B5EF4-FFF2-40B4-BE49-F238E27FC236}">
                <a16:creationId xmlns:a16="http://schemas.microsoft.com/office/drawing/2014/main" id="{FC3F9EC9-6AD4-4A2E-BA8E-06D7CA3292A1}"/>
              </a:ext>
            </a:extLst>
          </p:cNvPr>
          <p:cNvSpPr txBox="1"/>
          <p:nvPr/>
        </p:nvSpPr>
        <p:spPr>
          <a:xfrm>
            <a:off x="7244755" y="1930080"/>
            <a:ext cx="115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C9B30D16-D6D1-4BD5-B7E1-CB4B257A94AE}"/>
              </a:ext>
            </a:extLst>
          </p:cNvPr>
          <p:cNvSpPr txBox="1"/>
          <p:nvPr/>
        </p:nvSpPr>
        <p:spPr>
          <a:xfrm>
            <a:off x="7694190" y="3956018"/>
            <a:ext cx="1214685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Support </a:t>
            </a:r>
            <a:r>
              <a:rPr lang="fr-MA" sz="1200" dirty="0" err="1">
                <a:solidFill>
                  <a:schemeClr val="bg1"/>
                </a:solidFill>
              </a:rPr>
              <a:t>Vector</a:t>
            </a:r>
            <a:r>
              <a:rPr lang="fr-MA" sz="1200" dirty="0">
                <a:solidFill>
                  <a:schemeClr val="bg1"/>
                </a:solidFill>
              </a:rPr>
              <a:t> Machine</a:t>
            </a:r>
          </a:p>
        </p:txBody>
      </p:sp>
      <p:cxnSp>
        <p:nvCxnSpPr>
          <p:cNvPr id="702" name="Straight Arrow Connector 701">
            <a:extLst>
              <a:ext uri="{FF2B5EF4-FFF2-40B4-BE49-F238E27FC236}">
                <a16:creationId xmlns:a16="http://schemas.microsoft.com/office/drawing/2014/main" id="{1F00CCD9-C1CE-4659-9632-D0F6A1C3B2AD}"/>
              </a:ext>
            </a:extLst>
          </p:cNvPr>
          <p:cNvCxnSpPr>
            <a:cxnSpLocks/>
            <a:stCxn id="9" idx="3"/>
            <a:endCxn id="700" idx="1"/>
          </p:cNvCxnSpPr>
          <p:nvPr/>
        </p:nvCxnSpPr>
        <p:spPr>
          <a:xfrm>
            <a:off x="6812115" y="2943016"/>
            <a:ext cx="882075" cy="124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1EA2C12F-8344-4B41-BFA0-1A2502576E17}"/>
              </a:ext>
            </a:extLst>
          </p:cNvPr>
          <p:cNvCxnSpPr>
            <a:cxnSpLocks/>
            <a:stCxn id="929" idx="7"/>
            <a:endCxn id="6" idx="1"/>
          </p:cNvCxnSpPr>
          <p:nvPr/>
        </p:nvCxnSpPr>
        <p:spPr>
          <a:xfrm flipV="1">
            <a:off x="1896200" y="3467547"/>
            <a:ext cx="1190987" cy="182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7DFA01AB-0A14-40CB-80FE-6C71806F573A}"/>
              </a:ext>
            </a:extLst>
          </p:cNvPr>
          <p:cNvCxnSpPr>
            <a:cxnSpLocks/>
            <a:stCxn id="17" idx="3"/>
            <a:endCxn id="684" idx="1"/>
          </p:cNvCxnSpPr>
          <p:nvPr/>
        </p:nvCxnSpPr>
        <p:spPr>
          <a:xfrm>
            <a:off x="6812594" y="561503"/>
            <a:ext cx="432161" cy="1507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Rectangle: Rounded Corners 876">
            <a:extLst>
              <a:ext uri="{FF2B5EF4-FFF2-40B4-BE49-F238E27FC236}">
                <a16:creationId xmlns:a16="http://schemas.microsoft.com/office/drawing/2014/main" id="{6E91ECCA-5082-4C3B-A1BD-69E8AD1983D5}"/>
              </a:ext>
            </a:extLst>
          </p:cNvPr>
          <p:cNvSpPr/>
          <p:nvPr/>
        </p:nvSpPr>
        <p:spPr>
          <a:xfrm>
            <a:off x="9659630" y="1587717"/>
            <a:ext cx="2376000" cy="135039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A70F24AE-2F5F-4197-B3D7-AF36B3C6AB07}"/>
              </a:ext>
            </a:extLst>
          </p:cNvPr>
          <p:cNvSpPr txBox="1"/>
          <p:nvPr/>
        </p:nvSpPr>
        <p:spPr>
          <a:xfrm>
            <a:off x="9877301" y="1941106"/>
            <a:ext cx="1945732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ML Librairies (Black Box) :</a:t>
            </a:r>
          </a:p>
          <a:p>
            <a:pPr marL="0" indent="0">
              <a:buNone/>
            </a:pPr>
            <a:r>
              <a:rPr lang="fr-MA" dirty="0" err="1"/>
              <a:t>sklearn</a:t>
            </a:r>
            <a:r>
              <a:rPr lang="fr-MA" dirty="0"/>
              <a:t>, </a:t>
            </a:r>
            <a:r>
              <a:rPr lang="fr-MA" dirty="0" err="1"/>
              <a:t>Keras</a:t>
            </a:r>
            <a:r>
              <a:rPr lang="fr-MA" dirty="0"/>
              <a:t>, </a:t>
            </a:r>
            <a:r>
              <a:rPr lang="fr-MA" dirty="0" err="1"/>
              <a:t>PyTorch</a:t>
            </a:r>
            <a:r>
              <a:rPr lang="fr-MA" dirty="0"/>
              <a:t> ..</a:t>
            </a: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940C4F5E-C898-467A-BDAB-57D01C0CE8D2}"/>
              </a:ext>
            </a:extLst>
          </p:cNvPr>
          <p:cNvSpPr txBox="1"/>
          <p:nvPr/>
        </p:nvSpPr>
        <p:spPr>
          <a:xfrm>
            <a:off x="9860314" y="2454057"/>
            <a:ext cx="1993146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Math </a:t>
            </a:r>
            <a:r>
              <a:rPr lang="fr-MA" b="1" dirty="0" err="1"/>
              <a:t>Librairires</a:t>
            </a:r>
            <a:r>
              <a:rPr lang="fr-MA" b="1" dirty="0"/>
              <a:t>:</a:t>
            </a:r>
          </a:p>
          <a:p>
            <a:pPr marL="0" indent="0">
              <a:buNone/>
            </a:pPr>
            <a:r>
              <a:rPr lang="fr-MA" dirty="0" err="1"/>
              <a:t>NumpY</a:t>
            </a:r>
            <a:r>
              <a:rPr lang="fr-MA" dirty="0"/>
              <a:t>, </a:t>
            </a:r>
            <a:r>
              <a:rPr lang="fr-MA" dirty="0" err="1"/>
              <a:t>SciPy</a:t>
            </a:r>
            <a:r>
              <a:rPr lang="fr-MA" dirty="0"/>
              <a:t>…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6C0F9556-B4E6-4EC1-AE8F-CDD9B3F544D6}"/>
              </a:ext>
            </a:extLst>
          </p:cNvPr>
          <p:cNvSpPr txBox="1"/>
          <p:nvPr/>
        </p:nvSpPr>
        <p:spPr>
          <a:xfrm>
            <a:off x="9770621" y="1634933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librairies</a:t>
            </a:r>
          </a:p>
        </p:txBody>
      </p:sp>
      <p:sp>
        <p:nvSpPr>
          <p:cNvPr id="885" name="TextBox 884">
            <a:extLst>
              <a:ext uri="{FF2B5EF4-FFF2-40B4-BE49-F238E27FC236}">
                <a16:creationId xmlns:a16="http://schemas.microsoft.com/office/drawing/2014/main" id="{E3FE516E-507C-4D87-8241-84FDA5F330C3}"/>
              </a:ext>
            </a:extLst>
          </p:cNvPr>
          <p:cNvSpPr txBox="1"/>
          <p:nvPr/>
        </p:nvSpPr>
        <p:spPr>
          <a:xfrm>
            <a:off x="9712803" y="129386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Don’t start </a:t>
            </a:r>
            <a:r>
              <a:rPr lang="fr-MA" sz="1200" dirty="0" err="1"/>
              <a:t>with</a:t>
            </a:r>
            <a:r>
              <a:rPr lang="fr-MA" sz="1200" dirty="0"/>
              <a:t> </a:t>
            </a:r>
            <a:r>
              <a:rPr lang="fr-MA" sz="1200" dirty="0" err="1"/>
              <a:t>theory</a:t>
            </a:r>
            <a:endParaRPr lang="fr-MA" sz="1200" dirty="0"/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CBD442B9-2C90-4C22-BAA1-7E16F9FC558A}"/>
              </a:ext>
            </a:extLst>
          </p:cNvPr>
          <p:cNvSpPr txBox="1"/>
          <p:nvPr/>
        </p:nvSpPr>
        <p:spPr>
          <a:xfrm>
            <a:off x="9724319" y="1152101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Use a simple </a:t>
            </a:r>
            <a:r>
              <a:rPr lang="fr-MA" sz="1200" dirty="0" err="1"/>
              <a:t>dataset</a:t>
            </a:r>
            <a:endParaRPr lang="fr-MA" sz="1200" dirty="0"/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F1B72E8A-48B3-4733-9D9F-5E6D9ABBD3C1}"/>
              </a:ext>
            </a:extLst>
          </p:cNvPr>
          <p:cNvSpPr txBox="1"/>
          <p:nvPr/>
        </p:nvSpPr>
        <p:spPr>
          <a:xfrm>
            <a:off x="9724319" y="482751"/>
            <a:ext cx="2232000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100" dirty="0"/>
              <a:t>Begin </a:t>
            </a:r>
            <a:r>
              <a:rPr lang="fr-MA" sz="1100" dirty="0" err="1"/>
              <a:t>with</a:t>
            </a:r>
            <a:r>
              <a:rPr lang="fr-MA" sz="1100" dirty="0"/>
              <a:t> a simple </a:t>
            </a:r>
            <a:r>
              <a:rPr lang="fr-MA" sz="1100" dirty="0" err="1"/>
              <a:t>problem</a:t>
            </a:r>
            <a:endParaRPr lang="fr-MA" sz="1100" dirty="0"/>
          </a:p>
        </p:txBody>
      </p:sp>
      <p:sp>
        <p:nvSpPr>
          <p:cNvPr id="891" name="Rectangle: Rounded Corners 890">
            <a:extLst>
              <a:ext uri="{FF2B5EF4-FFF2-40B4-BE49-F238E27FC236}">
                <a16:creationId xmlns:a16="http://schemas.microsoft.com/office/drawing/2014/main" id="{A9C8833E-DDFB-4EE2-9CA1-3B302C3FA24B}"/>
              </a:ext>
            </a:extLst>
          </p:cNvPr>
          <p:cNvSpPr/>
          <p:nvPr/>
        </p:nvSpPr>
        <p:spPr>
          <a:xfrm>
            <a:off x="9429377" y="4753210"/>
            <a:ext cx="2304000" cy="1247236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63C38629-4C85-46B5-9165-DB94409AA1AE}"/>
              </a:ext>
            </a:extLst>
          </p:cNvPr>
          <p:cNvSpPr txBox="1"/>
          <p:nvPr/>
        </p:nvSpPr>
        <p:spPr>
          <a:xfrm>
            <a:off x="9739702" y="793385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Begin </a:t>
            </a:r>
            <a:r>
              <a:rPr lang="fr-MA" sz="1200" dirty="0" err="1"/>
              <a:t>with</a:t>
            </a:r>
            <a:r>
              <a:rPr lang="fr-MA" sz="1200" dirty="0"/>
              <a:t> a simple technique</a:t>
            </a:r>
          </a:p>
        </p:txBody>
      </p:sp>
      <p:sp>
        <p:nvSpPr>
          <p:cNvPr id="929" name="Oval 928">
            <a:extLst>
              <a:ext uri="{FF2B5EF4-FFF2-40B4-BE49-F238E27FC236}">
                <a16:creationId xmlns:a16="http://schemas.microsoft.com/office/drawing/2014/main" id="{DB45062A-FB6E-49E6-A393-8978B11E22DE}"/>
              </a:ext>
            </a:extLst>
          </p:cNvPr>
          <p:cNvSpPr/>
          <p:nvPr/>
        </p:nvSpPr>
        <p:spPr>
          <a:xfrm>
            <a:off x="1742560" y="3448284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CA811067-8AFE-4982-BDA1-FB5F5504C87F}"/>
              </a:ext>
            </a:extLst>
          </p:cNvPr>
          <p:cNvCxnSpPr>
            <a:cxnSpLocks/>
            <a:stCxn id="65" idx="3"/>
            <a:endCxn id="877" idx="2"/>
          </p:cNvCxnSpPr>
          <p:nvPr/>
        </p:nvCxnSpPr>
        <p:spPr>
          <a:xfrm flipV="1">
            <a:off x="10152160" y="2938107"/>
            <a:ext cx="695470" cy="388459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Arrow Connector 1015">
            <a:extLst>
              <a:ext uri="{FF2B5EF4-FFF2-40B4-BE49-F238E27FC236}">
                <a16:creationId xmlns:a16="http://schemas.microsoft.com/office/drawing/2014/main" id="{623F6DBC-1B83-4E87-929A-D77419341DDD}"/>
              </a:ext>
            </a:extLst>
          </p:cNvPr>
          <p:cNvCxnSpPr>
            <a:cxnSpLocks/>
            <a:stCxn id="65" idx="3"/>
            <a:endCxn id="891" idx="0"/>
          </p:cNvCxnSpPr>
          <p:nvPr/>
        </p:nvCxnSpPr>
        <p:spPr>
          <a:xfrm>
            <a:off x="10152160" y="3326566"/>
            <a:ext cx="429217" cy="142664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Arrow Connector 1018">
            <a:extLst>
              <a:ext uri="{FF2B5EF4-FFF2-40B4-BE49-F238E27FC236}">
                <a16:creationId xmlns:a16="http://schemas.microsoft.com/office/drawing/2014/main" id="{9C0F6F02-2A23-4420-BF82-F0EB06AAEA9E}"/>
              </a:ext>
            </a:extLst>
          </p:cNvPr>
          <p:cNvCxnSpPr>
            <a:cxnSpLocks/>
            <a:stCxn id="65" idx="3"/>
            <a:endCxn id="1025" idx="1"/>
          </p:cNvCxnSpPr>
          <p:nvPr/>
        </p:nvCxnSpPr>
        <p:spPr>
          <a:xfrm>
            <a:off x="10152160" y="3326566"/>
            <a:ext cx="403088" cy="64095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3" name="Picture 1022">
            <a:extLst>
              <a:ext uri="{FF2B5EF4-FFF2-40B4-BE49-F238E27FC236}">
                <a16:creationId xmlns:a16="http://schemas.microsoft.com/office/drawing/2014/main" id="{010D42F7-AF30-404E-8704-4232AADD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039" y="3619871"/>
            <a:ext cx="660600" cy="606085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EEC083E9-4EE0-4F0A-8B4A-07ADDF7E8B16}"/>
              </a:ext>
            </a:extLst>
          </p:cNvPr>
          <p:cNvSpPr txBox="1"/>
          <p:nvPr/>
        </p:nvSpPr>
        <p:spPr>
          <a:xfrm>
            <a:off x="10555248" y="3736688"/>
            <a:ext cx="818330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chemeClr val="bg1"/>
                </a:solidFill>
              </a:rPr>
              <a:t>who</a:t>
            </a:r>
            <a:r>
              <a:rPr lang="fr-MA" sz="1200" b="1" dirty="0">
                <a:solidFill>
                  <a:schemeClr val="bg1"/>
                </a:solidFill>
              </a:rPr>
              <a:t> are </a:t>
            </a:r>
            <a:r>
              <a:rPr lang="fr-MA" sz="1200" b="1" dirty="0" err="1">
                <a:solidFill>
                  <a:schemeClr val="bg1"/>
                </a:solidFill>
              </a:rPr>
              <a:t>you</a:t>
            </a:r>
            <a:r>
              <a:rPr lang="fr-MA" sz="12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9A0469B-D291-4D46-B81E-2DDF9066F263}"/>
              </a:ext>
            </a:extLst>
          </p:cNvPr>
          <p:cNvSpPr/>
          <p:nvPr/>
        </p:nvSpPr>
        <p:spPr>
          <a:xfrm>
            <a:off x="9645882" y="67017"/>
            <a:ext cx="2376000" cy="144000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316D7476-199A-4C6F-B562-81B5564E4976}"/>
              </a:ext>
            </a:extLst>
          </p:cNvPr>
          <p:cNvCxnSpPr>
            <a:cxnSpLocks/>
            <a:endCxn id="1034" idx="1"/>
          </p:cNvCxnSpPr>
          <p:nvPr/>
        </p:nvCxnSpPr>
        <p:spPr>
          <a:xfrm rot="5400000" flipH="1" flipV="1">
            <a:off x="8437824" y="1805106"/>
            <a:ext cx="2226147" cy="189970"/>
          </a:xfrm>
          <a:prstGeom prst="bentConnector2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Left Brace 1053">
            <a:extLst>
              <a:ext uri="{FF2B5EF4-FFF2-40B4-BE49-F238E27FC236}">
                <a16:creationId xmlns:a16="http://schemas.microsoft.com/office/drawing/2014/main" id="{AD7E8A35-66C0-47AC-9288-E9C2D2370D60}"/>
              </a:ext>
            </a:extLst>
          </p:cNvPr>
          <p:cNvSpPr/>
          <p:nvPr/>
        </p:nvSpPr>
        <p:spPr>
          <a:xfrm>
            <a:off x="6032090" y="961823"/>
            <a:ext cx="224586" cy="688812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57" name="Left Brace 1056">
            <a:extLst>
              <a:ext uri="{FF2B5EF4-FFF2-40B4-BE49-F238E27FC236}">
                <a16:creationId xmlns:a16="http://schemas.microsoft.com/office/drawing/2014/main" id="{0D010DC3-9A5E-4CC1-9B8D-6922B291B63E}"/>
              </a:ext>
            </a:extLst>
          </p:cNvPr>
          <p:cNvSpPr/>
          <p:nvPr/>
        </p:nvSpPr>
        <p:spPr>
          <a:xfrm>
            <a:off x="5942893" y="3706433"/>
            <a:ext cx="244921" cy="411920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60" name="Left Brace 1059">
            <a:extLst>
              <a:ext uri="{FF2B5EF4-FFF2-40B4-BE49-F238E27FC236}">
                <a16:creationId xmlns:a16="http://schemas.microsoft.com/office/drawing/2014/main" id="{AA47477B-A9EE-4277-8427-947C8152224F}"/>
              </a:ext>
            </a:extLst>
          </p:cNvPr>
          <p:cNvSpPr/>
          <p:nvPr/>
        </p:nvSpPr>
        <p:spPr>
          <a:xfrm>
            <a:off x="5802881" y="6073039"/>
            <a:ext cx="254781" cy="57600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028F9E8-5D41-4571-8B64-7616B480175C}"/>
              </a:ext>
            </a:extLst>
          </p:cNvPr>
          <p:cNvSpPr txBox="1"/>
          <p:nvPr/>
        </p:nvSpPr>
        <p:spPr>
          <a:xfrm>
            <a:off x="5633991" y="3201504"/>
            <a:ext cx="1352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MA" sz="800" b="0" i="0" dirty="0" err="1">
                <a:solidFill>
                  <a:srgbClr val="0081E2"/>
                </a:solidFill>
                <a:effectLst/>
                <a:latin typeface="Helvetica Neue"/>
              </a:rPr>
              <a:t>Binary</a:t>
            </a:r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Multi-Class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Multi-Label Classification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251B706-7451-4039-8AF7-2590053D3867}"/>
              </a:ext>
            </a:extLst>
          </p:cNvPr>
          <p:cNvSpPr txBox="1"/>
          <p:nvPr/>
        </p:nvSpPr>
        <p:spPr>
          <a:xfrm>
            <a:off x="5281042" y="4348108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40DE88A-8FC9-42CB-A48C-C94C571C2406}"/>
              </a:ext>
            </a:extLst>
          </p:cNvPr>
          <p:cNvSpPr txBox="1"/>
          <p:nvPr/>
        </p:nvSpPr>
        <p:spPr>
          <a:xfrm>
            <a:off x="6283171" y="4146873"/>
            <a:ext cx="1656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>
                <a:solidFill>
                  <a:srgbClr val="7030A0"/>
                </a:solidFill>
              </a:rPr>
              <a:t>Confusion Matrix</a:t>
            </a:r>
          </a:p>
          <a:p>
            <a:r>
              <a:rPr lang="fr-MA" sz="1100" dirty="0" err="1">
                <a:solidFill>
                  <a:srgbClr val="7030A0"/>
                </a:solidFill>
              </a:rPr>
              <a:t>Accuracy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Precision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Recall</a:t>
            </a:r>
            <a:r>
              <a:rPr lang="fr-MA" sz="1100" dirty="0">
                <a:solidFill>
                  <a:srgbClr val="7030A0"/>
                </a:solidFill>
              </a:rPr>
              <a:t> &amp; </a:t>
            </a:r>
            <a:r>
              <a:rPr lang="fr-MA" sz="1100" dirty="0" err="1">
                <a:solidFill>
                  <a:srgbClr val="7030A0"/>
                </a:solidFill>
              </a:rPr>
              <a:t>Specificity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>
                <a:solidFill>
                  <a:srgbClr val="7030A0"/>
                </a:solidFill>
              </a:rPr>
              <a:t>F1 Score</a:t>
            </a:r>
          </a:p>
        </p:txBody>
      </p:sp>
      <p:sp>
        <p:nvSpPr>
          <p:cNvPr id="157" name="Left Brace 156">
            <a:extLst>
              <a:ext uri="{FF2B5EF4-FFF2-40B4-BE49-F238E27FC236}">
                <a16:creationId xmlns:a16="http://schemas.microsoft.com/office/drawing/2014/main" id="{5E5EE262-6096-4001-9680-6125604823A8}"/>
              </a:ext>
            </a:extLst>
          </p:cNvPr>
          <p:cNvSpPr/>
          <p:nvPr/>
        </p:nvSpPr>
        <p:spPr>
          <a:xfrm>
            <a:off x="6094191" y="4248361"/>
            <a:ext cx="289684" cy="692878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82DEF63F-31E3-4F5E-9119-DFBFCFB12F78}"/>
              </a:ext>
            </a:extLst>
          </p:cNvPr>
          <p:cNvCxnSpPr>
            <a:cxnSpLocks/>
          </p:cNvCxnSpPr>
          <p:nvPr/>
        </p:nvCxnSpPr>
        <p:spPr>
          <a:xfrm>
            <a:off x="5507994" y="3588176"/>
            <a:ext cx="294035" cy="759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F2E94D28-FF19-460F-8525-17D1CBCF4B0C}"/>
              </a:ext>
            </a:extLst>
          </p:cNvPr>
          <p:cNvSpPr/>
          <p:nvPr/>
        </p:nvSpPr>
        <p:spPr>
          <a:xfrm>
            <a:off x="4445293" y="786589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BFC9212-7855-4CF2-AC9F-6BDA33397555}"/>
              </a:ext>
            </a:extLst>
          </p:cNvPr>
          <p:cNvSpPr/>
          <p:nvPr/>
        </p:nvSpPr>
        <p:spPr>
          <a:xfrm>
            <a:off x="4434464" y="3310743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4103518-5626-47D5-BD18-567F2F9D1871}"/>
              </a:ext>
            </a:extLst>
          </p:cNvPr>
          <p:cNvSpPr/>
          <p:nvPr/>
        </p:nvSpPr>
        <p:spPr>
          <a:xfrm>
            <a:off x="4403916" y="5551250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3</a:t>
            </a:r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84F55335-083F-4542-8181-DAB4CC1FDA79}"/>
              </a:ext>
            </a:extLst>
          </p:cNvPr>
          <p:cNvCxnSpPr>
            <a:cxnSpLocks/>
            <a:stCxn id="6" idx="0"/>
            <a:endCxn id="117" idx="2"/>
          </p:cNvCxnSpPr>
          <p:nvPr/>
        </p:nvCxnSpPr>
        <p:spPr>
          <a:xfrm rot="5400000" flipH="1" flipV="1">
            <a:off x="2887483" y="1678904"/>
            <a:ext cx="2293047" cy="8225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D5F719C-03EA-4448-B777-61EC5DCFB3AB}"/>
              </a:ext>
            </a:extLst>
          </p:cNvPr>
          <p:cNvSpPr txBox="1"/>
          <p:nvPr/>
        </p:nvSpPr>
        <p:spPr>
          <a:xfrm>
            <a:off x="4654830" y="1026019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34DE90BB-F25D-4F28-B288-50374BDCC5C7}"/>
              </a:ext>
            </a:extLst>
          </p:cNvPr>
          <p:cNvSpPr txBox="1"/>
          <p:nvPr/>
        </p:nvSpPr>
        <p:spPr>
          <a:xfrm>
            <a:off x="4562103" y="354505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8CB617C-DF4E-4BB8-AE83-EB592D5C91F9}"/>
              </a:ext>
            </a:extLst>
          </p:cNvPr>
          <p:cNvSpPr txBox="1"/>
          <p:nvPr/>
        </p:nvSpPr>
        <p:spPr>
          <a:xfrm>
            <a:off x="4452533" y="578934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Unsupervised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0530BB4-4709-41F1-A7CC-5A1F4722618B}"/>
              </a:ext>
            </a:extLst>
          </p:cNvPr>
          <p:cNvSpPr/>
          <p:nvPr/>
        </p:nvSpPr>
        <p:spPr>
          <a:xfrm>
            <a:off x="4485457" y="73580"/>
            <a:ext cx="4423418" cy="21479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5A12982-2906-4597-B7A6-5DA6AB1A7FE2}"/>
              </a:ext>
            </a:extLst>
          </p:cNvPr>
          <p:cNvSpPr/>
          <p:nvPr/>
        </p:nvSpPr>
        <p:spPr>
          <a:xfrm>
            <a:off x="4472912" y="2341544"/>
            <a:ext cx="4496175" cy="2787924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5426A28B-5893-47A0-AE99-7030EE8EBA23}"/>
              </a:ext>
            </a:extLst>
          </p:cNvPr>
          <p:cNvSpPr/>
          <p:nvPr/>
        </p:nvSpPr>
        <p:spPr>
          <a:xfrm>
            <a:off x="4396298" y="5204551"/>
            <a:ext cx="4528198" cy="158400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60F04FA3-53A9-4CB1-A652-06C0E6822D5B}"/>
              </a:ext>
            </a:extLst>
          </p:cNvPr>
          <p:cNvCxnSpPr>
            <a:cxnSpLocks/>
          </p:cNvCxnSpPr>
          <p:nvPr/>
        </p:nvCxnSpPr>
        <p:spPr>
          <a:xfrm>
            <a:off x="4143011" y="3467547"/>
            <a:ext cx="321933" cy="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DF8E65-28C8-8944-2032-C8D233D9FB2B}"/>
              </a:ext>
            </a:extLst>
          </p:cNvPr>
          <p:cNvSpPr txBox="1"/>
          <p:nvPr/>
        </p:nvSpPr>
        <p:spPr>
          <a:xfrm>
            <a:off x="4491013" y="-2096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8405E-0E3E-EDD1-1B67-8D4F38C7E828}"/>
              </a:ext>
            </a:extLst>
          </p:cNvPr>
          <p:cNvSpPr txBox="1"/>
          <p:nvPr/>
        </p:nvSpPr>
        <p:spPr>
          <a:xfrm>
            <a:off x="4474405" y="2315195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2BA70-0FCF-65A4-F108-1ACFCEA161BE}"/>
              </a:ext>
            </a:extLst>
          </p:cNvPr>
          <p:cNvSpPr txBox="1"/>
          <p:nvPr/>
        </p:nvSpPr>
        <p:spPr>
          <a:xfrm>
            <a:off x="4368235" y="5088447"/>
            <a:ext cx="1957007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unsupervised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45AC8E-E3BC-0668-DD01-C1955FA6318B}"/>
              </a:ext>
            </a:extLst>
          </p:cNvPr>
          <p:cNvSpPr txBox="1"/>
          <p:nvPr/>
        </p:nvSpPr>
        <p:spPr>
          <a:xfrm>
            <a:off x="10079107" y="5785386"/>
            <a:ext cx="137591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Calculus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Linear</a:t>
            </a:r>
            <a:r>
              <a:rPr lang="fr-MA" sz="1200" dirty="0"/>
              <a:t> </a:t>
            </a:r>
            <a:r>
              <a:rPr lang="fr-MA" sz="1200" dirty="0" err="1"/>
              <a:t>Algebra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Statictics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probability</a:t>
            </a:r>
            <a:endParaRPr lang="fr-MA" sz="1200" dirty="0"/>
          </a:p>
        </p:txBody>
      </p:sp>
    </p:spTree>
    <p:extLst>
      <p:ext uri="{BB962C8B-B14F-4D97-AF65-F5344CB8AC3E}">
        <p14:creationId xmlns:p14="http://schemas.microsoft.com/office/powerpoint/2010/main" val="393540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17" grpId="0" animBg="1"/>
      <p:bldP spid="21" grpId="0"/>
      <p:bldP spid="23" grpId="0" animBg="1"/>
      <p:bldP spid="65" grpId="0" animBg="1"/>
      <p:bldP spid="266" grpId="0" animBg="1"/>
      <p:bldP spid="278" grpId="0"/>
      <p:bldP spid="309" grpId="0" animBg="1"/>
      <p:bldP spid="323" grpId="0"/>
      <p:bldP spid="591" grpId="0" animBg="1"/>
      <p:bldP spid="599" grpId="0"/>
      <p:bldP spid="605" grpId="0"/>
      <p:bldP spid="618" grpId="0"/>
      <p:bldP spid="628" grpId="0" animBg="1"/>
      <p:bldP spid="630" grpId="0" animBg="1"/>
      <p:bldP spid="654" grpId="0" animBg="1"/>
      <p:bldP spid="660" grpId="0" animBg="1"/>
      <p:bldP spid="666" grpId="0" animBg="1"/>
      <p:bldP spid="684" grpId="0" animBg="1"/>
      <p:bldP spid="700" grpId="0" animBg="1"/>
      <p:bldP spid="877" grpId="0" animBg="1"/>
      <p:bldP spid="879" grpId="0" animBg="1"/>
      <p:bldP spid="881" grpId="0" animBg="1"/>
      <p:bldP spid="883" grpId="0" animBg="1"/>
      <p:bldP spid="885" grpId="0" animBg="1"/>
      <p:bldP spid="887" grpId="0" animBg="1"/>
      <p:bldP spid="889" grpId="0" animBg="1"/>
      <p:bldP spid="891" grpId="0" animBg="1"/>
      <p:bldP spid="907" grpId="0" animBg="1"/>
      <p:bldP spid="929" grpId="0" animBg="1"/>
      <p:bldP spid="1025" grpId="0" animBg="1"/>
      <p:bldP spid="1034" grpId="0" animBg="1"/>
      <p:bldP spid="1054" grpId="0" animBg="1"/>
      <p:bldP spid="1057" grpId="0" animBg="1"/>
      <p:bldP spid="1060" grpId="0" animBg="1"/>
      <p:bldP spid="164" grpId="0"/>
      <p:bldP spid="154" grpId="0"/>
      <p:bldP spid="155" grpId="0"/>
      <p:bldP spid="157" grpId="0" animBg="1"/>
      <p:bldP spid="117" grpId="0" animBg="1"/>
      <p:bldP spid="245" grpId="0" animBg="1"/>
      <p:bldP spid="246" grpId="0" animBg="1"/>
      <p:bldP spid="138" grpId="0"/>
      <p:bldP spid="275" grpId="0"/>
      <p:bldP spid="276" grpId="0"/>
      <p:bldP spid="149" grpId="0" animBg="1"/>
      <p:bldP spid="303" grpId="0" animBg="1"/>
      <p:bldP spid="314" grpId="0" animBg="1"/>
      <p:bldP spid="19" grpId="0" animBg="1"/>
      <p:bldP spid="22" grpId="0" animBg="1"/>
      <p:bldP spid="45" grpId="0" animBg="1"/>
      <p:bldP spid="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B6231-F05C-3E63-F122-9B14A58AC4B3}"/>
              </a:ext>
            </a:extLst>
          </p:cNvPr>
          <p:cNvSpPr/>
          <p:nvPr/>
        </p:nvSpPr>
        <p:spPr>
          <a:xfrm>
            <a:off x="960120" y="1328797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65F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CFC5F-0C40-A867-D3F9-08F9249818D9}"/>
              </a:ext>
            </a:extLst>
          </p:cNvPr>
          <p:cNvSpPr/>
          <p:nvPr/>
        </p:nvSpPr>
        <p:spPr>
          <a:xfrm>
            <a:off x="960120" y="3733800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E0CF6-2361-E8BD-AAED-218D113AF58D}"/>
              </a:ext>
            </a:extLst>
          </p:cNvPr>
          <p:cNvSpPr txBox="1"/>
          <p:nvPr/>
        </p:nvSpPr>
        <p:spPr>
          <a:xfrm>
            <a:off x="1508760" y="1471791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1.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92D60-0FC5-3945-0653-B3F8286CFCCC}"/>
              </a:ext>
            </a:extLst>
          </p:cNvPr>
          <p:cNvSpPr txBox="1"/>
          <p:nvPr/>
        </p:nvSpPr>
        <p:spPr>
          <a:xfrm>
            <a:off x="1508760" y="3876794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2.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0B3A60-9046-95E3-E9F2-2352E498D7D1}"/>
              </a:ext>
            </a:extLst>
          </p:cNvPr>
          <p:cNvSpPr/>
          <p:nvPr/>
        </p:nvSpPr>
        <p:spPr>
          <a:xfrm>
            <a:off x="4145280" y="251206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97E4C-0AEE-51EE-814C-74DD5CC6F71C}"/>
              </a:ext>
            </a:extLst>
          </p:cNvPr>
          <p:cNvSpPr txBox="1"/>
          <p:nvPr/>
        </p:nvSpPr>
        <p:spPr>
          <a:xfrm>
            <a:off x="4160520" y="2542194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2.1 </a:t>
            </a:r>
            <a:r>
              <a:rPr lang="fr-MA" dirty="0" err="1">
                <a:solidFill>
                  <a:srgbClr val="FF3300"/>
                </a:solidFill>
              </a:rPr>
              <a:t>Initialize</a:t>
            </a:r>
            <a:r>
              <a:rPr lang="fr-MA" dirty="0">
                <a:solidFill>
                  <a:srgbClr val="FF3300"/>
                </a:solidFill>
              </a:rPr>
              <a:t> the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9EAF4-9DF4-FC27-6636-9A96C479E439}"/>
              </a:ext>
            </a:extLst>
          </p:cNvPr>
          <p:cNvSpPr/>
          <p:nvPr/>
        </p:nvSpPr>
        <p:spPr>
          <a:xfrm>
            <a:off x="7597140" y="2484120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FD4E3-6E4E-BF72-A35A-7E30B4C79C72}"/>
              </a:ext>
            </a:extLst>
          </p:cNvPr>
          <p:cNvSpPr txBox="1"/>
          <p:nvPr/>
        </p:nvSpPr>
        <p:spPr>
          <a:xfrm>
            <a:off x="7741920" y="2498050"/>
            <a:ext cx="193548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2.2.1 </a:t>
            </a:r>
            <a:r>
              <a:rPr lang="fr-MA" dirty="0" err="1">
                <a:solidFill>
                  <a:schemeClr val="bg1"/>
                </a:solidFill>
              </a:rPr>
              <a:t>Predict</a:t>
            </a:r>
            <a:endParaRPr lang="fr-MA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B326B-9620-C058-9979-95738E95BAAB}"/>
              </a:ext>
            </a:extLst>
          </p:cNvPr>
          <p:cNvSpPr/>
          <p:nvPr/>
        </p:nvSpPr>
        <p:spPr>
          <a:xfrm>
            <a:off x="4145280" y="3050680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C64D0-89AF-28CC-517E-5333B5B26862}"/>
              </a:ext>
            </a:extLst>
          </p:cNvPr>
          <p:cNvSpPr/>
          <p:nvPr/>
        </p:nvSpPr>
        <p:spPr>
          <a:xfrm>
            <a:off x="4145280" y="412635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5827E-F447-3856-8185-BC242882B1DA}"/>
              </a:ext>
            </a:extLst>
          </p:cNvPr>
          <p:cNvSpPr txBox="1"/>
          <p:nvPr/>
        </p:nvSpPr>
        <p:spPr>
          <a:xfrm>
            <a:off x="4175760" y="3097768"/>
            <a:ext cx="254898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2.2 Train the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9BC81-2FBA-4D6E-2FCF-03A0D9CEFB1D}"/>
              </a:ext>
            </a:extLst>
          </p:cNvPr>
          <p:cNvSpPr txBox="1"/>
          <p:nvPr/>
        </p:nvSpPr>
        <p:spPr>
          <a:xfrm>
            <a:off x="4160520" y="4137660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2.4 </a:t>
            </a:r>
            <a:r>
              <a:rPr lang="fr-MA" dirty="0" err="1">
                <a:solidFill>
                  <a:srgbClr val="0070C0"/>
                </a:solidFill>
              </a:rPr>
              <a:t>Evaluate</a:t>
            </a:r>
            <a:r>
              <a:rPr lang="fr-MA" dirty="0">
                <a:solidFill>
                  <a:srgbClr val="0070C0"/>
                </a:solidFill>
              </a:rPr>
              <a:t> the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F96A0-C8A1-3AC0-008D-C9416F69E929}"/>
              </a:ext>
            </a:extLst>
          </p:cNvPr>
          <p:cNvSpPr/>
          <p:nvPr/>
        </p:nvSpPr>
        <p:spPr>
          <a:xfrm>
            <a:off x="7597140" y="3037046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4A8600-2DBF-F94A-424C-94F5CB863A2D}"/>
              </a:ext>
            </a:extLst>
          </p:cNvPr>
          <p:cNvSpPr/>
          <p:nvPr/>
        </p:nvSpPr>
        <p:spPr>
          <a:xfrm>
            <a:off x="7597140" y="3589972"/>
            <a:ext cx="2849880" cy="369332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5AA1A9-B1D8-205E-E09D-8C679C243E49}"/>
              </a:ext>
            </a:extLst>
          </p:cNvPr>
          <p:cNvSpPr txBox="1"/>
          <p:nvPr/>
        </p:nvSpPr>
        <p:spPr>
          <a:xfrm>
            <a:off x="7726680" y="3084790"/>
            <a:ext cx="242316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2.2.2  </a:t>
            </a:r>
            <a:r>
              <a:rPr lang="fr-MA" dirty="0" err="1">
                <a:solidFill>
                  <a:schemeClr val="bg1"/>
                </a:solidFill>
              </a:rPr>
              <a:t>calculate</a:t>
            </a:r>
            <a:r>
              <a:rPr lang="fr-MA" dirty="0">
                <a:solidFill>
                  <a:schemeClr val="bg1"/>
                </a:solidFill>
              </a:rPr>
              <a:t> MSE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94A7F-5FF7-C685-176C-E879C614AC77}"/>
              </a:ext>
            </a:extLst>
          </p:cNvPr>
          <p:cNvSpPr txBox="1"/>
          <p:nvPr/>
        </p:nvSpPr>
        <p:spPr>
          <a:xfrm>
            <a:off x="7711440" y="3606522"/>
            <a:ext cx="264414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2.2.3 Update </a:t>
            </a:r>
            <a:r>
              <a:rPr lang="fr-MA" dirty="0" err="1">
                <a:solidFill>
                  <a:schemeClr val="bg1"/>
                </a:solidFill>
              </a:rPr>
              <a:t>parameters</a:t>
            </a:r>
            <a:endParaRPr lang="fr-MA" dirty="0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5A1AB4-4B75-EB4F-87E0-3E7A5025E6E1}"/>
              </a:ext>
            </a:extLst>
          </p:cNvPr>
          <p:cNvCxnSpPr/>
          <p:nvPr/>
        </p:nvCxnSpPr>
        <p:spPr>
          <a:xfrm>
            <a:off x="2004060" y="1996916"/>
            <a:ext cx="0" cy="1764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A2F0220-D565-6D05-1DF0-554DE4B5284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3048000" y="2726860"/>
            <a:ext cx="1112520" cy="1334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0D4EBE4-546E-716B-35A4-0C7905058A85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3048000" y="4061460"/>
            <a:ext cx="1112520" cy="260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59844F-D35F-22CD-AB74-5D1B521B7F49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6888480" y="2700120"/>
            <a:ext cx="708660" cy="568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39E0668-D4EB-7560-47B0-58C1F16C60D9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6888480" y="3268981"/>
            <a:ext cx="708660" cy="505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D6B378-55F6-4B27-FA37-EBC55901CA57}"/>
              </a:ext>
            </a:extLst>
          </p:cNvPr>
          <p:cNvCxnSpPr/>
          <p:nvPr/>
        </p:nvCxnSpPr>
        <p:spPr>
          <a:xfrm>
            <a:off x="6880860" y="3268286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F9EF4F-A4B6-661D-22B3-A1F6F6E967A6}"/>
              </a:ext>
            </a:extLst>
          </p:cNvPr>
          <p:cNvSpPr/>
          <p:nvPr/>
        </p:nvSpPr>
        <p:spPr>
          <a:xfrm>
            <a:off x="4175760" y="4649987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C83042-2253-DBBB-9359-D0A3911BD204}"/>
              </a:ext>
            </a:extLst>
          </p:cNvPr>
          <p:cNvSpPr txBox="1"/>
          <p:nvPr/>
        </p:nvSpPr>
        <p:spPr>
          <a:xfrm>
            <a:off x="4191000" y="4661296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2.5 Use the model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B295C93-E65B-427D-B28A-02E0371F031A}"/>
              </a:ext>
            </a:extLst>
          </p:cNvPr>
          <p:cNvCxnSpPr>
            <a:cxnSpLocks/>
            <a:stCxn id="3" idx="3"/>
            <a:endCxn id="49" idx="1"/>
          </p:cNvCxnSpPr>
          <p:nvPr/>
        </p:nvCxnSpPr>
        <p:spPr>
          <a:xfrm>
            <a:off x="3048000" y="4061460"/>
            <a:ext cx="1127760" cy="8068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1C25264-0FCD-D47E-F228-6C11F9BE8B53}"/>
              </a:ext>
            </a:extLst>
          </p:cNvPr>
          <p:cNvSpPr/>
          <p:nvPr/>
        </p:nvSpPr>
        <p:spPr>
          <a:xfrm>
            <a:off x="4130040" y="840364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B9678E-C4D1-40F1-299F-770943AB1FD2}"/>
              </a:ext>
            </a:extLst>
          </p:cNvPr>
          <p:cNvSpPr txBox="1"/>
          <p:nvPr/>
        </p:nvSpPr>
        <p:spPr>
          <a:xfrm>
            <a:off x="4145280" y="869811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1.1 </a:t>
            </a:r>
            <a:r>
              <a:rPr lang="fr-MA" dirty="0" err="1">
                <a:solidFill>
                  <a:srgbClr val="FF3300"/>
                </a:solidFill>
              </a:rPr>
              <a:t>Prepare</a:t>
            </a:r>
            <a:r>
              <a:rPr lang="fr-MA" dirty="0">
                <a:solidFill>
                  <a:srgbClr val="FF3300"/>
                </a:solidFill>
              </a:rPr>
              <a:t> 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8EE6E4-7A97-B9BB-3313-14E95D76A390}"/>
              </a:ext>
            </a:extLst>
          </p:cNvPr>
          <p:cNvSpPr/>
          <p:nvPr/>
        </p:nvSpPr>
        <p:spPr>
          <a:xfrm>
            <a:off x="4130040" y="1875412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0B769C-9B79-8807-182C-32B57F2FE729}"/>
              </a:ext>
            </a:extLst>
          </p:cNvPr>
          <p:cNvSpPr txBox="1"/>
          <p:nvPr/>
        </p:nvSpPr>
        <p:spPr>
          <a:xfrm>
            <a:off x="4145280" y="1904859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1.3 Split Data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6F5BC54-111E-9DBA-DC02-3F72675119D0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 flipV="1">
            <a:off x="3048000" y="1054477"/>
            <a:ext cx="1097280" cy="601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966F7FA-2720-6078-6DB8-0B2772DEC167}"/>
              </a:ext>
            </a:extLst>
          </p:cNvPr>
          <p:cNvCxnSpPr>
            <a:cxnSpLocks/>
            <a:stCxn id="2" idx="3"/>
            <a:endCxn id="58" idx="1"/>
          </p:cNvCxnSpPr>
          <p:nvPr/>
        </p:nvCxnSpPr>
        <p:spPr>
          <a:xfrm>
            <a:off x="3048000" y="1656457"/>
            <a:ext cx="1082040" cy="4372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FB11F1A-DD07-1C5E-A168-F342C4A49892}"/>
              </a:ext>
            </a:extLst>
          </p:cNvPr>
          <p:cNvSpPr/>
          <p:nvPr/>
        </p:nvSpPr>
        <p:spPr>
          <a:xfrm>
            <a:off x="4130040" y="1356978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F2DC7E-B1DA-4832-00F6-895581854A46}"/>
              </a:ext>
            </a:extLst>
          </p:cNvPr>
          <p:cNvSpPr txBox="1"/>
          <p:nvPr/>
        </p:nvSpPr>
        <p:spPr>
          <a:xfrm>
            <a:off x="4145280" y="1386425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1.2 </a:t>
            </a:r>
            <a:r>
              <a:rPr lang="fr-MA" dirty="0" err="1">
                <a:solidFill>
                  <a:srgbClr val="0070C0"/>
                </a:solidFill>
              </a:rPr>
              <a:t>Visualize</a:t>
            </a:r>
            <a:r>
              <a:rPr lang="fr-MA" dirty="0">
                <a:solidFill>
                  <a:srgbClr val="0070C0"/>
                </a:solidFill>
              </a:rPr>
              <a:t> Data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779116-C488-56E5-5C46-728DD43A1FF3}"/>
              </a:ext>
            </a:extLst>
          </p:cNvPr>
          <p:cNvSpPr/>
          <p:nvPr/>
        </p:nvSpPr>
        <p:spPr>
          <a:xfrm>
            <a:off x="4160520" y="3624739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16DB19-88C3-45AC-CD3C-9C5E1C507B9F}"/>
              </a:ext>
            </a:extLst>
          </p:cNvPr>
          <p:cNvSpPr txBox="1"/>
          <p:nvPr/>
        </p:nvSpPr>
        <p:spPr>
          <a:xfrm>
            <a:off x="4175760" y="3636048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2.3 </a:t>
            </a:r>
            <a:r>
              <a:rPr lang="fr-MA" dirty="0" err="1">
                <a:solidFill>
                  <a:srgbClr val="0070C0"/>
                </a:solidFill>
              </a:rPr>
              <a:t>Get</a:t>
            </a:r>
            <a:r>
              <a:rPr lang="fr-MA" dirty="0">
                <a:solidFill>
                  <a:srgbClr val="0070C0"/>
                </a:solidFill>
              </a:rPr>
              <a:t> </a:t>
            </a:r>
            <a:r>
              <a:rPr lang="fr-MA" dirty="0" err="1">
                <a:solidFill>
                  <a:srgbClr val="0070C0"/>
                </a:solidFill>
              </a:rPr>
              <a:t>detail</a:t>
            </a:r>
            <a:r>
              <a:rPr lang="fr-MA" dirty="0">
                <a:solidFill>
                  <a:srgbClr val="0070C0"/>
                </a:solidFill>
              </a:rPr>
              <a:t> model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D0591FA-46A6-FC99-425F-57822936D211}"/>
              </a:ext>
            </a:extLst>
          </p:cNvPr>
          <p:cNvCxnSpPr>
            <a:cxnSpLocks/>
            <a:stCxn id="3" idx="3"/>
            <a:endCxn id="72" idx="1"/>
          </p:cNvCxnSpPr>
          <p:nvPr/>
        </p:nvCxnSpPr>
        <p:spPr>
          <a:xfrm flipV="1">
            <a:off x="3048000" y="3820714"/>
            <a:ext cx="1127760" cy="240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C5EA075-6955-EAE1-D9DC-851E83B648F7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048000" y="3282434"/>
            <a:ext cx="1127760" cy="779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D850CEA6-8E76-F5D5-302F-19CCE862BE56}"/>
              </a:ext>
            </a:extLst>
          </p:cNvPr>
          <p:cNvCxnSpPr>
            <a:cxnSpLocks/>
            <a:stCxn id="2" idx="3"/>
            <a:endCxn id="69" idx="1"/>
          </p:cNvCxnSpPr>
          <p:nvPr/>
        </p:nvCxnSpPr>
        <p:spPr>
          <a:xfrm flipV="1">
            <a:off x="3048000" y="1571091"/>
            <a:ext cx="1097280" cy="85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9A9DDC-1DE2-3C90-262D-AC5D66AFFF20}"/>
              </a:ext>
            </a:extLst>
          </p:cNvPr>
          <p:cNvSpPr txBox="1"/>
          <p:nvPr/>
        </p:nvSpPr>
        <p:spPr>
          <a:xfrm>
            <a:off x="0" y="0"/>
            <a:ext cx="493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Machine Learning</a:t>
            </a:r>
          </a:p>
          <a:p>
            <a:r>
              <a: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Les éléments + étapes</a:t>
            </a:r>
          </a:p>
        </p:txBody>
      </p:sp>
    </p:spTree>
    <p:extLst>
      <p:ext uri="{BB962C8B-B14F-4D97-AF65-F5344CB8AC3E}">
        <p14:creationId xmlns:p14="http://schemas.microsoft.com/office/powerpoint/2010/main" val="314669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5BEB1B5-C423-48DF-95C8-35069864C62F}"/>
              </a:ext>
            </a:extLst>
          </p:cNvPr>
          <p:cNvGraphicFramePr>
            <a:graphicFrameLocks noGrp="1"/>
          </p:cNvGraphicFramePr>
          <p:nvPr/>
        </p:nvGraphicFramePr>
        <p:xfrm>
          <a:off x="8122763" y="2333267"/>
          <a:ext cx="3378673" cy="975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1851">
                  <a:extLst>
                    <a:ext uri="{9D8B030D-6E8A-4147-A177-3AD203B41FA5}">
                      <a16:colId xmlns:a16="http://schemas.microsoft.com/office/drawing/2014/main" val="1306348277"/>
                    </a:ext>
                  </a:extLst>
                </a:gridCol>
                <a:gridCol w="731066">
                  <a:extLst>
                    <a:ext uri="{9D8B030D-6E8A-4147-A177-3AD203B41FA5}">
                      <a16:colId xmlns:a16="http://schemas.microsoft.com/office/drawing/2014/main" val="2782538342"/>
                    </a:ext>
                  </a:extLst>
                </a:gridCol>
                <a:gridCol w="926017">
                  <a:extLst>
                    <a:ext uri="{9D8B030D-6E8A-4147-A177-3AD203B41FA5}">
                      <a16:colId xmlns:a16="http://schemas.microsoft.com/office/drawing/2014/main" val="3958114394"/>
                    </a:ext>
                  </a:extLst>
                </a:gridCol>
                <a:gridCol w="1039739">
                  <a:extLst>
                    <a:ext uri="{9D8B030D-6E8A-4147-A177-3AD203B41FA5}">
                      <a16:colId xmlns:a16="http://schemas.microsoft.com/office/drawing/2014/main" val="2901135065"/>
                    </a:ext>
                  </a:extLst>
                </a:gridCol>
              </a:tblGrid>
              <a:tr h="279047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effectLst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effectLst/>
                        </a:rPr>
                        <a:t>Radio</a:t>
                      </a:r>
                      <a:endParaRPr lang="fr-M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effectLst/>
                        </a:rPr>
                        <a:t>Newspaper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Sales</a:t>
                      </a:r>
                      <a:r>
                        <a:rPr lang="fr-MA" sz="1400" u="none" strike="noStrike" dirty="0">
                          <a:effectLst/>
                        </a:rPr>
                        <a:t> (</a:t>
                      </a:r>
                      <a:r>
                        <a:rPr lang="fr-MA" sz="1400" u="none" strike="noStrike" dirty="0" err="1">
                          <a:effectLst/>
                        </a:rPr>
                        <a:t>target</a:t>
                      </a:r>
                      <a:r>
                        <a:rPr lang="fr-MA" sz="1400" u="none" strike="noStrike" dirty="0">
                          <a:effectLst/>
                        </a:rPr>
                        <a:t>)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559387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66.1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24.2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54033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214.7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24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238813"/>
                  </a:ext>
                </a:extLst>
              </a:tr>
              <a:tr h="232060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65.9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fr-MA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61241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C2FBEC9-64A9-4B7F-B234-64C73492EA68}"/>
              </a:ext>
            </a:extLst>
          </p:cNvPr>
          <p:cNvSpPr txBox="1"/>
          <p:nvPr/>
        </p:nvSpPr>
        <p:spPr>
          <a:xfrm>
            <a:off x="186169" y="515842"/>
            <a:ext cx="1032942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Une société souhaite analyser le chiffre réalisé (</a:t>
            </a:r>
            <a:r>
              <a:rPr lang="fr-MA" sz="1600" b="1" dirty="0">
                <a:solidFill>
                  <a:srgbClr val="FF0000"/>
                </a:solidFill>
              </a:rPr>
              <a:t>Sales</a:t>
            </a:r>
            <a:r>
              <a:rPr lang="fr-MA" sz="1600" dirty="0"/>
              <a:t>) en fonction du budget alloué à la publicité (frais)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La publicité se fait en utilisant différents plateformes média (</a:t>
            </a:r>
            <a:r>
              <a:rPr lang="fr-MA" sz="1600" dirty="0">
                <a:solidFill>
                  <a:srgbClr val="0070C0"/>
                </a:solidFill>
              </a:rPr>
              <a:t>TV, Radio, </a:t>
            </a:r>
            <a:r>
              <a:rPr lang="fr-MA" sz="1600" dirty="0" err="1">
                <a:solidFill>
                  <a:srgbClr val="0070C0"/>
                </a:solidFill>
              </a:rPr>
              <a:t>newspaper</a:t>
            </a:r>
            <a:r>
              <a:rPr lang="fr-MA" sz="1600" dirty="0"/>
              <a:t>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b="1" dirty="0"/>
              <a:t>Objectif:</a:t>
            </a:r>
            <a:r>
              <a:rPr lang="fr-MA" sz="1600" dirty="0"/>
              <a:t> prédire le total des ventes (sales) selon les frais de publicité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34720-8687-45A5-B229-BB3EC18815A8}"/>
              </a:ext>
            </a:extLst>
          </p:cNvPr>
          <p:cNvSpPr txBox="1"/>
          <p:nvPr/>
        </p:nvSpPr>
        <p:spPr>
          <a:xfrm>
            <a:off x="149016" y="4584123"/>
            <a:ext cx="3765759" cy="11387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(</a:t>
            </a:r>
            <a:r>
              <a:rPr lang="fr-MA" sz="1600" b="1" dirty="0" err="1">
                <a:solidFill>
                  <a:srgbClr val="0070C0"/>
                </a:solidFill>
                <a:latin typeface="Helvetica Neue"/>
              </a:rPr>
              <a:t>X</a:t>
            </a:r>
            <a:r>
              <a:rPr lang="fr-MA" sz="1600" b="1" baseline="-25000" dirty="0" err="1">
                <a:solidFill>
                  <a:srgbClr val="0070C0"/>
                </a:solidFill>
                <a:latin typeface="Helvetica Neue"/>
              </a:rPr>
              <a:t>i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,</a:t>
            </a:r>
            <a:r>
              <a:rPr lang="fr-MA" sz="1600" b="1" dirty="0" err="1">
                <a:solidFill>
                  <a:srgbClr val="FF3300"/>
                </a:solidFill>
                <a:latin typeface="Helvetica Neue"/>
              </a:rPr>
              <a:t>y</a:t>
            </a:r>
            <a:r>
              <a:rPr lang="fr-MA" sz="1600" b="1" baseline="-25000" dirty="0" err="1">
                <a:solidFill>
                  <a:srgbClr val="FF3300"/>
                </a:solidFill>
                <a:latin typeface="Helvetica Neue"/>
              </a:rPr>
              <a:t>i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): un exemple d’apprentissage</a:t>
            </a:r>
          </a:p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features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: Tv, Radio, 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newsPaper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 (X)</a:t>
            </a:r>
          </a:p>
          <a:p>
            <a:pPr marL="0" lvl="1" indent="-1440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target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/>
              </a:rPr>
              <a:t>: sales 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A3BF6-3DA6-4058-925A-69FF776973B7}"/>
              </a:ext>
            </a:extLst>
          </p:cNvPr>
          <p:cNvSpPr txBox="1"/>
          <p:nvPr/>
        </p:nvSpPr>
        <p:spPr>
          <a:xfrm>
            <a:off x="0" y="40856"/>
            <a:ext cx="3168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Exemple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75EF9-4086-4A15-B992-A98FBBA55278}"/>
              </a:ext>
            </a:extLst>
          </p:cNvPr>
          <p:cNvSpPr txBox="1"/>
          <p:nvPr/>
        </p:nvSpPr>
        <p:spPr>
          <a:xfrm>
            <a:off x="149016" y="1785921"/>
            <a:ext cx="282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5A8A9-D387-4AC2-9A46-AC7B578CC203}"/>
              </a:ext>
            </a:extLst>
          </p:cNvPr>
          <p:cNvSpPr txBox="1"/>
          <p:nvPr/>
        </p:nvSpPr>
        <p:spPr>
          <a:xfrm>
            <a:off x="8122763" y="1868946"/>
            <a:ext cx="337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Sales à prédire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E41EC-256A-4BD7-9024-0DA83C81F325}"/>
              </a:ext>
            </a:extLst>
          </p:cNvPr>
          <p:cNvSpPr txBox="1"/>
          <p:nvPr/>
        </p:nvSpPr>
        <p:spPr>
          <a:xfrm>
            <a:off x="4912995" y="3485981"/>
            <a:ext cx="717232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Dans le </a:t>
            </a:r>
            <a:r>
              <a:rPr lang="fr-MA" sz="1600" dirty="0" err="1"/>
              <a:t>Dataset</a:t>
            </a:r>
            <a:r>
              <a:rPr lang="fr-MA" sz="1600" dirty="0"/>
              <a:t> chaque exemple d’apprentissage est accompagné par une </a:t>
            </a:r>
            <a:r>
              <a:rPr lang="fr-MA" sz="1600" dirty="0" err="1"/>
              <a:t>target</a:t>
            </a:r>
            <a:r>
              <a:rPr lang="fr-MA" sz="1600" dirty="0"/>
              <a:t>:  </a:t>
            </a:r>
            <a:r>
              <a:rPr lang="fr-MA" sz="1600" dirty="0" err="1">
                <a:solidFill>
                  <a:srgbClr val="0070C0"/>
                </a:solidFill>
              </a:rPr>
              <a:t>Supervised</a:t>
            </a:r>
            <a:r>
              <a:rPr lang="fr-MA" sz="1600" dirty="0">
                <a:solidFill>
                  <a:srgbClr val="0070C0"/>
                </a:solidFill>
              </a:rPr>
              <a:t> Learning</a:t>
            </a:r>
            <a:r>
              <a:rPr lang="fr-MA" sz="1600" dirty="0"/>
              <a:t> (Apprentissage supervisé)</a:t>
            </a:r>
          </a:p>
          <a:p>
            <a:pPr indent="-1800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sz="1600" dirty="0"/>
              <a:t>Objectif: Prédire une valeur continue</a:t>
            </a:r>
            <a:br>
              <a:rPr lang="fr-MA" sz="1600" dirty="0"/>
            </a:br>
            <a:r>
              <a:rPr lang="fr-MA" sz="1600" dirty="0">
                <a:solidFill>
                  <a:srgbClr val="0070C0"/>
                </a:solidFill>
              </a:rPr>
              <a:t>problème de régression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56CE8-4D83-4E82-B65A-0ACFEB547A31}"/>
              </a:ext>
            </a:extLst>
          </p:cNvPr>
          <p:cNvSpPr txBox="1"/>
          <p:nvPr/>
        </p:nvSpPr>
        <p:spPr>
          <a:xfrm>
            <a:off x="3914775" y="2155253"/>
            <a:ext cx="301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X1=[230.1,37.8,69.2]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4A411-CA6E-450E-A0A0-ABD4A1F82F7E}"/>
              </a:ext>
            </a:extLst>
          </p:cNvPr>
          <p:cNvSpPr txBox="1"/>
          <p:nvPr/>
        </p:nvSpPr>
        <p:spPr>
          <a:xfrm>
            <a:off x="3914774" y="2517544"/>
            <a:ext cx="3019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y1=22.1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6E75E-2490-4DEC-87D5-9E3B0744B3B4}"/>
              </a:ext>
            </a:extLst>
          </p:cNvPr>
          <p:cNvSpPr txBox="1"/>
          <p:nvPr/>
        </p:nvSpPr>
        <p:spPr>
          <a:xfrm>
            <a:off x="-24062" y="6461243"/>
            <a:ext cx="61200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>
                <a:solidFill>
                  <a:srgbClr val="00B0F0"/>
                </a:solidFill>
              </a:rPr>
              <a:t>https://www.kaggle.com/ashydv/advertising-dataset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ECC03-5723-412D-8FB8-9BC0CBBC7B72}"/>
              </a:ext>
            </a:extLst>
          </p:cNvPr>
          <p:cNvSpPr txBox="1"/>
          <p:nvPr/>
        </p:nvSpPr>
        <p:spPr>
          <a:xfrm>
            <a:off x="4912994" y="5419888"/>
            <a:ext cx="63493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6565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Clr>
                <a:srgbClr val="FF3300"/>
              </a:buClr>
            </a:pPr>
            <a:r>
              <a:rPr lang="fr-FR" sz="1600" b="1" dirty="0" err="1">
                <a:solidFill>
                  <a:srgbClr val="FF0000"/>
                </a:solidFill>
                <a:latin typeface="Helvetica Neue"/>
              </a:rPr>
              <a:t>Sales_predicted</a:t>
            </a:r>
            <a:r>
              <a:rPr lang="fr-FR" sz="1600" b="1" dirty="0">
                <a:solidFill>
                  <a:srgbClr val="FF0000"/>
                </a:solidFill>
                <a:latin typeface="Helvetica Neue"/>
              </a:rPr>
              <a:t> </a:t>
            </a:r>
            <a:r>
              <a:rPr lang="fr-FR" sz="1600" b="1" dirty="0">
                <a:latin typeface="Helvetica Neue"/>
              </a:rPr>
              <a:t>= 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bias+w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1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X1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+W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2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X2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+ W</a:t>
            </a:r>
            <a:r>
              <a:rPr lang="fr-FR" sz="1600" b="1" baseline="-25000" dirty="0">
                <a:solidFill>
                  <a:srgbClr val="0000FF"/>
                </a:solidFill>
                <a:latin typeface="Helvetica Neue"/>
              </a:rPr>
              <a:t>3</a:t>
            </a:r>
            <a:r>
              <a:rPr lang="fr-FR" sz="1600" b="1" dirty="0">
                <a:solidFill>
                  <a:srgbClr val="0000FF"/>
                </a:solidFill>
                <a:latin typeface="Helvetica Neue"/>
              </a:rPr>
              <a:t>*</a:t>
            </a:r>
            <a:r>
              <a:rPr lang="fr-FR" sz="1600" b="1" dirty="0">
                <a:solidFill>
                  <a:srgbClr val="0070C0"/>
                </a:solidFill>
                <a:latin typeface="Helvetica Neue"/>
              </a:rPr>
              <a:t>X3</a:t>
            </a:r>
            <a:endParaRPr lang="fr-FR" sz="1600" baseline="-25000" dirty="0">
              <a:solidFill>
                <a:srgbClr val="0070C0"/>
              </a:solidFill>
              <a:latin typeface="Helvetica Neue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55F45D-8F61-747A-5817-A9D57EAD3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3412"/>
              </p:ext>
            </p:extLst>
          </p:nvPr>
        </p:nvGraphicFramePr>
        <p:xfrm>
          <a:off x="149017" y="2166446"/>
          <a:ext cx="2045544" cy="228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7931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68049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53149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496415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TV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Radio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 err="1">
                          <a:solidFill>
                            <a:srgbClr val="0070C0"/>
                          </a:solidFill>
                          <a:effectLst/>
                        </a:rPr>
                        <a:t>Np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CA</a:t>
                      </a:r>
                      <a:endParaRPr lang="fr-MA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230.1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69.2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22,1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44.5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39.3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45.1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10,4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17.2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45.9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69.3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9,3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151.5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41.3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58.5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18,5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412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180.8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10.8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58.4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12,9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7785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8.7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48.9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75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7,2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311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57.5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32.8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23.5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11,8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824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120.2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19.6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13,2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721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8.6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>
                          <a:solidFill>
                            <a:srgbClr val="0070C0"/>
                          </a:solidFill>
                          <a:effectLst/>
                        </a:rPr>
                        <a:t>2.1</a:t>
                      </a:r>
                      <a:endParaRPr lang="fr-MA" sz="13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4,8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199.8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2.6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21.2</a:t>
                      </a:r>
                      <a:endParaRPr lang="fr-MA" sz="13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10,6</a:t>
                      </a:r>
                      <a:endParaRPr lang="fr-MA" sz="13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49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67B2BE-9262-2C8B-9161-D41267B5B1D8}"/>
              </a:ext>
            </a:extLst>
          </p:cNvPr>
          <p:cNvSpPr txBox="1"/>
          <p:nvPr/>
        </p:nvSpPr>
        <p:spPr>
          <a:xfrm>
            <a:off x="152400" y="1793855"/>
            <a:ext cx="5486400" cy="923330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from</a:t>
            </a:r>
            <a:r>
              <a:rPr lang="fr-MA" b="1" dirty="0"/>
              <a:t> </a:t>
            </a:r>
            <a:r>
              <a:rPr lang="fr-MA" b="1" dirty="0" err="1"/>
              <a:t>sklearn.preprocessing</a:t>
            </a:r>
            <a:r>
              <a:rPr lang="fr-MA" b="1" dirty="0"/>
              <a:t> import </a:t>
            </a:r>
            <a:r>
              <a:rPr lang="fr-MA" b="1" dirty="0" err="1"/>
              <a:t>StandardScaler</a:t>
            </a:r>
            <a:endParaRPr lang="fr-MA" b="1" dirty="0"/>
          </a:p>
          <a:p>
            <a:r>
              <a:rPr lang="fr-MA" b="1" dirty="0" err="1"/>
              <a:t>scaler</a:t>
            </a:r>
            <a:r>
              <a:rPr lang="fr-MA" b="1" dirty="0"/>
              <a:t>= </a:t>
            </a:r>
            <a:r>
              <a:rPr lang="fr-MA" b="1" dirty="0" err="1"/>
              <a:t>StandardScaler</a:t>
            </a:r>
            <a:r>
              <a:rPr lang="fr-MA" b="1" dirty="0"/>
              <a:t>()</a:t>
            </a:r>
          </a:p>
          <a:p>
            <a:r>
              <a:rPr lang="fr-MA" b="1" dirty="0" err="1"/>
              <a:t>X_st</a:t>
            </a:r>
            <a:r>
              <a:rPr lang="fr-MA" b="1" dirty="0"/>
              <a:t> = </a:t>
            </a:r>
            <a:r>
              <a:rPr lang="fr-MA" b="1" dirty="0" err="1"/>
              <a:t>scaler.fit_transform</a:t>
            </a:r>
            <a:r>
              <a:rPr lang="fr-MA" b="1" dirty="0"/>
              <a:t>(X)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0107D-61FA-7674-C424-DD24E88BD0A5}"/>
              </a:ext>
            </a:extLst>
          </p:cNvPr>
          <p:cNvSpPr txBox="1"/>
          <p:nvPr/>
        </p:nvSpPr>
        <p:spPr>
          <a:xfrm>
            <a:off x="0" y="396240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/>
              <a:t>Si les valeurs de X sont grandes, afin d’éviter des mises à jours des poids très grandes, il faut standardiser les données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01CE4-B65E-7EF2-2EFD-237854694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02" y="1496080"/>
            <a:ext cx="2502661" cy="1221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189BF3-23E7-75BE-F140-516D17CC670B}"/>
              </a:ext>
            </a:extLst>
          </p:cNvPr>
          <p:cNvSpPr txBox="1"/>
          <p:nvPr/>
        </p:nvSpPr>
        <p:spPr>
          <a:xfrm>
            <a:off x="7040880" y="2717185"/>
            <a:ext cx="4008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</a:rPr>
              <a:t>z: variable standardisée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  <a:ea typeface="Cambria Math" panose="02040503050406030204" pitchFamily="18" charset="0"/>
              </a:rPr>
              <a:t>μ: Moyenne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l-GR" sz="2000" dirty="0">
                <a:latin typeface="+mj-lt"/>
                <a:ea typeface="Cambria Math" panose="02040503050406030204" pitchFamily="18" charset="0"/>
              </a:rPr>
              <a:t>σ</a:t>
            </a:r>
            <a:r>
              <a:rPr lang="fr-MA" sz="2000" dirty="0">
                <a:latin typeface="+mj-lt"/>
                <a:ea typeface="Cambria Math" panose="02040503050406030204" pitchFamily="18" charset="0"/>
              </a:rPr>
              <a:t>: Déviation standard</a:t>
            </a:r>
            <a:endParaRPr lang="fr-MA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49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5013959" y="356741"/>
            <a:ext cx="7012353" cy="6140142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fit(X1,X2,X3,y):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88107-3593-ED16-D75C-45C0AC76C7A8}"/>
              </a:ext>
            </a:extLst>
          </p:cNvPr>
          <p:cNvSpPr txBox="1"/>
          <p:nvPr/>
        </p:nvSpPr>
        <p:spPr>
          <a:xfrm>
            <a:off x="45719" y="714465"/>
            <a:ext cx="4724401" cy="3970318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C00000"/>
                </a:solidFill>
              </a:rPr>
              <a:t>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  </a:t>
            </a:r>
            <a:r>
              <a:rPr lang="fr-MA" b="1" dirty="0"/>
              <a:t>for k in range(</a:t>
            </a:r>
            <a:r>
              <a:rPr lang="fr-MA" b="1" dirty="0">
                <a:solidFill>
                  <a:srgbClr val="FF0000"/>
                </a:solidFill>
              </a:rPr>
              <a:t>1000</a:t>
            </a:r>
            <a:r>
              <a:rPr lang="fr-MA" b="1" dirty="0"/>
              <a:t>):</a:t>
            </a:r>
          </a:p>
          <a:p>
            <a:r>
              <a:rPr lang="fr-MA" dirty="0"/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=bias+w1*X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</a:p>
          <a:p>
            <a:r>
              <a:rPr lang="fr-MA" b="1" dirty="0">
                <a:solidFill>
                  <a:srgbClr val="FF00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</a:t>
            </a:r>
            <a:r>
              <a:rPr lang="fr-MA" b="1" dirty="0">
                <a:solidFill>
                  <a:srgbClr val="FF0000"/>
                </a:solidFill>
              </a:rPr>
              <a:t>bias</a:t>
            </a:r>
            <a:r>
              <a:rPr lang="fr-MA" dirty="0"/>
              <a:t>,w1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5DAA8-1ABB-BAAC-5B44-CAF5145AC4F0}"/>
              </a:ext>
            </a:extLst>
          </p:cNvPr>
          <p:cNvSpPr txBox="1"/>
          <p:nvPr/>
        </p:nvSpPr>
        <p:spPr>
          <a:xfrm>
            <a:off x="2301239" y="2316480"/>
            <a:ext cx="243904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DF35F-3110-6B8C-5F28-677DD1F11CCD}"/>
              </a:ext>
            </a:extLst>
          </p:cNvPr>
          <p:cNvSpPr txBox="1"/>
          <p:nvPr/>
        </p:nvSpPr>
        <p:spPr>
          <a:xfrm>
            <a:off x="2300591" y="2873307"/>
            <a:ext cx="243904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E8D38-F31C-B730-7F17-4E8123890603}"/>
              </a:ext>
            </a:extLst>
          </p:cNvPr>
          <p:cNvSpPr txBox="1"/>
          <p:nvPr/>
        </p:nvSpPr>
        <p:spPr>
          <a:xfrm>
            <a:off x="2300591" y="1676400"/>
            <a:ext cx="243904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8747761" y="140386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8747762" y="234996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8747761" y="291986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6153A-3E74-1B5F-02DE-A64FDFB4CB7D}"/>
              </a:ext>
            </a:extLst>
          </p:cNvPr>
          <p:cNvSpPr txBox="1"/>
          <p:nvPr/>
        </p:nvSpPr>
        <p:spPr>
          <a:xfrm>
            <a:off x="45719" y="198120"/>
            <a:ext cx="4937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</a:t>
            </a:r>
            <a:r>
              <a:rPr lang="fr-MA" sz="2000" b="1" dirty="0">
                <a:solidFill>
                  <a:srgbClr val="7030A0"/>
                </a:solidFill>
              </a:rPr>
              <a:t>w1</a:t>
            </a:r>
            <a:r>
              <a:rPr lang="fr-MA" sz="2000" b="1" dirty="0">
                <a:solidFill>
                  <a:srgbClr val="0066FF"/>
                </a:solidFill>
              </a:rPr>
              <a:t>*X1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A8FDA-120A-B4E3-F909-C08DC8C6E723}"/>
              </a:ext>
            </a:extLst>
          </p:cNvPr>
          <p:cNvSpPr txBox="1"/>
          <p:nvPr/>
        </p:nvSpPr>
        <p:spPr>
          <a:xfrm>
            <a:off x="5013959" y="-3900"/>
            <a:ext cx="6294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bias+w1*X1 +</a:t>
            </a:r>
            <a:r>
              <a:rPr lang="fr-MA" sz="2000" b="1" dirty="0">
                <a:solidFill>
                  <a:srgbClr val="7030A0"/>
                </a:solidFill>
              </a:rPr>
              <a:t>w2</a:t>
            </a:r>
            <a:r>
              <a:rPr lang="fr-MA" sz="2000" b="1" dirty="0">
                <a:solidFill>
                  <a:srgbClr val="0066FF"/>
                </a:solidFill>
              </a:rPr>
              <a:t>*X2 +</a:t>
            </a:r>
            <a:r>
              <a:rPr lang="fr-MA" sz="2000" b="1" dirty="0">
                <a:solidFill>
                  <a:srgbClr val="7030A0"/>
                </a:solidFill>
              </a:rPr>
              <a:t>w3</a:t>
            </a:r>
            <a:r>
              <a:rPr lang="fr-MA" sz="2000" b="1" dirty="0">
                <a:solidFill>
                  <a:srgbClr val="0066FF"/>
                </a:solidFill>
              </a:rPr>
              <a:t>*X3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8C4154-874D-E28B-36E4-02EC6710ABB7}"/>
              </a:ext>
            </a:extLst>
          </p:cNvPr>
          <p:cNvSpPr txBox="1"/>
          <p:nvPr/>
        </p:nvSpPr>
        <p:spPr>
          <a:xfrm>
            <a:off x="9037319" y="3779520"/>
            <a:ext cx="286707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X1, X2 et X3 doivent être standardisés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33768-74F7-961D-2373-4EE76318E3EA}"/>
              </a:ext>
            </a:extLst>
          </p:cNvPr>
          <p:cNvSpPr txBox="1"/>
          <p:nvPr/>
        </p:nvSpPr>
        <p:spPr>
          <a:xfrm>
            <a:off x="7374858" y="4987720"/>
            <a:ext cx="481714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(X1,X2,X3):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bias+w1*X1+w2*X2+w3*X3</a:t>
            </a:r>
          </a:p>
          <a:p>
            <a:pPr>
              <a:spcAft>
                <a:spcPts val="1200"/>
              </a:spcAft>
            </a:pPr>
            <a:r>
              <a:rPr lang="fr-MA" sz="1400" b="1" dirty="0">
                <a:solidFill>
                  <a:srgbClr val="00B050"/>
                </a:solidFill>
              </a:rPr>
              <a:t>#penser à la remise à l’échelle si X1,X2,X3 sont standardisées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73E76-035E-F64C-4C6E-8C20AC4FB9BE}"/>
              </a:ext>
            </a:extLst>
          </p:cNvPr>
          <p:cNvSpPr txBox="1"/>
          <p:nvPr/>
        </p:nvSpPr>
        <p:spPr>
          <a:xfrm>
            <a:off x="302848" y="4596824"/>
            <a:ext cx="408562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bias+w1*X1</a:t>
            </a:r>
          </a:p>
          <a:p>
            <a:pPr>
              <a:spcAft>
                <a:spcPts val="1200"/>
              </a:spcAft>
            </a:pPr>
            <a:r>
              <a:rPr lang="fr-MA" sz="1400" b="1" dirty="0">
                <a:solidFill>
                  <a:srgbClr val="00B050"/>
                </a:solidFill>
              </a:rPr>
              <a:t>#penser à la remise à l’échelle si X1 est standardisées</a:t>
            </a:r>
          </a:p>
        </p:txBody>
      </p:sp>
    </p:spTree>
    <p:extLst>
      <p:ext uri="{BB962C8B-B14F-4D97-AF65-F5344CB8AC3E}">
        <p14:creationId xmlns:p14="http://schemas.microsoft.com/office/powerpoint/2010/main" val="304619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137160" y="624810"/>
            <a:ext cx="7012353" cy="6140142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b="1" dirty="0">
                <a:solidFill>
                  <a:srgbClr val="00B0F0"/>
                </a:solidFill>
              </a:rPr>
              <a:t>    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3855721" y="141910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3855722" y="257856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3855721" y="314846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A8FDA-120A-B4E3-F909-C08DC8C6E723}"/>
              </a:ext>
            </a:extLst>
          </p:cNvPr>
          <p:cNvSpPr txBox="1"/>
          <p:nvPr/>
        </p:nvSpPr>
        <p:spPr>
          <a:xfrm>
            <a:off x="121918" y="-3900"/>
            <a:ext cx="8671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r>
              <a:rPr lang="fr-MA" sz="2000" b="1" dirty="0">
                <a:solidFill>
                  <a:srgbClr val="0066FF"/>
                </a:solidFill>
              </a:rPr>
              <a:t> bias+w1*X1 +</a:t>
            </a:r>
            <a:r>
              <a:rPr lang="fr-MA" sz="2000" b="1" dirty="0">
                <a:solidFill>
                  <a:srgbClr val="7030A0"/>
                </a:solidFill>
              </a:rPr>
              <a:t>w2</a:t>
            </a:r>
            <a:r>
              <a:rPr lang="fr-MA" sz="2000" b="1" dirty="0">
                <a:solidFill>
                  <a:srgbClr val="0066FF"/>
                </a:solidFill>
              </a:rPr>
              <a:t>*X2 +</a:t>
            </a:r>
            <a:r>
              <a:rPr lang="fr-MA" sz="2000" b="1" dirty="0">
                <a:solidFill>
                  <a:srgbClr val="7030A0"/>
                </a:solidFill>
              </a:rPr>
              <a:t>w3</a:t>
            </a:r>
            <a:r>
              <a:rPr lang="fr-MA" sz="2000" b="1" dirty="0">
                <a:solidFill>
                  <a:srgbClr val="0066FF"/>
                </a:solidFill>
              </a:rPr>
              <a:t>*X3+… +</a:t>
            </a:r>
            <a:r>
              <a:rPr lang="fr-MA" sz="2000" b="1" dirty="0" err="1">
                <a:solidFill>
                  <a:srgbClr val="7030A0"/>
                </a:solidFill>
              </a:rPr>
              <a:t>wm</a:t>
            </a:r>
            <a:r>
              <a:rPr lang="fr-MA" sz="2000" b="1" dirty="0">
                <a:solidFill>
                  <a:srgbClr val="0066FF"/>
                </a:solidFill>
              </a:rPr>
              <a:t>*</a:t>
            </a:r>
            <a:r>
              <a:rPr lang="fr-MA" sz="2000" b="1" dirty="0" err="1">
                <a:solidFill>
                  <a:srgbClr val="0066FF"/>
                </a:solidFill>
              </a:rPr>
              <a:t>Xm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3DF1DA-CCFA-0859-07F3-500E183FBBDF}"/>
              </a:ext>
            </a:extLst>
          </p:cNvPr>
          <p:cNvSpPr/>
          <p:nvPr/>
        </p:nvSpPr>
        <p:spPr>
          <a:xfrm>
            <a:off x="440983" y="3940107"/>
            <a:ext cx="3574758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5CABE3-014E-87B8-C001-4CB01E96A3F0}"/>
              </a:ext>
            </a:extLst>
          </p:cNvPr>
          <p:cNvSpPr/>
          <p:nvPr/>
        </p:nvSpPr>
        <p:spPr>
          <a:xfrm>
            <a:off x="486703" y="5464107"/>
            <a:ext cx="3456000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1B89CC-859B-9DDB-9AB1-B594904B0058}"/>
              </a:ext>
            </a:extLst>
          </p:cNvPr>
          <p:cNvSpPr txBox="1"/>
          <p:nvPr/>
        </p:nvSpPr>
        <p:spPr>
          <a:xfrm>
            <a:off x="3855721" y="4232924"/>
            <a:ext cx="329379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=-(2/n)*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  <a:endParaRPr lang="fr-M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B61ECE-C5C9-4E1C-575A-D9DE199C4D2C}"/>
              </a:ext>
            </a:extLst>
          </p:cNvPr>
          <p:cNvSpPr txBox="1"/>
          <p:nvPr/>
        </p:nvSpPr>
        <p:spPr>
          <a:xfrm>
            <a:off x="2948941" y="5873727"/>
            <a:ext cx="181356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7030A0"/>
                </a:solidFill>
              </a:rPr>
              <a:t>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4B8820-E94C-9BA8-A8D2-9DC3470DDCCB}"/>
              </a:ext>
            </a:extLst>
          </p:cNvPr>
          <p:cNvSpPr/>
          <p:nvPr/>
        </p:nvSpPr>
        <p:spPr>
          <a:xfrm>
            <a:off x="392101" y="1530863"/>
            <a:ext cx="1356272" cy="8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24B348-9A2E-6B95-E473-BEA2CC88990E}"/>
              </a:ext>
            </a:extLst>
          </p:cNvPr>
          <p:cNvSpPr txBox="1"/>
          <p:nvPr/>
        </p:nvSpPr>
        <p:spPr>
          <a:xfrm>
            <a:off x="1204891" y="1484755"/>
            <a:ext cx="223298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([0,0,0])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EF8757-D4DA-5EF5-FE8A-1E1AA05D2DC9}"/>
              </a:ext>
            </a:extLst>
          </p:cNvPr>
          <p:cNvSpPr/>
          <p:nvPr/>
        </p:nvSpPr>
        <p:spPr>
          <a:xfrm>
            <a:off x="559741" y="2788461"/>
            <a:ext cx="3456000" cy="36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85659B-D27D-3578-254E-AFD9944920F8}"/>
              </a:ext>
            </a:extLst>
          </p:cNvPr>
          <p:cNvSpPr txBox="1"/>
          <p:nvPr/>
        </p:nvSpPr>
        <p:spPr>
          <a:xfrm>
            <a:off x="1085849" y="3072309"/>
            <a:ext cx="241205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1132E3-2A86-61E9-93CE-65DFD8661325}"/>
              </a:ext>
            </a:extLst>
          </p:cNvPr>
          <p:cNvSpPr txBox="1"/>
          <p:nvPr/>
        </p:nvSpPr>
        <p:spPr>
          <a:xfrm>
            <a:off x="3238500" y="499884"/>
            <a:ext cx="3764280" cy="923330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bg1"/>
                </a:solidFill>
              </a:rPr>
              <a:t>X a m </a:t>
            </a:r>
            <a:r>
              <a:rPr lang="fr-MA" b="1" dirty="0" err="1">
                <a:solidFill>
                  <a:schemeClr val="bg1"/>
                </a:solidFill>
              </a:rPr>
              <a:t>features</a:t>
            </a:r>
            <a:endParaRPr lang="fr-MA" b="1" dirty="0">
              <a:solidFill>
                <a:schemeClr val="bg1"/>
              </a:solidFill>
            </a:endParaRPr>
          </a:p>
          <a:p>
            <a:r>
              <a:rPr lang="fr-MA" b="1" dirty="0">
                <a:solidFill>
                  <a:schemeClr val="bg1"/>
                </a:solidFill>
              </a:rPr>
              <a:t>Et si on veut que fit soit capable de traiter m </a:t>
            </a:r>
            <a:r>
              <a:rPr lang="fr-MA" b="1" dirty="0" err="1">
                <a:solidFill>
                  <a:schemeClr val="bg1"/>
                </a:solidFill>
              </a:rPr>
              <a:t>features</a:t>
            </a:r>
            <a:r>
              <a:rPr lang="fr-MA" b="1" dirty="0">
                <a:solidFill>
                  <a:schemeClr val="bg1"/>
                </a:solidFill>
              </a:rPr>
              <a:t>!!!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875F48-63DB-D80B-E395-DA45794BE6A4}"/>
              </a:ext>
            </a:extLst>
          </p:cNvPr>
          <p:cNvSpPr txBox="1"/>
          <p:nvPr/>
        </p:nvSpPr>
        <p:spPr>
          <a:xfrm>
            <a:off x="1204891" y="1922860"/>
            <a:ext cx="3504223" cy="369332"/>
          </a:xfrm>
          <a:prstGeom prst="rect">
            <a:avLst/>
          </a:prstGeom>
          <a:solidFill>
            <a:srgbClr val="FFEFE7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8614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5" grpId="0" animBg="1"/>
      <p:bldP spid="37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106680" y="290125"/>
            <a:ext cx="6294120" cy="4524315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>
                <a:solidFill>
                  <a:srgbClr val="92D050"/>
                </a:solidFill>
              </a:rPr>
              <a:t>#W=np.array([0,0,0])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</a:p>
          <a:p>
            <a:r>
              <a:rPr lang="fr-MA" b="1" dirty="0">
                <a:solidFill>
                  <a:srgbClr val="C00000"/>
                </a:solidFill>
              </a:rPr>
              <a:t>     </a:t>
            </a:r>
            <a:r>
              <a:rPr lang="fr-MA" b="1" dirty="0">
                <a:solidFill>
                  <a:srgbClr val="00B050"/>
                </a:solidFill>
              </a:rPr>
              <a:t># </a:t>
            </a:r>
            <a:r>
              <a:rPr lang="fr-MA" b="1" dirty="0" err="1">
                <a:solidFill>
                  <a:srgbClr val="00B050"/>
                </a:solidFill>
              </a:rPr>
              <a:t>X.shape</a:t>
            </a:r>
            <a:r>
              <a:rPr lang="fr-MA" b="1" dirty="0">
                <a:solidFill>
                  <a:srgbClr val="00B050"/>
                </a:solidFill>
              </a:rPr>
              <a:t>[1] est le nombre d’attributs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=bias+np.dot(X,W)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FF3300"/>
                </a:solidFill>
              </a:rPr>
              <a:t>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dirty="0"/>
              <a:t>        </a:t>
            </a:r>
          </a:p>
          <a:p>
            <a:r>
              <a:rPr lang="fr-MA" dirty="0"/>
              <a:t>    return </a:t>
            </a:r>
            <a:r>
              <a:rPr lang="fr-MA" dirty="0" err="1"/>
              <a:t>bias,W</a:t>
            </a:r>
            <a:endParaRPr lang="fr-M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D7E62-EF0F-548E-6711-0270D78C6682}"/>
              </a:ext>
            </a:extLst>
          </p:cNvPr>
          <p:cNvSpPr txBox="1"/>
          <p:nvPr/>
        </p:nvSpPr>
        <p:spPr>
          <a:xfrm>
            <a:off x="3977640" y="1347943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91C53-5363-0696-C5A8-724A11B66B3B}"/>
              </a:ext>
            </a:extLst>
          </p:cNvPr>
          <p:cNvSpPr txBox="1"/>
          <p:nvPr/>
        </p:nvSpPr>
        <p:spPr>
          <a:xfrm>
            <a:off x="3810000" y="2441979"/>
            <a:ext cx="254507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1E94-52FC-334F-B2AB-3229C175F157}"/>
              </a:ext>
            </a:extLst>
          </p:cNvPr>
          <p:cNvSpPr txBox="1"/>
          <p:nvPr/>
        </p:nvSpPr>
        <p:spPr>
          <a:xfrm>
            <a:off x="3810000" y="3049697"/>
            <a:ext cx="256032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21CCA-D317-8564-196A-6014FF7E09D0}"/>
              </a:ext>
            </a:extLst>
          </p:cNvPr>
          <p:cNvSpPr txBox="1"/>
          <p:nvPr/>
        </p:nvSpPr>
        <p:spPr>
          <a:xfrm>
            <a:off x="7970520" y="246496"/>
            <a:ext cx="2758440" cy="800219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return bias+np.dot(X,W)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B3A3C-E73A-5AB5-994D-D33C31E1CBEF}"/>
              </a:ext>
            </a:extLst>
          </p:cNvPr>
          <p:cNvSpPr txBox="1"/>
          <p:nvPr/>
        </p:nvSpPr>
        <p:spPr>
          <a:xfrm>
            <a:off x="8107679" y="1463040"/>
            <a:ext cx="384048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Si X1, X2 et X3 ont été standardisés,</a:t>
            </a:r>
            <a:br>
              <a:rPr lang="fr-MA" b="1" dirty="0"/>
            </a:br>
            <a:r>
              <a:rPr lang="fr-MA" b="1" dirty="0"/>
              <a:t> il faut les rendre à leurs échelles</a:t>
            </a:r>
          </a:p>
        </p:txBody>
      </p:sp>
    </p:spTree>
    <p:extLst>
      <p:ext uri="{BB962C8B-B14F-4D97-AF65-F5344CB8AC3E}">
        <p14:creationId xmlns:p14="http://schemas.microsoft.com/office/powerpoint/2010/main" val="7277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ECAB72-D615-DDF4-3697-1CF891D5E5C4}"/>
              </a:ext>
            </a:extLst>
          </p:cNvPr>
          <p:cNvSpPr/>
          <p:nvPr/>
        </p:nvSpPr>
        <p:spPr>
          <a:xfrm>
            <a:off x="5780973" y="2089989"/>
            <a:ext cx="2232000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453AE4-C70F-ED0C-DBAA-E28B44199A66}"/>
              </a:ext>
            </a:extLst>
          </p:cNvPr>
          <p:cNvSpPr/>
          <p:nvPr/>
        </p:nvSpPr>
        <p:spPr>
          <a:xfrm>
            <a:off x="6653960" y="2831745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0B6A9F-E7CC-2E29-386B-D6FEC7AFE71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11651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81CE95-65F7-F5AD-96FE-9C0C4D18C46C}"/>
              </a:ext>
            </a:extLst>
          </p:cNvPr>
          <p:cNvSpPr txBox="1"/>
          <p:nvPr/>
        </p:nvSpPr>
        <p:spPr>
          <a:xfrm>
            <a:off x="588204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855F4B-9BC8-6E91-B8DE-29D8A80D94CE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988287" y="3210959"/>
            <a:ext cx="665673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7D40C0-7418-C51F-4858-D8BAFA625C02}"/>
              </a:ext>
            </a:extLst>
          </p:cNvPr>
          <p:cNvSpPr txBox="1"/>
          <p:nvPr/>
        </p:nvSpPr>
        <p:spPr>
          <a:xfrm>
            <a:off x="575930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B61B4-8F53-0E10-8BD5-9F57A53CAB4C}"/>
              </a:ext>
            </a:extLst>
          </p:cNvPr>
          <p:cNvSpPr txBox="1"/>
          <p:nvPr/>
        </p:nvSpPr>
        <p:spPr>
          <a:xfrm>
            <a:off x="619721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01C16-BF16-FBC5-ED32-968D742790BF}"/>
              </a:ext>
            </a:extLst>
          </p:cNvPr>
          <p:cNvSpPr txBox="1"/>
          <p:nvPr/>
        </p:nvSpPr>
        <p:spPr>
          <a:xfrm>
            <a:off x="616791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1BB15D-BEFB-5459-6689-C86CC08DA279}"/>
              </a:ext>
            </a:extLst>
          </p:cNvPr>
          <p:cNvCxnSpPr>
            <a:cxnSpLocks/>
          </p:cNvCxnSpPr>
          <p:nvPr/>
        </p:nvCxnSpPr>
        <p:spPr>
          <a:xfrm>
            <a:off x="7517953" y="3247981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746DA5-2C8B-A17C-273A-E4F54488AB24}"/>
              </a:ext>
            </a:extLst>
          </p:cNvPr>
          <p:cNvSpPr txBox="1"/>
          <p:nvPr/>
        </p:nvSpPr>
        <p:spPr>
          <a:xfrm>
            <a:off x="769481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8878E-A80E-E72E-8019-51A71ED08A40}"/>
              </a:ext>
            </a:extLst>
          </p:cNvPr>
          <p:cNvSpPr txBox="1"/>
          <p:nvPr/>
        </p:nvSpPr>
        <p:spPr>
          <a:xfrm>
            <a:off x="769633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4BB0DE-B4E8-9B72-2324-974B8A4349FA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7085957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6040B7-1509-BD7E-CB7D-B16B3C64D18F}"/>
              </a:ext>
            </a:extLst>
          </p:cNvPr>
          <p:cNvSpPr txBox="1"/>
          <p:nvPr/>
        </p:nvSpPr>
        <p:spPr>
          <a:xfrm>
            <a:off x="6676393" y="3026293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8E9D2-D8E8-B89C-524B-B9698EED66E0}"/>
              </a:ext>
            </a:extLst>
          </p:cNvPr>
          <p:cNvSpPr txBox="1"/>
          <p:nvPr/>
        </p:nvSpPr>
        <p:spPr>
          <a:xfrm>
            <a:off x="7038621" y="3041310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883999-00A1-640A-0B27-616B897AA92C}"/>
              </a:ext>
            </a:extLst>
          </p:cNvPr>
          <p:cNvSpPr txBox="1"/>
          <p:nvPr/>
        </p:nvSpPr>
        <p:spPr>
          <a:xfrm>
            <a:off x="650458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AB14E7-EB6A-2A38-B20B-E7A31B5EDC52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6632445" y="2535113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/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176E66-E3A8-DC99-EDD0-615961723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12" y="3944225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2222" r="-3378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6DBBBD0-8C78-27A7-3B6B-05715DB98744}"/>
              </a:ext>
            </a:extLst>
          </p:cNvPr>
          <p:cNvSpPr txBox="1"/>
          <p:nvPr/>
        </p:nvSpPr>
        <p:spPr>
          <a:xfrm>
            <a:off x="5780293" y="1400963"/>
            <a:ext cx="2288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endParaRPr lang="fr-MA" sz="2000" b="1" dirty="0">
              <a:solidFill>
                <a:srgbClr val="0065FA"/>
              </a:solidFill>
            </a:endParaRPr>
          </a:p>
          <a:p>
            <a:pPr algn="ctr"/>
            <a:r>
              <a:rPr lang="fr-MA" sz="2000" b="1" dirty="0" err="1"/>
              <a:t>Linear</a:t>
            </a:r>
            <a:r>
              <a:rPr lang="fr-MA" sz="2000" b="1" dirty="0"/>
              <a:t> </a:t>
            </a:r>
            <a:r>
              <a:rPr lang="fr-MA" sz="2000" b="1" dirty="0" err="1"/>
              <a:t>Regression</a:t>
            </a:r>
            <a:endParaRPr lang="fr-MA" sz="20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13E8BA-4CCB-248A-8A0B-4E731F2031F5}"/>
              </a:ext>
            </a:extLst>
          </p:cNvPr>
          <p:cNvSpPr/>
          <p:nvPr/>
        </p:nvSpPr>
        <p:spPr>
          <a:xfrm>
            <a:off x="151572" y="2089989"/>
            <a:ext cx="4867402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AC1BF27-19E5-393F-54C7-D1CB3AA9F2A2}"/>
              </a:ext>
            </a:extLst>
          </p:cNvPr>
          <p:cNvSpPr/>
          <p:nvPr/>
        </p:nvSpPr>
        <p:spPr>
          <a:xfrm>
            <a:off x="1411399" y="2831745"/>
            <a:ext cx="3072021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AA1D84-8B11-7FE8-8FF4-99C84EDACC69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73952" y="2782093"/>
            <a:ext cx="553177" cy="4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522638F-1028-8052-2DE4-9B19961A2342}"/>
              </a:ext>
            </a:extLst>
          </p:cNvPr>
          <p:cNvSpPr txBox="1"/>
          <p:nvPr/>
        </p:nvSpPr>
        <p:spPr>
          <a:xfrm>
            <a:off x="639481" y="241276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38B489-6FA0-A600-B25D-A6AC19DF8FD7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745727" y="3210959"/>
            <a:ext cx="665672" cy="42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DE05653-BB09-CB90-99A4-8203FF790094}"/>
              </a:ext>
            </a:extLst>
          </p:cNvPr>
          <p:cNvSpPr txBox="1"/>
          <p:nvPr/>
        </p:nvSpPr>
        <p:spPr>
          <a:xfrm>
            <a:off x="516742" y="3279451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53426E-C050-2F15-0A9D-E8150510EF5B}"/>
              </a:ext>
            </a:extLst>
          </p:cNvPr>
          <p:cNvSpPr txBox="1"/>
          <p:nvPr/>
        </p:nvSpPr>
        <p:spPr>
          <a:xfrm>
            <a:off x="954652" y="2623384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C93E6F-7302-E74A-9FC4-DD42DF9330FD}"/>
              </a:ext>
            </a:extLst>
          </p:cNvPr>
          <p:cNvSpPr txBox="1"/>
          <p:nvPr/>
        </p:nvSpPr>
        <p:spPr>
          <a:xfrm>
            <a:off x="925354" y="339981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BB5A43-B802-7515-9564-6D861EBD8850}"/>
              </a:ext>
            </a:extLst>
          </p:cNvPr>
          <p:cNvCxnSpPr>
            <a:cxnSpLocks/>
          </p:cNvCxnSpPr>
          <p:nvPr/>
        </p:nvCxnSpPr>
        <p:spPr>
          <a:xfrm>
            <a:off x="4499150" y="3234206"/>
            <a:ext cx="495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0FA8B88-2DF9-9798-FAAE-42B9DB44180A}"/>
              </a:ext>
            </a:extLst>
          </p:cNvPr>
          <p:cNvSpPr txBox="1"/>
          <p:nvPr/>
        </p:nvSpPr>
        <p:spPr>
          <a:xfrm>
            <a:off x="4601099" y="2745868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7DA058-8023-14C9-1663-3C27C8CA6098}"/>
              </a:ext>
            </a:extLst>
          </p:cNvPr>
          <p:cNvSpPr txBox="1"/>
          <p:nvPr/>
        </p:nvSpPr>
        <p:spPr>
          <a:xfrm>
            <a:off x="4602619" y="2850433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F3E8AC-C4F1-B72F-FAA8-B3B14955084A}"/>
              </a:ext>
            </a:extLst>
          </p:cNvPr>
          <p:cNvCxnSpPr>
            <a:cxnSpLocks/>
          </p:cNvCxnSpPr>
          <p:nvPr/>
        </p:nvCxnSpPr>
        <p:spPr>
          <a:xfrm>
            <a:off x="2922541" y="2831745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4ED9949-DBBD-CBC6-E4B9-C3FF7864CDEB}"/>
              </a:ext>
            </a:extLst>
          </p:cNvPr>
          <p:cNvSpPr txBox="1"/>
          <p:nvPr/>
        </p:nvSpPr>
        <p:spPr>
          <a:xfrm>
            <a:off x="1496694" y="3024210"/>
            <a:ext cx="16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Weighted</a:t>
            </a:r>
            <a:r>
              <a:rPr lang="fr-MA" sz="1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MA" sz="1600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endParaRPr lang="fr-MA" sz="1600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D6CD4F-1906-23FF-BEA4-EE9EF1BDB44C}"/>
              </a:ext>
            </a:extLst>
          </p:cNvPr>
          <p:cNvSpPr txBox="1"/>
          <p:nvPr/>
        </p:nvSpPr>
        <p:spPr>
          <a:xfrm>
            <a:off x="3092540" y="3041310"/>
            <a:ext cx="116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622FE9-D11D-0A5F-57C2-C704A57C1D98}"/>
              </a:ext>
            </a:extLst>
          </p:cNvPr>
          <p:cNvSpPr txBox="1"/>
          <p:nvPr/>
        </p:nvSpPr>
        <p:spPr>
          <a:xfrm>
            <a:off x="1262026" y="218047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591679-C057-8F1C-0062-BD3305726D8E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389885" y="2535113"/>
            <a:ext cx="21514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/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MA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CE06EB1-58B9-049B-193E-15B9F3EBE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3" y="4418424"/>
                <a:ext cx="4669250" cy="276999"/>
              </a:xfrm>
              <a:prstGeom prst="rect">
                <a:avLst/>
              </a:prstGeom>
              <a:blipFill>
                <a:blip r:embed="rId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350A9D9E-E184-ED88-788C-3FD2AA9A2BAE}"/>
              </a:ext>
            </a:extLst>
          </p:cNvPr>
          <p:cNvSpPr txBox="1"/>
          <p:nvPr/>
        </p:nvSpPr>
        <p:spPr>
          <a:xfrm>
            <a:off x="382994" y="4821386"/>
            <a:ext cx="4448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une fonction d’activation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6FF"/>
                </a:solidFill>
              </a:rPr>
              <a:t>Identity or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endParaRPr lang="fr-MA" b="1" dirty="0">
              <a:solidFill>
                <a:srgbClr val="0066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Sigmoid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Tanh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Relu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FF3300"/>
                </a:solidFill>
              </a:rPr>
              <a:t>Leaky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ReLU</a:t>
            </a:r>
            <a:endParaRPr lang="fr-MA" dirty="0">
              <a:solidFill>
                <a:srgbClr val="FF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…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D5ED4D-0700-0869-340F-6AF60DAA5F54}"/>
              </a:ext>
            </a:extLst>
          </p:cNvPr>
          <p:cNvSpPr txBox="1"/>
          <p:nvPr/>
        </p:nvSpPr>
        <p:spPr>
          <a:xfrm>
            <a:off x="4148498" y="5733080"/>
            <a:ext cx="496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Le choix de la fonction d’activation dépend de…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533E04-57C0-33A6-0119-7A83EFC6FA64}"/>
              </a:ext>
            </a:extLst>
          </p:cNvPr>
          <p:cNvSpPr txBox="1"/>
          <p:nvPr/>
        </p:nvSpPr>
        <p:spPr>
          <a:xfrm>
            <a:off x="151572" y="167640"/>
            <a:ext cx="1085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Réutiliser le même code source pour créer un réseau de neurone (un seule neurone)</a:t>
            </a:r>
          </a:p>
        </p:txBody>
      </p:sp>
    </p:spTree>
    <p:extLst>
      <p:ext uri="{BB962C8B-B14F-4D97-AF65-F5344CB8AC3E}">
        <p14:creationId xmlns:p14="http://schemas.microsoft.com/office/powerpoint/2010/main" val="356806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F2FC4-2F15-FE98-96F0-67B34315D99A}"/>
              </a:ext>
            </a:extLst>
          </p:cNvPr>
          <p:cNvSpPr txBox="1"/>
          <p:nvPr/>
        </p:nvSpPr>
        <p:spPr>
          <a:xfrm>
            <a:off x="106680" y="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/>
              <a:t>Code source</a:t>
            </a:r>
          </a:p>
        </p:txBody>
      </p:sp>
    </p:spTree>
    <p:extLst>
      <p:ext uri="{BB962C8B-B14F-4D97-AF65-F5344CB8AC3E}">
        <p14:creationId xmlns:p14="http://schemas.microsoft.com/office/powerpoint/2010/main" val="295077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19432-6D7A-6458-0F56-54932674670C}"/>
              </a:ext>
            </a:extLst>
          </p:cNvPr>
          <p:cNvSpPr/>
          <p:nvPr/>
        </p:nvSpPr>
        <p:spPr>
          <a:xfrm>
            <a:off x="76966" y="776764"/>
            <a:ext cx="2632488" cy="22307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6F7389-91A6-1F63-649A-244DE620FA4F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14A84F-8A9C-3D52-E24A-D44D0891D10C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44CC9E-23FE-9C35-BBBC-71454E4358CB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F2ABA-6541-0411-2474-839A94C0FF44}"/>
              </a:ext>
            </a:extLst>
          </p:cNvPr>
          <p:cNvCxnSpPr>
            <a:cxnSpLocks/>
          </p:cNvCxnSpPr>
          <p:nvPr/>
        </p:nvCxnSpPr>
        <p:spPr>
          <a:xfrm flipV="1">
            <a:off x="447584" y="1892121"/>
            <a:ext cx="902856" cy="48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797327-0BDE-3D31-8E67-51A01E3E050F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ACBB5-3318-6BDB-69E7-500DBDC89E19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7D4F-11FF-B4AE-0C25-21FC86A583B5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A576F-5E23-4870-4A43-B122B2A4E633}"/>
              </a:ext>
            </a:extLst>
          </p:cNvPr>
          <p:cNvCxnSpPr>
            <a:cxnSpLocks/>
          </p:cNvCxnSpPr>
          <p:nvPr/>
        </p:nvCxnSpPr>
        <p:spPr>
          <a:xfrm>
            <a:off x="2214433" y="1929559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234FF9-B0FF-5943-3723-91D75F3E60DE}"/>
              </a:ext>
            </a:extLst>
          </p:cNvPr>
          <p:cNvSpPr txBox="1"/>
          <p:nvPr/>
        </p:nvSpPr>
        <p:spPr>
          <a:xfrm>
            <a:off x="2391299" y="1427446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82812-00C5-B5A7-3651-D35D2294BC01}"/>
              </a:ext>
            </a:extLst>
          </p:cNvPr>
          <p:cNvSpPr txBox="1"/>
          <p:nvPr/>
        </p:nvSpPr>
        <p:spPr>
          <a:xfrm>
            <a:off x="2392819" y="1532011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D34A9D-AEB1-6D02-C695-CD649EB2FAE5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614B48-718C-C7DD-1F1B-82C236AC9335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1E2BC-9B67-A357-EC98-A5978789DD99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5604C-8D8A-57B2-C3BC-BB85BDBD0CAF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AA3B6F-46F9-4DE7-4CFB-99D45511A57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/>
              <p:nvPr/>
            </p:nvSpPr>
            <p:spPr>
              <a:xfrm>
                <a:off x="893692" y="2625803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2" y="2625803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4444" r="-3378" b="-35556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4440CF1-DF12-5091-4D40-BB4AE0D84441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8538F2-A329-9141-F107-CAE146DF75FB}"/>
              </a:ext>
            </a:extLst>
          </p:cNvPr>
          <p:cNvCxnSpPr>
            <a:cxnSpLocks/>
          </p:cNvCxnSpPr>
          <p:nvPr/>
        </p:nvCxnSpPr>
        <p:spPr>
          <a:xfrm>
            <a:off x="386405" y="1880003"/>
            <a:ext cx="942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FA81D1-1726-8EB7-A2C6-727A14488B99}"/>
              </a:ext>
            </a:extLst>
          </p:cNvPr>
          <p:cNvSpPr txBox="1"/>
          <p:nvPr/>
        </p:nvSpPr>
        <p:spPr>
          <a:xfrm>
            <a:off x="388904" y="2020580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D11BA9-4479-FE25-0BDD-F288E764FA90}"/>
              </a:ext>
            </a:extLst>
          </p:cNvPr>
          <p:cNvSpPr txBox="1"/>
          <p:nvPr/>
        </p:nvSpPr>
        <p:spPr>
          <a:xfrm>
            <a:off x="133423" y="5131485"/>
            <a:ext cx="3554657" cy="16619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(X1,X2,X3):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=bias+w1*X1+w2*X2+w3*X3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73E0F6-23A1-FD57-FBF5-B164317044E2}"/>
              </a:ext>
            </a:extLst>
          </p:cNvPr>
          <p:cNvSpPr txBox="1"/>
          <p:nvPr/>
        </p:nvSpPr>
        <p:spPr>
          <a:xfrm>
            <a:off x="104728" y="4152903"/>
            <a:ext cx="3606662" cy="8002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FF3300"/>
                </a:solidFill>
              </a:rPr>
              <a:t>     return z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5B7995-F9FC-7793-9751-7876C0A1F792}"/>
              </a:ext>
            </a:extLst>
          </p:cNvPr>
          <p:cNvSpPr txBox="1"/>
          <p:nvPr/>
        </p:nvSpPr>
        <p:spPr>
          <a:xfrm>
            <a:off x="5074919" y="432941"/>
            <a:ext cx="7012353" cy="641714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fit(X1,X2,X3,y):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w1=0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w3=0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  <a:endParaRPr lang="fr-MA" b="1" dirty="0">
              <a:solidFill>
                <a:srgbClr val="00B0F0"/>
              </a:solidFill>
            </a:endParaRP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r>
              <a:rPr lang="fr-MA" b="1" dirty="0"/>
              <a:t>        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=bias+w1*X1+w2*X2+w3*X3</a:t>
            </a:r>
            <a:endParaRPr lang="fr-MA" b="1" dirty="0"/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</a:t>
            </a:r>
            <a:r>
              <a:rPr lang="fr-MA" b="1" dirty="0" err="1">
                <a:solidFill>
                  <a:srgbClr val="0065FA"/>
                </a:solidFill>
              </a:rPr>
              <a:t>identity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r>
              <a:rPr lang="fr-MA" dirty="0"/>
              <a:t>      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dw3=-(2/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(X3*(y-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/>
              <a:t>        </a:t>
            </a:r>
          </a:p>
          <a:p>
            <a:pPr>
              <a:spcAft>
                <a:spcPts val="1200"/>
              </a:spcAft>
            </a:pPr>
            <a:r>
              <a:rPr lang="fr-MA" dirty="0"/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7030A0"/>
                </a:solidFill>
              </a:rPr>
              <a:t>        w3=w3-dw3*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r>
              <a:rPr lang="fr-MA" dirty="0"/>
              <a:t>     </a:t>
            </a:r>
          </a:p>
          <a:p>
            <a:r>
              <a:rPr lang="fr-MA" dirty="0"/>
              <a:t>    return bias,w1,w2,w3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55E564-2545-C049-34FA-EF66A22EC95D}"/>
              </a:ext>
            </a:extLst>
          </p:cNvPr>
          <p:cNvSpPr txBox="1"/>
          <p:nvPr/>
        </p:nvSpPr>
        <p:spPr>
          <a:xfrm>
            <a:off x="8808721" y="1541026"/>
            <a:ext cx="25298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FF14D9-9647-8EED-A0F3-CB8D97B270E8}"/>
              </a:ext>
            </a:extLst>
          </p:cNvPr>
          <p:cNvSpPr txBox="1"/>
          <p:nvPr/>
        </p:nvSpPr>
        <p:spPr>
          <a:xfrm>
            <a:off x="8808722" y="2715727"/>
            <a:ext cx="252983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130A12-18F1-8853-5B83-BC5E84134960}"/>
              </a:ext>
            </a:extLst>
          </p:cNvPr>
          <p:cNvSpPr txBox="1"/>
          <p:nvPr/>
        </p:nvSpPr>
        <p:spPr>
          <a:xfrm>
            <a:off x="8808721" y="3620901"/>
            <a:ext cx="252983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64516-DE4F-04AE-F901-B928D55340C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/>
              <p:nvPr/>
            </p:nvSpPr>
            <p:spPr>
              <a:xfrm>
                <a:off x="62032" y="3016344"/>
                <a:ext cx="513480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2" y="3016344"/>
                <a:ext cx="5134808" cy="246221"/>
              </a:xfrm>
              <a:prstGeom prst="rect">
                <a:avLst/>
              </a:prstGeom>
              <a:blipFill>
                <a:blip r:embed="rId3"/>
                <a:stretch>
                  <a:fillRect l="-1779" b="-3250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EB2FE42-A893-CBFE-D2D9-C6FAB2FFE041}"/>
              </a:ext>
            </a:extLst>
          </p:cNvPr>
          <p:cNvSpPr txBox="1"/>
          <p:nvPr/>
        </p:nvSpPr>
        <p:spPr>
          <a:xfrm>
            <a:off x="28528" y="333756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4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519432-6D7A-6458-0F56-54932674670C}"/>
              </a:ext>
            </a:extLst>
          </p:cNvPr>
          <p:cNvSpPr/>
          <p:nvPr/>
        </p:nvSpPr>
        <p:spPr>
          <a:xfrm>
            <a:off x="76966" y="776764"/>
            <a:ext cx="2632488" cy="283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6F7389-91A6-1F63-649A-244DE620FA4F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14A84F-8A9C-3D52-E24A-D44D0891D10C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44CC9E-23FE-9C35-BBBC-71454E4358CB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7F2ABA-6541-0411-2474-839A94C0FF44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797327-0BDE-3D31-8E67-51A01E3E050F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ACBB5-3318-6BDB-69E7-500DBDC89E19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A7D4F-11FF-B4AE-0C25-21FC86A583B5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9A576F-5E23-4870-4A43-B122B2A4E633}"/>
              </a:ext>
            </a:extLst>
          </p:cNvPr>
          <p:cNvCxnSpPr>
            <a:cxnSpLocks/>
          </p:cNvCxnSpPr>
          <p:nvPr/>
        </p:nvCxnSpPr>
        <p:spPr>
          <a:xfrm>
            <a:off x="5689153" y="1929559"/>
            <a:ext cx="495020" cy="19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234FF9-B0FF-5943-3723-91D75F3E60DE}"/>
              </a:ext>
            </a:extLst>
          </p:cNvPr>
          <p:cNvSpPr txBox="1"/>
          <p:nvPr/>
        </p:nvSpPr>
        <p:spPr>
          <a:xfrm>
            <a:off x="5866019" y="1427446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^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82812-00C5-B5A7-3651-D35D2294BC01}"/>
              </a:ext>
            </a:extLst>
          </p:cNvPr>
          <p:cNvSpPr txBox="1"/>
          <p:nvPr/>
        </p:nvSpPr>
        <p:spPr>
          <a:xfrm>
            <a:off x="5867539" y="1532011"/>
            <a:ext cx="3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D34A9D-AEB1-6D02-C695-CD649EB2FAE5}"/>
              </a:ext>
            </a:extLst>
          </p:cNvPr>
          <p:cNvCxnSpPr>
            <a:stCxn id="3" idx="0"/>
            <a:endCxn id="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614B48-718C-C7DD-1F1B-82C236AC9335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01E2BC-9B67-A357-EC98-A5978789DD99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5604C-8D8A-57B2-C3BC-BB85BDBD0CAF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AA3B6F-46F9-4DE7-4CFB-99D45511A575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/>
              <p:nvPr/>
            </p:nvSpPr>
            <p:spPr>
              <a:xfrm>
                <a:off x="893692" y="3311603"/>
                <a:ext cx="9035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F256F1-0BF5-CE3F-8343-EBF75ED9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2" y="3311603"/>
                <a:ext cx="903517" cy="276999"/>
              </a:xfrm>
              <a:prstGeom prst="rect">
                <a:avLst/>
              </a:prstGeom>
              <a:blipFill>
                <a:blip r:embed="rId2"/>
                <a:stretch>
                  <a:fillRect l="-8784" t="-2174" r="-3378" b="-3260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4440CF1-DF12-5091-4D40-BB4AE0D84441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8538F2-A329-9141-F107-CAE146DF75FB}"/>
              </a:ext>
            </a:extLst>
          </p:cNvPr>
          <p:cNvCxnSpPr>
            <a:cxnSpLocks/>
          </p:cNvCxnSpPr>
          <p:nvPr/>
        </p:nvCxnSpPr>
        <p:spPr>
          <a:xfrm>
            <a:off x="386405" y="1849523"/>
            <a:ext cx="942520" cy="3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FA81D1-1726-8EB7-A2C6-727A14488B99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73E0F6-23A1-FD57-FBF5-B164317044E2}"/>
              </a:ext>
            </a:extLst>
          </p:cNvPr>
          <p:cNvSpPr txBox="1"/>
          <p:nvPr/>
        </p:nvSpPr>
        <p:spPr>
          <a:xfrm>
            <a:off x="104728" y="4564383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 return z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64516-DE4F-04AE-F901-B928D55340C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/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2F4F41-D012-B798-F397-B837A479A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blipFill>
                <a:blip r:embed="rId3"/>
                <a:stretch>
                  <a:fillRect l="-1632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EB2FE42-A893-CBFE-D2D9-C6FAB2FFE041}"/>
              </a:ext>
            </a:extLst>
          </p:cNvPr>
          <p:cNvSpPr txBox="1"/>
          <p:nvPr/>
        </p:nvSpPr>
        <p:spPr>
          <a:xfrm>
            <a:off x="28528" y="403860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4655-467B-BD1A-7B87-A475417B44DA}"/>
              </a:ext>
            </a:extLst>
          </p:cNvPr>
          <p:cNvSpPr txBox="1"/>
          <p:nvPr/>
        </p:nvSpPr>
        <p:spPr>
          <a:xfrm>
            <a:off x="5710668" y="594876"/>
            <a:ext cx="6294120" cy="4955203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lr</a:t>
            </a:r>
            <a:r>
              <a:rPr lang="fr-MA" b="1" dirty="0">
                <a:solidFill>
                  <a:srgbClr val="FF3300"/>
                </a:solidFill>
              </a:rPr>
              <a:t>=0.001</a:t>
            </a:r>
          </a:p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>
                <a:solidFill>
                  <a:srgbClr val="92D050"/>
                </a:solidFill>
              </a:rPr>
              <a:t>#W=np.array([0,0,0])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 </a:t>
            </a:r>
          </a:p>
          <a:p>
            <a:r>
              <a:rPr lang="fr-MA" b="1" dirty="0">
                <a:solidFill>
                  <a:srgbClr val="C00000"/>
                </a:solidFill>
              </a:rPr>
              <a:t>     </a:t>
            </a:r>
            <a:r>
              <a:rPr lang="fr-MA" b="1" dirty="0">
                <a:solidFill>
                  <a:srgbClr val="00B050"/>
                </a:solidFill>
              </a:rPr>
              <a:t># </a:t>
            </a:r>
            <a:r>
              <a:rPr lang="fr-MA" b="1" dirty="0" err="1">
                <a:solidFill>
                  <a:srgbClr val="00B050"/>
                </a:solidFill>
              </a:rPr>
              <a:t>X.shape</a:t>
            </a:r>
            <a:r>
              <a:rPr lang="fr-MA" b="1" dirty="0">
                <a:solidFill>
                  <a:srgbClr val="00B050"/>
                </a:solidFill>
              </a:rPr>
              <a:t>[1] est le nombre d’attributs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</a:t>
            </a:r>
            <a:r>
              <a:rPr lang="fr-MA" b="1" dirty="0"/>
              <a:t>   for k in range(</a:t>
            </a:r>
            <a:r>
              <a:rPr lang="fr-MA" b="1" dirty="0">
                <a:solidFill>
                  <a:srgbClr val="FF0000"/>
                </a:solidFill>
              </a:rPr>
              <a:t>10000</a:t>
            </a:r>
            <a:r>
              <a:rPr lang="fr-MA" b="1" dirty="0"/>
              <a:t>):</a:t>
            </a:r>
          </a:p>
          <a:p>
            <a:pPr>
              <a:spcAft>
                <a:spcPts val="600"/>
              </a:spcAft>
            </a:pPr>
            <a:r>
              <a:rPr lang="fr-MA" dirty="0"/>
              <a:t>       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r>
              <a:rPr lang="fr-MA" b="1" dirty="0">
                <a:solidFill>
                  <a:srgbClr val="FF3300"/>
                </a:solidFill>
              </a:rPr>
              <a:t>  </a:t>
            </a:r>
          </a:p>
          <a:p>
            <a:r>
              <a:rPr lang="fr-MA" b="1" dirty="0">
                <a:solidFill>
                  <a:srgbClr val="FF3300"/>
                </a:solidFill>
              </a:rPr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dirty="0"/>
              <a:t>        </a:t>
            </a:r>
          </a:p>
          <a:p>
            <a:r>
              <a:rPr lang="fr-MA" dirty="0"/>
              <a:t>    return </a:t>
            </a:r>
            <a:r>
              <a:rPr lang="fr-MA" dirty="0" err="1"/>
              <a:t>bias,W</a:t>
            </a:r>
            <a:endParaRPr lang="fr-M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C3A0E9-8AC6-162C-D087-AE7EF7DAB735}"/>
              </a:ext>
            </a:extLst>
          </p:cNvPr>
          <p:cNvSpPr txBox="1"/>
          <p:nvPr/>
        </p:nvSpPr>
        <p:spPr>
          <a:xfrm>
            <a:off x="9581628" y="1652694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5D61C-1AFA-456F-E20A-E0BF8B2A6A96}"/>
              </a:ext>
            </a:extLst>
          </p:cNvPr>
          <p:cNvSpPr txBox="1"/>
          <p:nvPr/>
        </p:nvSpPr>
        <p:spPr>
          <a:xfrm>
            <a:off x="9413988" y="3051530"/>
            <a:ext cx="2545079" cy="369332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Predict</a:t>
            </a:r>
            <a:r>
              <a:rPr lang="fr-MA" dirty="0">
                <a:solidFill>
                  <a:schemeClr val="bg1"/>
                </a:solidFill>
              </a:rPr>
              <a:t> </a:t>
            </a:r>
            <a:r>
              <a:rPr lang="fr-MA" dirty="0" err="1">
                <a:solidFill>
                  <a:schemeClr val="bg1"/>
                </a:solidFill>
              </a:rPr>
              <a:t>using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60F2D-0DF8-78C6-0CFF-7343C9025F13}"/>
              </a:ext>
            </a:extLst>
          </p:cNvPr>
          <p:cNvSpPr txBox="1"/>
          <p:nvPr/>
        </p:nvSpPr>
        <p:spPr>
          <a:xfrm>
            <a:off x="9413988" y="3948808"/>
            <a:ext cx="256032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B5D82-E8DD-4FA7-5A4B-5B51506DC17F}"/>
              </a:ext>
            </a:extLst>
          </p:cNvPr>
          <p:cNvSpPr txBox="1"/>
          <p:nvPr/>
        </p:nvSpPr>
        <p:spPr>
          <a:xfrm>
            <a:off x="112132" y="5339462"/>
            <a:ext cx="3606661" cy="143116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identity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EAA68A-2B9F-C258-48B1-2521B8039E02}"/>
              </a:ext>
            </a:extLst>
          </p:cNvPr>
          <p:cNvSpPr txBox="1"/>
          <p:nvPr/>
        </p:nvSpPr>
        <p:spPr>
          <a:xfrm>
            <a:off x="72532" y="3054492"/>
            <a:ext cx="61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Xm</a:t>
            </a:r>
            <a:endParaRPr lang="fr-M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444E22-BB18-C4BE-6BEF-6134596B8DB5}"/>
              </a:ext>
            </a:extLst>
          </p:cNvPr>
          <p:cNvSpPr txBox="1"/>
          <p:nvPr/>
        </p:nvSpPr>
        <p:spPr>
          <a:xfrm>
            <a:off x="768970" y="269093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wm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E7E252-5695-2097-1453-16B6CD03CC4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511895" y="1892537"/>
            <a:ext cx="860978" cy="132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B28B3B-B254-1534-72EB-9FC79A249529}"/>
              </a:ext>
            </a:extLst>
          </p:cNvPr>
          <p:cNvSpPr txBox="1"/>
          <p:nvPr/>
        </p:nvSpPr>
        <p:spPr>
          <a:xfrm>
            <a:off x="84595" y="2627792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9797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125984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5403494" y="893410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357648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55646</TotalTime>
  <Words>2098</Words>
  <Application>Microsoft Office PowerPoint</Application>
  <PresentationFormat>Widescreen</PresentationFormat>
  <Paragraphs>523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Helvetica Neue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806</cp:revision>
  <dcterms:created xsi:type="dcterms:W3CDTF">2019-09-13T15:50:46Z</dcterms:created>
  <dcterms:modified xsi:type="dcterms:W3CDTF">2023-06-07T20:58:50Z</dcterms:modified>
</cp:coreProperties>
</file>