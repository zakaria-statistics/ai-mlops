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599" r:id="rId3"/>
    <p:sldId id="598" r:id="rId4"/>
    <p:sldId id="600" r:id="rId5"/>
    <p:sldId id="601" r:id="rId6"/>
    <p:sldId id="602" r:id="rId7"/>
    <p:sldId id="603" r:id="rId8"/>
    <p:sldId id="319" r:id="rId9"/>
    <p:sldId id="320" r:id="rId10"/>
    <p:sldId id="586" r:id="rId11"/>
    <p:sldId id="587" r:id="rId12"/>
    <p:sldId id="590" r:id="rId13"/>
    <p:sldId id="588" r:id="rId14"/>
    <p:sldId id="592" r:id="rId15"/>
    <p:sldId id="605" r:id="rId16"/>
    <p:sldId id="318" r:id="rId17"/>
    <p:sldId id="593" r:id="rId18"/>
    <p:sldId id="606" r:id="rId19"/>
    <p:sldId id="594" r:id="rId20"/>
    <p:sldId id="604" r:id="rId21"/>
    <p:sldId id="596" r:id="rId22"/>
    <p:sldId id="595" r:id="rId23"/>
    <p:sldId id="591" r:id="rId24"/>
    <p:sldId id="597" r:id="rId25"/>
    <p:sldId id="311" r:id="rId26"/>
    <p:sldId id="291" r:id="rId2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8FC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0" d="100"/>
          <a:sy n="60" d="100"/>
        </p:scale>
        <p:origin x="894"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M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833AF9-96AC-40D7-9F4F-1CE637C877E6}" type="datetimeFigureOut">
              <a:rPr lang="fr-MA" smtClean="0"/>
              <a:t>15/07/2023</a:t>
            </a:fld>
            <a:endParaRPr lang="fr-M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M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M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M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046C8D-D2A3-4231-9D53-A00B717A3C16}" type="slidenum">
              <a:rPr lang="fr-MA" smtClean="0"/>
              <a:t>‹#›</a:t>
            </a:fld>
            <a:endParaRPr lang="fr-MA"/>
          </a:p>
        </p:txBody>
      </p:sp>
    </p:spTree>
    <p:extLst>
      <p:ext uri="{BB962C8B-B14F-4D97-AF65-F5344CB8AC3E}">
        <p14:creationId xmlns:p14="http://schemas.microsoft.com/office/powerpoint/2010/main" val="2381543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MA" dirty="0"/>
          </a:p>
        </p:txBody>
      </p:sp>
      <p:sp>
        <p:nvSpPr>
          <p:cNvPr id="4" name="Slide Number Placeholder 3"/>
          <p:cNvSpPr>
            <a:spLocks noGrp="1"/>
          </p:cNvSpPr>
          <p:nvPr>
            <p:ph type="sldNum" sz="quarter" idx="5"/>
          </p:nvPr>
        </p:nvSpPr>
        <p:spPr/>
        <p:txBody>
          <a:bodyPr/>
          <a:lstStyle/>
          <a:p>
            <a:fld id="{B8046C8D-D2A3-4231-9D53-A00B717A3C16}" type="slidenum">
              <a:rPr lang="fr-MA" smtClean="0"/>
              <a:t>18</a:t>
            </a:fld>
            <a:endParaRPr lang="fr-MA"/>
          </a:p>
        </p:txBody>
      </p:sp>
    </p:spTree>
    <p:extLst>
      <p:ext uri="{BB962C8B-B14F-4D97-AF65-F5344CB8AC3E}">
        <p14:creationId xmlns:p14="http://schemas.microsoft.com/office/powerpoint/2010/main" val="814352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BDD3102C-BDDD-4D12-A779-AA842E1C06C6}" type="datetimeFigureOut">
              <a:rPr lang="fr-FR" smtClean="0"/>
              <a:t>15/07/2023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5C9A41-02F9-49D0-BC9C-05A7C99E40F8}" type="slidenum">
              <a:rPr lang="fr-FR" smtClean="0"/>
              <a:t>‹#›</a:t>
            </a:fld>
            <a:endParaRPr lang="fr-FR"/>
          </a:p>
        </p:txBody>
      </p:sp>
    </p:spTree>
    <p:extLst>
      <p:ext uri="{BB962C8B-B14F-4D97-AF65-F5344CB8AC3E}">
        <p14:creationId xmlns:p14="http://schemas.microsoft.com/office/powerpoint/2010/main" val="10441960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BDD3102C-BDDD-4D12-A779-AA842E1C06C6}" type="datetimeFigureOut">
              <a:rPr lang="fr-FR" smtClean="0"/>
              <a:t>15/07/2023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5C9A41-02F9-49D0-BC9C-05A7C99E40F8}" type="slidenum">
              <a:rPr lang="fr-FR" smtClean="0"/>
              <a:t>‹#›</a:t>
            </a:fld>
            <a:endParaRPr lang="fr-FR"/>
          </a:p>
        </p:txBody>
      </p:sp>
    </p:spTree>
    <p:extLst>
      <p:ext uri="{BB962C8B-B14F-4D97-AF65-F5344CB8AC3E}">
        <p14:creationId xmlns:p14="http://schemas.microsoft.com/office/powerpoint/2010/main" val="1524607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BDD3102C-BDDD-4D12-A779-AA842E1C06C6}" type="datetimeFigureOut">
              <a:rPr lang="fr-FR" smtClean="0"/>
              <a:t>15/07/2023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5C9A41-02F9-49D0-BC9C-05A7C99E40F8}" type="slidenum">
              <a:rPr lang="fr-FR" smtClean="0"/>
              <a:t>‹#›</a:t>
            </a:fld>
            <a:endParaRPr lang="fr-FR"/>
          </a:p>
        </p:txBody>
      </p:sp>
    </p:spTree>
    <p:extLst>
      <p:ext uri="{BB962C8B-B14F-4D97-AF65-F5344CB8AC3E}">
        <p14:creationId xmlns:p14="http://schemas.microsoft.com/office/powerpoint/2010/main" val="842561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BDD3102C-BDDD-4D12-A779-AA842E1C06C6}" type="datetimeFigureOut">
              <a:rPr lang="fr-FR" smtClean="0"/>
              <a:t>15/07/2023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5C9A41-02F9-49D0-BC9C-05A7C99E40F8}" type="slidenum">
              <a:rPr lang="fr-FR" smtClean="0"/>
              <a:t>‹#›</a:t>
            </a:fld>
            <a:endParaRPr lang="fr-FR"/>
          </a:p>
        </p:txBody>
      </p:sp>
    </p:spTree>
    <p:extLst>
      <p:ext uri="{BB962C8B-B14F-4D97-AF65-F5344CB8AC3E}">
        <p14:creationId xmlns:p14="http://schemas.microsoft.com/office/powerpoint/2010/main" val="1212175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BDD3102C-BDDD-4D12-A779-AA842E1C06C6}" type="datetimeFigureOut">
              <a:rPr lang="fr-FR" smtClean="0"/>
              <a:t>15/07/2023</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75C9A41-02F9-49D0-BC9C-05A7C99E40F8}" type="slidenum">
              <a:rPr lang="fr-FR" smtClean="0"/>
              <a:t>‹#›</a:t>
            </a:fld>
            <a:endParaRPr lang="fr-FR"/>
          </a:p>
        </p:txBody>
      </p:sp>
    </p:spTree>
    <p:extLst>
      <p:ext uri="{BB962C8B-B14F-4D97-AF65-F5344CB8AC3E}">
        <p14:creationId xmlns:p14="http://schemas.microsoft.com/office/powerpoint/2010/main" val="3761912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BDD3102C-BDDD-4D12-A779-AA842E1C06C6}" type="datetimeFigureOut">
              <a:rPr lang="fr-FR" smtClean="0"/>
              <a:t>15/07/2023</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75C9A41-02F9-49D0-BC9C-05A7C99E40F8}" type="slidenum">
              <a:rPr lang="fr-FR" smtClean="0"/>
              <a:t>‹#›</a:t>
            </a:fld>
            <a:endParaRPr lang="fr-FR"/>
          </a:p>
        </p:txBody>
      </p:sp>
    </p:spTree>
    <p:extLst>
      <p:ext uri="{BB962C8B-B14F-4D97-AF65-F5344CB8AC3E}">
        <p14:creationId xmlns:p14="http://schemas.microsoft.com/office/powerpoint/2010/main" val="2696244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BDD3102C-BDDD-4D12-A779-AA842E1C06C6}" type="datetimeFigureOut">
              <a:rPr lang="fr-FR" smtClean="0"/>
              <a:t>15/07/2023</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75C9A41-02F9-49D0-BC9C-05A7C99E40F8}" type="slidenum">
              <a:rPr lang="fr-FR" smtClean="0"/>
              <a:t>‹#›</a:t>
            </a:fld>
            <a:endParaRPr lang="fr-FR"/>
          </a:p>
        </p:txBody>
      </p:sp>
    </p:spTree>
    <p:extLst>
      <p:ext uri="{BB962C8B-B14F-4D97-AF65-F5344CB8AC3E}">
        <p14:creationId xmlns:p14="http://schemas.microsoft.com/office/powerpoint/2010/main" val="3173229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BDD3102C-BDDD-4D12-A779-AA842E1C06C6}" type="datetimeFigureOut">
              <a:rPr lang="fr-FR" smtClean="0"/>
              <a:t>15/07/2023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5C9A41-02F9-49D0-BC9C-05A7C99E40F8}" type="slidenum">
              <a:rPr lang="fr-FR" smtClean="0"/>
              <a:t>‹#›</a:t>
            </a:fld>
            <a:endParaRPr lang="fr-FR"/>
          </a:p>
        </p:txBody>
      </p:sp>
    </p:spTree>
    <p:extLst>
      <p:ext uri="{BB962C8B-B14F-4D97-AF65-F5344CB8AC3E}">
        <p14:creationId xmlns:p14="http://schemas.microsoft.com/office/powerpoint/2010/main" val="2433085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BDD3102C-BDDD-4D12-A779-AA842E1C06C6}" type="datetimeFigureOut">
              <a:rPr lang="fr-FR" smtClean="0"/>
              <a:t>15/07/2023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5C9A41-02F9-49D0-BC9C-05A7C99E40F8}" type="slidenum">
              <a:rPr lang="fr-FR" smtClean="0"/>
              <a:t>‹#›</a:t>
            </a:fld>
            <a:endParaRPr lang="fr-FR"/>
          </a:p>
        </p:txBody>
      </p:sp>
    </p:spTree>
    <p:extLst>
      <p:ext uri="{BB962C8B-B14F-4D97-AF65-F5344CB8AC3E}">
        <p14:creationId xmlns:p14="http://schemas.microsoft.com/office/powerpoint/2010/main" val="671464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BDD3102C-BDDD-4D12-A779-AA842E1C06C6}" type="datetimeFigureOut">
              <a:rPr lang="fr-FR" smtClean="0"/>
              <a:t>15/07/2023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5C9A41-02F9-49D0-BC9C-05A7C99E40F8}" type="slidenum">
              <a:rPr lang="fr-FR" smtClean="0"/>
              <a:t>‹#›</a:t>
            </a:fld>
            <a:endParaRPr lang="fr-FR"/>
          </a:p>
        </p:txBody>
      </p:sp>
    </p:spTree>
    <p:extLst>
      <p:ext uri="{BB962C8B-B14F-4D97-AF65-F5344CB8AC3E}">
        <p14:creationId xmlns:p14="http://schemas.microsoft.com/office/powerpoint/2010/main" val="895695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BDD3102C-BDDD-4D12-A779-AA842E1C06C6}" type="datetimeFigureOut">
              <a:rPr lang="fr-FR" smtClean="0"/>
              <a:t>15/07/2023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5C9A41-02F9-49D0-BC9C-05A7C99E40F8}" type="slidenum">
              <a:rPr lang="fr-FR" smtClean="0"/>
              <a:t>‹#›</a:t>
            </a:fld>
            <a:endParaRPr lang="fr-FR"/>
          </a:p>
        </p:txBody>
      </p:sp>
    </p:spTree>
    <p:extLst>
      <p:ext uri="{BB962C8B-B14F-4D97-AF65-F5344CB8AC3E}">
        <p14:creationId xmlns:p14="http://schemas.microsoft.com/office/powerpoint/2010/main" val="1665782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D3102C-BDDD-4D12-A779-AA842E1C06C6}" type="datetimeFigureOut">
              <a:rPr lang="fr-FR" smtClean="0"/>
              <a:t>15/07/2023</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5C9A41-02F9-49D0-BC9C-05A7C99E40F8}" type="slidenum">
              <a:rPr lang="fr-FR" smtClean="0"/>
              <a:t>‹#›</a:t>
            </a:fld>
            <a:endParaRPr lang="fr-FR"/>
          </a:p>
        </p:txBody>
      </p:sp>
    </p:spTree>
    <p:extLst>
      <p:ext uri="{BB962C8B-B14F-4D97-AF65-F5344CB8AC3E}">
        <p14:creationId xmlns:p14="http://schemas.microsoft.com/office/powerpoint/2010/main" val="1648980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youtube.com/c/AbdelwahabNaji" TargetMode="External"/><Relationship Id="rId2" Type="http://schemas.openxmlformats.org/officeDocument/2006/relationships/hyperlink" Target="mailto:Abdelwahab.naji@gmail.com"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docs.aws.amazon.com/fr_fr/machine-learning/latest/dg/cross-validation.html" TargetMode="External"/><Relationship Id="rId2" Type="http://schemas.openxmlformats.org/officeDocument/2006/relationships/hyperlink" Target="https://docs.microsoft.com/fr-fr/azure/machine-learning/studio/evaluate-model-performanc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0" y="5052071"/>
            <a:ext cx="12192000" cy="1446550"/>
          </a:xfrm>
          <a:prstGeom prst="rect">
            <a:avLst/>
          </a:prstGeom>
          <a:solidFill>
            <a:schemeClr val="bg1"/>
          </a:solidFill>
          <a:ln>
            <a:noFill/>
          </a:ln>
        </p:spPr>
        <p:txBody>
          <a:bodyPr wrap="square" rtlCol="0">
            <a:spAutoFit/>
          </a:bodyPr>
          <a:lstStyle/>
          <a:p>
            <a:pPr marL="0" lvl="7"/>
            <a:r>
              <a:rPr lang="fr-FR" sz="2000" b="1" dirty="0" err="1"/>
              <a:t>Abdelwahab</a:t>
            </a:r>
            <a:r>
              <a:rPr lang="fr-FR" sz="2000" b="1" dirty="0"/>
              <a:t> Naji - </a:t>
            </a:r>
            <a:r>
              <a:rPr lang="fr-FR" sz="1600" b="1" dirty="0"/>
              <a:t>Enseignant chercheur</a:t>
            </a:r>
            <a:r>
              <a:rPr lang="fr-FR" sz="2000" b="1" dirty="0"/>
              <a:t> </a:t>
            </a:r>
            <a:endParaRPr lang="fr-FR" sz="2400" b="1" dirty="0"/>
          </a:p>
          <a:p>
            <a:pPr marL="0" lvl="7"/>
            <a:r>
              <a:rPr lang="fr-FR" sz="2000" dirty="0">
                <a:hlinkClick r:id="rId2"/>
              </a:rPr>
              <a:t>Abdelwahab.naji@gmail.com</a:t>
            </a:r>
            <a:r>
              <a:rPr lang="fr-FR" sz="2000" dirty="0"/>
              <a:t> </a:t>
            </a:r>
            <a:endParaRPr lang="fr-FR" sz="1600" dirty="0"/>
          </a:p>
          <a:p>
            <a:pPr marL="0" lvl="7"/>
            <a:r>
              <a:rPr lang="fr-FR" sz="1600" dirty="0">
                <a:solidFill>
                  <a:schemeClr val="tx1">
                    <a:lumMod val="75000"/>
                    <a:lumOff val="25000"/>
                  </a:schemeClr>
                </a:solidFill>
              </a:rPr>
              <a:t>Laboratoire Signaux, Systèmes Distribués et Intelligence Artificielle (SSDIA)</a:t>
            </a:r>
          </a:p>
          <a:p>
            <a:pPr marL="0" lvl="7"/>
            <a:r>
              <a:rPr lang="fr-FR" sz="1600" dirty="0">
                <a:solidFill>
                  <a:schemeClr val="tx1">
                    <a:lumMod val="75000"/>
                    <a:lumOff val="25000"/>
                  </a:schemeClr>
                </a:solidFill>
              </a:rPr>
              <a:t>ENSET de Mohammedia, Université Hassan II de Casablanca</a:t>
            </a:r>
          </a:p>
          <a:p>
            <a:pPr marL="0" lvl="7"/>
            <a:r>
              <a:rPr lang="fr-FR" sz="1600" dirty="0">
                <a:solidFill>
                  <a:schemeClr val="tx1">
                    <a:lumMod val="75000"/>
                    <a:lumOff val="25000"/>
                  </a:schemeClr>
                </a:solidFill>
                <a:hlinkClick r:id="rId3"/>
              </a:rPr>
              <a:t>https://www.youtube.com/c/AbdelwahabNaji</a:t>
            </a:r>
            <a:endParaRPr lang="fr-FR" sz="1600" dirty="0">
              <a:solidFill>
                <a:schemeClr val="tx1">
                  <a:lumMod val="75000"/>
                  <a:lumOff val="25000"/>
                </a:schemeClr>
              </a:solidFill>
            </a:endParaRPr>
          </a:p>
        </p:txBody>
      </p:sp>
      <p:cxnSp>
        <p:nvCxnSpPr>
          <p:cNvPr id="5" name="Connecteur droit 4"/>
          <p:cNvCxnSpPr/>
          <p:nvPr/>
        </p:nvCxnSpPr>
        <p:spPr>
          <a:xfrm>
            <a:off x="0" y="5007980"/>
            <a:ext cx="12204000" cy="0"/>
          </a:xfrm>
          <a:prstGeom prst="line">
            <a:avLst/>
          </a:prstGeom>
          <a:ln w="6350">
            <a:solidFill>
              <a:srgbClr val="FF0000"/>
            </a:solidFill>
          </a:ln>
        </p:spPr>
        <p:style>
          <a:lnRef idx="2">
            <a:schemeClr val="accent2"/>
          </a:lnRef>
          <a:fillRef idx="0">
            <a:schemeClr val="accent2"/>
          </a:fillRef>
          <a:effectRef idx="1">
            <a:schemeClr val="accent2"/>
          </a:effectRef>
          <a:fontRef idx="minor">
            <a:schemeClr val="tx1"/>
          </a:fontRef>
        </p:style>
      </p:cxnSp>
      <p:sp>
        <p:nvSpPr>
          <p:cNvPr id="6" name="ZoneTexte 5"/>
          <p:cNvSpPr txBox="1"/>
          <p:nvPr/>
        </p:nvSpPr>
        <p:spPr>
          <a:xfrm>
            <a:off x="1665029" y="2515000"/>
            <a:ext cx="9144000" cy="1569660"/>
          </a:xfrm>
          <a:prstGeom prst="rect">
            <a:avLst/>
          </a:prstGeom>
          <a:noFill/>
        </p:spPr>
        <p:txBody>
          <a:bodyPr wrap="square" rtlCol="0">
            <a:spAutoFit/>
          </a:bodyPr>
          <a:lstStyle/>
          <a:p>
            <a:pPr algn="ctr"/>
            <a:r>
              <a:rPr lang="fr-FR" sz="4800" b="1" dirty="0">
                <a:solidFill>
                  <a:srgbClr val="0070C0"/>
                </a:solidFill>
              </a:rPr>
              <a:t>M</a:t>
            </a:r>
            <a:r>
              <a:rPr lang="fr-FR" sz="4800" b="1" dirty="0">
                <a:solidFill>
                  <a:schemeClr val="tx1">
                    <a:lumMod val="95000"/>
                    <a:lumOff val="5000"/>
                  </a:schemeClr>
                </a:solidFill>
              </a:rPr>
              <a:t>achine </a:t>
            </a:r>
            <a:r>
              <a:rPr lang="fr-FR" sz="4800" b="1" dirty="0">
                <a:solidFill>
                  <a:srgbClr val="0070C0"/>
                </a:solidFill>
              </a:rPr>
              <a:t>L</a:t>
            </a:r>
            <a:r>
              <a:rPr lang="fr-FR" sz="4800" b="1" dirty="0">
                <a:solidFill>
                  <a:schemeClr val="tx1">
                    <a:lumMod val="95000"/>
                    <a:lumOff val="5000"/>
                  </a:schemeClr>
                </a:solidFill>
              </a:rPr>
              <a:t>earning</a:t>
            </a:r>
          </a:p>
          <a:p>
            <a:pPr algn="ctr"/>
            <a:r>
              <a:rPr lang="fr-FR" sz="4800" b="1" dirty="0">
                <a:solidFill>
                  <a:schemeClr val="tx1">
                    <a:lumMod val="95000"/>
                    <a:lumOff val="5000"/>
                  </a:schemeClr>
                </a:solidFill>
              </a:rPr>
              <a:t>Evaluation des modèles</a:t>
            </a:r>
            <a:endParaRPr lang="fr-FR" sz="4000" b="1" dirty="0">
              <a:solidFill>
                <a:schemeClr val="tx1">
                  <a:lumMod val="95000"/>
                  <a:lumOff val="5000"/>
                </a:schemeClr>
              </a:solidFill>
            </a:endParaRPr>
          </a:p>
        </p:txBody>
      </p:sp>
      <p:sp>
        <p:nvSpPr>
          <p:cNvPr id="7" name="Rectangle 6"/>
          <p:cNvSpPr/>
          <p:nvPr/>
        </p:nvSpPr>
        <p:spPr>
          <a:xfrm>
            <a:off x="10933338" y="4669426"/>
            <a:ext cx="601448" cy="338554"/>
          </a:xfrm>
          <a:prstGeom prst="rect">
            <a:avLst/>
          </a:prstGeom>
        </p:spPr>
        <p:txBody>
          <a:bodyPr wrap="none">
            <a:spAutoFit/>
          </a:bodyPr>
          <a:lstStyle/>
          <a:p>
            <a:pPr algn="ctr"/>
            <a:r>
              <a:rPr lang="fr-FR" sz="1600" b="1" dirty="0">
                <a:solidFill>
                  <a:srgbClr val="FF3300"/>
                </a:solidFill>
              </a:rPr>
              <a:t>2023</a:t>
            </a:r>
          </a:p>
        </p:txBody>
      </p:sp>
      <p:pic>
        <p:nvPicPr>
          <p:cNvPr id="9" name="Image 8"/>
          <p:cNvPicPr>
            <a:picLocks noChangeAspect="1"/>
          </p:cNvPicPr>
          <p:nvPr/>
        </p:nvPicPr>
        <p:blipFill>
          <a:blip r:embed="rId4"/>
          <a:stretch>
            <a:fillRect/>
          </a:stretch>
        </p:blipFill>
        <p:spPr>
          <a:xfrm>
            <a:off x="203508" y="105415"/>
            <a:ext cx="3112898" cy="2300268"/>
          </a:xfrm>
          <a:prstGeom prst="rect">
            <a:avLst/>
          </a:prstGeom>
        </p:spPr>
      </p:pic>
    </p:spTree>
    <p:extLst>
      <p:ext uri="{BB962C8B-B14F-4D97-AF65-F5344CB8AC3E}">
        <p14:creationId xmlns:p14="http://schemas.microsoft.com/office/powerpoint/2010/main" val="3151152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F576355-8505-059F-6FC8-02E0A88E9831}"/>
              </a:ext>
            </a:extLst>
          </p:cNvPr>
          <p:cNvSpPr txBox="1"/>
          <p:nvPr/>
        </p:nvSpPr>
        <p:spPr>
          <a:xfrm>
            <a:off x="0" y="9273"/>
            <a:ext cx="12192000" cy="6124754"/>
          </a:xfrm>
          <a:prstGeom prst="rect">
            <a:avLst/>
          </a:prstGeom>
          <a:noFill/>
        </p:spPr>
        <p:txBody>
          <a:bodyPr wrap="square">
            <a:spAutoFit/>
          </a:bodyPr>
          <a:lstStyle/>
          <a:p>
            <a:pPr algn="l"/>
            <a:r>
              <a:rPr lang="fr-FR" sz="3200" b="1" i="0" dirty="0">
                <a:solidFill>
                  <a:srgbClr val="0070C0"/>
                </a:solidFill>
                <a:effectLst/>
                <a:latin typeface="+mj-lt"/>
              </a:rPr>
              <a:t>L'évaluation des modèles de machine </a:t>
            </a:r>
            <a:r>
              <a:rPr lang="fr-FR" sz="3200" b="1" i="0" dirty="0" err="1">
                <a:solidFill>
                  <a:srgbClr val="0070C0"/>
                </a:solidFill>
                <a:effectLst/>
                <a:latin typeface="+mj-lt"/>
              </a:rPr>
              <a:t>learning</a:t>
            </a:r>
            <a:r>
              <a:rPr lang="fr-FR" sz="3200" b="1" i="0" dirty="0">
                <a:solidFill>
                  <a:srgbClr val="0070C0"/>
                </a:solidFill>
                <a:effectLst/>
                <a:latin typeface="+mj-lt"/>
              </a:rPr>
              <a:t> </a:t>
            </a:r>
          </a:p>
          <a:p>
            <a:pPr marL="285750" indent="-285750">
              <a:spcAft>
                <a:spcPts val="800"/>
              </a:spcAft>
              <a:buClr>
                <a:srgbClr val="FF3300"/>
              </a:buClr>
              <a:buFont typeface="Wingdings" panose="05000000000000000000" pitchFamily="2" charset="2"/>
              <a:buChar char="§"/>
            </a:pPr>
            <a:endParaRPr lang="fr-FR" b="1" dirty="0">
              <a:solidFill>
                <a:schemeClr val="tx1">
                  <a:lumMod val="95000"/>
                  <a:lumOff val="5000"/>
                </a:schemeClr>
              </a:solidFill>
            </a:endParaRPr>
          </a:p>
          <a:p>
            <a:pPr marL="285750"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La tâche la plus importante dans un projet Machine Learning est: évaluer le modèle</a:t>
            </a:r>
          </a:p>
          <a:p>
            <a:pPr marL="285750"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L’évaluation du modèle nous permet de mesurer à quel point il est bon avant de l’utiliser pour des données jamais vues </a:t>
            </a:r>
          </a:p>
          <a:p>
            <a:pPr algn="l">
              <a:spcBef>
                <a:spcPts val="1200"/>
              </a:spcBef>
            </a:pPr>
            <a:r>
              <a:rPr lang="fr-FR" dirty="0">
                <a:solidFill>
                  <a:srgbClr val="374151"/>
                </a:solidFill>
                <a:latin typeface="+mj-lt"/>
              </a:rPr>
              <a:t>Elle </a:t>
            </a:r>
            <a:r>
              <a:rPr lang="fr-FR" b="0" i="0" dirty="0">
                <a:solidFill>
                  <a:srgbClr val="374151"/>
                </a:solidFill>
                <a:effectLst/>
                <a:latin typeface="+mj-lt"/>
              </a:rPr>
              <a:t>dépend de trois facteurs principaux</a:t>
            </a:r>
            <a:r>
              <a:rPr lang="fr-FR" dirty="0">
                <a:solidFill>
                  <a:srgbClr val="374151"/>
                </a:solidFill>
                <a:latin typeface="+mj-lt"/>
              </a:rPr>
              <a:t>:</a:t>
            </a:r>
          </a:p>
          <a:p>
            <a:pPr marL="285750" indent="-285750" algn="l">
              <a:buFont typeface="Wingdings" panose="05000000000000000000" pitchFamily="2" charset="2"/>
              <a:buChar char="§"/>
            </a:pPr>
            <a:r>
              <a:rPr lang="fr-FR" b="0" i="0" dirty="0">
                <a:solidFill>
                  <a:srgbClr val="374151"/>
                </a:solidFill>
                <a:effectLst/>
                <a:latin typeface="+mj-lt"/>
              </a:rPr>
              <a:t>Le type de problème (classification, régression, etc.)</a:t>
            </a:r>
          </a:p>
          <a:p>
            <a:pPr marL="285750" indent="-285750" algn="l">
              <a:buFont typeface="Wingdings" panose="05000000000000000000" pitchFamily="2" charset="2"/>
              <a:buChar char="§"/>
            </a:pPr>
            <a:r>
              <a:rPr lang="fr-FR" b="0" i="0" dirty="0">
                <a:solidFill>
                  <a:srgbClr val="374151"/>
                </a:solidFill>
                <a:effectLst/>
                <a:latin typeface="+mj-lt"/>
              </a:rPr>
              <a:t>Le contexte: Médecine, Banque, …</a:t>
            </a:r>
          </a:p>
          <a:p>
            <a:pPr marL="285750" indent="-285750" algn="l">
              <a:buFont typeface="Wingdings" panose="05000000000000000000" pitchFamily="2" charset="2"/>
              <a:buChar char="§"/>
            </a:pPr>
            <a:r>
              <a:rPr lang="fr-FR" b="0" i="0" dirty="0">
                <a:solidFill>
                  <a:srgbClr val="374151"/>
                </a:solidFill>
                <a:effectLst/>
                <a:latin typeface="+mj-lt"/>
              </a:rPr>
              <a:t>Les données disponibles et les objectifs spécifiques</a:t>
            </a:r>
            <a:endParaRPr lang="fr-FR" dirty="0">
              <a:solidFill>
                <a:srgbClr val="374151"/>
              </a:solidFill>
              <a:latin typeface="+mj-lt"/>
            </a:endParaRPr>
          </a:p>
          <a:p>
            <a:pPr algn="l"/>
            <a:endParaRPr lang="fr-FR" b="0" i="0" dirty="0">
              <a:solidFill>
                <a:srgbClr val="374151"/>
              </a:solidFill>
              <a:effectLst/>
              <a:latin typeface="+mj-lt"/>
            </a:endParaRPr>
          </a:p>
          <a:p>
            <a:pPr algn="l"/>
            <a:r>
              <a:rPr lang="fr-FR" b="0" i="0" dirty="0">
                <a:solidFill>
                  <a:srgbClr val="374151"/>
                </a:solidFill>
                <a:effectLst/>
                <a:latin typeface="+mj-lt"/>
              </a:rPr>
              <a:t>Les approches couramment utilisées pour évaluer les modèles de machine Learning :</a:t>
            </a:r>
          </a:p>
          <a:p>
            <a:pPr algn="l"/>
            <a:endParaRPr lang="fr-FR" b="0" i="0" dirty="0">
              <a:solidFill>
                <a:srgbClr val="374151"/>
              </a:solidFill>
              <a:effectLst/>
              <a:latin typeface="+mj-lt"/>
            </a:endParaRPr>
          </a:p>
          <a:p>
            <a:pPr algn="l">
              <a:spcAft>
                <a:spcPts val="1800"/>
              </a:spcAft>
              <a:buFont typeface="+mj-lt"/>
              <a:buAutoNum type="arabicPeriod"/>
            </a:pPr>
            <a:r>
              <a:rPr lang="fr-FR" b="1" i="0" dirty="0">
                <a:solidFill>
                  <a:srgbClr val="0070C0"/>
                </a:solidFill>
                <a:effectLst/>
                <a:latin typeface="+mj-lt"/>
              </a:rPr>
              <a:t>Séparation des données</a:t>
            </a:r>
          </a:p>
          <a:p>
            <a:pPr algn="l">
              <a:spcAft>
                <a:spcPts val="1800"/>
              </a:spcAft>
              <a:buFont typeface="+mj-lt"/>
              <a:buAutoNum type="arabicPeriod"/>
            </a:pPr>
            <a:r>
              <a:rPr lang="fr-FR" b="1" i="0" dirty="0">
                <a:solidFill>
                  <a:srgbClr val="0070C0"/>
                </a:solidFill>
                <a:effectLst/>
                <a:latin typeface="+mj-lt"/>
              </a:rPr>
              <a:t>Validation croisée (cross-validation)</a:t>
            </a:r>
            <a:r>
              <a:rPr lang="fr-FR" b="0" i="0" dirty="0">
                <a:solidFill>
                  <a:srgbClr val="0070C0"/>
                </a:solidFill>
                <a:effectLst/>
                <a:latin typeface="+mj-lt"/>
              </a:rPr>
              <a:t> </a:t>
            </a:r>
          </a:p>
          <a:p>
            <a:pPr algn="l">
              <a:spcAft>
                <a:spcPts val="1800"/>
              </a:spcAft>
              <a:buFont typeface="+mj-lt"/>
              <a:buAutoNum type="arabicPeriod"/>
            </a:pPr>
            <a:r>
              <a:rPr lang="fr-FR" b="1" i="0" dirty="0">
                <a:solidFill>
                  <a:srgbClr val="0070C0"/>
                </a:solidFill>
                <a:effectLst/>
                <a:latin typeface="+mj-lt"/>
              </a:rPr>
              <a:t>Métriques de performance</a:t>
            </a:r>
            <a:r>
              <a:rPr lang="fr-FR" b="0" i="0" dirty="0">
                <a:solidFill>
                  <a:srgbClr val="0070C0"/>
                </a:solidFill>
                <a:effectLst/>
                <a:latin typeface="+mj-lt"/>
              </a:rPr>
              <a:t> </a:t>
            </a:r>
          </a:p>
          <a:p>
            <a:pPr algn="l">
              <a:spcAft>
                <a:spcPts val="1800"/>
              </a:spcAft>
              <a:buFont typeface="+mj-lt"/>
              <a:buAutoNum type="arabicPeriod"/>
            </a:pPr>
            <a:r>
              <a:rPr lang="fr-FR" b="1" i="0" dirty="0">
                <a:solidFill>
                  <a:srgbClr val="0070C0"/>
                </a:solidFill>
                <a:effectLst/>
                <a:latin typeface="+mj-lt"/>
              </a:rPr>
              <a:t>Comparaison de modèles</a:t>
            </a:r>
            <a:endParaRPr lang="fr-FR" b="0" i="0" dirty="0">
              <a:solidFill>
                <a:srgbClr val="0070C0"/>
              </a:solidFill>
              <a:effectLst/>
              <a:latin typeface="+mj-lt"/>
            </a:endParaRPr>
          </a:p>
          <a:p>
            <a:pPr algn="l">
              <a:spcAft>
                <a:spcPts val="1800"/>
              </a:spcAft>
              <a:buFont typeface="+mj-lt"/>
              <a:buAutoNum type="arabicPeriod"/>
            </a:pPr>
            <a:r>
              <a:rPr lang="fr-FR" b="1" i="0" dirty="0">
                <a:solidFill>
                  <a:srgbClr val="0070C0"/>
                </a:solidFill>
                <a:effectLst/>
                <a:latin typeface="+mj-lt"/>
              </a:rPr>
              <a:t>Analyse des erreurs</a:t>
            </a:r>
          </a:p>
        </p:txBody>
      </p:sp>
    </p:spTree>
    <p:extLst>
      <p:ext uri="{BB962C8B-B14F-4D97-AF65-F5344CB8AC3E}">
        <p14:creationId xmlns:p14="http://schemas.microsoft.com/office/powerpoint/2010/main" val="4006501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F576355-8505-059F-6FC8-02E0A88E9831}"/>
              </a:ext>
            </a:extLst>
          </p:cNvPr>
          <p:cNvSpPr txBox="1"/>
          <p:nvPr/>
        </p:nvSpPr>
        <p:spPr>
          <a:xfrm>
            <a:off x="0" y="9273"/>
            <a:ext cx="12192000" cy="3416320"/>
          </a:xfrm>
          <a:prstGeom prst="rect">
            <a:avLst/>
          </a:prstGeom>
          <a:noFill/>
        </p:spPr>
        <p:txBody>
          <a:bodyPr wrap="square">
            <a:spAutoFit/>
          </a:bodyPr>
          <a:lstStyle/>
          <a:p>
            <a:pPr algn="l"/>
            <a:r>
              <a:rPr lang="fr-FR" sz="3200" b="1" i="0" dirty="0">
                <a:solidFill>
                  <a:srgbClr val="0070C0"/>
                </a:solidFill>
                <a:effectLst/>
                <a:latin typeface="+mj-lt"/>
              </a:rPr>
              <a:t>L'évaluation des modèles de machine </a:t>
            </a:r>
            <a:r>
              <a:rPr lang="fr-FR" sz="3200" b="1" i="0" dirty="0" err="1">
                <a:solidFill>
                  <a:srgbClr val="0070C0"/>
                </a:solidFill>
                <a:effectLst/>
                <a:latin typeface="+mj-lt"/>
              </a:rPr>
              <a:t>learning</a:t>
            </a:r>
            <a:r>
              <a:rPr lang="fr-FR" sz="3200" b="1" i="0" dirty="0">
                <a:solidFill>
                  <a:srgbClr val="0070C0"/>
                </a:solidFill>
                <a:effectLst/>
                <a:latin typeface="+mj-lt"/>
              </a:rPr>
              <a:t> </a:t>
            </a:r>
          </a:p>
          <a:p>
            <a:pPr algn="l"/>
            <a:endParaRPr lang="fr-FR" b="0" i="0" dirty="0">
              <a:solidFill>
                <a:srgbClr val="374151"/>
              </a:solidFill>
              <a:effectLst/>
              <a:latin typeface="+mj-lt"/>
            </a:endParaRPr>
          </a:p>
          <a:p>
            <a:pPr marL="342900" indent="-342900" algn="l">
              <a:buAutoNum type="arabicParenR"/>
            </a:pPr>
            <a:r>
              <a:rPr lang="fr-FR" b="1" i="0" dirty="0">
                <a:solidFill>
                  <a:srgbClr val="0070C0"/>
                </a:solidFill>
                <a:effectLst/>
                <a:latin typeface="+mj-lt"/>
              </a:rPr>
              <a:t>Séparation des données</a:t>
            </a:r>
            <a:r>
              <a:rPr lang="fr-FR" b="0" i="0" dirty="0">
                <a:solidFill>
                  <a:srgbClr val="374151"/>
                </a:solidFill>
                <a:effectLst/>
                <a:latin typeface="+mj-lt"/>
              </a:rPr>
              <a:t> :</a:t>
            </a:r>
          </a:p>
          <a:p>
            <a:pPr algn="l"/>
            <a:endParaRPr lang="fr-FR" dirty="0">
              <a:solidFill>
                <a:srgbClr val="374151"/>
              </a:solidFill>
              <a:latin typeface="+mj-lt"/>
            </a:endParaRPr>
          </a:p>
          <a:p>
            <a:pPr marL="36000" algn="l">
              <a:spcAft>
                <a:spcPts val="1200"/>
              </a:spcAft>
            </a:pPr>
            <a:r>
              <a:rPr lang="fr-FR" b="0" i="0" dirty="0">
                <a:solidFill>
                  <a:srgbClr val="374151"/>
                </a:solidFill>
                <a:effectLst/>
                <a:latin typeface="+mj-lt"/>
              </a:rPr>
              <a:t>Divisez vos données en ensembles d'apprentissage (training set), de validation (validation set) et de test (test set).</a:t>
            </a:r>
          </a:p>
          <a:p>
            <a:pPr marL="36000" lvl="1" indent="-285750">
              <a:spcAft>
                <a:spcPts val="1200"/>
              </a:spcAft>
              <a:buFont typeface="Wingdings" panose="05000000000000000000" pitchFamily="2" charset="2"/>
              <a:buChar char="§"/>
            </a:pPr>
            <a:r>
              <a:rPr lang="fr-FR" b="0" i="0" dirty="0">
                <a:solidFill>
                  <a:srgbClr val="374151"/>
                </a:solidFill>
                <a:effectLst/>
                <a:latin typeface="+mj-lt"/>
              </a:rPr>
              <a:t>Utilisez un ensemble d'apprentissage pour entraîner le modèle</a:t>
            </a:r>
            <a:endParaRPr lang="fr-FR" dirty="0">
              <a:solidFill>
                <a:srgbClr val="374151"/>
              </a:solidFill>
              <a:latin typeface="+mj-lt"/>
            </a:endParaRPr>
          </a:p>
          <a:p>
            <a:pPr marL="36000" lvl="1" indent="-285750">
              <a:spcAft>
                <a:spcPts val="1200"/>
              </a:spcAft>
              <a:buFont typeface="Wingdings" panose="05000000000000000000" pitchFamily="2" charset="2"/>
              <a:buChar char="§"/>
            </a:pPr>
            <a:r>
              <a:rPr lang="fr-FR" b="0" i="0" dirty="0">
                <a:solidFill>
                  <a:srgbClr val="374151"/>
                </a:solidFill>
                <a:effectLst/>
                <a:latin typeface="+mj-lt"/>
              </a:rPr>
              <a:t>Utilisez un ensemble de validation pour ajuster les hyperparamètres</a:t>
            </a:r>
          </a:p>
          <a:p>
            <a:pPr marL="36000" lvl="1" indent="-285750">
              <a:spcAft>
                <a:spcPts val="1200"/>
              </a:spcAft>
              <a:buFont typeface="Wingdings" panose="05000000000000000000" pitchFamily="2" charset="2"/>
              <a:buChar char="§"/>
            </a:pPr>
            <a:r>
              <a:rPr lang="fr-FR" dirty="0">
                <a:solidFill>
                  <a:srgbClr val="374151"/>
                </a:solidFill>
                <a:latin typeface="+mj-lt"/>
              </a:rPr>
              <a:t>Utilisez un </a:t>
            </a:r>
            <a:r>
              <a:rPr lang="fr-FR" b="0" i="0" dirty="0">
                <a:solidFill>
                  <a:srgbClr val="374151"/>
                </a:solidFill>
                <a:effectLst/>
                <a:latin typeface="+mj-lt"/>
              </a:rPr>
              <a:t>ensemble de test pour évaluer les performances finales du modèle</a:t>
            </a:r>
            <a:endParaRPr lang="fr-FR" dirty="0">
              <a:solidFill>
                <a:srgbClr val="374151"/>
              </a:solidFill>
              <a:latin typeface="+mj-lt"/>
            </a:endParaRPr>
          </a:p>
          <a:p>
            <a:pPr marL="36000" lvl="1">
              <a:spcAft>
                <a:spcPts val="1200"/>
              </a:spcAft>
            </a:pPr>
            <a:r>
              <a:rPr lang="fr-FR" b="1" i="0" dirty="0">
                <a:solidFill>
                  <a:srgbClr val="374151"/>
                </a:solidFill>
                <a:effectLst/>
                <a:latin typeface="+mj-lt"/>
              </a:rPr>
              <a:t>Cette approche permet d'estimer les performances sur des données non vues auparavant.</a:t>
            </a:r>
          </a:p>
        </p:txBody>
      </p:sp>
      <p:sp>
        <p:nvSpPr>
          <p:cNvPr id="9" name="Cylinder 8">
            <a:extLst>
              <a:ext uri="{FF2B5EF4-FFF2-40B4-BE49-F238E27FC236}">
                <a16:creationId xmlns:a16="http://schemas.microsoft.com/office/drawing/2014/main" id="{CD8E6C90-1524-5182-73A1-415A30188D13}"/>
              </a:ext>
            </a:extLst>
          </p:cNvPr>
          <p:cNvSpPr/>
          <p:nvPr/>
        </p:nvSpPr>
        <p:spPr>
          <a:xfrm>
            <a:off x="481264" y="3901963"/>
            <a:ext cx="2229852" cy="2406316"/>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Data Set</a:t>
            </a:r>
            <a:endParaRPr lang="fr-MA" dirty="0"/>
          </a:p>
        </p:txBody>
      </p:sp>
      <p:sp>
        <p:nvSpPr>
          <p:cNvPr id="10" name="Cylinder 9">
            <a:extLst>
              <a:ext uri="{FF2B5EF4-FFF2-40B4-BE49-F238E27FC236}">
                <a16:creationId xmlns:a16="http://schemas.microsoft.com/office/drawing/2014/main" id="{5693C6EE-6138-4A46-A661-595A975619A9}"/>
              </a:ext>
            </a:extLst>
          </p:cNvPr>
          <p:cNvSpPr/>
          <p:nvPr/>
        </p:nvSpPr>
        <p:spPr>
          <a:xfrm>
            <a:off x="3866148" y="3962400"/>
            <a:ext cx="2229852" cy="1315453"/>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Training set</a:t>
            </a:r>
            <a:endParaRPr lang="fr-MA" dirty="0"/>
          </a:p>
        </p:txBody>
      </p:sp>
      <p:sp>
        <p:nvSpPr>
          <p:cNvPr id="11" name="Cylinder 10">
            <a:extLst>
              <a:ext uri="{FF2B5EF4-FFF2-40B4-BE49-F238E27FC236}">
                <a16:creationId xmlns:a16="http://schemas.microsoft.com/office/drawing/2014/main" id="{5BAC950E-A1F6-FFC0-0F2F-E9F1E991A9F2}"/>
              </a:ext>
            </a:extLst>
          </p:cNvPr>
          <p:cNvSpPr/>
          <p:nvPr/>
        </p:nvSpPr>
        <p:spPr>
          <a:xfrm>
            <a:off x="3866148" y="5340769"/>
            <a:ext cx="2229852" cy="602228"/>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Test set</a:t>
            </a:r>
            <a:endParaRPr lang="fr-MA" dirty="0"/>
          </a:p>
        </p:txBody>
      </p:sp>
      <p:sp>
        <p:nvSpPr>
          <p:cNvPr id="12" name="Cylinder 11">
            <a:extLst>
              <a:ext uri="{FF2B5EF4-FFF2-40B4-BE49-F238E27FC236}">
                <a16:creationId xmlns:a16="http://schemas.microsoft.com/office/drawing/2014/main" id="{578448A5-A3E7-4D14-0E84-C656B843ECB4}"/>
              </a:ext>
            </a:extLst>
          </p:cNvPr>
          <p:cNvSpPr/>
          <p:nvPr/>
        </p:nvSpPr>
        <p:spPr>
          <a:xfrm>
            <a:off x="3866148" y="6007165"/>
            <a:ext cx="2229852" cy="602228"/>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Validation set</a:t>
            </a:r>
            <a:endParaRPr lang="fr-MA" dirty="0"/>
          </a:p>
        </p:txBody>
      </p:sp>
      <p:cxnSp>
        <p:nvCxnSpPr>
          <p:cNvPr id="14" name="Straight Arrow Connector 13">
            <a:extLst>
              <a:ext uri="{FF2B5EF4-FFF2-40B4-BE49-F238E27FC236}">
                <a16:creationId xmlns:a16="http://schemas.microsoft.com/office/drawing/2014/main" id="{C6BDC996-1D97-A231-7B60-22D72DF6E179}"/>
              </a:ext>
            </a:extLst>
          </p:cNvPr>
          <p:cNvCxnSpPr>
            <a:stCxn id="9" idx="4"/>
          </p:cNvCxnSpPr>
          <p:nvPr/>
        </p:nvCxnSpPr>
        <p:spPr>
          <a:xfrm flipV="1">
            <a:off x="2711116" y="4620126"/>
            <a:ext cx="1042737" cy="48499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07909E1-7068-6465-85BB-5900A37DED1D}"/>
              </a:ext>
            </a:extLst>
          </p:cNvPr>
          <p:cNvCxnSpPr>
            <a:cxnSpLocks/>
            <a:stCxn id="9" idx="4"/>
            <a:endCxn id="11" idx="2"/>
          </p:cNvCxnSpPr>
          <p:nvPr/>
        </p:nvCxnSpPr>
        <p:spPr>
          <a:xfrm>
            <a:off x="2711116" y="5105121"/>
            <a:ext cx="1155032" cy="5367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E50A261-8144-15DD-8362-3CA4F67416AB}"/>
              </a:ext>
            </a:extLst>
          </p:cNvPr>
          <p:cNvCxnSpPr>
            <a:cxnSpLocks/>
            <a:stCxn id="9" idx="4"/>
            <a:endCxn id="12" idx="2"/>
          </p:cNvCxnSpPr>
          <p:nvPr/>
        </p:nvCxnSpPr>
        <p:spPr>
          <a:xfrm>
            <a:off x="2711116" y="5105121"/>
            <a:ext cx="1155032" cy="12031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3999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F576355-8505-059F-6FC8-02E0A88E9831}"/>
              </a:ext>
            </a:extLst>
          </p:cNvPr>
          <p:cNvSpPr txBox="1"/>
          <p:nvPr/>
        </p:nvSpPr>
        <p:spPr>
          <a:xfrm>
            <a:off x="0" y="9273"/>
            <a:ext cx="12192000" cy="2831544"/>
          </a:xfrm>
          <a:prstGeom prst="rect">
            <a:avLst/>
          </a:prstGeom>
          <a:noFill/>
        </p:spPr>
        <p:txBody>
          <a:bodyPr wrap="square">
            <a:spAutoFit/>
          </a:bodyPr>
          <a:lstStyle/>
          <a:p>
            <a:pPr algn="l"/>
            <a:r>
              <a:rPr lang="fr-FR" sz="3200" b="1" i="0" dirty="0">
                <a:solidFill>
                  <a:srgbClr val="0070C0"/>
                </a:solidFill>
                <a:effectLst/>
                <a:latin typeface="+mj-lt"/>
              </a:rPr>
              <a:t>L'évaluation des modèles de machine </a:t>
            </a:r>
            <a:r>
              <a:rPr lang="fr-FR" sz="3200" b="1" i="0" dirty="0" err="1">
                <a:solidFill>
                  <a:srgbClr val="0070C0"/>
                </a:solidFill>
                <a:effectLst/>
                <a:latin typeface="+mj-lt"/>
              </a:rPr>
              <a:t>learning</a:t>
            </a:r>
            <a:r>
              <a:rPr lang="fr-FR" sz="3200" b="1" i="0" dirty="0">
                <a:solidFill>
                  <a:srgbClr val="0070C0"/>
                </a:solidFill>
                <a:effectLst/>
                <a:latin typeface="+mj-lt"/>
              </a:rPr>
              <a:t> </a:t>
            </a:r>
          </a:p>
          <a:p>
            <a:pPr algn="l"/>
            <a:endParaRPr lang="fr-FR" b="0" i="0" dirty="0">
              <a:solidFill>
                <a:srgbClr val="374151"/>
              </a:solidFill>
              <a:effectLst/>
              <a:latin typeface="+mj-lt"/>
            </a:endParaRPr>
          </a:p>
          <a:p>
            <a:pPr algn="l"/>
            <a:r>
              <a:rPr lang="fr-FR" b="1" i="0" dirty="0">
                <a:solidFill>
                  <a:srgbClr val="0070C0"/>
                </a:solidFill>
                <a:effectLst/>
                <a:latin typeface="+mj-lt"/>
              </a:rPr>
              <a:t>2) Validation croisée (cross-validation)</a:t>
            </a:r>
            <a:r>
              <a:rPr lang="fr-FR" b="0" i="0" dirty="0">
                <a:solidFill>
                  <a:srgbClr val="374151"/>
                </a:solidFill>
                <a:effectLst/>
                <a:latin typeface="+mj-lt"/>
              </a:rPr>
              <a:t> </a:t>
            </a:r>
          </a:p>
          <a:p>
            <a:pPr algn="l"/>
            <a:endParaRPr lang="fr-FR" b="0" i="0" dirty="0">
              <a:solidFill>
                <a:srgbClr val="374151"/>
              </a:solidFill>
              <a:effectLst/>
              <a:latin typeface="+mj-lt"/>
            </a:endParaRPr>
          </a:p>
          <a:p>
            <a:pPr marL="36000" algn="l">
              <a:spcAft>
                <a:spcPts val="1200"/>
              </a:spcAft>
            </a:pPr>
            <a:r>
              <a:rPr lang="fr-FR" b="0" i="0" dirty="0">
                <a:solidFill>
                  <a:srgbClr val="374151"/>
                </a:solidFill>
                <a:effectLst/>
                <a:latin typeface="+mj-lt"/>
              </a:rPr>
              <a:t>Si vous disposez d'un ensemble de données limité, la validation croisée est utile.</a:t>
            </a:r>
          </a:p>
          <a:p>
            <a:pPr marL="36000" lvl="1" indent="-285750">
              <a:spcAft>
                <a:spcPts val="1200"/>
              </a:spcAft>
              <a:buFont typeface="Wingdings" panose="05000000000000000000" pitchFamily="2" charset="2"/>
              <a:buChar char="§"/>
            </a:pPr>
            <a:r>
              <a:rPr lang="fr-FR" b="0" i="0" dirty="0">
                <a:solidFill>
                  <a:srgbClr val="374151"/>
                </a:solidFill>
                <a:effectLst/>
                <a:latin typeface="+mj-lt"/>
              </a:rPr>
              <a:t>Elle consiste à diviser les données en plusieurs plis (</a:t>
            </a:r>
            <a:r>
              <a:rPr lang="fr-FR" b="0" i="0" dirty="0" err="1">
                <a:solidFill>
                  <a:srgbClr val="374151"/>
                </a:solidFill>
                <a:effectLst/>
                <a:latin typeface="+mj-lt"/>
              </a:rPr>
              <a:t>folds</a:t>
            </a:r>
            <a:r>
              <a:rPr lang="fr-FR" b="0" i="0" dirty="0">
                <a:solidFill>
                  <a:srgbClr val="374151"/>
                </a:solidFill>
                <a:effectLst/>
                <a:latin typeface="+mj-lt"/>
              </a:rPr>
              <a:t>), à entraîner et à évaluer le modèle plusieurs fois en utilisant différentes combinaisons de plis pour l'entraînement et la validation.</a:t>
            </a:r>
          </a:p>
          <a:p>
            <a:pPr marL="36000" lvl="1" indent="-285750">
              <a:spcAft>
                <a:spcPts val="1200"/>
              </a:spcAft>
              <a:buFont typeface="Wingdings" panose="05000000000000000000" pitchFamily="2" charset="2"/>
              <a:buChar char="§"/>
            </a:pPr>
            <a:r>
              <a:rPr lang="fr-FR" b="0" i="0" dirty="0">
                <a:solidFill>
                  <a:srgbClr val="374151"/>
                </a:solidFill>
                <a:effectLst/>
                <a:latin typeface="+mj-lt"/>
              </a:rPr>
              <a:t>Cela permet d'obtenir une évaluation plus robuste du modèle.</a:t>
            </a:r>
          </a:p>
        </p:txBody>
      </p:sp>
      <p:pic>
        <p:nvPicPr>
          <p:cNvPr id="3" name="Picture 2">
            <a:extLst>
              <a:ext uri="{FF2B5EF4-FFF2-40B4-BE49-F238E27FC236}">
                <a16:creationId xmlns:a16="http://schemas.microsoft.com/office/drawing/2014/main" id="{A08316A6-7122-33A9-7358-7464726547FC}"/>
              </a:ext>
            </a:extLst>
          </p:cNvPr>
          <p:cNvPicPr>
            <a:picLocks noChangeAspect="1"/>
          </p:cNvPicPr>
          <p:nvPr/>
        </p:nvPicPr>
        <p:blipFill>
          <a:blip r:embed="rId2"/>
          <a:stretch>
            <a:fillRect/>
          </a:stretch>
        </p:blipFill>
        <p:spPr>
          <a:xfrm>
            <a:off x="2214562" y="3047749"/>
            <a:ext cx="5950870" cy="3864340"/>
          </a:xfrm>
          <a:prstGeom prst="rect">
            <a:avLst/>
          </a:prstGeom>
        </p:spPr>
      </p:pic>
    </p:spTree>
    <p:extLst>
      <p:ext uri="{BB962C8B-B14F-4D97-AF65-F5344CB8AC3E}">
        <p14:creationId xmlns:p14="http://schemas.microsoft.com/office/powerpoint/2010/main" val="2047191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F576355-8505-059F-6FC8-02E0A88E9831}"/>
              </a:ext>
            </a:extLst>
          </p:cNvPr>
          <p:cNvSpPr txBox="1"/>
          <p:nvPr/>
        </p:nvSpPr>
        <p:spPr>
          <a:xfrm>
            <a:off x="0" y="9275"/>
            <a:ext cx="12192000" cy="2985433"/>
          </a:xfrm>
          <a:prstGeom prst="rect">
            <a:avLst/>
          </a:prstGeom>
          <a:noFill/>
        </p:spPr>
        <p:txBody>
          <a:bodyPr wrap="square">
            <a:spAutoFit/>
          </a:bodyPr>
          <a:lstStyle/>
          <a:p>
            <a:pPr algn="l"/>
            <a:r>
              <a:rPr lang="fr-FR" sz="3200" b="1" i="0" dirty="0">
                <a:solidFill>
                  <a:srgbClr val="0070C0"/>
                </a:solidFill>
                <a:effectLst/>
                <a:latin typeface="+mj-lt"/>
              </a:rPr>
              <a:t>L'évaluation des modèles de machine </a:t>
            </a:r>
            <a:r>
              <a:rPr lang="fr-FR" sz="3200" b="1" i="0" dirty="0" err="1">
                <a:solidFill>
                  <a:srgbClr val="0070C0"/>
                </a:solidFill>
                <a:effectLst/>
                <a:latin typeface="+mj-lt"/>
              </a:rPr>
              <a:t>learning</a:t>
            </a:r>
            <a:r>
              <a:rPr lang="fr-FR" sz="3200" b="1" i="0" dirty="0">
                <a:solidFill>
                  <a:srgbClr val="0070C0"/>
                </a:solidFill>
                <a:effectLst/>
                <a:latin typeface="+mj-lt"/>
              </a:rPr>
              <a:t> </a:t>
            </a:r>
          </a:p>
          <a:p>
            <a:pPr algn="l"/>
            <a:endParaRPr lang="fr-FR" b="0" i="0" dirty="0">
              <a:solidFill>
                <a:srgbClr val="374151"/>
              </a:solidFill>
              <a:effectLst/>
              <a:latin typeface="+mj-lt"/>
            </a:endParaRPr>
          </a:p>
          <a:p>
            <a:pPr algn="l"/>
            <a:r>
              <a:rPr lang="fr-FR" b="1" i="0" dirty="0">
                <a:solidFill>
                  <a:srgbClr val="0070C0"/>
                </a:solidFill>
                <a:effectLst/>
                <a:latin typeface="+mj-lt"/>
              </a:rPr>
              <a:t>3) Métriques de performance</a:t>
            </a:r>
            <a:r>
              <a:rPr lang="fr-FR" b="0" i="0" dirty="0">
                <a:solidFill>
                  <a:srgbClr val="374151"/>
                </a:solidFill>
                <a:effectLst/>
                <a:latin typeface="+mj-lt"/>
              </a:rPr>
              <a:t> </a:t>
            </a:r>
          </a:p>
          <a:p>
            <a:pPr marL="36000" algn="l">
              <a:spcBef>
                <a:spcPts val="1200"/>
              </a:spcBef>
            </a:pPr>
            <a:r>
              <a:rPr lang="fr-FR" sz="2000" b="0" i="0" dirty="0">
                <a:solidFill>
                  <a:srgbClr val="374151"/>
                </a:solidFill>
                <a:effectLst/>
                <a:latin typeface="+mj-lt"/>
              </a:rPr>
              <a:t>Dans la littérature, il existe plusieurs métriques</a:t>
            </a:r>
          </a:p>
          <a:p>
            <a:pPr marL="36000" algn="l">
              <a:spcBef>
                <a:spcPts val="1200"/>
              </a:spcBef>
            </a:pPr>
            <a:r>
              <a:rPr lang="fr-FR" sz="2000" b="0" i="0" dirty="0">
                <a:solidFill>
                  <a:srgbClr val="374151"/>
                </a:solidFill>
                <a:effectLst/>
                <a:latin typeface="+mj-lt"/>
              </a:rPr>
              <a:t>Sélectionnez les métriques de performance appropriées  dépendent de:</a:t>
            </a:r>
          </a:p>
          <a:p>
            <a:pPr marL="36000" lvl="1" indent="-285750">
              <a:spcBef>
                <a:spcPts val="1200"/>
              </a:spcBef>
              <a:buFont typeface="Wingdings" panose="05000000000000000000" pitchFamily="2" charset="2"/>
              <a:buChar char="§"/>
            </a:pPr>
            <a:r>
              <a:rPr lang="fr-FR" sz="2000" b="0" i="0" dirty="0">
                <a:solidFill>
                  <a:srgbClr val="C00000"/>
                </a:solidFill>
                <a:effectLst/>
                <a:latin typeface="+mj-lt"/>
              </a:rPr>
              <a:t>type de problème:</a:t>
            </a:r>
            <a:r>
              <a:rPr lang="fr-FR" sz="2000" b="0" i="0" dirty="0">
                <a:solidFill>
                  <a:srgbClr val="374151"/>
                </a:solidFill>
                <a:effectLst/>
                <a:latin typeface="+mj-lt"/>
              </a:rPr>
              <a:t> Régression, classification, clustering</a:t>
            </a:r>
          </a:p>
          <a:p>
            <a:pPr marL="36000" lvl="1" indent="-285750">
              <a:spcBef>
                <a:spcPts val="1200"/>
              </a:spcBef>
              <a:buFont typeface="Wingdings" panose="05000000000000000000" pitchFamily="2" charset="2"/>
              <a:buChar char="§"/>
            </a:pPr>
            <a:r>
              <a:rPr lang="fr-FR" sz="2000" b="0" i="0" dirty="0">
                <a:solidFill>
                  <a:srgbClr val="C00000"/>
                </a:solidFill>
                <a:effectLst/>
                <a:latin typeface="+mj-lt"/>
              </a:rPr>
              <a:t>Contexte:</a:t>
            </a:r>
            <a:r>
              <a:rPr lang="fr-FR" sz="2000" b="0" i="0" dirty="0">
                <a:solidFill>
                  <a:srgbClr val="374151"/>
                </a:solidFill>
                <a:effectLst/>
                <a:latin typeface="+mj-lt"/>
              </a:rPr>
              <a:t> Finance, Banque, Santé, Société, Commerce…</a:t>
            </a:r>
          </a:p>
        </p:txBody>
      </p:sp>
      <p:sp>
        <p:nvSpPr>
          <p:cNvPr id="2" name="TextBox 1">
            <a:extLst>
              <a:ext uri="{FF2B5EF4-FFF2-40B4-BE49-F238E27FC236}">
                <a16:creationId xmlns:a16="http://schemas.microsoft.com/office/drawing/2014/main" id="{3CAA01CB-01D0-5D2F-DC02-8C40647B327A}"/>
              </a:ext>
            </a:extLst>
          </p:cNvPr>
          <p:cNvSpPr txBox="1"/>
          <p:nvPr/>
        </p:nvSpPr>
        <p:spPr>
          <a:xfrm>
            <a:off x="930442" y="3898232"/>
            <a:ext cx="7571874" cy="523220"/>
          </a:xfrm>
          <a:prstGeom prst="rect">
            <a:avLst/>
          </a:prstGeom>
          <a:noFill/>
        </p:spPr>
        <p:txBody>
          <a:bodyPr wrap="square" rtlCol="0">
            <a:spAutoFit/>
          </a:bodyPr>
          <a:lstStyle/>
          <a:p>
            <a:r>
              <a:rPr lang="fr-FR" sz="2800" dirty="0"/>
              <a:t>Cette partie sera présentée en détail</a:t>
            </a:r>
            <a:endParaRPr lang="fr-MA" sz="2800" dirty="0"/>
          </a:p>
        </p:txBody>
      </p:sp>
    </p:spTree>
    <p:extLst>
      <p:ext uri="{BB962C8B-B14F-4D97-AF65-F5344CB8AC3E}">
        <p14:creationId xmlns:p14="http://schemas.microsoft.com/office/powerpoint/2010/main" val="1371575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F576355-8505-059F-6FC8-02E0A88E9831}"/>
              </a:ext>
            </a:extLst>
          </p:cNvPr>
          <p:cNvSpPr txBox="1"/>
          <p:nvPr/>
        </p:nvSpPr>
        <p:spPr>
          <a:xfrm>
            <a:off x="0" y="9273"/>
            <a:ext cx="12192000" cy="2000548"/>
          </a:xfrm>
          <a:prstGeom prst="rect">
            <a:avLst/>
          </a:prstGeom>
          <a:noFill/>
        </p:spPr>
        <p:txBody>
          <a:bodyPr wrap="square">
            <a:spAutoFit/>
          </a:bodyPr>
          <a:lstStyle/>
          <a:p>
            <a:pPr algn="l"/>
            <a:r>
              <a:rPr lang="fr-FR" sz="3200" b="1" i="0" dirty="0">
                <a:solidFill>
                  <a:srgbClr val="0070C0"/>
                </a:solidFill>
                <a:effectLst/>
                <a:latin typeface="+mj-lt"/>
              </a:rPr>
              <a:t>L'évaluation des modèles de machine </a:t>
            </a:r>
            <a:r>
              <a:rPr lang="fr-FR" sz="3200" b="1" i="0" dirty="0" err="1">
                <a:solidFill>
                  <a:srgbClr val="0070C0"/>
                </a:solidFill>
                <a:effectLst/>
                <a:latin typeface="+mj-lt"/>
              </a:rPr>
              <a:t>learning</a:t>
            </a:r>
            <a:r>
              <a:rPr lang="fr-FR" sz="3200" b="1" i="0" dirty="0">
                <a:solidFill>
                  <a:srgbClr val="0070C0"/>
                </a:solidFill>
                <a:effectLst/>
                <a:latin typeface="+mj-lt"/>
              </a:rPr>
              <a:t> </a:t>
            </a:r>
          </a:p>
          <a:p>
            <a:pPr algn="l"/>
            <a:endParaRPr lang="fr-FR" b="0" i="0" dirty="0">
              <a:solidFill>
                <a:srgbClr val="374151"/>
              </a:solidFill>
              <a:effectLst/>
              <a:latin typeface="+mj-lt"/>
            </a:endParaRPr>
          </a:p>
          <a:p>
            <a:pPr algn="l"/>
            <a:r>
              <a:rPr lang="fr-FR" b="1" dirty="0">
                <a:solidFill>
                  <a:srgbClr val="0070C0"/>
                </a:solidFill>
                <a:latin typeface="+mj-lt"/>
              </a:rPr>
              <a:t>4) </a:t>
            </a:r>
            <a:r>
              <a:rPr lang="fr-FR" b="1" i="0" dirty="0">
                <a:solidFill>
                  <a:srgbClr val="0070C0"/>
                </a:solidFill>
                <a:effectLst/>
                <a:latin typeface="Söhne"/>
              </a:rPr>
              <a:t>Comparaison de modèles</a:t>
            </a:r>
          </a:p>
          <a:p>
            <a:pPr algn="l">
              <a:spcBef>
                <a:spcPts val="1200"/>
              </a:spcBef>
            </a:pPr>
            <a:r>
              <a:rPr lang="fr-FR" b="0" i="0" dirty="0">
                <a:solidFill>
                  <a:srgbClr val="374151"/>
                </a:solidFill>
                <a:effectLst/>
                <a:latin typeface="Söhne"/>
              </a:rPr>
              <a:t>Évaluez et comparez plusieurs modèles en utilisant les mêmes métriques de performance sur les mêmes ensembles de données.</a:t>
            </a:r>
          </a:p>
          <a:p>
            <a:pPr algn="l">
              <a:spcBef>
                <a:spcPts val="1200"/>
              </a:spcBef>
            </a:pPr>
            <a:r>
              <a:rPr lang="fr-FR" b="0" i="0" dirty="0">
                <a:solidFill>
                  <a:srgbClr val="374151"/>
                </a:solidFill>
                <a:effectLst/>
                <a:latin typeface="Söhne"/>
              </a:rPr>
              <a:t> Cela vous aidera à déterminer quel modèle fonctionne le mieux pour votre problème spécifique.</a:t>
            </a:r>
          </a:p>
        </p:txBody>
      </p:sp>
    </p:spTree>
    <p:extLst>
      <p:ext uri="{BB962C8B-B14F-4D97-AF65-F5344CB8AC3E}">
        <p14:creationId xmlns:p14="http://schemas.microsoft.com/office/powerpoint/2010/main" val="2343605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F576355-8505-059F-6FC8-02E0A88E9831}"/>
              </a:ext>
            </a:extLst>
          </p:cNvPr>
          <p:cNvSpPr txBox="1"/>
          <p:nvPr/>
        </p:nvSpPr>
        <p:spPr>
          <a:xfrm>
            <a:off x="0" y="9273"/>
            <a:ext cx="12192000" cy="2523768"/>
          </a:xfrm>
          <a:prstGeom prst="rect">
            <a:avLst/>
          </a:prstGeom>
          <a:noFill/>
        </p:spPr>
        <p:txBody>
          <a:bodyPr wrap="square">
            <a:spAutoFit/>
          </a:bodyPr>
          <a:lstStyle/>
          <a:p>
            <a:pPr algn="l"/>
            <a:r>
              <a:rPr lang="fr-FR" sz="3200" b="1" i="0" dirty="0">
                <a:solidFill>
                  <a:srgbClr val="0070C0"/>
                </a:solidFill>
                <a:effectLst/>
                <a:latin typeface="+mj-lt"/>
              </a:rPr>
              <a:t>L'évaluation des modèles de Machine Learning </a:t>
            </a:r>
          </a:p>
          <a:p>
            <a:pPr algn="l"/>
            <a:endParaRPr lang="fr-FR" b="0" i="0" dirty="0">
              <a:solidFill>
                <a:srgbClr val="374151"/>
              </a:solidFill>
              <a:effectLst/>
              <a:latin typeface="+mj-lt"/>
            </a:endParaRPr>
          </a:p>
          <a:p>
            <a:pPr algn="l"/>
            <a:r>
              <a:rPr lang="fr-FR" b="1" dirty="0">
                <a:solidFill>
                  <a:srgbClr val="0070C0"/>
                </a:solidFill>
                <a:latin typeface="+mj-lt"/>
              </a:rPr>
              <a:t>5) </a:t>
            </a:r>
            <a:r>
              <a:rPr lang="fr-FR" b="1" i="0" dirty="0">
                <a:solidFill>
                  <a:srgbClr val="0070C0"/>
                </a:solidFill>
                <a:effectLst/>
                <a:latin typeface="+mj-lt"/>
              </a:rPr>
              <a:t>Analyse des erreurs</a:t>
            </a:r>
          </a:p>
          <a:p>
            <a:pPr algn="l"/>
            <a:endParaRPr lang="fr-FR" b="1" i="0" dirty="0">
              <a:solidFill>
                <a:srgbClr val="0070C0"/>
              </a:solidFill>
              <a:effectLst/>
              <a:latin typeface="+mj-lt"/>
            </a:endParaRPr>
          </a:p>
          <a:p>
            <a:pPr algn="l"/>
            <a:r>
              <a:rPr lang="fr-FR" b="0" i="0" dirty="0">
                <a:solidFill>
                  <a:srgbClr val="374151"/>
                </a:solidFill>
                <a:effectLst/>
                <a:latin typeface="+mj-lt"/>
              </a:rPr>
              <a:t>Examinez les erreurs du modèle pour comprendre les types d'erreurs qu'il commet et identifier les domaines où il peut être amélioré.</a:t>
            </a:r>
          </a:p>
          <a:p>
            <a:pPr algn="l"/>
            <a:endParaRPr lang="fr-FR" b="0" i="0" dirty="0">
              <a:solidFill>
                <a:srgbClr val="374151"/>
              </a:solidFill>
              <a:effectLst/>
              <a:latin typeface="+mj-lt"/>
            </a:endParaRPr>
          </a:p>
          <a:p>
            <a:pPr algn="l"/>
            <a:r>
              <a:rPr lang="fr-FR" b="0" i="0" dirty="0">
                <a:solidFill>
                  <a:srgbClr val="374151"/>
                </a:solidFill>
                <a:effectLst/>
                <a:latin typeface="+mj-lt"/>
              </a:rPr>
              <a:t>Cela peut vous aider à affiner votre modèle, à collecter des données supplémentaires ou à ajuster vos caractéristiques d'entrée.</a:t>
            </a:r>
          </a:p>
        </p:txBody>
      </p:sp>
    </p:spTree>
    <p:extLst>
      <p:ext uri="{BB962C8B-B14F-4D97-AF65-F5344CB8AC3E}">
        <p14:creationId xmlns:p14="http://schemas.microsoft.com/office/powerpoint/2010/main" val="2742171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necteur droit 3"/>
          <p:cNvCxnSpPr/>
          <p:nvPr/>
        </p:nvCxnSpPr>
        <p:spPr>
          <a:xfrm>
            <a:off x="0" y="708926"/>
            <a:ext cx="12204000" cy="0"/>
          </a:xfrm>
          <a:prstGeom prst="line">
            <a:avLst/>
          </a:prstGeom>
          <a:ln w="6350">
            <a:solidFill>
              <a:srgbClr val="FF0000"/>
            </a:solidFill>
          </a:ln>
        </p:spPr>
        <p:style>
          <a:lnRef idx="2">
            <a:schemeClr val="accent2"/>
          </a:lnRef>
          <a:fillRef idx="0">
            <a:schemeClr val="accent2"/>
          </a:fillRef>
          <a:effectRef idx="1">
            <a:schemeClr val="accent2"/>
          </a:effectRef>
          <a:fontRef idx="minor">
            <a:schemeClr val="tx1"/>
          </a:fontRef>
        </p:style>
      </p:cxnSp>
      <p:sp>
        <p:nvSpPr>
          <p:cNvPr id="5" name="ZoneTexte 4"/>
          <p:cNvSpPr txBox="1"/>
          <p:nvPr/>
        </p:nvSpPr>
        <p:spPr>
          <a:xfrm>
            <a:off x="1255596" y="28057"/>
            <a:ext cx="9144000" cy="584775"/>
          </a:xfrm>
          <a:prstGeom prst="rect">
            <a:avLst/>
          </a:prstGeom>
          <a:noFill/>
        </p:spPr>
        <p:txBody>
          <a:bodyPr wrap="square" rtlCol="0">
            <a:spAutoFit/>
          </a:bodyPr>
          <a:lstStyle/>
          <a:p>
            <a:pPr algn="ctr"/>
            <a:r>
              <a:rPr lang="fr-FR" sz="3200" b="1" dirty="0">
                <a:solidFill>
                  <a:schemeClr val="tx1">
                    <a:lumMod val="75000"/>
                    <a:lumOff val="25000"/>
                  </a:schemeClr>
                </a:solidFill>
              </a:rPr>
              <a:t>Métriques d’évaluation</a:t>
            </a:r>
            <a:endParaRPr lang="fr-FR" sz="2400" b="1" dirty="0">
              <a:solidFill>
                <a:srgbClr val="FF0000"/>
              </a:solidFill>
            </a:endParaRPr>
          </a:p>
        </p:txBody>
      </p:sp>
      <p:sp>
        <p:nvSpPr>
          <p:cNvPr id="2" name="ZoneTexte 124">
            <a:extLst>
              <a:ext uri="{FF2B5EF4-FFF2-40B4-BE49-F238E27FC236}">
                <a16:creationId xmlns:a16="http://schemas.microsoft.com/office/drawing/2014/main" id="{E6077A0B-FC89-9FAF-A27B-4CDAEBD76D68}"/>
              </a:ext>
            </a:extLst>
          </p:cNvPr>
          <p:cNvSpPr txBox="1"/>
          <p:nvPr/>
        </p:nvSpPr>
        <p:spPr>
          <a:xfrm>
            <a:off x="16795" y="779663"/>
            <a:ext cx="12175205" cy="3406061"/>
          </a:xfrm>
          <a:prstGeom prst="rect">
            <a:avLst/>
          </a:prstGeom>
          <a:noFill/>
        </p:spPr>
        <p:txBody>
          <a:bodyPr wrap="square" rtlCol="0">
            <a:spAutoFit/>
          </a:bodyPr>
          <a:lstStyle/>
          <a:p>
            <a:pPr marL="285750" indent="-285750">
              <a:spcAft>
                <a:spcPts val="800"/>
              </a:spcAft>
              <a:buClr>
                <a:srgbClr val="FF3300"/>
              </a:buClr>
              <a:buFont typeface="Wingdings" panose="05000000000000000000" pitchFamily="2" charset="2"/>
              <a:buChar char="§"/>
            </a:pPr>
            <a:r>
              <a:rPr lang="fr-FR" dirty="0">
                <a:solidFill>
                  <a:schemeClr val="tx1">
                    <a:lumMod val="95000"/>
                    <a:lumOff val="5000"/>
                  </a:schemeClr>
                </a:solidFill>
                <a:latin typeface="+mj-lt"/>
              </a:rPr>
              <a:t>pour évaluer le modèle, nous avons des métriques d’évaluation</a:t>
            </a:r>
          </a:p>
          <a:p>
            <a:pPr marL="285750" indent="-285750">
              <a:spcAft>
                <a:spcPts val="800"/>
              </a:spcAft>
              <a:buClr>
                <a:srgbClr val="FF3300"/>
              </a:buClr>
              <a:buFont typeface="Wingdings" panose="05000000000000000000" pitchFamily="2" charset="2"/>
              <a:buChar char="§"/>
            </a:pPr>
            <a:r>
              <a:rPr lang="fr-FR" dirty="0">
                <a:solidFill>
                  <a:schemeClr val="tx1">
                    <a:lumMod val="95000"/>
                    <a:lumOff val="5000"/>
                  </a:schemeClr>
                </a:solidFill>
                <a:latin typeface="+mj-lt"/>
              </a:rPr>
              <a:t>Ces métriques d’évaluation sont liées au type de modèle de machine </a:t>
            </a:r>
            <a:r>
              <a:rPr lang="fr-FR" dirty="0" err="1">
                <a:solidFill>
                  <a:schemeClr val="tx1">
                    <a:lumMod val="95000"/>
                    <a:lumOff val="5000"/>
                  </a:schemeClr>
                </a:solidFill>
                <a:latin typeface="+mj-lt"/>
              </a:rPr>
              <a:t>learning</a:t>
            </a:r>
            <a:endParaRPr lang="fr-FR" dirty="0">
              <a:solidFill>
                <a:schemeClr val="tx1">
                  <a:lumMod val="95000"/>
                  <a:lumOff val="5000"/>
                </a:schemeClr>
              </a:solidFill>
              <a:latin typeface="+mj-lt"/>
            </a:endParaRPr>
          </a:p>
          <a:p>
            <a:pPr marL="742950" lvl="1" indent="-285750">
              <a:spcAft>
                <a:spcPts val="800"/>
              </a:spcAft>
              <a:buClr>
                <a:srgbClr val="FF3300"/>
              </a:buClr>
              <a:buFont typeface="Wingdings" panose="05000000000000000000" pitchFamily="2" charset="2"/>
              <a:buChar char="§"/>
            </a:pPr>
            <a:r>
              <a:rPr lang="fr-FR" dirty="0">
                <a:solidFill>
                  <a:schemeClr val="tx1">
                    <a:lumMod val="95000"/>
                    <a:lumOff val="5000"/>
                  </a:schemeClr>
                </a:solidFill>
                <a:latin typeface="+mj-lt"/>
              </a:rPr>
              <a:t>Modèle de classification</a:t>
            </a:r>
          </a:p>
          <a:p>
            <a:pPr marL="1200150" lvl="2" indent="-285750">
              <a:spcAft>
                <a:spcPts val="800"/>
              </a:spcAft>
              <a:buClr>
                <a:srgbClr val="FF3300"/>
              </a:buClr>
              <a:buFont typeface="Wingdings" panose="05000000000000000000" pitchFamily="2" charset="2"/>
              <a:buChar char="§"/>
            </a:pPr>
            <a:r>
              <a:rPr lang="fr-FR" dirty="0">
                <a:solidFill>
                  <a:schemeClr val="tx1">
                    <a:lumMod val="95000"/>
                    <a:lumOff val="5000"/>
                  </a:schemeClr>
                </a:solidFill>
                <a:latin typeface="+mj-lt"/>
              </a:rPr>
              <a:t>On utilise confusion matrix, </a:t>
            </a:r>
            <a:r>
              <a:rPr lang="fr-FR" dirty="0" err="1">
                <a:solidFill>
                  <a:schemeClr val="tx1">
                    <a:lumMod val="95000"/>
                    <a:lumOff val="5000"/>
                  </a:schemeClr>
                </a:solidFill>
                <a:latin typeface="+mj-lt"/>
              </a:rPr>
              <a:t>accuracy</a:t>
            </a:r>
            <a:r>
              <a:rPr lang="fr-FR" dirty="0">
                <a:solidFill>
                  <a:schemeClr val="tx1">
                    <a:lumMod val="95000"/>
                    <a:lumOff val="5000"/>
                  </a:schemeClr>
                </a:solidFill>
                <a:latin typeface="+mj-lt"/>
              </a:rPr>
              <a:t>, </a:t>
            </a:r>
            <a:r>
              <a:rPr lang="fr-FR" dirty="0" err="1">
                <a:solidFill>
                  <a:schemeClr val="tx1">
                    <a:lumMod val="95000"/>
                    <a:lumOff val="5000"/>
                  </a:schemeClr>
                </a:solidFill>
                <a:latin typeface="+mj-lt"/>
              </a:rPr>
              <a:t>precision</a:t>
            </a:r>
            <a:r>
              <a:rPr lang="fr-FR" dirty="0">
                <a:solidFill>
                  <a:schemeClr val="tx1">
                    <a:lumMod val="95000"/>
                    <a:lumOff val="5000"/>
                  </a:schemeClr>
                </a:solidFill>
                <a:latin typeface="+mj-lt"/>
              </a:rPr>
              <a:t>, </a:t>
            </a:r>
            <a:r>
              <a:rPr lang="fr-FR" dirty="0" err="1">
                <a:solidFill>
                  <a:schemeClr val="tx1">
                    <a:lumMod val="95000"/>
                    <a:lumOff val="5000"/>
                  </a:schemeClr>
                </a:solidFill>
                <a:latin typeface="+mj-lt"/>
              </a:rPr>
              <a:t>recall</a:t>
            </a:r>
            <a:r>
              <a:rPr lang="fr-FR" dirty="0">
                <a:solidFill>
                  <a:schemeClr val="tx1">
                    <a:lumMod val="95000"/>
                    <a:lumOff val="5000"/>
                  </a:schemeClr>
                </a:solidFill>
                <a:latin typeface="+mj-lt"/>
              </a:rPr>
              <a:t> pour évaluer un modèle de classification</a:t>
            </a:r>
          </a:p>
          <a:p>
            <a:pPr marL="742950" lvl="1" indent="-285750">
              <a:spcAft>
                <a:spcPts val="800"/>
              </a:spcAft>
              <a:buClr>
                <a:srgbClr val="FF3300"/>
              </a:buClr>
              <a:buFont typeface="Wingdings" panose="05000000000000000000" pitchFamily="2" charset="2"/>
              <a:buChar char="§"/>
            </a:pPr>
            <a:r>
              <a:rPr lang="fr-FR" dirty="0">
                <a:solidFill>
                  <a:schemeClr val="tx1">
                    <a:lumMod val="95000"/>
                    <a:lumOff val="5000"/>
                  </a:schemeClr>
                </a:solidFill>
                <a:latin typeface="+mj-lt"/>
              </a:rPr>
              <a:t>Modèle de régression</a:t>
            </a:r>
          </a:p>
          <a:p>
            <a:pPr marL="1200150" lvl="2" indent="-285750">
              <a:spcAft>
                <a:spcPts val="800"/>
              </a:spcAft>
              <a:buClr>
                <a:srgbClr val="FF3300"/>
              </a:buClr>
              <a:buFont typeface="Wingdings" panose="05000000000000000000" pitchFamily="2" charset="2"/>
              <a:buChar char="§"/>
            </a:pPr>
            <a:r>
              <a:rPr lang="fr-FR" dirty="0">
                <a:solidFill>
                  <a:schemeClr val="tx1">
                    <a:lumMod val="95000"/>
                    <a:lumOff val="5000"/>
                  </a:schemeClr>
                </a:solidFill>
                <a:latin typeface="+mj-lt"/>
              </a:rPr>
              <a:t>On utilise MAE, RMSE, R</a:t>
            </a:r>
            <a:r>
              <a:rPr lang="fr-FR" baseline="30000" dirty="0">
                <a:solidFill>
                  <a:schemeClr val="tx1">
                    <a:lumMod val="95000"/>
                    <a:lumOff val="5000"/>
                  </a:schemeClr>
                </a:solidFill>
                <a:latin typeface="+mj-lt"/>
              </a:rPr>
              <a:t>2</a:t>
            </a:r>
            <a:r>
              <a:rPr lang="fr-FR" dirty="0">
                <a:solidFill>
                  <a:schemeClr val="tx1">
                    <a:lumMod val="95000"/>
                    <a:lumOff val="5000"/>
                  </a:schemeClr>
                </a:solidFill>
                <a:latin typeface="+mj-lt"/>
              </a:rPr>
              <a:t>…  pour évaluer un modèle de régression </a:t>
            </a:r>
          </a:p>
          <a:p>
            <a:pPr marL="742950" lvl="1" indent="-285750">
              <a:spcAft>
                <a:spcPts val="800"/>
              </a:spcAft>
              <a:buClr>
                <a:srgbClr val="FF3300"/>
              </a:buClr>
              <a:buFont typeface="Wingdings" panose="05000000000000000000" pitchFamily="2" charset="2"/>
              <a:buChar char="§"/>
            </a:pPr>
            <a:r>
              <a:rPr lang="fr-FR" dirty="0">
                <a:solidFill>
                  <a:schemeClr val="tx1">
                    <a:lumMod val="95000"/>
                    <a:lumOff val="5000"/>
                  </a:schemeClr>
                </a:solidFill>
                <a:latin typeface="+mj-lt"/>
              </a:rPr>
              <a:t>Clustering</a:t>
            </a:r>
          </a:p>
          <a:p>
            <a:pPr marL="1200150" lvl="2" indent="-285750">
              <a:spcAft>
                <a:spcPts val="800"/>
              </a:spcAft>
              <a:buClr>
                <a:srgbClr val="FF3300"/>
              </a:buClr>
              <a:buFont typeface="Wingdings" panose="05000000000000000000" pitchFamily="2" charset="2"/>
              <a:buChar char="§"/>
            </a:pPr>
            <a:r>
              <a:rPr lang="fr-FR" dirty="0">
                <a:solidFill>
                  <a:schemeClr val="tx1">
                    <a:lumMod val="95000"/>
                    <a:lumOff val="5000"/>
                  </a:schemeClr>
                </a:solidFill>
                <a:latin typeface="+mj-lt"/>
              </a:rPr>
              <a:t>On utilise le </a:t>
            </a:r>
            <a:r>
              <a:rPr lang="fr-MA" i="0" dirty="0">
                <a:solidFill>
                  <a:schemeClr val="tx1">
                    <a:lumMod val="95000"/>
                    <a:lumOff val="5000"/>
                  </a:schemeClr>
                </a:solidFill>
                <a:effectLst/>
                <a:latin typeface="+mj-lt"/>
              </a:rPr>
              <a:t>Coefficient de silhouette, Index de Davies-</a:t>
            </a:r>
            <a:r>
              <a:rPr lang="fr-MA" i="0" dirty="0" err="1">
                <a:solidFill>
                  <a:schemeClr val="tx1">
                    <a:lumMod val="95000"/>
                    <a:lumOff val="5000"/>
                  </a:schemeClr>
                </a:solidFill>
                <a:effectLst/>
                <a:latin typeface="+mj-lt"/>
              </a:rPr>
              <a:t>Bouldin</a:t>
            </a:r>
            <a:r>
              <a:rPr lang="fr-MA" i="0" dirty="0">
                <a:solidFill>
                  <a:schemeClr val="tx1">
                    <a:lumMod val="95000"/>
                    <a:lumOff val="5000"/>
                  </a:schemeClr>
                </a:solidFill>
                <a:effectLst/>
                <a:latin typeface="+mj-lt"/>
              </a:rPr>
              <a:t> (DBI)… </a:t>
            </a:r>
            <a:r>
              <a:rPr lang="fr-FR" dirty="0">
                <a:solidFill>
                  <a:schemeClr val="tx1">
                    <a:lumMod val="95000"/>
                    <a:lumOff val="5000"/>
                  </a:schemeClr>
                </a:solidFill>
                <a:latin typeface="+mj-lt"/>
              </a:rPr>
              <a:t> pour évaluer des</a:t>
            </a:r>
          </a:p>
          <a:p>
            <a:pPr marL="742950" lvl="1" indent="-285750">
              <a:spcAft>
                <a:spcPts val="800"/>
              </a:spcAft>
              <a:buClr>
                <a:srgbClr val="FF3300"/>
              </a:buClr>
              <a:buFont typeface="Wingdings" panose="05000000000000000000" pitchFamily="2" charset="2"/>
              <a:buChar char="§"/>
            </a:pPr>
            <a:endParaRPr lang="fr-FR" dirty="0">
              <a:solidFill>
                <a:schemeClr val="tx1">
                  <a:lumMod val="95000"/>
                  <a:lumOff val="5000"/>
                </a:schemeClr>
              </a:solidFill>
              <a:latin typeface="+mj-lt"/>
            </a:endParaRPr>
          </a:p>
        </p:txBody>
      </p:sp>
    </p:spTree>
    <p:extLst>
      <p:ext uri="{BB962C8B-B14F-4D97-AF65-F5344CB8AC3E}">
        <p14:creationId xmlns:p14="http://schemas.microsoft.com/office/powerpoint/2010/main" val="2062597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necteur droit 3"/>
          <p:cNvCxnSpPr/>
          <p:nvPr/>
        </p:nvCxnSpPr>
        <p:spPr>
          <a:xfrm>
            <a:off x="0" y="708926"/>
            <a:ext cx="12204000" cy="0"/>
          </a:xfrm>
          <a:prstGeom prst="line">
            <a:avLst/>
          </a:prstGeom>
          <a:ln w="6350">
            <a:solidFill>
              <a:srgbClr val="FF0000"/>
            </a:solidFill>
          </a:ln>
        </p:spPr>
        <p:style>
          <a:lnRef idx="2">
            <a:schemeClr val="accent2"/>
          </a:lnRef>
          <a:fillRef idx="0">
            <a:schemeClr val="accent2"/>
          </a:fillRef>
          <a:effectRef idx="1">
            <a:schemeClr val="accent2"/>
          </a:effectRef>
          <a:fontRef idx="minor">
            <a:schemeClr val="tx1"/>
          </a:fontRef>
        </p:style>
      </p:cxnSp>
      <p:sp>
        <p:nvSpPr>
          <p:cNvPr id="5" name="ZoneTexte 4"/>
          <p:cNvSpPr txBox="1"/>
          <p:nvPr/>
        </p:nvSpPr>
        <p:spPr>
          <a:xfrm>
            <a:off x="571503" y="11730"/>
            <a:ext cx="9942396" cy="584775"/>
          </a:xfrm>
          <a:prstGeom prst="rect">
            <a:avLst/>
          </a:prstGeom>
          <a:noFill/>
        </p:spPr>
        <p:txBody>
          <a:bodyPr wrap="square" rtlCol="0">
            <a:spAutoFit/>
          </a:bodyPr>
          <a:lstStyle/>
          <a:p>
            <a:pPr algn="ctr"/>
            <a:r>
              <a:rPr lang="fr-FR" sz="3200" b="1" dirty="0">
                <a:solidFill>
                  <a:schemeClr val="tx1">
                    <a:lumMod val="75000"/>
                    <a:lumOff val="25000"/>
                  </a:schemeClr>
                </a:solidFill>
              </a:rPr>
              <a:t>Mesurer la performance d’un problème de classification</a:t>
            </a:r>
            <a:endParaRPr lang="fr-FR" sz="2400" b="1" dirty="0">
              <a:solidFill>
                <a:srgbClr val="FF0000"/>
              </a:solidFill>
            </a:endParaRPr>
          </a:p>
        </p:txBody>
      </p:sp>
      <mc:AlternateContent xmlns:mc="http://schemas.openxmlformats.org/markup-compatibility/2006">
        <mc:Choice xmlns:a14="http://schemas.microsoft.com/office/drawing/2010/main" Requires="a14">
          <p:sp>
            <p:nvSpPr>
              <p:cNvPr id="7" name="ZoneTexte 124">
                <a:extLst>
                  <a:ext uri="{FF2B5EF4-FFF2-40B4-BE49-F238E27FC236}">
                    <a16:creationId xmlns:a16="http://schemas.microsoft.com/office/drawing/2014/main" id="{C17E68F0-F468-7BCE-9636-A9FE485ED045}"/>
                  </a:ext>
                </a:extLst>
              </p:cNvPr>
              <p:cNvSpPr txBox="1"/>
              <p:nvPr/>
            </p:nvSpPr>
            <p:spPr>
              <a:xfrm>
                <a:off x="16795" y="779663"/>
                <a:ext cx="12175205" cy="369332"/>
              </a:xfrm>
              <a:prstGeom prst="rect">
                <a:avLst/>
              </a:prstGeom>
              <a:noFill/>
            </p:spPr>
            <p:txBody>
              <a:bodyPr wrap="square" rtlCol="0">
                <a:spAutoFit/>
              </a:bodyPr>
              <a:lstStyle/>
              <a:p>
                <a:pPr marL="742950" lvl="1" indent="-285750">
                  <a:spcAft>
                    <a:spcPts val="800"/>
                  </a:spcAft>
                  <a:buClr>
                    <a:srgbClr val="FF3300"/>
                  </a:buClr>
                  <a:buFont typeface="Wingdings" panose="05000000000000000000" pitchFamily="2" charset="2"/>
                  <a:buChar char="§"/>
                </a:pPr>
                <a14:m>
                  <m:oMath xmlns:m="http://schemas.openxmlformats.org/officeDocument/2006/math">
                    <m:r>
                      <a:rPr lang="fr-FR" b="1" i="1" smtClean="0">
                        <a:solidFill>
                          <a:schemeClr val="tx1">
                            <a:lumMod val="95000"/>
                            <a:lumOff val="5000"/>
                          </a:schemeClr>
                        </a:solidFill>
                        <a:latin typeface="Cambria Math" panose="02040503050406030204" pitchFamily="18" charset="0"/>
                      </a:rPr>
                      <m:t>𝑴𝒂𝒕𝒓𝒊𝒄𝒆</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𝒅𝒆</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𝒄𝒐𝒏𝒇𝒖𝒔𝒊𝒐𝒏</m:t>
                    </m:r>
                  </m:oMath>
                </a14:m>
                <a:endParaRPr lang="fr-FR" b="1" dirty="0">
                  <a:solidFill>
                    <a:schemeClr val="tx1">
                      <a:lumMod val="95000"/>
                      <a:lumOff val="5000"/>
                    </a:schemeClr>
                  </a:solidFill>
                </a:endParaRPr>
              </a:p>
            </p:txBody>
          </p:sp>
        </mc:Choice>
        <mc:Fallback>
          <p:sp>
            <p:nvSpPr>
              <p:cNvPr id="7" name="ZoneTexte 124">
                <a:extLst>
                  <a:ext uri="{FF2B5EF4-FFF2-40B4-BE49-F238E27FC236}">
                    <a16:creationId xmlns:a16="http://schemas.microsoft.com/office/drawing/2014/main" id="{C17E68F0-F468-7BCE-9636-A9FE485ED045}"/>
                  </a:ext>
                </a:extLst>
              </p:cNvPr>
              <p:cNvSpPr txBox="1">
                <a:spLocks noRot="1" noChangeAspect="1" noMove="1" noResize="1" noEditPoints="1" noAdjustHandles="1" noChangeArrowheads="1" noChangeShapeType="1" noTextEdit="1"/>
              </p:cNvSpPr>
              <p:nvPr/>
            </p:nvSpPr>
            <p:spPr>
              <a:xfrm>
                <a:off x="16795" y="779663"/>
                <a:ext cx="12175205" cy="369332"/>
              </a:xfrm>
              <a:prstGeom prst="rect">
                <a:avLst/>
              </a:prstGeom>
              <a:blipFill>
                <a:blip r:embed="rId2"/>
                <a:stretch>
                  <a:fillRect t="-5000" b="-20000"/>
                </a:stretch>
              </a:blipFill>
            </p:spPr>
            <p:txBody>
              <a:bodyPr/>
              <a:lstStyle/>
              <a:p>
                <a:r>
                  <a:rPr lang="fr-MA">
                    <a:noFill/>
                  </a:rPr>
                  <a:t> </a:t>
                </a:r>
              </a:p>
            </p:txBody>
          </p:sp>
        </mc:Fallback>
      </mc:AlternateContent>
      <mc:AlternateContent xmlns:mc="http://schemas.openxmlformats.org/markup-compatibility/2006">
        <mc:Choice xmlns:a14="http://schemas.microsoft.com/office/drawing/2010/main" Requires="a14">
          <p:sp>
            <p:nvSpPr>
              <p:cNvPr id="2" name="ZoneTexte 124">
                <a:extLst>
                  <a:ext uri="{FF2B5EF4-FFF2-40B4-BE49-F238E27FC236}">
                    <a16:creationId xmlns:a16="http://schemas.microsoft.com/office/drawing/2014/main" id="{8A6C8C05-2BB0-7DD8-C821-D1FEF415ED80}"/>
                  </a:ext>
                </a:extLst>
              </p:cNvPr>
              <p:cNvSpPr txBox="1"/>
              <p:nvPr/>
            </p:nvSpPr>
            <p:spPr>
              <a:xfrm>
                <a:off x="-27448" y="2180515"/>
                <a:ext cx="12175205" cy="508537"/>
              </a:xfrm>
              <a:prstGeom prst="rect">
                <a:avLst/>
              </a:prstGeom>
              <a:noFill/>
            </p:spPr>
            <p:txBody>
              <a:bodyPr wrap="square" rtlCol="0">
                <a:spAutoFit/>
              </a:bodyPr>
              <a:lstStyle/>
              <a:p>
                <a:pPr marL="742950" lvl="1" indent="-285750">
                  <a:spcAft>
                    <a:spcPts val="800"/>
                  </a:spcAft>
                  <a:buClr>
                    <a:srgbClr val="FF3300"/>
                  </a:buClr>
                  <a:buFont typeface="Wingdings" panose="05000000000000000000" pitchFamily="2" charset="2"/>
                  <a:buChar char="§"/>
                </a:pPr>
                <a14:m>
                  <m:oMath xmlns:m="http://schemas.openxmlformats.org/officeDocument/2006/math">
                    <m:r>
                      <a:rPr lang="fr-FR" b="1" i="1" smtClean="0">
                        <a:solidFill>
                          <a:schemeClr val="tx1">
                            <a:lumMod val="95000"/>
                            <a:lumOff val="5000"/>
                          </a:schemeClr>
                        </a:solidFill>
                        <a:latin typeface="Cambria Math" panose="02040503050406030204" pitchFamily="18" charset="0"/>
                      </a:rPr>
                      <m:t>𝒑𝒓𝒆𝒄𝒊𝒔𝒊𝒐𝒏</m:t>
                    </m:r>
                    <m:r>
                      <a:rPr lang="fr-FR" b="1" i="1" smtClean="0">
                        <a:solidFill>
                          <a:schemeClr val="tx1">
                            <a:lumMod val="95000"/>
                            <a:lumOff val="5000"/>
                          </a:schemeClr>
                        </a:solidFill>
                        <a:latin typeface="Cambria Math" panose="02040503050406030204" pitchFamily="18" charset="0"/>
                      </a:rPr>
                      <m:t>=</m:t>
                    </m:r>
                    <m:f>
                      <m:fPr>
                        <m:ctrlPr>
                          <a:rPr lang="fr-FR" b="1" i="1" smtClean="0">
                            <a:solidFill>
                              <a:schemeClr val="tx1">
                                <a:lumMod val="95000"/>
                                <a:lumOff val="5000"/>
                              </a:schemeClr>
                            </a:solidFill>
                            <a:latin typeface="Cambria Math" panose="02040503050406030204" pitchFamily="18" charset="0"/>
                          </a:rPr>
                        </m:ctrlPr>
                      </m:fPr>
                      <m:num>
                        <m:r>
                          <a:rPr lang="fr-FR" b="1" i="1" smtClean="0">
                            <a:solidFill>
                              <a:schemeClr val="tx1">
                                <a:lumMod val="95000"/>
                                <a:lumOff val="5000"/>
                              </a:schemeClr>
                            </a:solidFill>
                            <a:latin typeface="Cambria Math" panose="02040503050406030204" pitchFamily="18" charset="0"/>
                          </a:rPr>
                          <m:t>𝑻𝑷</m:t>
                        </m:r>
                      </m:num>
                      <m:den>
                        <m:r>
                          <a:rPr lang="fr-FR" b="1" i="1" smtClean="0">
                            <a:solidFill>
                              <a:schemeClr val="tx1">
                                <a:lumMod val="95000"/>
                                <a:lumOff val="5000"/>
                              </a:schemeClr>
                            </a:solidFill>
                            <a:latin typeface="Cambria Math" panose="02040503050406030204" pitchFamily="18" charset="0"/>
                          </a:rPr>
                          <m:t>𝑻𝑷</m:t>
                        </m:r>
                        <m:r>
                          <a:rPr lang="fr-FR" b="1" i="1" smtClean="0">
                            <a:solidFill>
                              <a:schemeClr val="tx1">
                                <a:lumMod val="95000"/>
                                <a:lumOff val="5000"/>
                              </a:schemeClr>
                            </a:solidFill>
                            <a:latin typeface="Cambria Math" panose="02040503050406030204" pitchFamily="18" charset="0"/>
                          </a:rPr>
                          <m:t>+</m:t>
                        </m:r>
                        <m:r>
                          <a:rPr lang="fr-FR" b="1" i="1" smtClean="0">
                            <a:solidFill>
                              <a:schemeClr val="tx1">
                                <a:lumMod val="95000"/>
                                <a:lumOff val="5000"/>
                              </a:schemeClr>
                            </a:solidFill>
                            <a:latin typeface="Cambria Math" panose="02040503050406030204" pitchFamily="18" charset="0"/>
                          </a:rPr>
                          <m:t>𝑭𝑷</m:t>
                        </m:r>
                      </m:den>
                    </m:f>
                  </m:oMath>
                </a14:m>
                <a:endParaRPr lang="fr-FR" b="1" dirty="0">
                  <a:solidFill>
                    <a:schemeClr val="tx1">
                      <a:lumMod val="95000"/>
                      <a:lumOff val="5000"/>
                    </a:schemeClr>
                  </a:solidFill>
                </a:endParaRPr>
              </a:p>
            </p:txBody>
          </p:sp>
        </mc:Choice>
        <mc:Fallback>
          <p:sp>
            <p:nvSpPr>
              <p:cNvPr id="2" name="ZoneTexte 124">
                <a:extLst>
                  <a:ext uri="{FF2B5EF4-FFF2-40B4-BE49-F238E27FC236}">
                    <a16:creationId xmlns:a16="http://schemas.microsoft.com/office/drawing/2014/main" id="{8A6C8C05-2BB0-7DD8-C821-D1FEF415ED80}"/>
                  </a:ext>
                </a:extLst>
              </p:cNvPr>
              <p:cNvSpPr txBox="1">
                <a:spLocks noRot="1" noChangeAspect="1" noMove="1" noResize="1" noEditPoints="1" noAdjustHandles="1" noChangeArrowheads="1" noChangeShapeType="1" noTextEdit="1"/>
              </p:cNvSpPr>
              <p:nvPr/>
            </p:nvSpPr>
            <p:spPr>
              <a:xfrm>
                <a:off x="-27448" y="2180515"/>
                <a:ext cx="12175205" cy="508537"/>
              </a:xfrm>
              <a:prstGeom prst="rect">
                <a:avLst/>
              </a:prstGeom>
              <a:blipFill>
                <a:blip r:embed="rId3"/>
                <a:stretch>
                  <a:fillRect/>
                </a:stretch>
              </a:blipFill>
            </p:spPr>
            <p:txBody>
              <a:bodyPr/>
              <a:lstStyle/>
              <a:p>
                <a:r>
                  <a:rPr lang="fr-MA">
                    <a:noFill/>
                  </a:rPr>
                  <a:t> </a:t>
                </a:r>
              </a:p>
            </p:txBody>
          </p:sp>
        </mc:Fallback>
      </mc:AlternateContent>
      <mc:AlternateContent xmlns:mc="http://schemas.openxmlformats.org/markup-compatibility/2006">
        <mc:Choice xmlns:a14="http://schemas.microsoft.com/office/drawing/2010/main" Requires="a14">
          <p:sp>
            <p:nvSpPr>
              <p:cNvPr id="3" name="ZoneTexte 124">
                <a:extLst>
                  <a:ext uri="{FF2B5EF4-FFF2-40B4-BE49-F238E27FC236}">
                    <a16:creationId xmlns:a16="http://schemas.microsoft.com/office/drawing/2014/main" id="{6D162DAB-C2E5-2AAA-C58E-4184D481A63C}"/>
                  </a:ext>
                </a:extLst>
              </p:cNvPr>
              <p:cNvSpPr txBox="1"/>
              <p:nvPr/>
            </p:nvSpPr>
            <p:spPr>
              <a:xfrm>
                <a:off x="16794" y="2970948"/>
                <a:ext cx="12175205" cy="508537"/>
              </a:xfrm>
              <a:prstGeom prst="rect">
                <a:avLst/>
              </a:prstGeom>
              <a:noFill/>
            </p:spPr>
            <p:txBody>
              <a:bodyPr wrap="square" rtlCol="0">
                <a:spAutoFit/>
              </a:bodyPr>
              <a:lstStyle/>
              <a:p>
                <a:pPr marL="742950" lvl="1"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recall</a:t>
                </a:r>
                <a14:m>
                  <m:oMath xmlns:m="http://schemas.openxmlformats.org/officeDocument/2006/math">
                    <m:r>
                      <a:rPr lang="fr-FR" b="1" i="1" smtClean="0">
                        <a:solidFill>
                          <a:schemeClr val="tx1">
                            <a:lumMod val="95000"/>
                            <a:lumOff val="5000"/>
                          </a:schemeClr>
                        </a:solidFill>
                        <a:latin typeface="Cambria Math" panose="02040503050406030204" pitchFamily="18" charset="0"/>
                      </a:rPr>
                      <m:t>=</m:t>
                    </m:r>
                    <m:f>
                      <m:fPr>
                        <m:ctrlPr>
                          <a:rPr lang="fr-FR" b="1" i="1" smtClean="0">
                            <a:solidFill>
                              <a:schemeClr val="tx1">
                                <a:lumMod val="95000"/>
                                <a:lumOff val="5000"/>
                              </a:schemeClr>
                            </a:solidFill>
                            <a:latin typeface="Cambria Math" panose="02040503050406030204" pitchFamily="18" charset="0"/>
                          </a:rPr>
                        </m:ctrlPr>
                      </m:fPr>
                      <m:num>
                        <m:r>
                          <a:rPr lang="fr-FR" b="1" i="1" smtClean="0">
                            <a:solidFill>
                              <a:schemeClr val="tx1">
                                <a:lumMod val="95000"/>
                                <a:lumOff val="5000"/>
                              </a:schemeClr>
                            </a:solidFill>
                            <a:latin typeface="Cambria Math" panose="02040503050406030204" pitchFamily="18" charset="0"/>
                          </a:rPr>
                          <m:t>𝑻𝑷</m:t>
                        </m:r>
                      </m:num>
                      <m:den>
                        <m:r>
                          <a:rPr lang="fr-FR" b="1" i="1" smtClean="0">
                            <a:solidFill>
                              <a:schemeClr val="tx1">
                                <a:lumMod val="95000"/>
                                <a:lumOff val="5000"/>
                              </a:schemeClr>
                            </a:solidFill>
                            <a:latin typeface="Cambria Math" panose="02040503050406030204" pitchFamily="18" charset="0"/>
                          </a:rPr>
                          <m:t>𝑻𝑷</m:t>
                        </m:r>
                        <m:r>
                          <a:rPr lang="fr-FR" b="1" i="1" smtClean="0">
                            <a:solidFill>
                              <a:schemeClr val="tx1">
                                <a:lumMod val="95000"/>
                                <a:lumOff val="5000"/>
                              </a:schemeClr>
                            </a:solidFill>
                            <a:latin typeface="Cambria Math" panose="02040503050406030204" pitchFamily="18" charset="0"/>
                          </a:rPr>
                          <m:t>+</m:t>
                        </m:r>
                        <m:r>
                          <a:rPr lang="fr-FR" b="1" i="1" smtClean="0">
                            <a:solidFill>
                              <a:schemeClr val="tx1">
                                <a:lumMod val="95000"/>
                                <a:lumOff val="5000"/>
                              </a:schemeClr>
                            </a:solidFill>
                            <a:latin typeface="Cambria Math" panose="02040503050406030204" pitchFamily="18" charset="0"/>
                          </a:rPr>
                          <m:t>𝑭𝑵</m:t>
                        </m:r>
                      </m:den>
                    </m:f>
                  </m:oMath>
                </a14:m>
                <a:endParaRPr lang="fr-FR" b="1" dirty="0">
                  <a:solidFill>
                    <a:schemeClr val="tx1">
                      <a:lumMod val="95000"/>
                      <a:lumOff val="5000"/>
                    </a:schemeClr>
                  </a:solidFill>
                </a:endParaRPr>
              </a:p>
            </p:txBody>
          </p:sp>
        </mc:Choice>
        <mc:Fallback>
          <p:sp>
            <p:nvSpPr>
              <p:cNvPr id="3" name="ZoneTexte 124">
                <a:extLst>
                  <a:ext uri="{FF2B5EF4-FFF2-40B4-BE49-F238E27FC236}">
                    <a16:creationId xmlns:a16="http://schemas.microsoft.com/office/drawing/2014/main" id="{6D162DAB-C2E5-2AAA-C58E-4184D481A63C}"/>
                  </a:ext>
                </a:extLst>
              </p:cNvPr>
              <p:cNvSpPr txBox="1">
                <a:spLocks noRot="1" noChangeAspect="1" noMove="1" noResize="1" noEditPoints="1" noAdjustHandles="1" noChangeArrowheads="1" noChangeShapeType="1" noTextEdit="1"/>
              </p:cNvSpPr>
              <p:nvPr/>
            </p:nvSpPr>
            <p:spPr>
              <a:xfrm>
                <a:off x="16794" y="2970948"/>
                <a:ext cx="12175205" cy="508537"/>
              </a:xfrm>
              <a:prstGeom prst="rect">
                <a:avLst/>
              </a:prstGeom>
              <a:blipFill>
                <a:blip r:embed="rId4"/>
                <a:stretch>
                  <a:fillRect b="-3571"/>
                </a:stretch>
              </a:blipFill>
            </p:spPr>
            <p:txBody>
              <a:bodyPr/>
              <a:lstStyle/>
              <a:p>
                <a:r>
                  <a:rPr lang="fr-MA">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A0F78B0E-C6EF-BD39-7224-FA06D3C2AE42}"/>
                  </a:ext>
                </a:extLst>
              </p:cNvPr>
              <p:cNvSpPr txBox="1"/>
              <p:nvPr/>
            </p:nvSpPr>
            <p:spPr>
              <a:xfrm>
                <a:off x="-27448" y="1353624"/>
                <a:ext cx="6115050" cy="491225"/>
              </a:xfrm>
              <a:prstGeom prst="rect">
                <a:avLst/>
              </a:prstGeom>
              <a:noFill/>
            </p:spPr>
            <p:txBody>
              <a:bodyPr wrap="square">
                <a:spAutoFit/>
              </a:bodyPr>
              <a:lstStyle/>
              <a:p>
                <a:pPr marL="742950" lvl="1" indent="-285750">
                  <a:spcAft>
                    <a:spcPts val="800"/>
                  </a:spcAft>
                  <a:buClr>
                    <a:srgbClr val="FF3300"/>
                  </a:buClr>
                  <a:buFont typeface="Wingdings" panose="05000000000000000000" pitchFamily="2" charset="2"/>
                  <a:buChar char="§"/>
                </a:pPr>
                <a14:m>
                  <m:oMath xmlns:m="http://schemas.openxmlformats.org/officeDocument/2006/math">
                    <m:r>
                      <a:rPr lang="fr-FR" b="1" i="1" smtClean="0">
                        <a:solidFill>
                          <a:schemeClr val="tx1">
                            <a:lumMod val="95000"/>
                            <a:lumOff val="5000"/>
                          </a:schemeClr>
                        </a:solidFill>
                        <a:latin typeface="Cambria Math" panose="02040503050406030204" pitchFamily="18" charset="0"/>
                      </a:rPr>
                      <m:t>𝒂𝒄𝒄𝒖𝒓𝒂𝒄𝒚</m:t>
                    </m:r>
                    <m:r>
                      <a:rPr lang="fr-FR" b="1" i="1" smtClean="0">
                        <a:solidFill>
                          <a:schemeClr val="tx1">
                            <a:lumMod val="95000"/>
                            <a:lumOff val="5000"/>
                          </a:schemeClr>
                        </a:solidFill>
                        <a:latin typeface="Cambria Math" panose="02040503050406030204" pitchFamily="18" charset="0"/>
                      </a:rPr>
                      <m:t>=</m:t>
                    </m:r>
                    <m:f>
                      <m:fPr>
                        <m:ctrlPr>
                          <a:rPr lang="fr-FR" b="1" i="1" smtClean="0">
                            <a:solidFill>
                              <a:schemeClr val="tx1">
                                <a:lumMod val="95000"/>
                                <a:lumOff val="5000"/>
                              </a:schemeClr>
                            </a:solidFill>
                            <a:latin typeface="Cambria Math" panose="02040503050406030204" pitchFamily="18" charset="0"/>
                          </a:rPr>
                        </m:ctrlPr>
                      </m:fPr>
                      <m:num>
                        <m:r>
                          <a:rPr lang="fr-FR" b="1" i="1" smtClean="0">
                            <a:solidFill>
                              <a:schemeClr val="tx1">
                                <a:lumMod val="95000"/>
                                <a:lumOff val="5000"/>
                              </a:schemeClr>
                            </a:solidFill>
                            <a:latin typeface="Cambria Math" panose="02040503050406030204" pitchFamily="18" charset="0"/>
                          </a:rPr>
                          <m:t>𝑻𝑷</m:t>
                        </m:r>
                        <m:r>
                          <a:rPr lang="fr-FR" b="1" i="1" smtClean="0">
                            <a:solidFill>
                              <a:schemeClr val="tx1">
                                <a:lumMod val="95000"/>
                                <a:lumOff val="5000"/>
                              </a:schemeClr>
                            </a:solidFill>
                            <a:latin typeface="Cambria Math" panose="02040503050406030204" pitchFamily="18" charset="0"/>
                          </a:rPr>
                          <m:t>+</m:t>
                        </m:r>
                        <m:r>
                          <a:rPr lang="fr-FR" b="1" i="1" smtClean="0">
                            <a:solidFill>
                              <a:schemeClr val="tx1">
                                <a:lumMod val="95000"/>
                                <a:lumOff val="5000"/>
                              </a:schemeClr>
                            </a:solidFill>
                            <a:latin typeface="Cambria Math" panose="02040503050406030204" pitchFamily="18" charset="0"/>
                          </a:rPr>
                          <m:t>𝑻𝑵</m:t>
                        </m:r>
                      </m:num>
                      <m:den>
                        <m:r>
                          <a:rPr lang="fr-FR" b="1" i="1" smtClean="0">
                            <a:solidFill>
                              <a:schemeClr val="tx1">
                                <a:lumMod val="95000"/>
                                <a:lumOff val="5000"/>
                              </a:schemeClr>
                            </a:solidFill>
                            <a:latin typeface="Cambria Math" panose="02040503050406030204" pitchFamily="18" charset="0"/>
                          </a:rPr>
                          <m:t>𝑻𝑷</m:t>
                        </m:r>
                        <m:r>
                          <a:rPr lang="fr-FR" b="1" i="1" smtClean="0">
                            <a:solidFill>
                              <a:schemeClr val="tx1">
                                <a:lumMod val="95000"/>
                                <a:lumOff val="5000"/>
                              </a:schemeClr>
                            </a:solidFill>
                            <a:latin typeface="Cambria Math" panose="02040503050406030204" pitchFamily="18" charset="0"/>
                          </a:rPr>
                          <m:t>+</m:t>
                        </m:r>
                        <m:r>
                          <a:rPr lang="fr-FR" b="1" i="1" smtClean="0">
                            <a:solidFill>
                              <a:schemeClr val="tx1">
                                <a:lumMod val="95000"/>
                                <a:lumOff val="5000"/>
                              </a:schemeClr>
                            </a:solidFill>
                            <a:latin typeface="Cambria Math" panose="02040503050406030204" pitchFamily="18" charset="0"/>
                          </a:rPr>
                          <m:t>𝑻𝑵</m:t>
                        </m:r>
                        <m:r>
                          <a:rPr lang="fr-FR" b="1" i="1" smtClean="0">
                            <a:solidFill>
                              <a:schemeClr val="tx1">
                                <a:lumMod val="95000"/>
                                <a:lumOff val="5000"/>
                              </a:schemeClr>
                            </a:solidFill>
                            <a:latin typeface="Cambria Math" panose="02040503050406030204" pitchFamily="18" charset="0"/>
                          </a:rPr>
                          <m:t>+</m:t>
                        </m:r>
                        <m:r>
                          <a:rPr lang="fr-FR" b="1" i="1" smtClean="0">
                            <a:solidFill>
                              <a:schemeClr val="tx1">
                                <a:lumMod val="95000"/>
                                <a:lumOff val="5000"/>
                              </a:schemeClr>
                            </a:solidFill>
                            <a:latin typeface="Cambria Math" panose="02040503050406030204" pitchFamily="18" charset="0"/>
                          </a:rPr>
                          <m:t>𝑭𝑷</m:t>
                        </m:r>
                        <m:r>
                          <a:rPr lang="fr-FR" b="1" i="1" smtClean="0">
                            <a:solidFill>
                              <a:schemeClr val="tx1">
                                <a:lumMod val="95000"/>
                                <a:lumOff val="5000"/>
                              </a:schemeClr>
                            </a:solidFill>
                            <a:latin typeface="Cambria Math" panose="02040503050406030204" pitchFamily="18" charset="0"/>
                          </a:rPr>
                          <m:t>+</m:t>
                        </m:r>
                        <m:r>
                          <a:rPr lang="fr-FR" b="1" i="1" smtClean="0">
                            <a:solidFill>
                              <a:schemeClr val="tx1">
                                <a:lumMod val="95000"/>
                                <a:lumOff val="5000"/>
                              </a:schemeClr>
                            </a:solidFill>
                            <a:latin typeface="Cambria Math" panose="02040503050406030204" pitchFamily="18" charset="0"/>
                          </a:rPr>
                          <m:t>𝑭𝑵</m:t>
                        </m:r>
                      </m:den>
                    </m:f>
                  </m:oMath>
                </a14:m>
                <a:endParaRPr lang="fr-FR" b="1" dirty="0">
                  <a:solidFill>
                    <a:schemeClr val="tx1">
                      <a:lumMod val="95000"/>
                      <a:lumOff val="5000"/>
                    </a:schemeClr>
                  </a:solidFill>
                </a:endParaRPr>
              </a:p>
            </p:txBody>
          </p:sp>
        </mc:Choice>
        <mc:Fallback>
          <p:sp>
            <p:nvSpPr>
              <p:cNvPr id="8" name="TextBox 7">
                <a:extLst>
                  <a:ext uri="{FF2B5EF4-FFF2-40B4-BE49-F238E27FC236}">
                    <a16:creationId xmlns:a16="http://schemas.microsoft.com/office/drawing/2014/main" id="{A0F78B0E-C6EF-BD39-7224-FA06D3C2AE42}"/>
                  </a:ext>
                </a:extLst>
              </p:cNvPr>
              <p:cNvSpPr txBox="1">
                <a:spLocks noRot="1" noChangeAspect="1" noMove="1" noResize="1" noEditPoints="1" noAdjustHandles="1" noChangeArrowheads="1" noChangeShapeType="1" noTextEdit="1"/>
              </p:cNvSpPr>
              <p:nvPr/>
            </p:nvSpPr>
            <p:spPr>
              <a:xfrm>
                <a:off x="-27448" y="1353624"/>
                <a:ext cx="6115050" cy="491225"/>
              </a:xfrm>
              <a:prstGeom prst="rect">
                <a:avLst/>
              </a:prstGeom>
              <a:blipFill>
                <a:blip r:embed="rId5"/>
                <a:stretch>
                  <a:fillRect b="-2469"/>
                </a:stretch>
              </a:blipFill>
            </p:spPr>
            <p:txBody>
              <a:bodyPr/>
              <a:lstStyle/>
              <a:p>
                <a:r>
                  <a:rPr lang="fr-MA">
                    <a:noFill/>
                  </a:rPr>
                  <a:t> </a:t>
                </a:r>
              </a:p>
            </p:txBody>
          </p:sp>
        </mc:Fallback>
      </mc:AlternateContent>
      <p:sp>
        <p:nvSpPr>
          <p:cNvPr id="10" name="TextBox 9">
            <a:extLst>
              <a:ext uri="{FF2B5EF4-FFF2-40B4-BE49-F238E27FC236}">
                <a16:creationId xmlns:a16="http://schemas.microsoft.com/office/drawing/2014/main" id="{8B977165-AC15-76DC-220E-3E8713917597}"/>
              </a:ext>
            </a:extLst>
          </p:cNvPr>
          <p:cNvSpPr txBox="1"/>
          <p:nvPr/>
        </p:nvSpPr>
        <p:spPr>
          <a:xfrm>
            <a:off x="-1" y="3886159"/>
            <a:ext cx="11642271" cy="400110"/>
          </a:xfrm>
          <a:prstGeom prst="rect">
            <a:avLst/>
          </a:prstGeom>
          <a:noFill/>
        </p:spPr>
        <p:txBody>
          <a:bodyPr wrap="square">
            <a:spAutoFit/>
          </a:bodyPr>
          <a:lstStyle/>
          <a:p>
            <a:pPr marL="742950" lvl="1" indent="-285750">
              <a:spcAft>
                <a:spcPts val="800"/>
              </a:spcAft>
              <a:buClr>
                <a:srgbClr val="FF3300"/>
              </a:buClr>
              <a:buFont typeface="Wingdings" panose="05000000000000000000" pitchFamily="2" charset="2"/>
              <a:buChar char="§"/>
            </a:pPr>
            <a:r>
              <a:rPr lang="fr-FR" sz="2000" b="1" dirty="0">
                <a:solidFill>
                  <a:schemeClr val="tx1">
                    <a:lumMod val="95000"/>
                    <a:lumOff val="5000"/>
                  </a:schemeClr>
                </a:solidFill>
              </a:rPr>
              <a:t>Pour bien mesurer la performance d’un modèle, quelle métrique est à utiliser ?</a:t>
            </a:r>
          </a:p>
        </p:txBody>
      </p:sp>
    </p:spTree>
    <p:extLst>
      <p:ext uri="{BB962C8B-B14F-4D97-AF65-F5344CB8AC3E}">
        <p14:creationId xmlns:p14="http://schemas.microsoft.com/office/powerpoint/2010/main" val="2417285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256009-A729-41EA-9846-EC46DCAE5B58}"/>
              </a:ext>
            </a:extLst>
          </p:cNvPr>
          <p:cNvSpPr txBox="1"/>
          <p:nvPr/>
        </p:nvSpPr>
        <p:spPr>
          <a:xfrm>
            <a:off x="171450" y="37599"/>
            <a:ext cx="5427245" cy="584775"/>
          </a:xfrm>
          <a:prstGeom prst="rect">
            <a:avLst/>
          </a:prstGeom>
          <a:noFill/>
        </p:spPr>
        <p:txBody>
          <a:bodyPr wrap="square" rtlCol="0">
            <a:spAutoFit/>
          </a:bodyPr>
          <a:lstStyle/>
          <a:p>
            <a:r>
              <a:rPr lang="fr-MA" sz="3200" b="1" dirty="0">
                <a:solidFill>
                  <a:srgbClr val="FF3300"/>
                </a:solidFill>
              </a:rPr>
              <a:t>Confusion matrix</a:t>
            </a:r>
            <a:endParaRPr lang="fr-MA" sz="3200" b="1" dirty="0"/>
          </a:p>
        </p:txBody>
      </p:sp>
      <p:sp>
        <p:nvSpPr>
          <p:cNvPr id="5" name="ZoneTexte 124">
            <a:extLst>
              <a:ext uri="{FF2B5EF4-FFF2-40B4-BE49-F238E27FC236}">
                <a16:creationId xmlns:a16="http://schemas.microsoft.com/office/drawing/2014/main" id="{E5BFB2C8-571D-8B0B-EC7A-764820A8009B}"/>
              </a:ext>
            </a:extLst>
          </p:cNvPr>
          <p:cNvSpPr txBox="1"/>
          <p:nvPr/>
        </p:nvSpPr>
        <p:spPr>
          <a:xfrm>
            <a:off x="16795" y="551060"/>
            <a:ext cx="12175205" cy="1661993"/>
          </a:xfrm>
          <a:prstGeom prst="rect">
            <a:avLst/>
          </a:prstGeom>
          <a:noFill/>
        </p:spPr>
        <p:txBody>
          <a:bodyPr wrap="square" rtlCol="0">
            <a:spAutoFit/>
          </a:bodyPr>
          <a:lstStyle/>
          <a:p>
            <a:pPr marL="285750" indent="-285750">
              <a:spcAft>
                <a:spcPts val="1200"/>
              </a:spcAft>
              <a:buClr>
                <a:srgbClr val="FF3300"/>
              </a:buClr>
              <a:buFont typeface="Wingdings" panose="05000000000000000000" pitchFamily="2" charset="2"/>
              <a:buChar char="§"/>
            </a:pPr>
            <a:r>
              <a:rPr lang="fr-FR" b="1" dirty="0">
                <a:solidFill>
                  <a:schemeClr val="tx1">
                    <a:lumMod val="95000"/>
                    <a:lumOff val="5000"/>
                  </a:schemeClr>
                </a:solidFill>
              </a:rPr>
              <a:t>Confusion matrix est  une matrice m x m qui permet de mesurer la performance d’un modèle de classification.</a:t>
            </a:r>
          </a:p>
          <a:p>
            <a:pPr marL="742950" lvl="1" indent="-285750">
              <a:spcAft>
                <a:spcPts val="1200"/>
              </a:spcAft>
              <a:buClr>
                <a:srgbClr val="FF3300"/>
              </a:buClr>
              <a:buFont typeface="Wingdings" panose="05000000000000000000" pitchFamily="2" charset="2"/>
              <a:buChar char="§"/>
            </a:pPr>
            <a:r>
              <a:rPr lang="fr-FR" b="1" dirty="0">
                <a:solidFill>
                  <a:schemeClr val="tx1">
                    <a:lumMod val="95000"/>
                    <a:lumOff val="5000"/>
                  </a:schemeClr>
                </a:solidFill>
              </a:rPr>
              <a:t>Avec m est le nombre  de classes de l’output</a:t>
            </a:r>
          </a:p>
          <a:p>
            <a:pPr marL="742950" lvl="1" indent="-285750">
              <a:spcAft>
                <a:spcPts val="1200"/>
              </a:spcAft>
              <a:buClr>
                <a:srgbClr val="FF3300"/>
              </a:buClr>
              <a:buFont typeface="Wingdings" panose="05000000000000000000" pitchFamily="2" charset="2"/>
              <a:buChar char="§"/>
            </a:pPr>
            <a:r>
              <a:rPr lang="fr-FR" b="1" dirty="0">
                <a:solidFill>
                  <a:schemeClr val="tx1">
                    <a:lumMod val="95000"/>
                    <a:lumOff val="5000"/>
                  </a:schemeClr>
                </a:solidFill>
              </a:rPr>
              <a:t>Pour une classification binaire, par exemple la classe peut être (spam ou non spam): la matrice est de 2x2</a:t>
            </a:r>
          </a:p>
          <a:p>
            <a:pPr marL="742950" lvl="1" indent="-285750">
              <a:spcAft>
                <a:spcPts val="1200"/>
              </a:spcAft>
              <a:buClr>
                <a:srgbClr val="FF3300"/>
              </a:buClr>
              <a:buFont typeface="Wingdings" panose="05000000000000000000" pitchFamily="2" charset="2"/>
              <a:buChar char="§"/>
            </a:pPr>
            <a:r>
              <a:rPr lang="fr-FR" b="1" dirty="0">
                <a:solidFill>
                  <a:schemeClr val="tx1">
                    <a:lumMod val="95000"/>
                    <a:lumOff val="5000"/>
                  </a:schemeClr>
                </a:solidFill>
              </a:rPr>
              <a:t>Pour une classification </a:t>
            </a:r>
            <a:r>
              <a:rPr lang="fr-FR" b="1" dirty="0" err="1">
                <a:solidFill>
                  <a:schemeClr val="tx1">
                    <a:lumMod val="95000"/>
                    <a:lumOff val="5000"/>
                  </a:schemeClr>
                </a:solidFill>
              </a:rPr>
              <a:t>multiclass</a:t>
            </a:r>
            <a:r>
              <a:rPr lang="fr-FR" b="1" dirty="0">
                <a:solidFill>
                  <a:schemeClr val="tx1">
                    <a:lumMod val="95000"/>
                    <a:lumOff val="5000"/>
                  </a:schemeClr>
                </a:solidFill>
              </a:rPr>
              <a:t>, par exemple la classe peut être (chien, chat, ou lapin): la matrice est de 3 x 3</a:t>
            </a:r>
          </a:p>
        </p:txBody>
      </p:sp>
      <p:sp>
        <p:nvSpPr>
          <p:cNvPr id="7" name="Rectangle 6">
            <a:extLst>
              <a:ext uri="{FF2B5EF4-FFF2-40B4-BE49-F238E27FC236}">
                <a16:creationId xmlns:a16="http://schemas.microsoft.com/office/drawing/2014/main" id="{E7F98F59-8202-2095-45CA-05B7B8A4F76B}"/>
              </a:ext>
            </a:extLst>
          </p:cNvPr>
          <p:cNvSpPr/>
          <p:nvPr/>
        </p:nvSpPr>
        <p:spPr>
          <a:xfrm>
            <a:off x="1599356" y="2396717"/>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9" name="Rectangle 8">
            <a:extLst>
              <a:ext uri="{FF2B5EF4-FFF2-40B4-BE49-F238E27FC236}">
                <a16:creationId xmlns:a16="http://schemas.microsoft.com/office/drawing/2014/main" id="{F0E5F5E3-84CB-6EA5-A633-3B5475CB2DFA}"/>
              </a:ext>
            </a:extLst>
          </p:cNvPr>
          <p:cNvSpPr/>
          <p:nvPr/>
        </p:nvSpPr>
        <p:spPr>
          <a:xfrm>
            <a:off x="2503044" y="3292454"/>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1" name="Rectangle 10">
            <a:extLst>
              <a:ext uri="{FF2B5EF4-FFF2-40B4-BE49-F238E27FC236}">
                <a16:creationId xmlns:a16="http://schemas.microsoft.com/office/drawing/2014/main" id="{35CB3C14-A701-3DB8-389C-9140E1CB3CA2}"/>
              </a:ext>
            </a:extLst>
          </p:cNvPr>
          <p:cNvSpPr/>
          <p:nvPr/>
        </p:nvSpPr>
        <p:spPr>
          <a:xfrm>
            <a:off x="2503044" y="2394560"/>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3" name="Rectangle 12">
            <a:extLst>
              <a:ext uri="{FF2B5EF4-FFF2-40B4-BE49-F238E27FC236}">
                <a16:creationId xmlns:a16="http://schemas.microsoft.com/office/drawing/2014/main" id="{99D3D429-F9CC-0D4E-51F5-4D239F91E366}"/>
              </a:ext>
            </a:extLst>
          </p:cNvPr>
          <p:cNvSpPr/>
          <p:nvPr/>
        </p:nvSpPr>
        <p:spPr>
          <a:xfrm>
            <a:off x="1592214" y="3288140"/>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5" name="TextBox 14">
            <a:extLst>
              <a:ext uri="{FF2B5EF4-FFF2-40B4-BE49-F238E27FC236}">
                <a16:creationId xmlns:a16="http://schemas.microsoft.com/office/drawing/2014/main" id="{7E72ABC0-7CA2-D81B-26F7-26D40C5990F6}"/>
              </a:ext>
            </a:extLst>
          </p:cNvPr>
          <p:cNvSpPr txBox="1"/>
          <p:nvPr/>
        </p:nvSpPr>
        <p:spPr>
          <a:xfrm>
            <a:off x="1699428" y="2459876"/>
            <a:ext cx="685882" cy="369332"/>
          </a:xfrm>
          <a:prstGeom prst="rect">
            <a:avLst/>
          </a:prstGeom>
          <a:solidFill>
            <a:schemeClr val="bg1">
              <a:lumMod val="95000"/>
            </a:schemeClr>
          </a:solidFill>
        </p:spPr>
        <p:txBody>
          <a:bodyPr wrap="square" rtlCol="0">
            <a:spAutoFit/>
          </a:bodyPr>
          <a:lstStyle/>
          <a:p>
            <a:r>
              <a:rPr lang="fr-MA" b="1" dirty="0">
                <a:solidFill>
                  <a:srgbClr val="0070C0"/>
                </a:solidFill>
              </a:rPr>
              <a:t>TN</a:t>
            </a:r>
          </a:p>
        </p:txBody>
      </p:sp>
      <p:sp>
        <p:nvSpPr>
          <p:cNvPr id="17" name="TextBox 16">
            <a:extLst>
              <a:ext uri="{FF2B5EF4-FFF2-40B4-BE49-F238E27FC236}">
                <a16:creationId xmlns:a16="http://schemas.microsoft.com/office/drawing/2014/main" id="{235818F1-036E-127C-4D38-2F1C424C7700}"/>
              </a:ext>
            </a:extLst>
          </p:cNvPr>
          <p:cNvSpPr txBox="1"/>
          <p:nvPr/>
        </p:nvSpPr>
        <p:spPr>
          <a:xfrm>
            <a:off x="1592214" y="4153144"/>
            <a:ext cx="878679" cy="369332"/>
          </a:xfrm>
          <a:prstGeom prst="rect">
            <a:avLst/>
          </a:prstGeom>
          <a:noFill/>
        </p:spPr>
        <p:txBody>
          <a:bodyPr wrap="square" rtlCol="0">
            <a:spAutoFit/>
          </a:bodyPr>
          <a:lstStyle/>
          <a:p>
            <a:pPr algn="ctr"/>
            <a:r>
              <a:rPr lang="fr-MA" b="1" dirty="0"/>
              <a:t>0</a:t>
            </a:r>
          </a:p>
        </p:txBody>
      </p:sp>
      <p:sp>
        <p:nvSpPr>
          <p:cNvPr id="19" name="TextBox 18">
            <a:extLst>
              <a:ext uri="{FF2B5EF4-FFF2-40B4-BE49-F238E27FC236}">
                <a16:creationId xmlns:a16="http://schemas.microsoft.com/office/drawing/2014/main" id="{FD30664C-96F8-4342-DF2F-3754A3B00278}"/>
              </a:ext>
            </a:extLst>
          </p:cNvPr>
          <p:cNvSpPr txBox="1"/>
          <p:nvPr/>
        </p:nvSpPr>
        <p:spPr>
          <a:xfrm>
            <a:off x="711743" y="2642396"/>
            <a:ext cx="871538" cy="369332"/>
          </a:xfrm>
          <a:prstGeom prst="rect">
            <a:avLst/>
          </a:prstGeom>
          <a:noFill/>
        </p:spPr>
        <p:txBody>
          <a:bodyPr wrap="square" rtlCol="0">
            <a:spAutoFit/>
          </a:bodyPr>
          <a:lstStyle/>
          <a:p>
            <a:pPr algn="ctr"/>
            <a:r>
              <a:rPr lang="fr-MA" b="1" dirty="0"/>
              <a:t>0</a:t>
            </a:r>
          </a:p>
        </p:txBody>
      </p:sp>
      <p:sp>
        <p:nvSpPr>
          <p:cNvPr id="21" name="TextBox 20">
            <a:extLst>
              <a:ext uri="{FF2B5EF4-FFF2-40B4-BE49-F238E27FC236}">
                <a16:creationId xmlns:a16="http://schemas.microsoft.com/office/drawing/2014/main" id="{7F2B65A0-ED19-CA0C-EE2E-F6A88A73722B}"/>
              </a:ext>
            </a:extLst>
          </p:cNvPr>
          <p:cNvSpPr txBox="1"/>
          <p:nvPr/>
        </p:nvSpPr>
        <p:spPr>
          <a:xfrm>
            <a:off x="2458900" y="4191694"/>
            <a:ext cx="878679" cy="369332"/>
          </a:xfrm>
          <a:prstGeom prst="rect">
            <a:avLst/>
          </a:prstGeom>
          <a:noFill/>
        </p:spPr>
        <p:txBody>
          <a:bodyPr wrap="square" rtlCol="0">
            <a:spAutoFit/>
          </a:bodyPr>
          <a:lstStyle/>
          <a:p>
            <a:pPr algn="ctr"/>
            <a:r>
              <a:rPr lang="fr-MA" b="1" dirty="0"/>
              <a:t>1</a:t>
            </a:r>
          </a:p>
        </p:txBody>
      </p:sp>
      <p:sp>
        <p:nvSpPr>
          <p:cNvPr id="23" name="TextBox 22">
            <a:extLst>
              <a:ext uri="{FF2B5EF4-FFF2-40B4-BE49-F238E27FC236}">
                <a16:creationId xmlns:a16="http://schemas.microsoft.com/office/drawing/2014/main" id="{2C93AF4C-241D-86C0-0F4D-7BFDD0A126CE}"/>
              </a:ext>
            </a:extLst>
          </p:cNvPr>
          <p:cNvSpPr txBox="1"/>
          <p:nvPr/>
        </p:nvSpPr>
        <p:spPr>
          <a:xfrm>
            <a:off x="689548" y="3620907"/>
            <a:ext cx="871538" cy="369332"/>
          </a:xfrm>
          <a:prstGeom prst="rect">
            <a:avLst/>
          </a:prstGeom>
          <a:noFill/>
        </p:spPr>
        <p:txBody>
          <a:bodyPr wrap="square" rtlCol="0">
            <a:spAutoFit/>
          </a:bodyPr>
          <a:lstStyle/>
          <a:p>
            <a:pPr algn="ctr"/>
            <a:r>
              <a:rPr lang="fr-MA" b="1" dirty="0"/>
              <a:t>1</a:t>
            </a:r>
          </a:p>
        </p:txBody>
      </p:sp>
      <p:sp>
        <p:nvSpPr>
          <p:cNvPr id="25" name="TextBox 24">
            <a:extLst>
              <a:ext uri="{FF2B5EF4-FFF2-40B4-BE49-F238E27FC236}">
                <a16:creationId xmlns:a16="http://schemas.microsoft.com/office/drawing/2014/main" id="{551BFC81-21FA-B595-AFEA-B06C8ACFD22D}"/>
              </a:ext>
            </a:extLst>
          </p:cNvPr>
          <p:cNvSpPr txBox="1"/>
          <p:nvPr/>
        </p:nvSpPr>
        <p:spPr>
          <a:xfrm>
            <a:off x="2602644" y="3356297"/>
            <a:ext cx="685882" cy="369332"/>
          </a:xfrm>
          <a:prstGeom prst="rect">
            <a:avLst/>
          </a:prstGeom>
          <a:solidFill>
            <a:schemeClr val="bg1">
              <a:lumMod val="95000"/>
            </a:schemeClr>
          </a:solidFill>
        </p:spPr>
        <p:txBody>
          <a:bodyPr wrap="square" rtlCol="0">
            <a:spAutoFit/>
          </a:bodyPr>
          <a:lstStyle/>
          <a:p>
            <a:r>
              <a:rPr lang="fr-MA" b="1" dirty="0">
                <a:solidFill>
                  <a:srgbClr val="0070C0"/>
                </a:solidFill>
              </a:rPr>
              <a:t>TP</a:t>
            </a:r>
          </a:p>
        </p:txBody>
      </p:sp>
      <p:sp>
        <p:nvSpPr>
          <p:cNvPr id="27" name="TextBox 26">
            <a:extLst>
              <a:ext uri="{FF2B5EF4-FFF2-40B4-BE49-F238E27FC236}">
                <a16:creationId xmlns:a16="http://schemas.microsoft.com/office/drawing/2014/main" id="{1B94511C-9272-EE22-CAD8-AC74C33B1C7A}"/>
              </a:ext>
            </a:extLst>
          </p:cNvPr>
          <p:cNvSpPr txBox="1"/>
          <p:nvPr/>
        </p:nvSpPr>
        <p:spPr>
          <a:xfrm>
            <a:off x="2688699" y="2432948"/>
            <a:ext cx="685882" cy="369332"/>
          </a:xfrm>
          <a:prstGeom prst="rect">
            <a:avLst/>
          </a:prstGeom>
          <a:solidFill>
            <a:schemeClr val="bg1">
              <a:lumMod val="95000"/>
            </a:schemeClr>
          </a:solidFill>
        </p:spPr>
        <p:txBody>
          <a:bodyPr wrap="square" rtlCol="0">
            <a:spAutoFit/>
          </a:bodyPr>
          <a:lstStyle/>
          <a:p>
            <a:r>
              <a:rPr lang="fr-MA" b="1" dirty="0">
                <a:solidFill>
                  <a:srgbClr val="FF0000"/>
                </a:solidFill>
              </a:rPr>
              <a:t>FP</a:t>
            </a:r>
          </a:p>
        </p:txBody>
      </p:sp>
      <p:sp>
        <p:nvSpPr>
          <p:cNvPr id="29" name="TextBox 28">
            <a:extLst>
              <a:ext uri="{FF2B5EF4-FFF2-40B4-BE49-F238E27FC236}">
                <a16:creationId xmlns:a16="http://schemas.microsoft.com/office/drawing/2014/main" id="{CE2D0BF5-F50C-83CA-0B86-2E46ED55225A}"/>
              </a:ext>
            </a:extLst>
          </p:cNvPr>
          <p:cNvSpPr txBox="1"/>
          <p:nvPr/>
        </p:nvSpPr>
        <p:spPr>
          <a:xfrm>
            <a:off x="1695572" y="3311082"/>
            <a:ext cx="613824" cy="369332"/>
          </a:xfrm>
          <a:prstGeom prst="rect">
            <a:avLst/>
          </a:prstGeom>
          <a:solidFill>
            <a:schemeClr val="bg1">
              <a:lumMod val="95000"/>
            </a:schemeClr>
          </a:solidFill>
        </p:spPr>
        <p:txBody>
          <a:bodyPr wrap="square" rtlCol="0">
            <a:spAutoFit/>
          </a:bodyPr>
          <a:lstStyle/>
          <a:p>
            <a:r>
              <a:rPr lang="fr-MA" b="1" dirty="0">
                <a:solidFill>
                  <a:srgbClr val="FF0000"/>
                </a:solidFill>
              </a:rPr>
              <a:t>FN</a:t>
            </a:r>
          </a:p>
        </p:txBody>
      </p:sp>
      <p:sp>
        <p:nvSpPr>
          <p:cNvPr id="33" name="TextBox 32">
            <a:extLst>
              <a:ext uri="{FF2B5EF4-FFF2-40B4-BE49-F238E27FC236}">
                <a16:creationId xmlns:a16="http://schemas.microsoft.com/office/drawing/2014/main" id="{83B1A098-6DA4-6FF5-418C-AE64690D61B2}"/>
              </a:ext>
            </a:extLst>
          </p:cNvPr>
          <p:cNvSpPr txBox="1"/>
          <p:nvPr/>
        </p:nvSpPr>
        <p:spPr>
          <a:xfrm>
            <a:off x="162466" y="3047613"/>
            <a:ext cx="871537" cy="369332"/>
          </a:xfrm>
          <a:prstGeom prst="rect">
            <a:avLst/>
          </a:prstGeom>
          <a:noFill/>
        </p:spPr>
        <p:txBody>
          <a:bodyPr wrap="square">
            <a:spAutoFit/>
          </a:bodyPr>
          <a:lstStyle/>
          <a:p>
            <a:pPr algn="ctr"/>
            <a:r>
              <a:rPr lang="fr-MA" b="1" dirty="0" err="1"/>
              <a:t>Actual</a:t>
            </a:r>
            <a:endParaRPr lang="fr-MA" b="1" dirty="0"/>
          </a:p>
        </p:txBody>
      </p:sp>
      <p:sp>
        <p:nvSpPr>
          <p:cNvPr id="35" name="TextBox 34">
            <a:extLst>
              <a:ext uri="{FF2B5EF4-FFF2-40B4-BE49-F238E27FC236}">
                <a16:creationId xmlns:a16="http://schemas.microsoft.com/office/drawing/2014/main" id="{EDA7E99B-C28D-C1A1-4ED5-07FEE5FEF09C}"/>
              </a:ext>
            </a:extLst>
          </p:cNvPr>
          <p:cNvSpPr txBox="1"/>
          <p:nvPr/>
        </p:nvSpPr>
        <p:spPr>
          <a:xfrm>
            <a:off x="1744354" y="4387171"/>
            <a:ext cx="1331966" cy="369332"/>
          </a:xfrm>
          <a:prstGeom prst="rect">
            <a:avLst/>
          </a:prstGeom>
          <a:noFill/>
        </p:spPr>
        <p:txBody>
          <a:bodyPr wrap="square">
            <a:spAutoFit/>
          </a:bodyPr>
          <a:lstStyle/>
          <a:p>
            <a:pPr algn="ctr"/>
            <a:r>
              <a:rPr lang="fr-MA" b="1" dirty="0" err="1"/>
              <a:t>Predicted</a:t>
            </a:r>
            <a:endParaRPr lang="fr-MA" b="1" dirty="0"/>
          </a:p>
        </p:txBody>
      </p:sp>
      <p:sp>
        <p:nvSpPr>
          <p:cNvPr id="37" name="Rectangle 36">
            <a:extLst>
              <a:ext uri="{FF2B5EF4-FFF2-40B4-BE49-F238E27FC236}">
                <a16:creationId xmlns:a16="http://schemas.microsoft.com/office/drawing/2014/main" id="{F0B670A0-3C1D-B9C5-D120-D5C384FC2ED4}"/>
              </a:ext>
            </a:extLst>
          </p:cNvPr>
          <p:cNvSpPr/>
          <p:nvPr/>
        </p:nvSpPr>
        <p:spPr>
          <a:xfrm>
            <a:off x="7616164" y="2358329"/>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dirty="0"/>
          </a:p>
        </p:txBody>
      </p:sp>
      <p:sp>
        <p:nvSpPr>
          <p:cNvPr id="40" name="Rectangle 39">
            <a:extLst>
              <a:ext uri="{FF2B5EF4-FFF2-40B4-BE49-F238E27FC236}">
                <a16:creationId xmlns:a16="http://schemas.microsoft.com/office/drawing/2014/main" id="{3533A35A-5CA7-1F3D-9FB7-DA97FA480EB5}"/>
              </a:ext>
            </a:extLst>
          </p:cNvPr>
          <p:cNvSpPr/>
          <p:nvPr/>
        </p:nvSpPr>
        <p:spPr>
          <a:xfrm>
            <a:off x="8519852" y="3254650"/>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41" name="Rectangle 40">
            <a:extLst>
              <a:ext uri="{FF2B5EF4-FFF2-40B4-BE49-F238E27FC236}">
                <a16:creationId xmlns:a16="http://schemas.microsoft.com/office/drawing/2014/main" id="{DE3CCCCD-493F-4E03-A37E-9B51149B5609}"/>
              </a:ext>
            </a:extLst>
          </p:cNvPr>
          <p:cNvSpPr/>
          <p:nvPr/>
        </p:nvSpPr>
        <p:spPr>
          <a:xfrm>
            <a:off x="8519852" y="2356172"/>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42" name="Rectangle 41">
            <a:extLst>
              <a:ext uri="{FF2B5EF4-FFF2-40B4-BE49-F238E27FC236}">
                <a16:creationId xmlns:a16="http://schemas.microsoft.com/office/drawing/2014/main" id="{BD715FCE-3EC5-6A4A-23A4-BB164C3921B2}"/>
              </a:ext>
            </a:extLst>
          </p:cNvPr>
          <p:cNvSpPr/>
          <p:nvPr/>
        </p:nvSpPr>
        <p:spPr>
          <a:xfrm>
            <a:off x="7609022" y="3249752"/>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48" name="TextBox 47">
            <a:extLst>
              <a:ext uri="{FF2B5EF4-FFF2-40B4-BE49-F238E27FC236}">
                <a16:creationId xmlns:a16="http://schemas.microsoft.com/office/drawing/2014/main" id="{2C45E9DB-3456-B3C9-A1A9-B9F06F5FE5EB}"/>
              </a:ext>
            </a:extLst>
          </p:cNvPr>
          <p:cNvSpPr txBox="1"/>
          <p:nvPr/>
        </p:nvSpPr>
        <p:spPr>
          <a:xfrm>
            <a:off x="8647395" y="3349811"/>
            <a:ext cx="685882" cy="369332"/>
          </a:xfrm>
          <a:prstGeom prst="rect">
            <a:avLst/>
          </a:prstGeom>
          <a:solidFill>
            <a:schemeClr val="bg1">
              <a:lumMod val="95000"/>
            </a:schemeClr>
          </a:solidFill>
        </p:spPr>
        <p:txBody>
          <a:bodyPr wrap="square" rtlCol="0">
            <a:spAutoFit/>
          </a:bodyPr>
          <a:lstStyle/>
          <a:p>
            <a:r>
              <a:rPr lang="fr-MA" b="1" dirty="0">
                <a:solidFill>
                  <a:srgbClr val="0070C0"/>
                </a:solidFill>
              </a:rPr>
              <a:t>BB</a:t>
            </a:r>
          </a:p>
        </p:txBody>
      </p:sp>
      <p:sp>
        <p:nvSpPr>
          <p:cNvPr id="49" name="TextBox 48">
            <a:extLst>
              <a:ext uri="{FF2B5EF4-FFF2-40B4-BE49-F238E27FC236}">
                <a16:creationId xmlns:a16="http://schemas.microsoft.com/office/drawing/2014/main" id="{91DA7211-3B82-6624-B945-97C553984083}"/>
              </a:ext>
            </a:extLst>
          </p:cNvPr>
          <p:cNvSpPr txBox="1"/>
          <p:nvPr/>
        </p:nvSpPr>
        <p:spPr>
          <a:xfrm>
            <a:off x="8705507" y="2541520"/>
            <a:ext cx="685882" cy="369332"/>
          </a:xfrm>
          <a:prstGeom prst="rect">
            <a:avLst/>
          </a:prstGeom>
          <a:solidFill>
            <a:schemeClr val="bg1">
              <a:lumMod val="95000"/>
            </a:schemeClr>
          </a:solidFill>
        </p:spPr>
        <p:txBody>
          <a:bodyPr wrap="square" rtlCol="0">
            <a:spAutoFit/>
          </a:bodyPr>
          <a:lstStyle/>
          <a:p>
            <a:r>
              <a:rPr lang="fr-MA" b="1" dirty="0">
                <a:solidFill>
                  <a:srgbClr val="FF0000"/>
                </a:solidFill>
              </a:rPr>
              <a:t>AB</a:t>
            </a:r>
          </a:p>
        </p:txBody>
      </p:sp>
      <p:sp>
        <p:nvSpPr>
          <p:cNvPr id="50" name="TextBox 49">
            <a:extLst>
              <a:ext uri="{FF2B5EF4-FFF2-40B4-BE49-F238E27FC236}">
                <a16:creationId xmlns:a16="http://schemas.microsoft.com/office/drawing/2014/main" id="{D4555DD3-2994-2B52-DBF5-D0EB003820D4}"/>
              </a:ext>
            </a:extLst>
          </p:cNvPr>
          <p:cNvSpPr txBox="1"/>
          <p:nvPr/>
        </p:nvSpPr>
        <p:spPr>
          <a:xfrm>
            <a:off x="7719074" y="3273256"/>
            <a:ext cx="613824" cy="369332"/>
          </a:xfrm>
          <a:prstGeom prst="rect">
            <a:avLst/>
          </a:prstGeom>
          <a:solidFill>
            <a:schemeClr val="bg1">
              <a:lumMod val="95000"/>
            </a:schemeClr>
          </a:solidFill>
        </p:spPr>
        <p:txBody>
          <a:bodyPr wrap="square" rtlCol="0">
            <a:spAutoFit/>
          </a:bodyPr>
          <a:lstStyle/>
          <a:p>
            <a:r>
              <a:rPr lang="fr-MA" b="1" dirty="0">
                <a:solidFill>
                  <a:srgbClr val="FF0000"/>
                </a:solidFill>
              </a:rPr>
              <a:t>BA</a:t>
            </a:r>
          </a:p>
        </p:txBody>
      </p:sp>
      <p:sp>
        <p:nvSpPr>
          <p:cNvPr id="53" name="Rectangle 52">
            <a:extLst>
              <a:ext uri="{FF2B5EF4-FFF2-40B4-BE49-F238E27FC236}">
                <a16:creationId xmlns:a16="http://schemas.microsoft.com/office/drawing/2014/main" id="{EAAF2D39-8B43-60DC-22ED-FE835E893D69}"/>
              </a:ext>
            </a:extLst>
          </p:cNvPr>
          <p:cNvSpPr/>
          <p:nvPr/>
        </p:nvSpPr>
        <p:spPr>
          <a:xfrm>
            <a:off x="9423540" y="2356172"/>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solidFill>
                <a:srgbClr val="FF0000"/>
              </a:solidFill>
            </a:endParaRPr>
          </a:p>
        </p:txBody>
      </p:sp>
      <p:sp>
        <p:nvSpPr>
          <p:cNvPr id="54" name="Rectangle 53">
            <a:extLst>
              <a:ext uri="{FF2B5EF4-FFF2-40B4-BE49-F238E27FC236}">
                <a16:creationId xmlns:a16="http://schemas.microsoft.com/office/drawing/2014/main" id="{026365E2-E11E-FA6A-0070-44654FA275D7}"/>
              </a:ext>
            </a:extLst>
          </p:cNvPr>
          <p:cNvSpPr/>
          <p:nvPr/>
        </p:nvSpPr>
        <p:spPr>
          <a:xfrm>
            <a:off x="9414353" y="3259564"/>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55" name="Rectangle 54">
            <a:extLst>
              <a:ext uri="{FF2B5EF4-FFF2-40B4-BE49-F238E27FC236}">
                <a16:creationId xmlns:a16="http://schemas.microsoft.com/office/drawing/2014/main" id="{D6788AA3-6B9B-38C1-7073-1AADD451E920}"/>
              </a:ext>
            </a:extLst>
          </p:cNvPr>
          <p:cNvSpPr/>
          <p:nvPr/>
        </p:nvSpPr>
        <p:spPr>
          <a:xfrm>
            <a:off x="8527784" y="4160841"/>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56" name="Rectangle 55">
            <a:extLst>
              <a:ext uri="{FF2B5EF4-FFF2-40B4-BE49-F238E27FC236}">
                <a16:creationId xmlns:a16="http://schemas.microsoft.com/office/drawing/2014/main" id="{B513EC02-2A76-57B2-1F85-1E5AB294B64F}"/>
              </a:ext>
            </a:extLst>
          </p:cNvPr>
          <p:cNvSpPr/>
          <p:nvPr/>
        </p:nvSpPr>
        <p:spPr>
          <a:xfrm>
            <a:off x="7616954" y="4156527"/>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57" name="TextBox 56">
            <a:extLst>
              <a:ext uri="{FF2B5EF4-FFF2-40B4-BE49-F238E27FC236}">
                <a16:creationId xmlns:a16="http://schemas.microsoft.com/office/drawing/2014/main" id="{1F010484-0C75-5267-9689-B43698F4F468}"/>
              </a:ext>
            </a:extLst>
          </p:cNvPr>
          <p:cNvSpPr txBox="1"/>
          <p:nvPr/>
        </p:nvSpPr>
        <p:spPr>
          <a:xfrm>
            <a:off x="8658119" y="4225184"/>
            <a:ext cx="685882" cy="369332"/>
          </a:xfrm>
          <a:prstGeom prst="rect">
            <a:avLst/>
          </a:prstGeom>
          <a:solidFill>
            <a:schemeClr val="bg1">
              <a:lumMod val="95000"/>
            </a:schemeClr>
          </a:solidFill>
        </p:spPr>
        <p:txBody>
          <a:bodyPr wrap="square" rtlCol="0">
            <a:spAutoFit/>
          </a:bodyPr>
          <a:lstStyle/>
          <a:p>
            <a:r>
              <a:rPr lang="fr-MA" b="1" dirty="0">
                <a:solidFill>
                  <a:srgbClr val="FF0000"/>
                </a:solidFill>
              </a:rPr>
              <a:t>CB</a:t>
            </a:r>
          </a:p>
        </p:txBody>
      </p:sp>
      <p:sp>
        <p:nvSpPr>
          <p:cNvPr id="58" name="TextBox 57">
            <a:extLst>
              <a:ext uri="{FF2B5EF4-FFF2-40B4-BE49-F238E27FC236}">
                <a16:creationId xmlns:a16="http://schemas.microsoft.com/office/drawing/2014/main" id="{B93672DF-3CE3-479B-AB64-D90FABFB2972}"/>
              </a:ext>
            </a:extLst>
          </p:cNvPr>
          <p:cNvSpPr txBox="1"/>
          <p:nvPr/>
        </p:nvSpPr>
        <p:spPr>
          <a:xfrm>
            <a:off x="7723441" y="4179172"/>
            <a:ext cx="613824" cy="369332"/>
          </a:xfrm>
          <a:prstGeom prst="rect">
            <a:avLst/>
          </a:prstGeom>
          <a:solidFill>
            <a:schemeClr val="bg1">
              <a:lumMod val="95000"/>
            </a:schemeClr>
          </a:solidFill>
        </p:spPr>
        <p:txBody>
          <a:bodyPr wrap="square" rtlCol="0">
            <a:spAutoFit/>
          </a:bodyPr>
          <a:lstStyle/>
          <a:p>
            <a:r>
              <a:rPr lang="fr-MA" b="1" dirty="0">
                <a:solidFill>
                  <a:srgbClr val="FF0000"/>
                </a:solidFill>
              </a:rPr>
              <a:t>CA</a:t>
            </a:r>
          </a:p>
        </p:txBody>
      </p:sp>
      <p:sp>
        <p:nvSpPr>
          <p:cNvPr id="59" name="Rectangle 58">
            <a:extLst>
              <a:ext uri="{FF2B5EF4-FFF2-40B4-BE49-F238E27FC236}">
                <a16:creationId xmlns:a16="http://schemas.microsoft.com/office/drawing/2014/main" id="{0316639D-BF6A-C5FD-9EC6-6FD8B849ABC1}"/>
              </a:ext>
            </a:extLst>
          </p:cNvPr>
          <p:cNvSpPr/>
          <p:nvPr/>
        </p:nvSpPr>
        <p:spPr>
          <a:xfrm>
            <a:off x="9438614" y="4166339"/>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60" name="TextBox 59">
            <a:extLst>
              <a:ext uri="{FF2B5EF4-FFF2-40B4-BE49-F238E27FC236}">
                <a16:creationId xmlns:a16="http://schemas.microsoft.com/office/drawing/2014/main" id="{07EA6BE9-013B-9500-FF72-ECC123A6935F}"/>
              </a:ext>
            </a:extLst>
          </p:cNvPr>
          <p:cNvSpPr txBox="1"/>
          <p:nvPr/>
        </p:nvSpPr>
        <p:spPr>
          <a:xfrm>
            <a:off x="6880239" y="2540838"/>
            <a:ext cx="618191" cy="369332"/>
          </a:xfrm>
          <a:prstGeom prst="rect">
            <a:avLst/>
          </a:prstGeom>
          <a:noFill/>
        </p:spPr>
        <p:txBody>
          <a:bodyPr wrap="square" rtlCol="0">
            <a:spAutoFit/>
          </a:bodyPr>
          <a:lstStyle/>
          <a:p>
            <a:r>
              <a:rPr lang="fr-FR" dirty="0"/>
              <a:t>A</a:t>
            </a:r>
            <a:endParaRPr lang="fr-MA" dirty="0"/>
          </a:p>
        </p:txBody>
      </p:sp>
      <p:sp>
        <p:nvSpPr>
          <p:cNvPr id="61" name="TextBox 60">
            <a:extLst>
              <a:ext uri="{FF2B5EF4-FFF2-40B4-BE49-F238E27FC236}">
                <a16:creationId xmlns:a16="http://schemas.microsoft.com/office/drawing/2014/main" id="{A211251A-37DD-DF09-E602-AD08F35CE27A}"/>
              </a:ext>
            </a:extLst>
          </p:cNvPr>
          <p:cNvSpPr txBox="1"/>
          <p:nvPr/>
        </p:nvSpPr>
        <p:spPr>
          <a:xfrm>
            <a:off x="6890790" y="3432738"/>
            <a:ext cx="618191" cy="369332"/>
          </a:xfrm>
          <a:prstGeom prst="rect">
            <a:avLst/>
          </a:prstGeom>
          <a:noFill/>
        </p:spPr>
        <p:txBody>
          <a:bodyPr wrap="square" rtlCol="0">
            <a:spAutoFit/>
          </a:bodyPr>
          <a:lstStyle/>
          <a:p>
            <a:r>
              <a:rPr lang="fr-FR" dirty="0"/>
              <a:t>B</a:t>
            </a:r>
            <a:endParaRPr lang="fr-MA" dirty="0"/>
          </a:p>
        </p:txBody>
      </p:sp>
      <p:sp>
        <p:nvSpPr>
          <p:cNvPr id="62" name="TextBox 61">
            <a:extLst>
              <a:ext uri="{FF2B5EF4-FFF2-40B4-BE49-F238E27FC236}">
                <a16:creationId xmlns:a16="http://schemas.microsoft.com/office/drawing/2014/main" id="{9151FC30-AEF9-D51A-18D0-F0C6FCC72323}"/>
              </a:ext>
            </a:extLst>
          </p:cNvPr>
          <p:cNvSpPr txBox="1"/>
          <p:nvPr/>
        </p:nvSpPr>
        <p:spPr>
          <a:xfrm>
            <a:off x="6894406" y="4387171"/>
            <a:ext cx="618191" cy="369332"/>
          </a:xfrm>
          <a:prstGeom prst="rect">
            <a:avLst/>
          </a:prstGeom>
          <a:noFill/>
        </p:spPr>
        <p:txBody>
          <a:bodyPr wrap="square" rtlCol="0">
            <a:spAutoFit/>
          </a:bodyPr>
          <a:lstStyle/>
          <a:p>
            <a:r>
              <a:rPr lang="fr-FR" dirty="0"/>
              <a:t>C</a:t>
            </a:r>
            <a:endParaRPr lang="fr-MA" dirty="0"/>
          </a:p>
        </p:txBody>
      </p:sp>
      <p:sp>
        <p:nvSpPr>
          <p:cNvPr id="63" name="TextBox 62">
            <a:extLst>
              <a:ext uri="{FF2B5EF4-FFF2-40B4-BE49-F238E27FC236}">
                <a16:creationId xmlns:a16="http://schemas.microsoft.com/office/drawing/2014/main" id="{CD9D4FD5-6625-1AAA-4F09-F2CEA4E34888}"/>
              </a:ext>
            </a:extLst>
          </p:cNvPr>
          <p:cNvSpPr txBox="1"/>
          <p:nvPr/>
        </p:nvSpPr>
        <p:spPr>
          <a:xfrm>
            <a:off x="7719074" y="5082285"/>
            <a:ext cx="618191" cy="369332"/>
          </a:xfrm>
          <a:prstGeom prst="rect">
            <a:avLst/>
          </a:prstGeom>
          <a:noFill/>
        </p:spPr>
        <p:txBody>
          <a:bodyPr wrap="square" rtlCol="0">
            <a:spAutoFit/>
          </a:bodyPr>
          <a:lstStyle/>
          <a:p>
            <a:r>
              <a:rPr lang="fr-FR" dirty="0"/>
              <a:t>A</a:t>
            </a:r>
            <a:endParaRPr lang="fr-MA" dirty="0"/>
          </a:p>
        </p:txBody>
      </p:sp>
      <p:sp>
        <p:nvSpPr>
          <p:cNvPr id="64" name="TextBox 63">
            <a:extLst>
              <a:ext uri="{FF2B5EF4-FFF2-40B4-BE49-F238E27FC236}">
                <a16:creationId xmlns:a16="http://schemas.microsoft.com/office/drawing/2014/main" id="{78249024-C602-294F-CE05-805FEA8224F4}"/>
              </a:ext>
            </a:extLst>
          </p:cNvPr>
          <p:cNvSpPr txBox="1"/>
          <p:nvPr/>
        </p:nvSpPr>
        <p:spPr>
          <a:xfrm>
            <a:off x="8705507" y="5111994"/>
            <a:ext cx="618191" cy="369332"/>
          </a:xfrm>
          <a:prstGeom prst="rect">
            <a:avLst/>
          </a:prstGeom>
          <a:noFill/>
        </p:spPr>
        <p:txBody>
          <a:bodyPr wrap="square" rtlCol="0">
            <a:spAutoFit/>
          </a:bodyPr>
          <a:lstStyle/>
          <a:p>
            <a:r>
              <a:rPr lang="fr-FR" dirty="0"/>
              <a:t>B</a:t>
            </a:r>
            <a:endParaRPr lang="fr-MA" dirty="0"/>
          </a:p>
        </p:txBody>
      </p:sp>
      <p:sp>
        <p:nvSpPr>
          <p:cNvPr id="65" name="TextBox 64">
            <a:extLst>
              <a:ext uri="{FF2B5EF4-FFF2-40B4-BE49-F238E27FC236}">
                <a16:creationId xmlns:a16="http://schemas.microsoft.com/office/drawing/2014/main" id="{B2357D3D-867C-B0CB-05E1-7EC48E831868}"/>
              </a:ext>
            </a:extLst>
          </p:cNvPr>
          <p:cNvSpPr txBox="1"/>
          <p:nvPr/>
        </p:nvSpPr>
        <p:spPr>
          <a:xfrm>
            <a:off x="9565286" y="5111994"/>
            <a:ext cx="618191" cy="369332"/>
          </a:xfrm>
          <a:prstGeom prst="rect">
            <a:avLst/>
          </a:prstGeom>
          <a:noFill/>
        </p:spPr>
        <p:txBody>
          <a:bodyPr wrap="square" rtlCol="0">
            <a:spAutoFit/>
          </a:bodyPr>
          <a:lstStyle/>
          <a:p>
            <a:r>
              <a:rPr lang="fr-FR" dirty="0"/>
              <a:t>C</a:t>
            </a:r>
            <a:endParaRPr lang="fr-MA" dirty="0"/>
          </a:p>
        </p:txBody>
      </p:sp>
      <p:sp>
        <p:nvSpPr>
          <p:cNvPr id="66" name="TextBox 65">
            <a:extLst>
              <a:ext uri="{FF2B5EF4-FFF2-40B4-BE49-F238E27FC236}">
                <a16:creationId xmlns:a16="http://schemas.microsoft.com/office/drawing/2014/main" id="{F8BD0697-9FB4-45F9-0A3B-25B6D8D861C4}"/>
              </a:ext>
            </a:extLst>
          </p:cNvPr>
          <p:cNvSpPr txBox="1"/>
          <p:nvPr/>
        </p:nvSpPr>
        <p:spPr>
          <a:xfrm>
            <a:off x="7756215" y="2546736"/>
            <a:ext cx="685882" cy="369332"/>
          </a:xfrm>
          <a:prstGeom prst="rect">
            <a:avLst/>
          </a:prstGeom>
          <a:solidFill>
            <a:schemeClr val="bg1">
              <a:lumMod val="95000"/>
            </a:schemeClr>
          </a:solidFill>
        </p:spPr>
        <p:txBody>
          <a:bodyPr wrap="square" rtlCol="0">
            <a:spAutoFit/>
          </a:bodyPr>
          <a:lstStyle/>
          <a:p>
            <a:r>
              <a:rPr lang="fr-MA" b="1" dirty="0">
                <a:solidFill>
                  <a:srgbClr val="0070C0"/>
                </a:solidFill>
              </a:rPr>
              <a:t>AA</a:t>
            </a:r>
          </a:p>
        </p:txBody>
      </p:sp>
      <p:sp>
        <p:nvSpPr>
          <p:cNvPr id="67" name="TextBox 66">
            <a:extLst>
              <a:ext uri="{FF2B5EF4-FFF2-40B4-BE49-F238E27FC236}">
                <a16:creationId xmlns:a16="http://schemas.microsoft.com/office/drawing/2014/main" id="{0C0929C6-EDED-419C-F287-0BAD08326B03}"/>
              </a:ext>
            </a:extLst>
          </p:cNvPr>
          <p:cNvSpPr txBox="1"/>
          <p:nvPr/>
        </p:nvSpPr>
        <p:spPr>
          <a:xfrm>
            <a:off x="9531440" y="2548118"/>
            <a:ext cx="685882" cy="369332"/>
          </a:xfrm>
          <a:prstGeom prst="rect">
            <a:avLst/>
          </a:prstGeom>
          <a:solidFill>
            <a:schemeClr val="bg1">
              <a:lumMod val="95000"/>
            </a:schemeClr>
          </a:solidFill>
        </p:spPr>
        <p:txBody>
          <a:bodyPr wrap="square" rtlCol="0">
            <a:spAutoFit/>
          </a:bodyPr>
          <a:lstStyle/>
          <a:p>
            <a:r>
              <a:rPr lang="fr-MA" b="1" dirty="0">
                <a:solidFill>
                  <a:srgbClr val="FF0000"/>
                </a:solidFill>
              </a:rPr>
              <a:t>AC</a:t>
            </a:r>
          </a:p>
        </p:txBody>
      </p:sp>
      <p:sp>
        <p:nvSpPr>
          <p:cNvPr id="68" name="TextBox 67">
            <a:extLst>
              <a:ext uri="{FF2B5EF4-FFF2-40B4-BE49-F238E27FC236}">
                <a16:creationId xmlns:a16="http://schemas.microsoft.com/office/drawing/2014/main" id="{A80FF596-85E9-2FB3-BB34-DEF04C78D283}"/>
              </a:ext>
            </a:extLst>
          </p:cNvPr>
          <p:cNvSpPr txBox="1"/>
          <p:nvPr/>
        </p:nvSpPr>
        <p:spPr>
          <a:xfrm>
            <a:off x="9497595" y="4229509"/>
            <a:ext cx="685882" cy="369332"/>
          </a:xfrm>
          <a:prstGeom prst="rect">
            <a:avLst/>
          </a:prstGeom>
          <a:solidFill>
            <a:schemeClr val="bg1">
              <a:lumMod val="95000"/>
            </a:schemeClr>
          </a:solidFill>
        </p:spPr>
        <p:txBody>
          <a:bodyPr wrap="square" rtlCol="0">
            <a:spAutoFit/>
          </a:bodyPr>
          <a:lstStyle/>
          <a:p>
            <a:r>
              <a:rPr lang="fr-MA" b="1" dirty="0">
                <a:solidFill>
                  <a:srgbClr val="0070C0"/>
                </a:solidFill>
              </a:rPr>
              <a:t>CC</a:t>
            </a:r>
          </a:p>
        </p:txBody>
      </p:sp>
      <p:sp>
        <p:nvSpPr>
          <p:cNvPr id="69" name="TextBox 68">
            <a:extLst>
              <a:ext uri="{FF2B5EF4-FFF2-40B4-BE49-F238E27FC236}">
                <a16:creationId xmlns:a16="http://schemas.microsoft.com/office/drawing/2014/main" id="{057F4807-92FC-3BD1-C37F-1AD08CA2DB1B}"/>
              </a:ext>
            </a:extLst>
          </p:cNvPr>
          <p:cNvSpPr txBox="1"/>
          <p:nvPr/>
        </p:nvSpPr>
        <p:spPr>
          <a:xfrm>
            <a:off x="9473584" y="3320933"/>
            <a:ext cx="685882" cy="369332"/>
          </a:xfrm>
          <a:prstGeom prst="rect">
            <a:avLst/>
          </a:prstGeom>
          <a:solidFill>
            <a:schemeClr val="bg1">
              <a:lumMod val="95000"/>
            </a:schemeClr>
          </a:solidFill>
        </p:spPr>
        <p:txBody>
          <a:bodyPr wrap="square" rtlCol="0">
            <a:spAutoFit/>
          </a:bodyPr>
          <a:lstStyle/>
          <a:p>
            <a:r>
              <a:rPr lang="fr-MA" b="1" dirty="0">
                <a:solidFill>
                  <a:srgbClr val="FF0000"/>
                </a:solidFill>
              </a:rPr>
              <a:t>BC</a:t>
            </a:r>
          </a:p>
        </p:txBody>
      </p:sp>
      <p:sp>
        <p:nvSpPr>
          <p:cNvPr id="70" name="TextBox 69">
            <a:extLst>
              <a:ext uri="{FF2B5EF4-FFF2-40B4-BE49-F238E27FC236}">
                <a16:creationId xmlns:a16="http://schemas.microsoft.com/office/drawing/2014/main" id="{84FC1E0B-D6B2-949A-C3A2-D0AD9CA63694}"/>
              </a:ext>
            </a:extLst>
          </p:cNvPr>
          <p:cNvSpPr txBox="1"/>
          <p:nvPr/>
        </p:nvSpPr>
        <p:spPr>
          <a:xfrm>
            <a:off x="5884767" y="3232279"/>
            <a:ext cx="871537" cy="369332"/>
          </a:xfrm>
          <a:prstGeom prst="rect">
            <a:avLst/>
          </a:prstGeom>
          <a:noFill/>
        </p:spPr>
        <p:txBody>
          <a:bodyPr wrap="square">
            <a:spAutoFit/>
          </a:bodyPr>
          <a:lstStyle/>
          <a:p>
            <a:pPr algn="ctr"/>
            <a:r>
              <a:rPr lang="fr-MA" b="1" dirty="0" err="1"/>
              <a:t>Actual</a:t>
            </a:r>
            <a:endParaRPr lang="fr-MA" b="1" dirty="0"/>
          </a:p>
        </p:txBody>
      </p:sp>
      <p:sp>
        <p:nvSpPr>
          <p:cNvPr id="71" name="TextBox 70">
            <a:extLst>
              <a:ext uri="{FF2B5EF4-FFF2-40B4-BE49-F238E27FC236}">
                <a16:creationId xmlns:a16="http://schemas.microsoft.com/office/drawing/2014/main" id="{54899F0D-E209-1E5D-EEA1-A2532BBEB08E}"/>
              </a:ext>
            </a:extLst>
          </p:cNvPr>
          <p:cNvSpPr txBox="1"/>
          <p:nvPr/>
        </p:nvSpPr>
        <p:spPr>
          <a:xfrm>
            <a:off x="8165629" y="5382809"/>
            <a:ext cx="1331966" cy="369332"/>
          </a:xfrm>
          <a:prstGeom prst="rect">
            <a:avLst/>
          </a:prstGeom>
          <a:noFill/>
        </p:spPr>
        <p:txBody>
          <a:bodyPr wrap="square">
            <a:spAutoFit/>
          </a:bodyPr>
          <a:lstStyle/>
          <a:p>
            <a:pPr algn="ctr"/>
            <a:r>
              <a:rPr lang="fr-MA" b="1" dirty="0" err="1"/>
              <a:t>Predicted</a:t>
            </a:r>
            <a:endParaRPr lang="fr-MA" b="1" dirty="0"/>
          </a:p>
        </p:txBody>
      </p:sp>
      <p:sp>
        <p:nvSpPr>
          <p:cNvPr id="72" name="TextBox 71">
            <a:extLst>
              <a:ext uri="{FF2B5EF4-FFF2-40B4-BE49-F238E27FC236}">
                <a16:creationId xmlns:a16="http://schemas.microsoft.com/office/drawing/2014/main" id="{36DE5DAF-2F23-41AC-76DC-196F91A27BE4}"/>
              </a:ext>
            </a:extLst>
          </p:cNvPr>
          <p:cNvSpPr txBox="1"/>
          <p:nvPr/>
        </p:nvSpPr>
        <p:spPr>
          <a:xfrm>
            <a:off x="2382" y="4811991"/>
            <a:ext cx="5124789" cy="2062103"/>
          </a:xfrm>
          <a:prstGeom prst="rect">
            <a:avLst/>
          </a:prstGeom>
          <a:noFill/>
        </p:spPr>
        <p:txBody>
          <a:bodyPr wrap="square">
            <a:spAutoFit/>
          </a:bodyPr>
          <a:lstStyle/>
          <a:p>
            <a:pPr algn="l">
              <a:spcAft>
                <a:spcPts val="600"/>
              </a:spcAft>
            </a:pPr>
            <a:r>
              <a:rPr lang="en-US" b="1" dirty="0">
                <a:solidFill>
                  <a:schemeClr val="tx1">
                    <a:lumMod val="85000"/>
                    <a:lumOff val="15000"/>
                  </a:schemeClr>
                </a:solidFill>
                <a:latin typeface="source sans pro" panose="020B0503030403020204" pitchFamily="34" charset="0"/>
              </a:rPr>
              <a:t>Pour </a:t>
            </a:r>
            <a:r>
              <a:rPr lang="en-US" b="1" dirty="0" err="1">
                <a:solidFill>
                  <a:schemeClr val="tx1">
                    <a:lumMod val="85000"/>
                    <a:lumOff val="15000"/>
                  </a:schemeClr>
                </a:solidFill>
                <a:latin typeface="source sans pro" panose="020B0503030403020204" pitchFamily="34" charset="0"/>
              </a:rPr>
              <a:t>une</a:t>
            </a:r>
            <a:r>
              <a:rPr lang="en-US" b="1" dirty="0">
                <a:solidFill>
                  <a:schemeClr val="tx1">
                    <a:lumMod val="85000"/>
                    <a:lumOff val="15000"/>
                  </a:schemeClr>
                </a:solidFill>
                <a:latin typeface="source sans pro" panose="020B0503030403020204" pitchFamily="34" charset="0"/>
              </a:rPr>
              <a:t> classification </a:t>
            </a:r>
            <a:r>
              <a:rPr lang="en-US" b="1" dirty="0" err="1">
                <a:solidFill>
                  <a:schemeClr val="tx1">
                    <a:lumMod val="85000"/>
                    <a:lumOff val="15000"/>
                  </a:schemeClr>
                </a:solidFill>
                <a:latin typeface="source sans pro" panose="020B0503030403020204" pitchFamily="34" charset="0"/>
              </a:rPr>
              <a:t>binaire</a:t>
            </a:r>
            <a:r>
              <a:rPr lang="en-US" b="1" dirty="0">
                <a:solidFill>
                  <a:schemeClr val="tx1">
                    <a:lumMod val="85000"/>
                    <a:lumOff val="15000"/>
                  </a:schemeClr>
                </a:solidFill>
                <a:latin typeface="source sans pro" panose="020B0503030403020204" pitchFamily="34" charset="0"/>
              </a:rPr>
              <a:t>, </a:t>
            </a:r>
            <a:br>
              <a:rPr lang="en-US" b="1" dirty="0">
                <a:solidFill>
                  <a:schemeClr val="tx1">
                    <a:lumMod val="85000"/>
                    <a:lumOff val="15000"/>
                  </a:schemeClr>
                </a:solidFill>
                <a:latin typeface="source sans pro" panose="020B0503030403020204" pitchFamily="34" charset="0"/>
              </a:rPr>
            </a:br>
            <a:r>
              <a:rPr lang="en-US" b="1" dirty="0">
                <a:solidFill>
                  <a:schemeClr val="tx1">
                    <a:lumMod val="85000"/>
                    <a:lumOff val="15000"/>
                  </a:schemeClr>
                </a:solidFill>
                <a:latin typeface="source sans pro" panose="020B0503030403020204" pitchFamily="34" charset="0"/>
              </a:rPr>
              <a:t>confusion matrix </a:t>
            </a:r>
            <a:r>
              <a:rPr lang="en-US" b="1" dirty="0" err="1">
                <a:solidFill>
                  <a:schemeClr val="tx1">
                    <a:lumMod val="85000"/>
                    <a:lumOff val="15000"/>
                  </a:schemeClr>
                </a:solidFill>
                <a:latin typeface="source sans pro" panose="020B0503030403020204" pitchFamily="34" charset="0"/>
              </a:rPr>
              <a:t>contient</a:t>
            </a:r>
            <a:r>
              <a:rPr lang="en-US" b="1" dirty="0">
                <a:solidFill>
                  <a:schemeClr val="tx1">
                    <a:lumMod val="85000"/>
                    <a:lumOff val="15000"/>
                  </a:schemeClr>
                </a:solidFill>
                <a:latin typeface="source sans pro" panose="020B0503030403020204" pitchFamily="34" charset="0"/>
              </a:rPr>
              <a:t> quatre </a:t>
            </a:r>
            <a:r>
              <a:rPr lang="en-US" b="1" dirty="0" err="1">
                <a:solidFill>
                  <a:schemeClr val="tx1">
                    <a:lumMod val="85000"/>
                    <a:lumOff val="15000"/>
                  </a:schemeClr>
                </a:solidFill>
                <a:latin typeface="source sans pro" panose="020B0503030403020204" pitchFamily="34" charset="0"/>
              </a:rPr>
              <a:t>valeurs</a:t>
            </a:r>
            <a:r>
              <a:rPr lang="en-US" b="1" dirty="0">
                <a:solidFill>
                  <a:schemeClr val="tx1">
                    <a:lumMod val="85000"/>
                    <a:lumOff val="15000"/>
                  </a:schemeClr>
                </a:solidFill>
                <a:latin typeface="source sans pro" panose="020B0503030403020204" pitchFamily="34" charset="0"/>
              </a:rPr>
              <a:t>:</a:t>
            </a:r>
            <a:endParaRPr lang="en-US" b="1" i="0" dirty="0">
              <a:solidFill>
                <a:schemeClr val="tx1">
                  <a:lumMod val="85000"/>
                  <a:lumOff val="15000"/>
                </a:schemeClr>
              </a:solidFill>
              <a:effectLst/>
              <a:latin typeface="source sans pro" panose="020B0503030403020204" pitchFamily="34" charset="0"/>
            </a:endParaRPr>
          </a:p>
          <a:p>
            <a:pPr algn="l">
              <a:spcAft>
                <a:spcPts val="600"/>
              </a:spcAft>
              <a:buFont typeface="+mj-lt"/>
              <a:buAutoNum type="arabicPeriod"/>
            </a:pPr>
            <a:r>
              <a:rPr lang="en-US" b="1" i="0" dirty="0">
                <a:solidFill>
                  <a:srgbClr val="0070C0"/>
                </a:solidFill>
                <a:effectLst/>
                <a:latin typeface="source sans pro" panose="020B0503030403020204" pitchFamily="34" charset="0"/>
              </a:rPr>
              <a:t>True negatives</a:t>
            </a:r>
            <a:r>
              <a:rPr lang="en-US" b="1" i="0" dirty="0">
                <a:solidFill>
                  <a:srgbClr val="222222"/>
                </a:solidFill>
                <a:effectLst/>
                <a:latin typeface="source sans pro" panose="020B0503030403020204" pitchFamily="34" charset="0"/>
              </a:rPr>
              <a:t>:</a:t>
            </a:r>
            <a:r>
              <a:rPr lang="en-US" dirty="0">
                <a:solidFill>
                  <a:srgbClr val="222222"/>
                </a:solidFill>
                <a:latin typeface="source sans pro" panose="020B0503030403020204" pitchFamily="34" charset="0"/>
              </a:rPr>
              <a:t> </a:t>
            </a:r>
            <a:r>
              <a:rPr lang="en-US" dirty="0" err="1">
                <a:solidFill>
                  <a:srgbClr val="222222"/>
                </a:solidFill>
                <a:latin typeface="source sans pro" panose="020B0503030403020204" pitchFamily="34" charset="0"/>
              </a:rPr>
              <a:t>réalité</a:t>
            </a:r>
            <a:r>
              <a:rPr lang="en-US" dirty="0">
                <a:solidFill>
                  <a:srgbClr val="222222"/>
                </a:solidFill>
                <a:latin typeface="source sans pro" panose="020B0503030403020204" pitchFamily="34" charset="0"/>
              </a:rPr>
              <a:t> = 0 et la </a:t>
            </a:r>
            <a:r>
              <a:rPr lang="en-US" dirty="0" err="1">
                <a:solidFill>
                  <a:srgbClr val="222222"/>
                </a:solidFill>
                <a:latin typeface="source sans pro" panose="020B0503030403020204" pitchFamily="34" charset="0"/>
              </a:rPr>
              <a:t>prédiction</a:t>
            </a:r>
            <a:r>
              <a:rPr lang="en-US" dirty="0">
                <a:solidFill>
                  <a:srgbClr val="222222"/>
                </a:solidFill>
                <a:latin typeface="source sans pro" panose="020B0503030403020204" pitchFamily="34" charset="0"/>
              </a:rPr>
              <a:t> = 0</a:t>
            </a:r>
            <a:endParaRPr lang="en-US" b="0" i="0" dirty="0">
              <a:solidFill>
                <a:srgbClr val="222222"/>
              </a:solidFill>
              <a:effectLst/>
              <a:latin typeface="source sans pro" panose="020B0503030403020204" pitchFamily="34" charset="0"/>
            </a:endParaRPr>
          </a:p>
          <a:p>
            <a:pPr algn="l">
              <a:spcAft>
                <a:spcPts val="600"/>
              </a:spcAft>
              <a:buFont typeface="+mj-lt"/>
              <a:buAutoNum type="arabicPeriod"/>
            </a:pPr>
            <a:r>
              <a:rPr lang="en-US" b="1" i="0" dirty="0">
                <a:solidFill>
                  <a:srgbClr val="0070C0"/>
                </a:solidFill>
                <a:effectLst/>
                <a:latin typeface="source sans pro" panose="020B0503030403020204" pitchFamily="34" charset="0"/>
              </a:rPr>
              <a:t>True positives:</a:t>
            </a:r>
            <a:r>
              <a:rPr lang="en-US" b="0" i="0" dirty="0">
                <a:solidFill>
                  <a:srgbClr val="222222"/>
                </a:solidFill>
                <a:effectLst/>
                <a:latin typeface="source sans pro" panose="020B0503030403020204" pitchFamily="34" charset="0"/>
              </a:rPr>
              <a:t> </a:t>
            </a:r>
            <a:r>
              <a:rPr lang="en-US" dirty="0">
                <a:solidFill>
                  <a:srgbClr val="222222"/>
                </a:solidFill>
                <a:latin typeface="source sans pro" panose="020B0503030403020204" pitchFamily="34" charset="0"/>
              </a:rPr>
              <a:t> </a:t>
            </a:r>
            <a:r>
              <a:rPr lang="en-US" dirty="0" err="1">
                <a:solidFill>
                  <a:srgbClr val="222222"/>
                </a:solidFill>
                <a:latin typeface="source sans pro" panose="020B0503030403020204" pitchFamily="34" charset="0"/>
              </a:rPr>
              <a:t>réalité</a:t>
            </a:r>
            <a:r>
              <a:rPr lang="en-US" dirty="0">
                <a:solidFill>
                  <a:srgbClr val="222222"/>
                </a:solidFill>
                <a:latin typeface="source sans pro" panose="020B0503030403020204" pitchFamily="34" charset="0"/>
              </a:rPr>
              <a:t> = 1 et la </a:t>
            </a:r>
            <a:r>
              <a:rPr lang="en-US" dirty="0" err="1">
                <a:solidFill>
                  <a:srgbClr val="222222"/>
                </a:solidFill>
                <a:latin typeface="source sans pro" panose="020B0503030403020204" pitchFamily="34" charset="0"/>
              </a:rPr>
              <a:t>prédiction</a:t>
            </a:r>
            <a:r>
              <a:rPr lang="en-US" dirty="0">
                <a:solidFill>
                  <a:srgbClr val="222222"/>
                </a:solidFill>
                <a:latin typeface="source sans pro" panose="020B0503030403020204" pitchFamily="34" charset="0"/>
              </a:rPr>
              <a:t> = 1</a:t>
            </a:r>
            <a:endParaRPr lang="en-US" b="0" i="0" dirty="0">
              <a:solidFill>
                <a:srgbClr val="222222"/>
              </a:solidFill>
              <a:effectLst/>
              <a:latin typeface="source sans pro" panose="020B0503030403020204" pitchFamily="34" charset="0"/>
            </a:endParaRPr>
          </a:p>
          <a:p>
            <a:pPr algn="l">
              <a:spcAft>
                <a:spcPts val="600"/>
              </a:spcAft>
              <a:buFont typeface="+mj-lt"/>
              <a:buAutoNum type="arabicPeriod"/>
            </a:pPr>
            <a:r>
              <a:rPr lang="en-US" b="1" i="0" dirty="0">
                <a:solidFill>
                  <a:srgbClr val="FF0000"/>
                </a:solidFill>
                <a:effectLst/>
                <a:latin typeface="source sans pro" panose="020B0503030403020204" pitchFamily="34" charset="0"/>
              </a:rPr>
              <a:t>False negatives</a:t>
            </a:r>
            <a:r>
              <a:rPr lang="en-US" b="1" i="0" dirty="0">
                <a:solidFill>
                  <a:srgbClr val="222222"/>
                </a:solidFill>
                <a:effectLst/>
                <a:latin typeface="source sans pro" panose="020B0503030403020204" pitchFamily="34" charset="0"/>
              </a:rPr>
              <a:t>:</a:t>
            </a:r>
            <a:r>
              <a:rPr lang="en-US" b="0" i="0" dirty="0">
                <a:solidFill>
                  <a:srgbClr val="222222"/>
                </a:solidFill>
                <a:effectLst/>
                <a:latin typeface="source sans pro" panose="020B0503030403020204" pitchFamily="34" charset="0"/>
              </a:rPr>
              <a:t> </a:t>
            </a:r>
            <a:r>
              <a:rPr lang="en-US" b="0" i="0" dirty="0" err="1">
                <a:solidFill>
                  <a:srgbClr val="222222"/>
                </a:solidFill>
                <a:effectLst/>
                <a:latin typeface="source sans pro" panose="020B0503030403020204" pitchFamily="34" charset="0"/>
              </a:rPr>
              <a:t>réalité</a:t>
            </a:r>
            <a:r>
              <a:rPr lang="en-US" b="0" i="0" dirty="0">
                <a:solidFill>
                  <a:srgbClr val="222222"/>
                </a:solidFill>
                <a:effectLst/>
                <a:latin typeface="source sans pro" panose="020B0503030403020204" pitchFamily="34" charset="0"/>
              </a:rPr>
              <a:t> =1 et la </a:t>
            </a:r>
            <a:r>
              <a:rPr lang="en-US" b="0" i="0" dirty="0" err="1">
                <a:solidFill>
                  <a:srgbClr val="222222"/>
                </a:solidFill>
                <a:effectLst/>
                <a:latin typeface="source sans pro" panose="020B0503030403020204" pitchFamily="34" charset="0"/>
              </a:rPr>
              <a:t>prédiction</a:t>
            </a:r>
            <a:r>
              <a:rPr lang="en-US" b="0" i="0" dirty="0">
                <a:solidFill>
                  <a:srgbClr val="222222"/>
                </a:solidFill>
                <a:effectLst/>
                <a:latin typeface="source sans pro" panose="020B0503030403020204" pitchFamily="34" charset="0"/>
              </a:rPr>
              <a:t> =0</a:t>
            </a:r>
          </a:p>
          <a:p>
            <a:pPr algn="l">
              <a:spcAft>
                <a:spcPts val="600"/>
              </a:spcAft>
              <a:buFont typeface="+mj-lt"/>
              <a:buAutoNum type="arabicPeriod"/>
            </a:pPr>
            <a:r>
              <a:rPr lang="en-US" b="1" i="0" dirty="0">
                <a:solidFill>
                  <a:srgbClr val="FF0000"/>
                </a:solidFill>
                <a:effectLst/>
                <a:latin typeface="source sans pro" panose="020B0503030403020204" pitchFamily="34" charset="0"/>
              </a:rPr>
              <a:t>False positives</a:t>
            </a:r>
            <a:r>
              <a:rPr lang="en-US" b="1" i="0" dirty="0">
                <a:solidFill>
                  <a:srgbClr val="222222"/>
                </a:solidFill>
                <a:effectLst/>
                <a:latin typeface="source sans pro" panose="020B0503030403020204" pitchFamily="34" charset="0"/>
              </a:rPr>
              <a:t>:</a:t>
            </a:r>
            <a:r>
              <a:rPr lang="en-US" b="0" i="0" dirty="0">
                <a:solidFill>
                  <a:srgbClr val="222222"/>
                </a:solidFill>
                <a:effectLst/>
                <a:latin typeface="source sans pro" panose="020B0503030403020204" pitchFamily="34" charset="0"/>
              </a:rPr>
              <a:t>  </a:t>
            </a:r>
            <a:r>
              <a:rPr lang="en-US" b="0" i="0" dirty="0" err="1">
                <a:solidFill>
                  <a:srgbClr val="222222"/>
                </a:solidFill>
                <a:effectLst/>
                <a:latin typeface="source sans pro" panose="020B0503030403020204" pitchFamily="34" charset="0"/>
              </a:rPr>
              <a:t>réalité</a:t>
            </a:r>
            <a:r>
              <a:rPr lang="en-US" b="0" i="0" dirty="0">
                <a:solidFill>
                  <a:srgbClr val="222222"/>
                </a:solidFill>
                <a:effectLst/>
                <a:latin typeface="source sans pro" panose="020B0503030403020204" pitchFamily="34" charset="0"/>
              </a:rPr>
              <a:t> =0 et la </a:t>
            </a:r>
            <a:r>
              <a:rPr lang="en-US" b="0" i="0" dirty="0" err="1">
                <a:solidFill>
                  <a:srgbClr val="222222"/>
                </a:solidFill>
                <a:effectLst/>
                <a:latin typeface="source sans pro" panose="020B0503030403020204" pitchFamily="34" charset="0"/>
              </a:rPr>
              <a:t>prédiction</a:t>
            </a:r>
            <a:r>
              <a:rPr lang="en-US" b="0" i="0" dirty="0">
                <a:solidFill>
                  <a:srgbClr val="222222"/>
                </a:solidFill>
                <a:effectLst/>
                <a:latin typeface="source sans pro" panose="020B0503030403020204" pitchFamily="34" charset="0"/>
              </a:rPr>
              <a:t> =1</a:t>
            </a:r>
          </a:p>
        </p:txBody>
      </p:sp>
      <p:sp>
        <p:nvSpPr>
          <p:cNvPr id="74" name="TextBox 73">
            <a:extLst>
              <a:ext uri="{FF2B5EF4-FFF2-40B4-BE49-F238E27FC236}">
                <a16:creationId xmlns:a16="http://schemas.microsoft.com/office/drawing/2014/main" id="{BE9BAFAD-A3D3-BC2B-B0B9-369D27CDD82A}"/>
              </a:ext>
            </a:extLst>
          </p:cNvPr>
          <p:cNvSpPr txBox="1"/>
          <p:nvPr/>
        </p:nvSpPr>
        <p:spPr>
          <a:xfrm>
            <a:off x="6278312" y="5849652"/>
            <a:ext cx="5674202" cy="646331"/>
          </a:xfrm>
          <a:prstGeom prst="rect">
            <a:avLst/>
          </a:prstGeom>
          <a:noFill/>
        </p:spPr>
        <p:txBody>
          <a:bodyPr wrap="square">
            <a:spAutoFit/>
          </a:bodyPr>
          <a:lstStyle/>
          <a:p>
            <a:pPr algn="l">
              <a:spcAft>
                <a:spcPts val="600"/>
              </a:spcAft>
            </a:pPr>
            <a:r>
              <a:rPr lang="en-US" b="1" dirty="0">
                <a:solidFill>
                  <a:schemeClr val="tx1">
                    <a:lumMod val="85000"/>
                    <a:lumOff val="15000"/>
                  </a:schemeClr>
                </a:solidFill>
                <a:latin typeface="source sans pro" panose="020B0503030403020204" pitchFamily="34" charset="0"/>
              </a:rPr>
              <a:t>Pour </a:t>
            </a:r>
            <a:r>
              <a:rPr lang="en-US" b="1" dirty="0" err="1">
                <a:solidFill>
                  <a:schemeClr val="tx1">
                    <a:lumMod val="85000"/>
                    <a:lumOff val="15000"/>
                  </a:schemeClr>
                </a:solidFill>
                <a:latin typeface="source sans pro" panose="020B0503030403020204" pitchFamily="34" charset="0"/>
              </a:rPr>
              <a:t>une</a:t>
            </a:r>
            <a:r>
              <a:rPr lang="en-US" b="1" dirty="0">
                <a:solidFill>
                  <a:schemeClr val="tx1">
                    <a:lumMod val="85000"/>
                    <a:lumOff val="15000"/>
                  </a:schemeClr>
                </a:solidFill>
                <a:latin typeface="source sans pro" panose="020B0503030403020204" pitchFamily="34" charset="0"/>
              </a:rPr>
              <a:t> classification </a:t>
            </a:r>
            <a:r>
              <a:rPr lang="en-US" b="1" dirty="0" err="1">
                <a:solidFill>
                  <a:schemeClr val="tx1">
                    <a:lumMod val="85000"/>
                    <a:lumOff val="15000"/>
                  </a:schemeClr>
                </a:solidFill>
                <a:latin typeface="source sans pro" panose="020B0503030403020204" pitchFamily="34" charset="0"/>
              </a:rPr>
              <a:t>ayant</a:t>
            </a:r>
            <a:r>
              <a:rPr lang="en-US" b="1" dirty="0">
                <a:solidFill>
                  <a:schemeClr val="tx1">
                    <a:lumMod val="85000"/>
                    <a:lumOff val="15000"/>
                  </a:schemeClr>
                </a:solidFill>
                <a:latin typeface="source sans pro" panose="020B0503030403020204" pitchFamily="34" charset="0"/>
              </a:rPr>
              <a:t> trois classes, </a:t>
            </a:r>
            <a:br>
              <a:rPr lang="en-US" b="1" dirty="0">
                <a:solidFill>
                  <a:schemeClr val="tx1">
                    <a:lumMod val="85000"/>
                    <a:lumOff val="15000"/>
                  </a:schemeClr>
                </a:solidFill>
                <a:latin typeface="source sans pro" panose="020B0503030403020204" pitchFamily="34" charset="0"/>
              </a:rPr>
            </a:br>
            <a:r>
              <a:rPr lang="en-US" b="1" dirty="0">
                <a:solidFill>
                  <a:schemeClr val="tx1">
                    <a:lumMod val="85000"/>
                    <a:lumOff val="15000"/>
                  </a:schemeClr>
                </a:solidFill>
                <a:latin typeface="source sans pro" panose="020B0503030403020204" pitchFamily="34" charset="0"/>
              </a:rPr>
              <a:t>confusion matrix </a:t>
            </a:r>
            <a:r>
              <a:rPr lang="en-US" b="1" dirty="0" err="1">
                <a:solidFill>
                  <a:schemeClr val="tx1">
                    <a:lumMod val="85000"/>
                    <a:lumOff val="15000"/>
                  </a:schemeClr>
                </a:solidFill>
                <a:latin typeface="source sans pro" panose="020B0503030403020204" pitchFamily="34" charset="0"/>
              </a:rPr>
              <a:t>contient</a:t>
            </a:r>
            <a:r>
              <a:rPr lang="en-US" b="1" dirty="0">
                <a:solidFill>
                  <a:schemeClr val="tx1">
                    <a:lumMod val="85000"/>
                    <a:lumOff val="15000"/>
                  </a:schemeClr>
                </a:solidFill>
                <a:latin typeface="source sans pro" panose="020B0503030403020204" pitchFamily="34" charset="0"/>
              </a:rPr>
              <a:t> </a:t>
            </a:r>
            <a:r>
              <a:rPr lang="en-US" b="1" dirty="0" err="1">
                <a:solidFill>
                  <a:schemeClr val="tx1">
                    <a:lumMod val="85000"/>
                    <a:lumOff val="15000"/>
                  </a:schemeClr>
                </a:solidFill>
                <a:latin typeface="source sans pro" panose="020B0503030403020204" pitchFamily="34" charset="0"/>
              </a:rPr>
              <a:t>neuf</a:t>
            </a:r>
            <a:r>
              <a:rPr lang="en-US" b="1" dirty="0">
                <a:solidFill>
                  <a:schemeClr val="tx1">
                    <a:lumMod val="85000"/>
                    <a:lumOff val="15000"/>
                  </a:schemeClr>
                </a:solidFill>
                <a:latin typeface="source sans pro" panose="020B0503030403020204" pitchFamily="34" charset="0"/>
              </a:rPr>
              <a:t> </a:t>
            </a:r>
            <a:r>
              <a:rPr lang="en-US" b="1" dirty="0" err="1">
                <a:solidFill>
                  <a:schemeClr val="tx1">
                    <a:lumMod val="85000"/>
                    <a:lumOff val="15000"/>
                  </a:schemeClr>
                </a:solidFill>
                <a:latin typeface="source sans pro" panose="020B0503030403020204" pitchFamily="34" charset="0"/>
              </a:rPr>
              <a:t>valeurs</a:t>
            </a:r>
            <a:r>
              <a:rPr lang="en-US" b="1" dirty="0">
                <a:solidFill>
                  <a:schemeClr val="tx1">
                    <a:lumMod val="85000"/>
                    <a:lumOff val="15000"/>
                  </a:schemeClr>
                </a:solidFill>
                <a:latin typeface="source sans pro" panose="020B0503030403020204" pitchFamily="34" charset="0"/>
              </a:rPr>
              <a:t>:</a:t>
            </a:r>
            <a:endParaRPr lang="en-US" b="1" i="0" dirty="0">
              <a:solidFill>
                <a:schemeClr val="tx1">
                  <a:lumMod val="85000"/>
                  <a:lumOff val="15000"/>
                </a:schemeClr>
              </a:solidFill>
              <a:effectLst/>
              <a:latin typeface="source sans pro" panose="020B0503030403020204" pitchFamily="34" charset="0"/>
            </a:endParaRPr>
          </a:p>
        </p:txBody>
      </p:sp>
    </p:spTree>
    <p:extLst>
      <p:ext uri="{BB962C8B-B14F-4D97-AF65-F5344CB8AC3E}">
        <p14:creationId xmlns:p14="http://schemas.microsoft.com/office/powerpoint/2010/main" val="387308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B3D71D2A-C6CE-487A-8B80-7A89C4600F30}"/>
              </a:ext>
            </a:extLst>
          </p:cNvPr>
          <p:cNvGraphicFramePr>
            <a:graphicFrameLocks noGrp="1"/>
          </p:cNvGraphicFramePr>
          <p:nvPr/>
        </p:nvGraphicFramePr>
        <p:xfrm>
          <a:off x="346066" y="905410"/>
          <a:ext cx="1205707" cy="4079240"/>
        </p:xfrm>
        <a:graphic>
          <a:graphicData uri="http://schemas.openxmlformats.org/drawingml/2006/table">
            <a:tbl>
              <a:tblPr firstRow="1" bandRow="1">
                <a:tableStyleId>{5C22544A-7EE6-4342-B048-85BDC9FD1C3A}</a:tableStyleId>
              </a:tblPr>
              <a:tblGrid>
                <a:gridCol w="1205707">
                  <a:extLst>
                    <a:ext uri="{9D8B030D-6E8A-4147-A177-3AD203B41FA5}">
                      <a16:colId xmlns:a16="http://schemas.microsoft.com/office/drawing/2014/main" val="965109568"/>
                    </a:ext>
                  </a:extLst>
                </a:gridCol>
              </a:tblGrid>
              <a:tr h="370840">
                <a:tc>
                  <a:txBody>
                    <a:bodyPr/>
                    <a:lstStyle/>
                    <a:p>
                      <a:r>
                        <a:rPr lang="fr-FR" dirty="0">
                          <a:solidFill>
                            <a:schemeClr val="tx1">
                              <a:lumMod val="95000"/>
                              <a:lumOff val="5000"/>
                            </a:schemeClr>
                          </a:solidFill>
                        </a:rPr>
                        <a:t>A</a:t>
                      </a:r>
                      <a:r>
                        <a:rPr lang="fr-MA" dirty="0" err="1">
                          <a:solidFill>
                            <a:schemeClr val="tx1">
                              <a:lumMod val="95000"/>
                              <a:lumOff val="5000"/>
                            </a:schemeClr>
                          </a:solidFill>
                        </a:rPr>
                        <a:t>ctual_y</a:t>
                      </a:r>
                      <a:endParaRPr lang="fr-MA" dirty="0">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96145716"/>
                  </a:ext>
                </a:extLst>
              </a:tr>
              <a:tr h="370840">
                <a:tc>
                  <a:txBody>
                    <a:bodyPr/>
                    <a:lstStyle/>
                    <a:p>
                      <a:r>
                        <a:rPr lang="fr-MA" dirty="0">
                          <a:solidFill>
                            <a:schemeClr val="tx1">
                              <a:lumMod val="95000"/>
                              <a:lumOff val="5000"/>
                            </a:schemeClr>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164477320"/>
                  </a:ext>
                </a:extLst>
              </a:tr>
              <a:tr h="370840">
                <a:tc>
                  <a:txBody>
                    <a:bodyPr/>
                    <a:lstStyle/>
                    <a:p>
                      <a:r>
                        <a:rPr lang="fr-MA" dirty="0">
                          <a:solidFill>
                            <a:schemeClr val="tx1">
                              <a:lumMod val="95000"/>
                              <a:lumOff val="5000"/>
                            </a:schemeClr>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465207"/>
                  </a:ext>
                </a:extLst>
              </a:tr>
              <a:tr h="370840">
                <a:tc>
                  <a:txBody>
                    <a:bodyPr/>
                    <a:lstStyle/>
                    <a:p>
                      <a:r>
                        <a:rPr lang="fr-MA" dirty="0">
                          <a:solidFill>
                            <a:schemeClr val="tx1">
                              <a:lumMod val="95000"/>
                              <a:lumOff val="5000"/>
                            </a:schemeClr>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73829103"/>
                  </a:ext>
                </a:extLst>
              </a:tr>
              <a:tr h="370840">
                <a:tc>
                  <a:txBody>
                    <a:bodyPr/>
                    <a:lstStyle/>
                    <a:p>
                      <a:r>
                        <a:rPr lang="fr-MA" dirty="0">
                          <a:solidFill>
                            <a:schemeClr val="tx1">
                              <a:lumMod val="95000"/>
                              <a:lumOff val="5000"/>
                            </a:schemeClr>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802048853"/>
                  </a:ext>
                </a:extLst>
              </a:tr>
              <a:tr h="370840">
                <a:tc>
                  <a:txBody>
                    <a:bodyPr/>
                    <a:lstStyle/>
                    <a:p>
                      <a:r>
                        <a:rPr lang="fr-MA" dirty="0">
                          <a:solidFill>
                            <a:schemeClr val="tx1">
                              <a:lumMod val="95000"/>
                              <a:lumOff val="5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142352984"/>
                  </a:ext>
                </a:extLst>
              </a:tr>
              <a:tr h="370840">
                <a:tc>
                  <a:txBody>
                    <a:bodyPr/>
                    <a:lstStyle/>
                    <a:p>
                      <a:r>
                        <a:rPr lang="fr-MA" dirty="0">
                          <a:solidFill>
                            <a:schemeClr val="tx1">
                              <a:lumMod val="95000"/>
                              <a:lumOff val="5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807634612"/>
                  </a:ext>
                </a:extLst>
              </a:tr>
              <a:tr h="370840">
                <a:tc>
                  <a:txBody>
                    <a:bodyPr/>
                    <a:lstStyle/>
                    <a:p>
                      <a:r>
                        <a:rPr lang="fr-MA" dirty="0">
                          <a:solidFill>
                            <a:schemeClr val="tx1">
                              <a:lumMod val="95000"/>
                              <a:lumOff val="5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96092401"/>
                  </a:ext>
                </a:extLst>
              </a:tr>
              <a:tr h="370840">
                <a:tc>
                  <a:txBody>
                    <a:bodyPr/>
                    <a:lstStyle/>
                    <a:p>
                      <a:r>
                        <a:rPr lang="fr-MA" dirty="0">
                          <a:solidFill>
                            <a:schemeClr val="tx1">
                              <a:lumMod val="95000"/>
                              <a:lumOff val="5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760593172"/>
                  </a:ext>
                </a:extLst>
              </a:tr>
              <a:tr h="370840">
                <a:tc>
                  <a:txBody>
                    <a:bodyPr/>
                    <a:lstStyle/>
                    <a:p>
                      <a:r>
                        <a:rPr lang="fr-MA" dirty="0">
                          <a:solidFill>
                            <a:schemeClr val="tx1">
                              <a:lumMod val="95000"/>
                              <a:lumOff val="5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371782033"/>
                  </a:ext>
                </a:extLst>
              </a:tr>
              <a:tr h="370840">
                <a:tc>
                  <a:txBody>
                    <a:bodyPr/>
                    <a:lstStyle/>
                    <a:p>
                      <a:r>
                        <a:rPr lang="fr-MA" dirty="0">
                          <a:solidFill>
                            <a:schemeClr val="tx1">
                              <a:lumMod val="95000"/>
                              <a:lumOff val="5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602761408"/>
                  </a:ext>
                </a:extLst>
              </a:tr>
            </a:tbl>
          </a:graphicData>
        </a:graphic>
      </p:graphicFrame>
      <p:graphicFrame>
        <p:nvGraphicFramePr>
          <p:cNvPr id="4" name="Table 3">
            <a:extLst>
              <a:ext uri="{FF2B5EF4-FFF2-40B4-BE49-F238E27FC236}">
                <a16:creationId xmlns:a16="http://schemas.microsoft.com/office/drawing/2014/main" id="{487FCCA9-E05B-4711-9F0D-A8DAF5DE4BC8}"/>
              </a:ext>
            </a:extLst>
          </p:cNvPr>
          <p:cNvGraphicFramePr>
            <a:graphicFrameLocks noGrp="1"/>
          </p:cNvGraphicFramePr>
          <p:nvPr>
            <p:extLst>
              <p:ext uri="{D42A27DB-BD31-4B8C-83A1-F6EECF244321}">
                <p14:modId xmlns:p14="http://schemas.microsoft.com/office/powerpoint/2010/main" val="882614658"/>
              </p:ext>
            </p:extLst>
          </p:nvPr>
        </p:nvGraphicFramePr>
        <p:xfrm>
          <a:off x="1968037" y="905410"/>
          <a:ext cx="1362991" cy="4079240"/>
        </p:xfrm>
        <a:graphic>
          <a:graphicData uri="http://schemas.openxmlformats.org/drawingml/2006/table">
            <a:tbl>
              <a:tblPr firstRow="1" bandRow="1">
                <a:tableStyleId>{5C22544A-7EE6-4342-B048-85BDC9FD1C3A}</a:tableStyleId>
              </a:tblPr>
              <a:tblGrid>
                <a:gridCol w="1362991">
                  <a:extLst>
                    <a:ext uri="{9D8B030D-6E8A-4147-A177-3AD203B41FA5}">
                      <a16:colId xmlns:a16="http://schemas.microsoft.com/office/drawing/2014/main" val="965109568"/>
                    </a:ext>
                  </a:extLst>
                </a:gridCol>
              </a:tblGrid>
              <a:tr h="370840">
                <a:tc>
                  <a:txBody>
                    <a:bodyPr/>
                    <a:lstStyle/>
                    <a:p>
                      <a:r>
                        <a:rPr lang="fr-FR" dirty="0">
                          <a:solidFill>
                            <a:schemeClr val="tx1">
                              <a:lumMod val="95000"/>
                              <a:lumOff val="5000"/>
                            </a:schemeClr>
                          </a:solidFill>
                        </a:rPr>
                        <a:t>P</a:t>
                      </a:r>
                      <a:r>
                        <a:rPr lang="fr-MA" dirty="0" err="1">
                          <a:solidFill>
                            <a:schemeClr val="tx1">
                              <a:lumMod val="95000"/>
                              <a:lumOff val="5000"/>
                            </a:schemeClr>
                          </a:solidFill>
                        </a:rPr>
                        <a:t>redicted_y</a:t>
                      </a:r>
                      <a:endParaRPr lang="fr-MA" dirty="0">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496145716"/>
                  </a:ext>
                </a:extLst>
              </a:tr>
              <a:tr h="370840">
                <a:tc>
                  <a:txBody>
                    <a:bodyPr/>
                    <a:lstStyle/>
                    <a:p>
                      <a:r>
                        <a:rPr lang="fr-MA" b="1" dirty="0">
                          <a:solidFill>
                            <a:schemeClr val="tx1">
                              <a:lumMod val="95000"/>
                              <a:lumOff val="5000"/>
                            </a:schemeClr>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164477320"/>
                  </a:ext>
                </a:extLst>
              </a:tr>
              <a:tr h="370840">
                <a:tc>
                  <a:txBody>
                    <a:bodyPr/>
                    <a:lstStyle/>
                    <a:p>
                      <a:r>
                        <a:rPr lang="fr-MA" b="1" dirty="0">
                          <a:solidFill>
                            <a:schemeClr val="tx1">
                              <a:lumMod val="95000"/>
                              <a:lumOff val="5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465207"/>
                  </a:ext>
                </a:extLst>
              </a:tr>
              <a:tr h="370840">
                <a:tc>
                  <a:txBody>
                    <a:bodyPr/>
                    <a:lstStyle/>
                    <a:p>
                      <a:r>
                        <a:rPr lang="fr-MA" b="1" dirty="0">
                          <a:solidFill>
                            <a:schemeClr val="tx1">
                              <a:lumMod val="95000"/>
                              <a:lumOff val="5000"/>
                            </a:schemeClr>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673829103"/>
                  </a:ext>
                </a:extLst>
              </a:tr>
              <a:tr h="370840">
                <a:tc>
                  <a:txBody>
                    <a:bodyPr/>
                    <a:lstStyle/>
                    <a:p>
                      <a:r>
                        <a:rPr lang="fr-MA" b="1" dirty="0">
                          <a:solidFill>
                            <a:schemeClr val="tx1">
                              <a:lumMod val="95000"/>
                              <a:lumOff val="5000"/>
                            </a:schemeClr>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802048853"/>
                  </a:ext>
                </a:extLst>
              </a:tr>
              <a:tr h="370840">
                <a:tc>
                  <a:txBody>
                    <a:bodyPr/>
                    <a:lstStyle/>
                    <a:p>
                      <a:r>
                        <a:rPr lang="fr-MA" b="1" dirty="0">
                          <a:solidFill>
                            <a:schemeClr val="tx1">
                              <a:lumMod val="95000"/>
                              <a:lumOff val="5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142352984"/>
                  </a:ext>
                </a:extLst>
              </a:tr>
              <a:tr h="370840">
                <a:tc>
                  <a:txBody>
                    <a:bodyPr/>
                    <a:lstStyle/>
                    <a:p>
                      <a:r>
                        <a:rPr lang="fr-MA" b="1" dirty="0">
                          <a:solidFill>
                            <a:schemeClr val="tx1">
                              <a:lumMod val="95000"/>
                              <a:lumOff val="5000"/>
                            </a:schemeClr>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807634612"/>
                  </a:ext>
                </a:extLst>
              </a:tr>
              <a:tr h="370840">
                <a:tc>
                  <a:txBody>
                    <a:bodyPr/>
                    <a:lstStyle/>
                    <a:p>
                      <a:r>
                        <a:rPr lang="fr-MA" b="1" dirty="0">
                          <a:solidFill>
                            <a:schemeClr val="tx1">
                              <a:lumMod val="95000"/>
                              <a:lumOff val="5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496092401"/>
                  </a:ext>
                </a:extLst>
              </a:tr>
              <a:tr h="370840">
                <a:tc>
                  <a:txBody>
                    <a:bodyPr/>
                    <a:lstStyle/>
                    <a:p>
                      <a:r>
                        <a:rPr lang="fr-MA" b="1" dirty="0">
                          <a:solidFill>
                            <a:schemeClr val="tx1">
                              <a:lumMod val="95000"/>
                              <a:lumOff val="5000"/>
                            </a:schemeClr>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760593172"/>
                  </a:ext>
                </a:extLst>
              </a:tr>
              <a:tr h="370840">
                <a:tc>
                  <a:txBody>
                    <a:bodyPr/>
                    <a:lstStyle/>
                    <a:p>
                      <a:r>
                        <a:rPr lang="fr-MA" b="1" dirty="0">
                          <a:solidFill>
                            <a:schemeClr val="tx1">
                              <a:lumMod val="95000"/>
                              <a:lumOff val="5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371782033"/>
                  </a:ext>
                </a:extLst>
              </a:tr>
              <a:tr h="370840">
                <a:tc>
                  <a:txBody>
                    <a:bodyPr/>
                    <a:lstStyle/>
                    <a:p>
                      <a:r>
                        <a:rPr lang="fr-MA" b="1" dirty="0">
                          <a:solidFill>
                            <a:schemeClr val="tx1">
                              <a:lumMod val="95000"/>
                              <a:lumOff val="5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086347886"/>
                  </a:ext>
                </a:extLst>
              </a:tr>
            </a:tbl>
          </a:graphicData>
        </a:graphic>
      </p:graphicFrame>
      <p:sp>
        <p:nvSpPr>
          <p:cNvPr id="3" name="TextBox 2">
            <a:extLst>
              <a:ext uri="{FF2B5EF4-FFF2-40B4-BE49-F238E27FC236}">
                <a16:creationId xmlns:a16="http://schemas.microsoft.com/office/drawing/2014/main" id="{44256009-A729-41EA-9846-EC46DCAE5B58}"/>
              </a:ext>
            </a:extLst>
          </p:cNvPr>
          <p:cNvSpPr txBox="1"/>
          <p:nvPr/>
        </p:nvSpPr>
        <p:spPr>
          <a:xfrm>
            <a:off x="171450" y="37599"/>
            <a:ext cx="5427245" cy="584775"/>
          </a:xfrm>
          <a:prstGeom prst="rect">
            <a:avLst/>
          </a:prstGeom>
          <a:noFill/>
        </p:spPr>
        <p:txBody>
          <a:bodyPr wrap="square" rtlCol="0">
            <a:spAutoFit/>
          </a:bodyPr>
          <a:lstStyle/>
          <a:p>
            <a:r>
              <a:rPr lang="fr-MA" sz="3200" b="1" dirty="0">
                <a:solidFill>
                  <a:srgbClr val="FF3300"/>
                </a:solidFill>
              </a:rPr>
              <a:t>Confusion matrix</a:t>
            </a:r>
            <a:endParaRPr lang="fr-MA" sz="3200" b="1" dirty="0"/>
          </a:p>
        </p:txBody>
      </p:sp>
      <p:sp>
        <p:nvSpPr>
          <p:cNvPr id="5" name="TextBox 4">
            <a:extLst>
              <a:ext uri="{FF2B5EF4-FFF2-40B4-BE49-F238E27FC236}">
                <a16:creationId xmlns:a16="http://schemas.microsoft.com/office/drawing/2014/main" id="{8D2D189B-7B2A-83CA-6347-0CEF9CC2B8F0}"/>
              </a:ext>
            </a:extLst>
          </p:cNvPr>
          <p:cNvSpPr txBox="1"/>
          <p:nvPr/>
        </p:nvSpPr>
        <p:spPr>
          <a:xfrm>
            <a:off x="3494314" y="228602"/>
            <a:ext cx="8697685" cy="369332"/>
          </a:xfrm>
          <a:prstGeom prst="rect">
            <a:avLst/>
          </a:prstGeom>
          <a:noFill/>
        </p:spPr>
        <p:txBody>
          <a:bodyPr wrap="square" rtlCol="0">
            <a:spAutoFit/>
          </a:bodyPr>
          <a:lstStyle/>
          <a:p>
            <a:r>
              <a:rPr lang="fr-FR" dirty="0"/>
              <a:t>Selon le résultat de prédiction du modèle de classification, trouver les valeurs de la matrice</a:t>
            </a:r>
            <a:endParaRPr lang="fr-MA" dirty="0"/>
          </a:p>
        </p:txBody>
      </p:sp>
      <p:sp>
        <p:nvSpPr>
          <p:cNvPr id="7" name="Rectangle 6">
            <a:extLst>
              <a:ext uri="{FF2B5EF4-FFF2-40B4-BE49-F238E27FC236}">
                <a16:creationId xmlns:a16="http://schemas.microsoft.com/office/drawing/2014/main" id="{EA4E4287-02B9-18C6-C5DD-A83C40FCF2AC}"/>
              </a:ext>
            </a:extLst>
          </p:cNvPr>
          <p:cNvSpPr/>
          <p:nvPr/>
        </p:nvSpPr>
        <p:spPr>
          <a:xfrm>
            <a:off x="6595905" y="747528"/>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9" name="Rectangle 8">
            <a:extLst>
              <a:ext uri="{FF2B5EF4-FFF2-40B4-BE49-F238E27FC236}">
                <a16:creationId xmlns:a16="http://schemas.microsoft.com/office/drawing/2014/main" id="{02BFF7CC-25C5-E438-4592-FD762ED83FAF}"/>
              </a:ext>
            </a:extLst>
          </p:cNvPr>
          <p:cNvSpPr/>
          <p:nvPr/>
        </p:nvSpPr>
        <p:spPr>
          <a:xfrm>
            <a:off x="7499593" y="1643265"/>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1" name="Rectangle 10">
            <a:extLst>
              <a:ext uri="{FF2B5EF4-FFF2-40B4-BE49-F238E27FC236}">
                <a16:creationId xmlns:a16="http://schemas.microsoft.com/office/drawing/2014/main" id="{470809D6-91DB-AF8C-C58C-9C36DDC27D7A}"/>
              </a:ext>
            </a:extLst>
          </p:cNvPr>
          <p:cNvSpPr/>
          <p:nvPr/>
        </p:nvSpPr>
        <p:spPr>
          <a:xfrm>
            <a:off x="7499593" y="745371"/>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3" name="Rectangle 12">
            <a:extLst>
              <a:ext uri="{FF2B5EF4-FFF2-40B4-BE49-F238E27FC236}">
                <a16:creationId xmlns:a16="http://schemas.microsoft.com/office/drawing/2014/main" id="{F1C5217E-D53B-1D14-6B48-88A1007C2E0C}"/>
              </a:ext>
            </a:extLst>
          </p:cNvPr>
          <p:cNvSpPr/>
          <p:nvPr/>
        </p:nvSpPr>
        <p:spPr>
          <a:xfrm>
            <a:off x="6588763" y="1638951"/>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5" name="TextBox 14">
            <a:extLst>
              <a:ext uri="{FF2B5EF4-FFF2-40B4-BE49-F238E27FC236}">
                <a16:creationId xmlns:a16="http://schemas.microsoft.com/office/drawing/2014/main" id="{EABC745C-BA4F-B5B0-9E50-9C2A1D5A3D49}"/>
              </a:ext>
            </a:extLst>
          </p:cNvPr>
          <p:cNvSpPr txBox="1"/>
          <p:nvPr/>
        </p:nvSpPr>
        <p:spPr>
          <a:xfrm>
            <a:off x="6695977" y="810687"/>
            <a:ext cx="685882" cy="369332"/>
          </a:xfrm>
          <a:prstGeom prst="rect">
            <a:avLst/>
          </a:prstGeom>
          <a:solidFill>
            <a:schemeClr val="bg1">
              <a:lumMod val="95000"/>
            </a:schemeClr>
          </a:solidFill>
        </p:spPr>
        <p:txBody>
          <a:bodyPr wrap="square" rtlCol="0">
            <a:spAutoFit/>
          </a:bodyPr>
          <a:lstStyle/>
          <a:p>
            <a:r>
              <a:rPr lang="fr-MA" b="1" dirty="0">
                <a:solidFill>
                  <a:srgbClr val="0070C0"/>
                </a:solidFill>
              </a:rPr>
              <a:t>TN</a:t>
            </a:r>
          </a:p>
        </p:txBody>
      </p:sp>
      <p:sp>
        <p:nvSpPr>
          <p:cNvPr id="17" name="TextBox 16">
            <a:extLst>
              <a:ext uri="{FF2B5EF4-FFF2-40B4-BE49-F238E27FC236}">
                <a16:creationId xmlns:a16="http://schemas.microsoft.com/office/drawing/2014/main" id="{26AC587E-C747-AE55-DBE0-4E9BAF67BBBF}"/>
              </a:ext>
            </a:extLst>
          </p:cNvPr>
          <p:cNvSpPr txBox="1"/>
          <p:nvPr/>
        </p:nvSpPr>
        <p:spPr>
          <a:xfrm>
            <a:off x="6588763" y="2503955"/>
            <a:ext cx="878679" cy="369332"/>
          </a:xfrm>
          <a:prstGeom prst="rect">
            <a:avLst/>
          </a:prstGeom>
          <a:noFill/>
        </p:spPr>
        <p:txBody>
          <a:bodyPr wrap="square" rtlCol="0">
            <a:spAutoFit/>
          </a:bodyPr>
          <a:lstStyle/>
          <a:p>
            <a:pPr algn="ctr"/>
            <a:r>
              <a:rPr lang="fr-MA" b="1" dirty="0"/>
              <a:t>0</a:t>
            </a:r>
          </a:p>
        </p:txBody>
      </p:sp>
      <p:sp>
        <p:nvSpPr>
          <p:cNvPr id="19" name="TextBox 18">
            <a:extLst>
              <a:ext uri="{FF2B5EF4-FFF2-40B4-BE49-F238E27FC236}">
                <a16:creationId xmlns:a16="http://schemas.microsoft.com/office/drawing/2014/main" id="{733613CE-93E5-8B27-BC7A-BEB15A9C66D1}"/>
              </a:ext>
            </a:extLst>
          </p:cNvPr>
          <p:cNvSpPr txBox="1"/>
          <p:nvPr/>
        </p:nvSpPr>
        <p:spPr>
          <a:xfrm>
            <a:off x="5708292" y="993207"/>
            <a:ext cx="871538" cy="369332"/>
          </a:xfrm>
          <a:prstGeom prst="rect">
            <a:avLst/>
          </a:prstGeom>
          <a:noFill/>
        </p:spPr>
        <p:txBody>
          <a:bodyPr wrap="square" rtlCol="0">
            <a:spAutoFit/>
          </a:bodyPr>
          <a:lstStyle/>
          <a:p>
            <a:pPr algn="ctr"/>
            <a:r>
              <a:rPr lang="fr-MA" b="1" dirty="0"/>
              <a:t>0</a:t>
            </a:r>
          </a:p>
        </p:txBody>
      </p:sp>
      <p:sp>
        <p:nvSpPr>
          <p:cNvPr id="21" name="TextBox 20">
            <a:extLst>
              <a:ext uri="{FF2B5EF4-FFF2-40B4-BE49-F238E27FC236}">
                <a16:creationId xmlns:a16="http://schemas.microsoft.com/office/drawing/2014/main" id="{AEF876D1-F002-B305-5654-69325794028E}"/>
              </a:ext>
            </a:extLst>
          </p:cNvPr>
          <p:cNvSpPr txBox="1"/>
          <p:nvPr/>
        </p:nvSpPr>
        <p:spPr>
          <a:xfrm>
            <a:off x="7455449" y="2542505"/>
            <a:ext cx="878679" cy="369332"/>
          </a:xfrm>
          <a:prstGeom prst="rect">
            <a:avLst/>
          </a:prstGeom>
          <a:noFill/>
        </p:spPr>
        <p:txBody>
          <a:bodyPr wrap="square" rtlCol="0">
            <a:spAutoFit/>
          </a:bodyPr>
          <a:lstStyle/>
          <a:p>
            <a:pPr algn="ctr"/>
            <a:r>
              <a:rPr lang="fr-MA" b="1" dirty="0"/>
              <a:t>1</a:t>
            </a:r>
          </a:p>
        </p:txBody>
      </p:sp>
      <p:sp>
        <p:nvSpPr>
          <p:cNvPr id="23" name="TextBox 22">
            <a:extLst>
              <a:ext uri="{FF2B5EF4-FFF2-40B4-BE49-F238E27FC236}">
                <a16:creationId xmlns:a16="http://schemas.microsoft.com/office/drawing/2014/main" id="{14441DE9-CA29-B977-9B82-6E3288065ECB}"/>
              </a:ext>
            </a:extLst>
          </p:cNvPr>
          <p:cNvSpPr txBox="1"/>
          <p:nvPr/>
        </p:nvSpPr>
        <p:spPr>
          <a:xfrm>
            <a:off x="5686097" y="1971718"/>
            <a:ext cx="871538" cy="369332"/>
          </a:xfrm>
          <a:prstGeom prst="rect">
            <a:avLst/>
          </a:prstGeom>
          <a:noFill/>
        </p:spPr>
        <p:txBody>
          <a:bodyPr wrap="square" rtlCol="0">
            <a:spAutoFit/>
          </a:bodyPr>
          <a:lstStyle/>
          <a:p>
            <a:pPr algn="ctr"/>
            <a:r>
              <a:rPr lang="fr-MA" b="1" dirty="0"/>
              <a:t>1</a:t>
            </a:r>
          </a:p>
        </p:txBody>
      </p:sp>
      <p:sp>
        <p:nvSpPr>
          <p:cNvPr id="25" name="TextBox 24">
            <a:extLst>
              <a:ext uri="{FF2B5EF4-FFF2-40B4-BE49-F238E27FC236}">
                <a16:creationId xmlns:a16="http://schemas.microsoft.com/office/drawing/2014/main" id="{9CAF414F-2C80-648B-2E2B-94C4C4FB3F12}"/>
              </a:ext>
            </a:extLst>
          </p:cNvPr>
          <p:cNvSpPr txBox="1"/>
          <p:nvPr/>
        </p:nvSpPr>
        <p:spPr>
          <a:xfrm>
            <a:off x="7599193" y="1707108"/>
            <a:ext cx="685882" cy="369332"/>
          </a:xfrm>
          <a:prstGeom prst="rect">
            <a:avLst/>
          </a:prstGeom>
          <a:solidFill>
            <a:schemeClr val="bg1">
              <a:lumMod val="95000"/>
            </a:schemeClr>
          </a:solidFill>
        </p:spPr>
        <p:txBody>
          <a:bodyPr wrap="square" rtlCol="0">
            <a:spAutoFit/>
          </a:bodyPr>
          <a:lstStyle/>
          <a:p>
            <a:r>
              <a:rPr lang="fr-MA" b="1" dirty="0">
                <a:solidFill>
                  <a:srgbClr val="0070C0"/>
                </a:solidFill>
              </a:rPr>
              <a:t>TP</a:t>
            </a:r>
          </a:p>
        </p:txBody>
      </p:sp>
      <p:sp>
        <p:nvSpPr>
          <p:cNvPr id="27" name="TextBox 26">
            <a:extLst>
              <a:ext uri="{FF2B5EF4-FFF2-40B4-BE49-F238E27FC236}">
                <a16:creationId xmlns:a16="http://schemas.microsoft.com/office/drawing/2014/main" id="{75840031-58AD-F26E-18B4-BA51ADFD7375}"/>
              </a:ext>
            </a:extLst>
          </p:cNvPr>
          <p:cNvSpPr txBox="1"/>
          <p:nvPr/>
        </p:nvSpPr>
        <p:spPr>
          <a:xfrm>
            <a:off x="7685248" y="783759"/>
            <a:ext cx="685882" cy="369332"/>
          </a:xfrm>
          <a:prstGeom prst="rect">
            <a:avLst/>
          </a:prstGeom>
          <a:solidFill>
            <a:schemeClr val="bg1">
              <a:lumMod val="95000"/>
            </a:schemeClr>
          </a:solidFill>
        </p:spPr>
        <p:txBody>
          <a:bodyPr wrap="square" rtlCol="0">
            <a:spAutoFit/>
          </a:bodyPr>
          <a:lstStyle/>
          <a:p>
            <a:r>
              <a:rPr lang="fr-MA" b="1" dirty="0">
                <a:solidFill>
                  <a:srgbClr val="FF0000"/>
                </a:solidFill>
              </a:rPr>
              <a:t>FP</a:t>
            </a:r>
          </a:p>
        </p:txBody>
      </p:sp>
      <p:sp>
        <p:nvSpPr>
          <p:cNvPr id="29" name="TextBox 28">
            <a:extLst>
              <a:ext uri="{FF2B5EF4-FFF2-40B4-BE49-F238E27FC236}">
                <a16:creationId xmlns:a16="http://schemas.microsoft.com/office/drawing/2014/main" id="{11603F27-D3E5-C0A0-9FE4-12C2DAC225EA}"/>
              </a:ext>
            </a:extLst>
          </p:cNvPr>
          <p:cNvSpPr txBox="1"/>
          <p:nvPr/>
        </p:nvSpPr>
        <p:spPr>
          <a:xfrm>
            <a:off x="6692121" y="1661893"/>
            <a:ext cx="613824" cy="369332"/>
          </a:xfrm>
          <a:prstGeom prst="rect">
            <a:avLst/>
          </a:prstGeom>
          <a:solidFill>
            <a:schemeClr val="bg1">
              <a:lumMod val="95000"/>
            </a:schemeClr>
          </a:solidFill>
        </p:spPr>
        <p:txBody>
          <a:bodyPr wrap="square" rtlCol="0">
            <a:spAutoFit/>
          </a:bodyPr>
          <a:lstStyle/>
          <a:p>
            <a:r>
              <a:rPr lang="fr-MA" b="1" dirty="0">
                <a:solidFill>
                  <a:srgbClr val="FF0000"/>
                </a:solidFill>
              </a:rPr>
              <a:t>FN</a:t>
            </a:r>
          </a:p>
        </p:txBody>
      </p:sp>
      <p:sp>
        <p:nvSpPr>
          <p:cNvPr id="31" name="TextBox 30">
            <a:extLst>
              <a:ext uri="{FF2B5EF4-FFF2-40B4-BE49-F238E27FC236}">
                <a16:creationId xmlns:a16="http://schemas.microsoft.com/office/drawing/2014/main" id="{16C5F811-2156-5157-4144-2032A52A0DF6}"/>
              </a:ext>
            </a:extLst>
          </p:cNvPr>
          <p:cNvSpPr txBox="1"/>
          <p:nvPr/>
        </p:nvSpPr>
        <p:spPr>
          <a:xfrm>
            <a:off x="5159015" y="1398424"/>
            <a:ext cx="871537" cy="369332"/>
          </a:xfrm>
          <a:prstGeom prst="rect">
            <a:avLst/>
          </a:prstGeom>
          <a:noFill/>
        </p:spPr>
        <p:txBody>
          <a:bodyPr wrap="square">
            <a:spAutoFit/>
          </a:bodyPr>
          <a:lstStyle/>
          <a:p>
            <a:pPr algn="ctr"/>
            <a:r>
              <a:rPr lang="fr-MA" b="1" dirty="0" err="1"/>
              <a:t>Actual</a:t>
            </a:r>
            <a:endParaRPr lang="fr-MA" b="1" dirty="0"/>
          </a:p>
        </p:txBody>
      </p:sp>
      <p:sp>
        <p:nvSpPr>
          <p:cNvPr id="33" name="TextBox 32">
            <a:extLst>
              <a:ext uri="{FF2B5EF4-FFF2-40B4-BE49-F238E27FC236}">
                <a16:creationId xmlns:a16="http://schemas.microsoft.com/office/drawing/2014/main" id="{DB634E6F-4DB0-3A7E-51A9-A75810740540}"/>
              </a:ext>
            </a:extLst>
          </p:cNvPr>
          <p:cNvSpPr txBox="1"/>
          <p:nvPr/>
        </p:nvSpPr>
        <p:spPr>
          <a:xfrm>
            <a:off x="6740903" y="2737982"/>
            <a:ext cx="1331966" cy="369332"/>
          </a:xfrm>
          <a:prstGeom prst="rect">
            <a:avLst/>
          </a:prstGeom>
          <a:noFill/>
        </p:spPr>
        <p:txBody>
          <a:bodyPr wrap="square">
            <a:spAutoFit/>
          </a:bodyPr>
          <a:lstStyle/>
          <a:p>
            <a:pPr algn="ctr"/>
            <a:r>
              <a:rPr lang="fr-MA" b="1" dirty="0" err="1"/>
              <a:t>Predicted</a:t>
            </a:r>
            <a:endParaRPr lang="fr-MA" b="1" dirty="0"/>
          </a:p>
        </p:txBody>
      </p:sp>
    </p:spTree>
    <p:extLst>
      <p:ext uri="{BB962C8B-B14F-4D97-AF65-F5344CB8AC3E}">
        <p14:creationId xmlns:p14="http://schemas.microsoft.com/office/powerpoint/2010/main" val="2509564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6D0C09-9D4A-22A2-D21A-A6766679D37B}"/>
              </a:ext>
            </a:extLst>
          </p:cNvPr>
          <p:cNvSpPr txBox="1"/>
          <p:nvPr/>
        </p:nvSpPr>
        <p:spPr>
          <a:xfrm>
            <a:off x="48987" y="414554"/>
            <a:ext cx="11038114" cy="3416320"/>
          </a:xfrm>
          <a:prstGeom prst="rect">
            <a:avLst/>
          </a:prstGeom>
          <a:solidFill>
            <a:srgbClr val="F8FCC0"/>
          </a:solidFill>
          <a:ln>
            <a:solidFill>
              <a:srgbClr val="00B0F0"/>
            </a:solidFill>
          </a:ln>
        </p:spPr>
        <p:txBody>
          <a:bodyPr wrap="square">
            <a:spAutoFit/>
          </a:bodyPr>
          <a:lstStyle/>
          <a:p>
            <a:r>
              <a:rPr lang="fr-MA" dirty="0"/>
              <a:t>import </a:t>
            </a:r>
            <a:r>
              <a:rPr lang="fr-MA" dirty="0" err="1"/>
              <a:t>matplotlib.pyplot</a:t>
            </a:r>
            <a:r>
              <a:rPr lang="fr-MA" dirty="0"/>
              <a:t> as </a:t>
            </a:r>
            <a:r>
              <a:rPr lang="fr-MA" dirty="0" err="1"/>
              <a:t>plt</a:t>
            </a:r>
            <a:endParaRPr lang="fr-MA" dirty="0"/>
          </a:p>
          <a:p>
            <a:r>
              <a:rPr lang="fr-MA" dirty="0"/>
              <a:t>import </a:t>
            </a:r>
            <a:r>
              <a:rPr lang="fr-MA" dirty="0" err="1"/>
              <a:t>numpy</a:t>
            </a:r>
            <a:r>
              <a:rPr lang="fr-MA" dirty="0"/>
              <a:t> as </a:t>
            </a:r>
            <a:r>
              <a:rPr lang="fr-MA" dirty="0" err="1"/>
              <a:t>np</a:t>
            </a:r>
            <a:endParaRPr lang="fr-MA" dirty="0"/>
          </a:p>
          <a:p>
            <a:r>
              <a:rPr lang="fr-MA" dirty="0" err="1"/>
              <a:t>from</a:t>
            </a:r>
            <a:r>
              <a:rPr lang="fr-MA" dirty="0"/>
              <a:t> </a:t>
            </a:r>
            <a:r>
              <a:rPr lang="fr-MA" dirty="0" err="1"/>
              <a:t>sklearn</a:t>
            </a:r>
            <a:r>
              <a:rPr lang="fr-MA" dirty="0"/>
              <a:t> import </a:t>
            </a:r>
            <a:r>
              <a:rPr lang="fr-MA" dirty="0" err="1"/>
              <a:t>metrics</a:t>
            </a:r>
            <a:endParaRPr lang="fr-MA" dirty="0"/>
          </a:p>
          <a:p>
            <a:r>
              <a:rPr lang="fr-MA" dirty="0" err="1"/>
              <a:t>from</a:t>
            </a:r>
            <a:r>
              <a:rPr lang="fr-MA" dirty="0"/>
              <a:t> </a:t>
            </a:r>
            <a:r>
              <a:rPr lang="fr-MA" dirty="0" err="1"/>
              <a:t>sklearn.metrics</a:t>
            </a:r>
            <a:r>
              <a:rPr lang="fr-MA" dirty="0"/>
              <a:t> import </a:t>
            </a:r>
            <a:r>
              <a:rPr lang="fr-MA" dirty="0" err="1"/>
              <a:t>ConfusionMatrixDisplay</a:t>
            </a:r>
            <a:endParaRPr lang="fr-MA" dirty="0"/>
          </a:p>
          <a:p>
            <a:endParaRPr lang="fr-MA" dirty="0"/>
          </a:p>
          <a:p>
            <a:r>
              <a:rPr lang="fr-MA" dirty="0" err="1"/>
              <a:t>actual_y</a:t>
            </a:r>
            <a:r>
              <a:rPr lang="fr-MA" dirty="0"/>
              <a:t> = </a:t>
            </a:r>
            <a:r>
              <a:rPr lang="fr-MA" dirty="0" err="1"/>
              <a:t>np.array</a:t>
            </a:r>
            <a:r>
              <a:rPr lang="fr-MA" dirty="0"/>
              <a:t>([0,0,0,0,1,1,1,1,1,1])</a:t>
            </a:r>
          </a:p>
          <a:p>
            <a:r>
              <a:rPr lang="fr-MA" dirty="0" err="1"/>
              <a:t>predicted_y</a:t>
            </a:r>
            <a:r>
              <a:rPr lang="fr-MA" dirty="0"/>
              <a:t> = </a:t>
            </a:r>
            <a:r>
              <a:rPr lang="fr-MA" dirty="0" err="1"/>
              <a:t>np.array</a:t>
            </a:r>
            <a:r>
              <a:rPr lang="fr-MA" dirty="0"/>
              <a:t>([0,1,0,0,1,0,1,0,1,1])</a:t>
            </a:r>
          </a:p>
          <a:p>
            <a:endParaRPr lang="fr-MA" dirty="0"/>
          </a:p>
          <a:p>
            <a:r>
              <a:rPr lang="fr-MA" dirty="0" err="1"/>
              <a:t>confusion_matrix</a:t>
            </a:r>
            <a:r>
              <a:rPr lang="fr-MA" dirty="0"/>
              <a:t> = </a:t>
            </a:r>
            <a:r>
              <a:rPr lang="fr-MA" dirty="0" err="1"/>
              <a:t>metrics.confusion_matrix</a:t>
            </a:r>
            <a:r>
              <a:rPr lang="fr-MA" dirty="0"/>
              <a:t>(</a:t>
            </a:r>
            <a:r>
              <a:rPr lang="fr-MA" dirty="0" err="1"/>
              <a:t>actual_y</a:t>
            </a:r>
            <a:r>
              <a:rPr lang="fr-MA" dirty="0"/>
              <a:t>, </a:t>
            </a:r>
            <a:r>
              <a:rPr lang="fr-MA" dirty="0" err="1"/>
              <a:t>predicted_y</a:t>
            </a:r>
            <a:r>
              <a:rPr lang="fr-MA" dirty="0"/>
              <a:t>)</a:t>
            </a:r>
          </a:p>
          <a:p>
            <a:r>
              <a:rPr lang="fr-MA" dirty="0" err="1"/>
              <a:t>cm_display</a:t>
            </a:r>
            <a:r>
              <a:rPr lang="fr-MA" dirty="0"/>
              <a:t> = </a:t>
            </a:r>
            <a:r>
              <a:rPr lang="fr-MA" dirty="0" err="1"/>
              <a:t>metrics.ConfusionMatrixDisplay</a:t>
            </a:r>
            <a:r>
              <a:rPr lang="fr-MA" dirty="0"/>
              <a:t>(</a:t>
            </a:r>
            <a:r>
              <a:rPr lang="fr-MA" dirty="0" err="1"/>
              <a:t>confusion_matrix</a:t>
            </a:r>
            <a:r>
              <a:rPr lang="fr-MA" dirty="0"/>
              <a:t> = </a:t>
            </a:r>
            <a:r>
              <a:rPr lang="fr-MA" dirty="0" err="1"/>
              <a:t>confusion_matrix</a:t>
            </a:r>
            <a:r>
              <a:rPr lang="fr-MA" dirty="0"/>
              <a:t>, </a:t>
            </a:r>
            <a:r>
              <a:rPr lang="fr-MA" dirty="0" err="1"/>
              <a:t>display_labels</a:t>
            </a:r>
            <a:r>
              <a:rPr lang="fr-MA" dirty="0"/>
              <a:t> = [False, </a:t>
            </a:r>
            <a:r>
              <a:rPr lang="fr-MA" dirty="0" err="1"/>
              <a:t>True</a:t>
            </a:r>
            <a:r>
              <a:rPr lang="fr-MA" dirty="0"/>
              <a:t>])</a:t>
            </a:r>
          </a:p>
          <a:p>
            <a:r>
              <a:rPr lang="fr-MA" dirty="0" err="1"/>
              <a:t>cm_display.plot</a:t>
            </a:r>
            <a:r>
              <a:rPr lang="fr-MA" dirty="0"/>
              <a:t>()</a:t>
            </a:r>
          </a:p>
          <a:p>
            <a:r>
              <a:rPr lang="fr-MA" dirty="0" err="1"/>
              <a:t>plt.show</a:t>
            </a:r>
            <a:r>
              <a:rPr lang="fr-MA" dirty="0"/>
              <a:t>()</a:t>
            </a:r>
          </a:p>
        </p:txBody>
      </p:sp>
      <p:pic>
        <p:nvPicPr>
          <p:cNvPr id="5" name="Picture 4">
            <a:extLst>
              <a:ext uri="{FF2B5EF4-FFF2-40B4-BE49-F238E27FC236}">
                <a16:creationId xmlns:a16="http://schemas.microsoft.com/office/drawing/2014/main" id="{C7078618-24DA-3122-2A62-21CD8A421C06}"/>
              </a:ext>
            </a:extLst>
          </p:cNvPr>
          <p:cNvPicPr>
            <a:picLocks noChangeAspect="1"/>
          </p:cNvPicPr>
          <p:nvPr/>
        </p:nvPicPr>
        <p:blipFill>
          <a:blip r:embed="rId2"/>
          <a:stretch>
            <a:fillRect/>
          </a:stretch>
        </p:blipFill>
        <p:spPr>
          <a:xfrm>
            <a:off x="4861153" y="3434952"/>
            <a:ext cx="3727676" cy="3423048"/>
          </a:xfrm>
          <a:prstGeom prst="rect">
            <a:avLst/>
          </a:prstGeom>
        </p:spPr>
      </p:pic>
    </p:spTree>
    <p:extLst>
      <p:ext uri="{BB962C8B-B14F-4D97-AF65-F5344CB8AC3E}">
        <p14:creationId xmlns:p14="http://schemas.microsoft.com/office/powerpoint/2010/main" val="720816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D69DB8-DCF6-97D3-F41F-B1D8CCCD47C6}"/>
              </a:ext>
            </a:extLst>
          </p:cNvPr>
          <p:cNvSpPr txBox="1"/>
          <p:nvPr/>
        </p:nvSpPr>
        <p:spPr>
          <a:xfrm>
            <a:off x="29938" y="48987"/>
            <a:ext cx="5750377" cy="6740307"/>
          </a:xfrm>
          <a:prstGeom prst="rect">
            <a:avLst/>
          </a:prstGeom>
          <a:solidFill>
            <a:srgbClr val="F8FCC0"/>
          </a:solidFill>
          <a:ln>
            <a:solidFill>
              <a:srgbClr val="00B0F0"/>
            </a:solidFill>
          </a:ln>
        </p:spPr>
        <p:txBody>
          <a:bodyPr wrap="square">
            <a:spAutoFit/>
          </a:bodyPr>
          <a:lstStyle/>
          <a:p>
            <a:r>
              <a:rPr lang="fr-MA" dirty="0"/>
              <a:t>import </a:t>
            </a:r>
            <a:r>
              <a:rPr lang="fr-MA" dirty="0" err="1"/>
              <a:t>numpy</a:t>
            </a:r>
            <a:r>
              <a:rPr lang="fr-MA" dirty="0"/>
              <a:t> as </a:t>
            </a:r>
            <a:r>
              <a:rPr lang="fr-MA" dirty="0" err="1"/>
              <a:t>np</a:t>
            </a:r>
            <a:endParaRPr lang="fr-MA" dirty="0"/>
          </a:p>
          <a:p>
            <a:r>
              <a:rPr lang="fr-MA" dirty="0" err="1"/>
              <a:t>from</a:t>
            </a:r>
            <a:r>
              <a:rPr lang="fr-MA" dirty="0"/>
              <a:t> </a:t>
            </a:r>
            <a:r>
              <a:rPr lang="fr-MA" dirty="0" err="1"/>
              <a:t>sklearn.model_selection</a:t>
            </a:r>
            <a:r>
              <a:rPr lang="fr-MA" dirty="0"/>
              <a:t> import </a:t>
            </a:r>
            <a:r>
              <a:rPr lang="fr-MA" dirty="0" err="1"/>
              <a:t>train_test_split</a:t>
            </a:r>
            <a:endParaRPr lang="fr-MA" dirty="0"/>
          </a:p>
          <a:p>
            <a:r>
              <a:rPr lang="fr-MA" dirty="0"/>
              <a:t>import pandas as </a:t>
            </a:r>
            <a:r>
              <a:rPr lang="fr-MA" dirty="0" err="1"/>
              <a:t>pnd</a:t>
            </a:r>
            <a:endParaRPr lang="fr-MA" dirty="0"/>
          </a:p>
          <a:p>
            <a:endParaRPr lang="fr-MA" dirty="0"/>
          </a:p>
          <a:p>
            <a:r>
              <a:rPr lang="fr-MA" b="1" dirty="0" err="1"/>
              <a:t>df</a:t>
            </a:r>
            <a:r>
              <a:rPr lang="fr-MA" b="1" dirty="0"/>
              <a:t>=</a:t>
            </a:r>
            <a:r>
              <a:rPr lang="fr-MA" b="1" dirty="0" err="1"/>
              <a:t>pnd.read_csv</a:t>
            </a:r>
            <a:r>
              <a:rPr lang="fr-MA" b="1" dirty="0"/>
              <a:t>("diabetes.csv")</a:t>
            </a:r>
          </a:p>
          <a:p>
            <a:endParaRPr lang="fr-MA" dirty="0"/>
          </a:p>
          <a:p>
            <a:r>
              <a:rPr lang="en-US" dirty="0"/>
              <a:t>#convertir le </a:t>
            </a:r>
            <a:r>
              <a:rPr lang="en-US" dirty="0" err="1"/>
              <a:t>dataframe</a:t>
            </a:r>
            <a:r>
              <a:rPr lang="en-US" dirty="0"/>
              <a:t> </a:t>
            </a:r>
            <a:r>
              <a:rPr lang="en-US" dirty="0" err="1"/>
              <a:t>en</a:t>
            </a:r>
            <a:r>
              <a:rPr lang="en-US" dirty="0"/>
              <a:t> array</a:t>
            </a:r>
          </a:p>
          <a:p>
            <a:r>
              <a:rPr lang="en-US" dirty="0"/>
              <a:t>data=</a:t>
            </a:r>
            <a:r>
              <a:rPr lang="en-US" dirty="0" err="1"/>
              <a:t>np.array</a:t>
            </a:r>
            <a:r>
              <a:rPr lang="en-US" dirty="0"/>
              <a:t>(</a:t>
            </a:r>
            <a:r>
              <a:rPr lang="en-US" dirty="0" err="1"/>
              <a:t>df</a:t>
            </a:r>
            <a:r>
              <a:rPr lang="en-US" dirty="0"/>
              <a:t>)</a:t>
            </a:r>
          </a:p>
          <a:p>
            <a:r>
              <a:rPr lang="en-US" dirty="0"/>
              <a:t>#extraire la </a:t>
            </a:r>
            <a:r>
              <a:rPr lang="en-US" dirty="0" err="1"/>
              <a:t>partie</a:t>
            </a:r>
            <a:r>
              <a:rPr lang="en-US" dirty="0"/>
              <a:t> features</a:t>
            </a:r>
          </a:p>
          <a:p>
            <a:r>
              <a:rPr lang="en-US" dirty="0"/>
              <a:t>X=</a:t>
            </a:r>
            <a:r>
              <a:rPr lang="en-US" dirty="0" err="1"/>
              <a:t>np.array</a:t>
            </a:r>
            <a:r>
              <a:rPr lang="en-US" dirty="0"/>
              <a:t>([data[</a:t>
            </a:r>
            <a:r>
              <a:rPr lang="en-US" dirty="0" err="1"/>
              <a:t>i</a:t>
            </a:r>
            <a:r>
              <a:rPr lang="en-US" dirty="0"/>
              <a:t>,:</a:t>
            </a:r>
            <a:r>
              <a:rPr lang="en-US" dirty="0" err="1"/>
              <a:t>len</a:t>
            </a:r>
            <a:r>
              <a:rPr lang="en-US" dirty="0"/>
              <a:t>(cols)-1] for </a:t>
            </a:r>
            <a:r>
              <a:rPr lang="en-US" dirty="0" err="1"/>
              <a:t>i</a:t>
            </a:r>
            <a:r>
              <a:rPr lang="en-US" dirty="0"/>
              <a:t> in range(</a:t>
            </a:r>
            <a:r>
              <a:rPr lang="en-US" dirty="0" err="1"/>
              <a:t>len</a:t>
            </a:r>
            <a:r>
              <a:rPr lang="en-US" dirty="0"/>
              <a:t>(data))])</a:t>
            </a:r>
          </a:p>
          <a:p>
            <a:r>
              <a:rPr lang="en-US" dirty="0"/>
              <a:t>#extraire la </a:t>
            </a:r>
            <a:r>
              <a:rPr lang="en-US" dirty="0" err="1"/>
              <a:t>partie</a:t>
            </a:r>
            <a:r>
              <a:rPr lang="en-US" dirty="0"/>
              <a:t> target</a:t>
            </a:r>
          </a:p>
          <a:p>
            <a:r>
              <a:rPr lang="en-US" dirty="0"/>
              <a:t>y=</a:t>
            </a:r>
            <a:r>
              <a:rPr lang="en-US" dirty="0" err="1"/>
              <a:t>np.array</a:t>
            </a:r>
            <a:r>
              <a:rPr lang="en-US" dirty="0"/>
              <a:t>([data[</a:t>
            </a:r>
            <a:r>
              <a:rPr lang="en-US" dirty="0" err="1"/>
              <a:t>i,len</a:t>
            </a:r>
            <a:r>
              <a:rPr lang="en-US" dirty="0"/>
              <a:t>(cols)-1] for </a:t>
            </a:r>
            <a:r>
              <a:rPr lang="en-US" dirty="0" err="1"/>
              <a:t>i</a:t>
            </a:r>
            <a:r>
              <a:rPr lang="en-US" dirty="0"/>
              <a:t> in range(</a:t>
            </a:r>
            <a:r>
              <a:rPr lang="en-US" dirty="0" err="1"/>
              <a:t>len</a:t>
            </a:r>
            <a:r>
              <a:rPr lang="en-US" dirty="0"/>
              <a:t>(data))])</a:t>
            </a:r>
          </a:p>
          <a:p>
            <a:endParaRPr lang="fr-MA" dirty="0"/>
          </a:p>
          <a:p>
            <a:r>
              <a:rPr lang="fr-MA" dirty="0" err="1"/>
              <a:t>from</a:t>
            </a:r>
            <a:r>
              <a:rPr lang="fr-MA" dirty="0"/>
              <a:t> </a:t>
            </a:r>
            <a:r>
              <a:rPr lang="fr-MA" dirty="0" err="1"/>
              <a:t>sklearn.preprocessing</a:t>
            </a:r>
            <a:r>
              <a:rPr lang="fr-MA" dirty="0"/>
              <a:t> import </a:t>
            </a:r>
            <a:r>
              <a:rPr lang="fr-MA" dirty="0" err="1"/>
              <a:t>StandardScaler</a:t>
            </a:r>
            <a:endParaRPr lang="fr-MA" dirty="0"/>
          </a:p>
          <a:p>
            <a:r>
              <a:rPr lang="fr-MA" dirty="0" err="1"/>
              <a:t>scaler</a:t>
            </a:r>
            <a:r>
              <a:rPr lang="fr-MA" dirty="0"/>
              <a:t>= </a:t>
            </a:r>
            <a:r>
              <a:rPr lang="fr-MA" dirty="0" err="1"/>
              <a:t>StandardScaler</a:t>
            </a:r>
            <a:r>
              <a:rPr lang="fr-MA" dirty="0"/>
              <a:t>()</a:t>
            </a:r>
          </a:p>
          <a:p>
            <a:r>
              <a:rPr lang="fr-MA" dirty="0"/>
              <a:t>X = </a:t>
            </a:r>
            <a:r>
              <a:rPr lang="fr-MA" dirty="0" err="1"/>
              <a:t>scaler.fit_transform</a:t>
            </a:r>
            <a:r>
              <a:rPr lang="fr-MA" dirty="0"/>
              <a:t>(X)</a:t>
            </a:r>
          </a:p>
          <a:p>
            <a:r>
              <a:rPr lang="en-US" dirty="0" err="1"/>
              <a:t>X_train</a:t>
            </a:r>
            <a:r>
              <a:rPr lang="en-US" dirty="0"/>
              <a:t>, </a:t>
            </a:r>
            <a:r>
              <a:rPr lang="en-US" dirty="0" err="1"/>
              <a:t>X_test</a:t>
            </a:r>
            <a:r>
              <a:rPr lang="en-US" dirty="0"/>
              <a:t>, </a:t>
            </a:r>
            <a:r>
              <a:rPr lang="en-US" dirty="0" err="1"/>
              <a:t>y_train</a:t>
            </a:r>
            <a:r>
              <a:rPr lang="en-US" dirty="0"/>
              <a:t>, </a:t>
            </a:r>
            <a:r>
              <a:rPr lang="en-US" dirty="0" err="1"/>
              <a:t>y_test</a:t>
            </a:r>
            <a:r>
              <a:rPr lang="en-US" dirty="0"/>
              <a:t> = </a:t>
            </a:r>
            <a:r>
              <a:rPr lang="en-US" dirty="0" err="1"/>
              <a:t>train_test_split</a:t>
            </a:r>
            <a:r>
              <a:rPr lang="en-US" dirty="0"/>
              <a:t>(X, y, </a:t>
            </a:r>
            <a:r>
              <a:rPr lang="en-US" dirty="0" err="1"/>
              <a:t>test_size</a:t>
            </a:r>
            <a:r>
              <a:rPr lang="en-US" dirty="0"/>
              <a:t>=0.2, </a:t>
            </a:r>
            <a:r>
              <a:rPr lang="en-US" dirty="0" err="1"/>
              <a:t>random_state</a:t>
            </a:r>
            <a:r>
              <a:rPr lang="en-US" dirty="0"/>
              <a:t>=44) #</a:t>
            </a:r>
          </a:p>
          <a:p>
            <a:endParaRPr lang="fr-MA" dirty="0"/>
          </a:p>
          <a:p>
            <a:r>
              <a:rPr lang="fr-MA" dirty="0" err="1"/>
              <a:t>from</a:t>
            </a:r>
            <a:r>
              <a:rPr lang="fr-MA" dirty="0"/>
              <a:t> </a:t>
            </a:r>
            <a:r>
              <a:rPr lang="fr-MA" dirty="0" err="1"/>
              <a:t>sklearn.linear_model</a:t>
            </a:r>
            <a:r>
              <a:rPr lang="fr-MA" dirty="0"/>
              <a:t> import </a:t>
            </a:r>
            <a:r>
              <a:rPr lang="fr-MA" dirty="0" err="1"/>
              <a:t>LogisticRegression</a:t>
            </a:r>
            <a:endParaRPr lang="fr-MA" dirty="0"/>
          </a:p>
          <a:p>
            <a:r>
              <a:rPr lang="fr-MA" dirty="0"/>
              <a:t>model=</a:t>
            </a:r>
            <a:r>
              <a:rPr lang="fr-MA" dirty="0" err="1"/>
              <a:t>LogisticRegression</a:t>
            </a:r>
            <a:r>
              <a:rPr lang="fr-MA" dirty="0"/>
              <a:t>()#initialisation</a:t>
            </a:r>
          </a:p>
          <a:p>
            <a:r>
              <a:rPr lang="fr-MA" dirty="0" err="1"/>
              <a:t>model.fit</a:t>
            </a:r>
            <a:r>
              <a:rPr lang="fr-MA" dirty="0"/>
              <a:t>(</a:t>
            </a:r>
            <a:r>
              <a:rPr lang="fr-MA" dirty="0" err="1"/>
              <a:t>X_train,y_train</a:t>
            </a:r>
            <a:r>
              <a:rPr lang="fr-MA" dirty="0"/>
              <a:t>)</a:t>
            </a:r>
          </a:p>
          <a:p>
            <a:r>
              <a:rPr lang="en-US" dirty="0" err="1"/>
              <a:t>y_predicted</a:t>
            </a:r>
            <a:r>
              <a:rPr lang="en-US" dirty="0"/>
              <a:t>=</a:t>
            </a:r>
            <a:r>
              <a:rPr lang="en-US" dirty="0" err="1"/>
              <a:t>model.predict</a:t>
            </a:r>
            <a:r>
              <a:rPr lang="en-US" dirty="0"/>
              <a:t>(</a:t>
            </a:r>
            <a:r>
              <a:rPr lang="en-US" dirty="0" err="1"/>
              <a:t>X_test</a:t>
            </a:r>
            <a:r>
              <a:rPr lang="en-US" dirty="0"/>
              <a:t>)</a:t>
            </a:r>
            <a:endParaRPr lang="fr-MA" dirty="0"/>
          </a:p>
          <a:p>
            <a:endParaRPr lang="fr-MA" dirty="0"/>
          </a:p>
        </p:txBody>
      </p:sp>
      <p:sp>
        <p:nvSpPr>
          <p:cNvPr id="8" name="TextBox 7">
            <a:extLst>
              <a:ext uri="{FF2B5EF4-FFF2-40B4-BE49-F238E27FC236}">
                <a16:creationId xmlns:a16="http://schemas.microsoft.com/office/drawing/2014/main" id="{4852D273-EC10-FAA3-A184-09BC8068389E}"/>
              </a:ext>
            </a:extLst>
          </p:cNvPr>
          <p:cNvSpPr txBox="1"/>
          <p:nvPr/>
        </p:nvSpPr>
        <p:spPr>
          <a:xfrm>
            <a:off x="5981697" y="32658"/>
            <a:ext cx="6131378" cy="3139321"/>
          </a:xfrm>
          <a:prstGeom prst="rect">
            <a:avLst/>
          </a:prstGeom>
          <a:solidFill>
            <a:srgbClr val="F8FCC0"/>
          </a:solidFill>
          <a:ln>
            <a:solidFill>
              <a:srgbClr val="00B0F0"/>
            </a:solidFill>
          </a:ln>
        </p:spPr>
        <p:txBody>
          <a:bodyPr wrap="square">
            <a:spAutoFit/>
          </a:bodyPr>
          <a:lstStyle/>
          <a:p>
            <a:r>
              <a:rPr lang="fr-MA" dirty="0"/>
              <a:t>import </a:t>
            </a:r>
            <a:r>
              <a:rPr lang="fr-MA" dirty="0" err="1"/>
              <a:t>matplotlib.pyplot</a:t>
            </a:r>
            <a:r>
              <a:rPr lang="fr-MA" dirty="0"/>
              <a:t> as </a:t>
            </a:r>
            <a:r>
              <a:rPr lang="fr-MA" dirty="0" err="1"/>
              <a:t>plt</a:t>
            </a:r>
            <a:endParaRPr lang="fr-MA" dirty="0"/>
          </a:p>
          <a:p>
            <a:r>
              <a:rPr lang="fr-MA" dirty="0"/>
              <a:t>import </a:t>
            </a:r>
            <a:r>
              <a:rPr lang="fr-MA" dirty="0" err="1"/>
              <a:t>numpy</a:t>
            </a:r>
            <a:r>
              <a:rPr lang="fr-MA" dirty="0"/>
              <a:t> as </a:t>
            </a:r>
            <a:r>
              <a:rPr lang="fr-MA" dirty="0" err="1"/>
              <a:t>np</a:t>
            </a:r>
            <a:endParaRPr lang="fr-MA" dirty="0"/>
          </a:p>
          <a:p>
            <a:r>
              <a:rPr lang="fr-MA" dirty="0" err="1"/>
              <a:t>from</a:t>
            </a:r>
            <a:r>
              <a:rPr lang="fr-MA" dirty="0"/>
              <a:t> </a:t>
            </a:r>
            <a:r>
              <a:rPr lang="fr-MA" dirty="0" err="1"/>
              <a:t>sklearn</a:t>
            </a:r>
            <a:r>
              <a:rPr lang="fr-MA" dirty="0"/>
              <a:t> import </a:t>
            </a:r>
            <a:r>
              <a:rPr lang="fr-MA" dirty="0" err="1"/>
              <a:t>metrics</a:t>
            </a:r>
            <a:endParaRPr lang="fr-MA" dirty="0"/>
          </a:p>
          <a:p>
            <a:r>
              <a:rPr lang="fr-MA" dirty="0" err="1"/>
              <a:t>from</a:t>
            </a:r>
            <a:r>
              <a:rPr lang="fr-MA" dirty="0"/>
              <a:t> </a:t>
            </a:r>
            <a:r>
              <a:rPr lang="fr-MA" dirty="0" err="1"/>
              <a:t>sklearn.metrics</a:t>
            </a:r>
            <a:r>
              <a:rPr lang="fr-MA" dirty="0"/>
              <a:t> import </a:t>
            </a:r>
            <a:r>
              <a:rPr lang="fr-MA" dirty="0" err="1"/>
              <a:t>ConfusionMatrixDisplay</a:t>
            </a:r>
            <a:endParaRPr lang="fr-MA" dirty="0"/>
          </a:p>
          <a:p>
            <a:endParaRPr lang="fr-MA" dirty="0"/>
          </a:p>
          <a:p>
            <a:r>
              <a:rPr lang="fr-MA" dirty="0" err="1"/>
              <a:t>confusion_matrix</a:t>
            </a:r>
            <a:r>
              <a:rPr lang="fr-MA" dirty="0"/>
              <a:t> = </a:t>
            </a:r>
            <a:r>
              <a:rPr lang="fr-MA" dirty="0" err="1"/>
              <a:t>metrics.confusion_matrix</a:t>
            </a:r>
            <a:r>
              <a:rPr lang="fr-MA" dirty="0"/>
              <a:t>(</a:t>
            </a:r>
            <a:r>
              <a:rPr lang="fr-MA" b="1" dirty="0" err="1">
                <a:solidFill>
                  <a:srgbClr val="FF3300"/>
                </a:solidFill>
              </a:rPr>
              <a:t>y_test</a:t>
            </a:r>
            <a:r>
              <a:rPr lang="fr-MA" dirty="0"/>
              <a:t>, </a:t>
            </a:r>
            <a:r>
              <a:rPr lang="fr-MA" b="1" dirty="0" err="1">
                <a:solidFill>
                  <a:srgbClr val="FF3300"/>
                </a:solidFill>
              </a:rPr>
              <a:t>y_predicted</a:t>
            </a:r>
            <a:r>
              <a:rPr lang="fr-MA" dirty="0"/>
              <a:t>)</a:t>
            </a:r>
          </a:p>
          <a:p>
            <a:r>
              <a:rPr lang="fr-MA" dirty="0" err="1"/>
              <a:t>cm_display</a:t>
            </a:r>
            <a:r>
              <a:rPr lang="fr-MA" dirty="0"/>
              <a:t> = </a:t>
            </a:r>
            <a:r>
              <a:rPr lang="fr-MA" dirty="0" err="1"/>
              <a:t>metrics.ConfusionMatrixDisplay</a:t>
            </a:r>
            <a:r>
              <a:rPr lang="fr-MA" dirty="0"/>
              <a:t>(</a:t>
            </a:r>
            <a:r>
              <a:rPr lang="fr-MA" dirty="0" err="1"/>
              <a:t>confusion_matrix</a:t>
            </a:r>
            <a:r>
              <a:rPr lang="fr-MA" dirty="0"/>
              <a:t> = </a:t>
            </a:r>
            <a:r>
              <a:rPr lang="fr-MA" dirty="0" err="1"/>
              <a:t>confusion_matrix</a:t>
            </a:r>
            <a:r>
              <a:rPr lang="fr-MA" dirty="0"/>
              <a:t>, </a:t>
            </a:r>
            <a:r>
              <a:rPr lang="fr-MA" dirty="0" err="1"/>
              <a:t>display_labels</a:t>
            </a:r>
            <a:r>
              <a:rPr lang="fr-MA" dirty="0"/>
              <a:t> = [False, </a:t>
            </a:r>
            <a:r>
              <a:rPr lang="fr-MA" dirty="0" err="1"/>
              <a:t>True</a:t>
            </a:r>
            <a:r>
              <a:rPr lang="fr-MA" dirty="0"/>
              <a:t>])</a:t>
            </a:r>
          </a:p>
          <a:p>
            <a:r>
              <a:rPr lang="fr-MA" dirty="0" err="1"/>
              <a:t>cm_display.plot</a:t>
            </a:r>
            <a:r>
              <a:rPr lang="fr-MA" dirty="0"/>
              <a:t>()</a:t>
            </a:r>
          </a:p>
          <a:p>
            <a:r>
              <a:rPr lang="fr-MA" dirty="0" err="1"/>
              <a:t>plt.show</a:t>
            </a:r>
            <a:r>
              <a:rPr lang="fr-MA" dirty="0"/>
              <a:t>()</a:t>
            </a:r>
          </a:p>
        </p:txBody>
      </p:sp>
      <p:pic>
        <p:nvPicPr>
          <p:cNvPr id="10" name="Picture 9">
            <a:extLst>
              <a:ext uri="{FF2B5EF4-FFF2-40B4-BE49-F238E27FC236}">
                <a16:creationId xmlns:a16="http://schemas.microsoft.com/office/drawing/2014/main" id="{E9E7FDA3-F850-8808-9240-31026A2B5251}"/>
              </a:ext>
            </a:extLst>
          </p:cNvPr>
          <p:cNvPicPr>
            <a:picLocks noChangeAspect="1"/>
          </p:cNvPicPr>
          <p:nvPr/>
        </p:nvPicPr>
        <p:blipFill>
          <a:blip r:embed="rId2"/>
          <a:stretch>
            <a:fillRect/>
          </a:stretch>
        </p:blipFill>
        <p:spPr>
          <a:xfrm>
            <a:off x="7225052" y="3253621"/>
            <a:ext cx="3873274" cy="3684334"/>
          </a:xfrm>
          <a:prstGeom prst="rect">
            <a:avLst/>
          </a:prstGeom>
        </p:spPr>
      </p:pic>
    </p:spTree>
    <p:extLst>
      <p:ext uri="{BB962C8B-B14F-4D97-AF65-F5344CB8AC3E}">
        <p14:creationId xmlns:p14="http://schemas.microsoft.com/office/powerpoint/2010/main" val="4143860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necteur droit 3"/>
          <p:cNvCxnSpPr/>
          <p:nvPr/>
        </p:nvCxnSpPr>
        <p:spPr>
          <a:xfrm>
            <a:off x="0" y="708926"/>
            <a:ext cx="12204000" cy="0"/>
          </a:xfrm>
          <a:prstGeom prst="line">
            <a:avLst/>
          </a:prstGeom>
          <a:ln w="6350">
            <a:solidFill>
              <a:srgbClr val="FF0000"/>
            </a:solidFill>
          </a:ln>
        </p:spPr>
        <p:style>
          <a:lnRef idx="2">
            <a:schemeClr val="accent2"/>
          </a:lnRef>
          <a:fillRef idx="0">
            <a:schemeClr val="accent2"/>
          </a:fillRef>
          <a:effectRef idx="1">
            <a:schemeClr val="accent2"/>
          </a:effectRef>
          <a:fontRef idx="minor">
            <a:schemeClr val="tx1"/>
          </a:fontRef>
        </p:style>
      </p:cxnSp>
      <p:sp>
        <p:nvSpPr>
          <p:cNvPr id="5" name="ZoneTexte 4"/>
          <p:cNvSpPr txBox="1"/>
          <p:nvPr/>
        </p:nvSpPr>
        <p:spPr>
          <a:xfrm>
            <a:off x="571503" y="11730"/>
            <a:ext cx="9942396" cy="584775"/>
          </a:xfrm>
          <a:prstGeom prst="rect">
            <a:avLst/>
          </a:prstGeom>
          <a:noFill/>
        </p:spPr>
        <p:txBody>
          <a:bodyPr wrap="square" rtlCol="0">
            <a:spAutoFit/>
          </a:bodyPr>
          <a:lstStyle/>
          <a:p>
            <a:pPr algn="ctr"/>
            <a:r>
              <a:rPr lang="fr-FR" sz="3200" b="1" dirty="0">
                <a:solidFill>
                  <a:schemeClr val="tx1">
                    <a:lumMod val="75000"/>
                    <a:lumOff val="25000"/>
                  </a:schemeClr>
                </a:solidFill>
              </a:rPr>
              <a:t>Mesurer la performance d’un problème de classification</a:t>
            </a:r>
            <a:endParaRPr lang="fr-FR" sz="2400" b="1" dirty="0">
              <a:solidFill>
                <a:srgbClr val="FF0000"/>
              </a:solidFill>
            </a:endParaRPr>
          </a:p>
        </p:txBody>
      </p:sp>
      <mc:AlternateContent xmlns:mc="http://schemas.openxmlformats.org/markup-compatibility/2006">
        <mc:Choice xmlns:a14="http://schemas.microsoft.com/office/drawing/2010/main" Requires="a14">
          <p:sp>
            <p:nvSpPr>
              <p:cNvPr id="7" name="ZoneTexte 124">
                <a:extLst>
                  <a:ext uri="{FF2B5EF4-FFF2-40B4-BE49-F238E27FC236}">
                    <a16:creationId xmlns:a16="http://schemas.microsoft.com/office/drawing/2014/main" id="{C17E68F0-F468-7BCE-9636-A9FE485ED045}"/>
                  </a:ext>
                </a:extLst>
              </p:cNvPr>
              <p:cNvSpPr txBox="1"/>
              <p:nvPr/>
            </p:nvSpPr>
            <p:spPr>
              <a:xfrm>
                <a:off x="16795" y="779663"/>
                <a:ext cx="12175205" cy="1256691"/>
              </a:xfrm>
              <a:prstGeom prst="rect">
                <a:avLst/>
              </a:prstGeom>
              <a:noFill/>
            </p:spPr>
            <p:txBody>
              <a:bodyPr wrap="square" rtlCol="0">
                <a:spAutoFit/>
              </a:bodyPr>
              <a:lstStyle/>
              <a:p>
                <a:pPr marL="742950" lvl="1" indent="-285750">
                  <a:spcAft>
                    <a:spcPts val="800"/>
                  </a:spcAft>
                  <a:buClr>
                    <a:srgbClr val="FF3300"/>
                  </a:buClr>
                  <a:buFont typeface="Wingdings" panose="05000000000000000000" pitchFamily="2" charset="2"/>
                  <a:buChar char="§"/>
                </a:pPr>
                <a14:m>
                  <m:oMath xmlns:m="http://schemas.openxmlformats.org/officeDocument/2006/math">
                    <m:r>
                      <a:rPr lang="fr-FR" b="1" i="1" smtClean="0">
                        <a:solidFill>
                          <a:schemeClr val="tx1">
                            <a:lumMod val="95000"/>
                            <a:lumOff val="5000"/>
                          </a:schemeClr>
                        </a:solidFill>
                        <a:latin typeface="Cambria Math" panose="02040503050406030204" pitchFamily="18" charset="0"/>
                      </a:rPr>
                      <m:t>𝒂𝒄𝒄𝒖𝒓𝒂𝒄𝒚</m:t>
                    </m:r>
                    <m:r>
                      <a:rPr lang="fr-FR" b="1" i="1" smtClean="0">
                        <a:solidFill>
                          <a:schemeClr val="tx1">
                            <a:lumMod val="95000"/>
                            <a:lumOff val="5000"/>
                          </a:schemeClr>
                        </a:solidFill>
                        <a:latin typeface="Cambria Math" panose="02040503050406030204" pitchFamily="18" charset="0"/>
                      </a:rPr>
                      <m:t>=</m:t>
                    </m:r>
                    <m:f>
                      <m:fPr>
                        <m:ctrlPr>
                          <a:rPr lang="fr-FR" b="1" i="1" smtClean="0">
                            <a:solidFill>
                              <a:schemeClr val="tx1">
                                <a:lumMod val="95000"/>
                                <a:lumOff val="5000"/>
                              </a:schemeClr>
                            </a:solidFill>
                            <a:latin typeface="Cambria Math" panose="02040503050406030204" pitchFamily="18" charset="0"/>
                          </a:rPr>
                        </m:ctrlPr>
                      </m:fPr>
                      <m:num>
                        <m:r>
                          <a:rPr lang="fr-FR" b="1" i="1" smtClean="0">
                            <a:solidFill>
                              <a:schemeClr val="tx1">
                                <a:lumMod val="95000"/>
                                <a:lumOff val="5000"/>
                              </a:schemeClr>
                            </a:solidFill>
                            <a:latin typeface="Cambria Math" panose="02040503050406030204" pitchFamily="18" charset="0"/>
                          </a:rPr>
                          <m:t>𝒍𝒆</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𝒏𝒐𝒎𝒃𝒓𝒆</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𝒅𝒆𝒔</m:t>
                        </m:r>
                        <m:r>
                          <a:rPr lang="fr-FR" b="1" i="1" smtClean="0">
                            <a:solidFill>
                              <a:schemeClr val="tx1">
                                <a:lumMod val="95000"/>
                                <a:lumOff val="5000"/>
                              </a:schemeClr>
                            </a:solidFill>
                            <a:latin typeface="Cambria Math" panose="02040503050406030204" pitchFamily="18" charset="0"/>
                          </a:rPr>
                          <m:t> é</m:t>
                        </m:r>
                        <m:r>
                          <a:rPr lang="fr-FR" b="1" i="1" smtClean="0">
                            <a:solidFill>
                              <a:schemeClr val="tx1">
                                <a:lumMod val="95000"/>
                                <a:lumOff val="5000"/>
                              </a:schemeClr>
                            </a:solidFill>
                            <a:latin typeface="Cambria Math" panose="02040503050406030204" pitchFamily="18" charset="0"/>
                          </a:rPr>
                          <m:t>𝒍</m:t>
                        </m:r>
                        <m:r>
                          <a:rPr lang="fr-FR" b="1" i="1" smtClean="0">
                            <a:solidFill>
                              <a:schemeClr val="tx1">
                                <a:lumMod val="95000"/>
                                <a:lumOff val="5000"/>
                              </a:schemeClr>
                            </a:solidFill>
                            <a:latin typeface="Cambria Math" panose="02040503050406030204" pitchFamily="18" charset="0"/>
                          </a:rPr>
                          <m:t>é</m:t>
                        </m:r>
                        <m:r>
                          <a:rPr lang="fr-FR" b="1" i="1" smtClean="0">
                            <a:solidFill>
                              <a:schemeClr val="tx1">
                                <a:lumMod val="95000"/>
                                <a:lumOff val="5000"/>
                              </a:schemeClr>
                            </a:solidFill>
                            <a:latin typeface="Cambria Math" panose="02040503050406030204" pitchFamily="18" charset="0"/>
                          </a:rPr>
                          <m:t>𝒎𝒆𝒏𝒕𝒔</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𝒃𝒊𝒆𝒏</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𝒄𝒍𝒂𝒔𝒔</m:t>
                        </m:r>
                        <m:r>
                          <a:rPr lang="fr-FR" b="1" i="1" smtClean="0">
                            <a:solidFill>
                              <a:schemeClr val="tx1">
                                <a:lumMod val="95000"/>
                                <a:lumOff val="5000"/>
                              </a:schemeClr>
                            </a:solidFill>
                            <a:latin typeface="Cambria Math" panose="02040503050406030204" pitchFamily="18" charset="0"/>
                          </a:rPr>
                          <m:t>é</m:t>
                        </m:r>
                        <m:r>
                          <a:rPr lang="fr-FR" b="1" i="1" smtClean="0">
                            <a:solidFill>
                              <a:schemeClr val="tx1">
                                <a:lumMod val="95000"/>
                                <a:lumOff val="5000"/>
                              </a:schemeClr>
                            </a:solidFill>
                            <a:latin typeface="Cambria Math" panose="02040503050406030204" pitchFamily="18" charset="0"/>
                          </a:rPr>
                          <m:t>𝒔</m:t>
                        </m:r>
                      </m:num>
                      <m:den>
                        <m:r>
                          <a:rPr lang="fr-FR" b="1" i="1" smtClean="0">
                            <a:solidFill>
                              <a:schemeClr val="tx1">
                                <a:lumMod val="95000"/>
                                <a:lumOff val="5000"/>
                              </a:schemeClr>
                            </a:solidFill>
                            <a:latin typeface="Cambria Math" panose="02040503050406030204" pitchFamily="18" charset="0"/>
                          </a:rPr>
                          <m:t>𝒍𝒆</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𝒏𝒐𝒎𝒃𝒓𝒆</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𝒕𝒐𝒕𝒂𝒍</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𝒅𝒆𝒔</m:t>
                        </m:r>
                        <m:r>
                          <a:rPr lang="fr-FR" b="1" i="1" smtClean="0">
                            <a:solidFill>
                              <a:schemeClr val="tx1">
                                <a:lumMod val="95000"/>
                                <a:lumOff val="5000"/>
                              </a:schemeClr>
                            </a:solidFill>
                            <a:latin typeface="Cambria Math" panose="02040503050406030204" pitchFamily="18" charset="0"/>
                          </a:rPr>
                          <m:t> é</m:t>
                        </m:r>
                        <m:r>
                          <a:rPr lang="fr-FR" b="1" i="1" smtClean="0">
                            <a:solidFill>
                              <a:schemeClr val="tx1">
                                <a:lumMod val="95000"/>
                                <a:lumOff val="5000"/>
                              </a:schemeClr>
                            </a:solidFill>
                            <a:latin typeface="Cambria Math" panose="02040503050406030204" pitchFamily="18" charset="0"/>
                          </a:rPr>
                          <m:t>𝒍</m:t>
                        </m:r>
                        <m:r>
                          <a:rPr lang="fr-FR" b="1" i="1" smtClean="0">
                            <a:solidFill>
                              <a:schemeClr val="tx1">
                                <a:lumMod val="95000"/>
                                <a:lumOff val="5000"/>
                              </a:schemeClr>
                            </a:solidFill>
                            <a:latin typeface="Cambria Math" panose="02040503050406030204" pitchFamily="18" charset="0"/>
                          </a:rPr>
                          <m:t>é</m:t>
                        </m:r>
                        <m:r>
                          <a:rPr lang="fr-FR" b="1" i="1" smtClean="0">
                            <a:solidFill>
                              <a:schemeClr val="tx1">
                                <a:lumMod val="95000"/>
                                <a:lumOff val="5000"/>
                              </a:schemeClr>
                            </a:solidFill>
                            <a:latin typeface="Cambria Math" panose="02040503050406030204" pitchFamily="18" charset="0"/>
                          </a:rPr>
                          <m:t>𝒎𝒆𝒏𝒕𝒔</m:t>
                        </m:r>
                      </m:den>
                    </m:f>
                    <m:r>
                      <a:rPr lang="fr-FR" b="1" i="1" smtClean="0">
                        <a:solidFill>
                          <a:schemeClr val="tx1">
                            <a:lumMod val="95000"/>
                            <a:lumOff val="5000"/>
                          </a:schemeClr>
                        </a:solidFill>
                        <a:latin typeface="Cambria Math" panose="02040503050406030204" pitchFamily="18" charset="0"/>
                      </a:rPr>
                      <m:t>=</m:t>
                    </m:r>
                    <m:f>
                      <m:fPr>
                        <m:ctrlPr>
                          <a:rPr lang="fr-FR" b="1" i="1" smtClean="0">
                            <a:solidFill>
                              <a:schemeClr val="tx1">
                                <a:lumMod val="95000"/>
                                <a:lumOff val="5000"/>
                              </a:schemeClr>
                            </a:solidFill>
                            <a:latin typeface="Cambria Math" panose="02040503050406030204" pitchFamily="18" charset="0"/>
                          </a:rPr>
                        </m:ctrlPr>
                      </m:fPr>
                      <m:num>
                        <m:r>
                          <a:rPr lang="fr-FR" b="1" i="1" smtClean="0">
                            <a:solidFill>
                              <a:schemeClr val="tx1">
                                <a:lumMod val="95000"/>
                                <a:lumOff val="5000"/>
                              </a:schemeClr>
                            </a:solidFill>
                            <a:latin typeface="Cambria Math" panose="02040503050406030204" pitchFamily="18" charset="0"/>
                          </a:rPr>
                          <m:t>𝑻𝑷</m:t>
                        </m:r>
                        <m:r>
                          <a:rPr lang="fr-FR" b="1" i="1" smtClean="0">
                            <a:solidFill>
                              <a:schemeClr val="tx1">
                                <a:lumMod val="95000"/>
                                <a:lumOff val="5000"/>
                              </a:schemeClr>
                            </a:solidFill>
                            <a:latin typeface="Cambria Math" panose="02040503050406030204" pitchFamily="18" charset="0"/>
                          </a:rPr>
                          <m:t>+</m:t>
                        </m:r>
                        <m:r>
                          <a:rPr lang="fr-FR" b="1" i="1" smtClean="0">
                            <a:solidFill>
                              <a:schemeClr val="tx1">
                                <a:lumMod val="95000"/>
                                <a:lumOff val="5000"/>
                              </a:schemeClr>
                            </a:solidFill>
                            <a:latin typeface="Cambria Math" panose="02040503050406030204" pitchFamily="18" charset="0"/>
                          </a:rPr>
                          <m:t>𝑻𝑵</m:t>
                        </m:r>
                      </m:num>
                      <m:den>
                        <m:r>
                          <a:rPr lang="fr-FR" b="1" i="1" smtClean="0">
                            <a:solidFill>
                              <a:schemeClr val="tx1">
                                <a:lumMod val="95000"/>
                                <a:lumOff val="5000"/>
                              </a:schemeClr>
                            </a:solidFill>
                            <a:latin typeface="Cambria Math" panose="02040503050406030204" pitchFamily="18" charset="0"/>
                          </a:rPr>
                          <m:t>𝑻𝑷</m:t>
                        </m:r>
                        <m:r>
                          <a:rPr lang="fr-FR" b="1" i="1" smtClean="0">
                            <a:solidFill>
                              <a:schemeClr val="tx1">
                                <a:lumMod val="95000"/>
                                <a:lumOff val="5000"/>
                              </a:schemeClr>
                            </a:solidFill>
                            <a:latin typeface="Cambria Math" panose="02040503050406030204" pitchFamily="18" charset="0"/>
                          </a:rPr>
                          <m:t>+</m:t>
                        </m:r>
                        <m:r>
                          <a:rPr lang="fr-FR" b="1" i="1" smtClean="0">
                            <a:solidFill>
                              <a:schemeClr val="tx1">
                                <a:lumMod val="95000"/>
                                <a:lumOff val="5000"/>
                              </a:schemeClr>
                            </a:solidFill>
                            <a:latin typeface="Cambria Math" panose="02040503050406030204" pitchFamily="18" charset="0"/>
                          </a:rPr>
                          <m:t>𝑻𝑵</m:t>
                        </m:r>
                        <m:r>
                          <a:rPr lang="fr-FR" b="1" i="1" smtClean="0">
                            <a:solidFill>
                              <a:schemeClr val="tx1">
                                <a:lumMod val="95000"/>
                                <a:lumOff val="5000"/>
                              </a:schemeClr>
                            </a:solidFill>
                            <a:latin typeface="Cambria Math" panose="02040503050406030204" pitchFamily="18" charset="0"/>
                          </a:rPr>
                          <m:t>+</m:t>
                        </m:r>
                        <m:r>
                          <a:rPr lang="fr-FR" b="1" i="1" smtClean="0">
                            <a:solidFill>
                              <a:schemeClr val="tx1">
                                <a:lumMod val="95000"/>
                                <a:lumOff val="5000"/>
                              </a:schemeClr>
                            </a:solidFill>
                            <a:latin typeface="Cambria Math" panose="02040503050406030204" pitchFamily="18" charset="0"/>
                          </a:rPr>
                          <m:t>𝑭𝑷</m:t>
                        </m:r>
                        <m:r>
                          <a:rPr lang="fr-FR" b="1" i="1" smtClean="0">
                            <a:solidFill>
                              <a:schemeClr val="tx1">
                                <a:lumMod val="95000"/>
                                <a:lumOff val="5000"/>
                              </a:schemeClr>
                            </a:solidFill>
                            <a:latin typeface="Cambria Math" panose="02040503050406030204" pitchFamily="18" charset="0"/>
                          </a:rPr>
                          <m:t>+</m:t>
                        </m:r>
                        <m:r>
                          <a:rPr lang="fr-FR" b="1" i="1" smtClean="0">
                            <a:solidFill>
                              <a:schemeClr val="tx1">
                                <a:lumMod val="95000"/>
                                <a:lumOff val="5000"/>
                              </a:schemeClr>
                            </a:solidFill>
                            <a:latin typeface="Cambria Math" panose="02040503050406030204" pitchFamily="18" charset="0"/>
                          </a:rPr>
                          <m:t>𝑭𝑵</m:t>
                        </m:r>
                      </m:den>
                    </m:f>
                  </m:oMath>
                </a14:m>
                <a:endParaRPr lang="fr-FR" b="1" dirty="0">
                  <a:solidFill>
                    <a:schemeClr val="tx1">
                      <a:lumMod val="95000"/>
                      <a:lumOff val="5000"/>
                    </a:schemeClr>
                  </a:solidFill>
                </a:endParaRPr>
              </a:p>
              <a:p>
                <a:pPr marL="742950" lvl="1" indent="-285750">
                  <a:spcAft>
                    <a:spcPts val="800"/>
                  </a:spcAft>
                  <a:buClr>
                    <a:srgbClr val="FF3300"/>
                  </a:buClr>
                  <a:buFont typeface="Wingdings" panose="05000000000000000000" pitchFamily="2" charset="2"/>
                  <a:buChar char="§"/>
                </a:pPr>
                <a:endParaRPr lang="fr-FR" b="1" dirty="0">
                  <a:solidFill>
                    <a:srgbClr val="FF3300"/>
                  </a:solidFill>
                </a:endParaRPr>
              </a:p>
              <a:p>
                <a:pPr marL="742950" lvl="1"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Mesure à quel point notre modèle classe correctement les individus</a:t>
                </a:r>
              </a:p>
            </p:txBody>
          </p:sp>
        </mc:Choice>
        <mc:Fallback>
          <p:sp>
            <p:nvSpPr>
              <p:cNvPr id="7" name="ZoneTexte 124">
                <a:extLst>
                  <a:ext uri="{FF2B5EF4-FFF2-40B4-BE49-F238E27FC236}">
                    <a16:creationId xmlns:a16="http://schemas.microsoft.com/office/drawing/2014/main" id="{C17E68F0-F468-7BCE-9636-A9FE485ED045}"/>
                  </a:ext>
                </a:extLst>
              </p:cNvPr>
              <p:cNvSpPr txBox="1">
                <a:spLocks noRot="1" noChangeAspect="1" noMove="1" noResize="1" noEditPoints="1" noAdjustHandles="1" noChangeArrowheads="1" noChangeShapeType="1" noTextEdit="1"/>
              </p:cNvSpPr>
              <p:nvPr/>
            </p:nvSpPr>
            <p:spPr>
              <a:xfrm>
                <a:off x="16795" y="779663"/>
                <a:ext cx="12175205" cy="1256691"/>
              </a:xfrm>
              <a:prstGeom prst="rect">
                <a:avLst/>
              </a:prstGeom>
              <a:blipFill>
                <a:blip r:embed="rId2"/>
                <a:stretch>
                  <a:fillRect b="-6796"/>
                </a:stretch>
              </a:blipFill>
            </p:spPr>
            <p:txBody>
              <a:bodyPr/>
              <a:lstStyle/>
              <a:p>
                <a:r>
                  <a:rPr lang="fr-MA">
                    <a:noFill/>
                  </a:rPr>
                  <a:t> </a:t>
                </a:r>
              </a:p>
            </p:txBody>
          </p:sp>
        </mc:Fallback>
      </mc:AlternateContent>
      <p:sp>
        <p:nvSpPr>
          <p:cNvPr id="3" name="TextBox 2">
            <a:extLst>
              <a:ext uri="{FF2B5EF4-FFF2-40B4-BE49-F238E27FC236}">
                <a16:creationId xmlns:a16="http://schemas.microsoft.com/office/drawing/2014/main" id="{4C1AA871-0AA9-A6C4-44F8-6E8C227AC52E}"/>
              </a:ext>
            </a:extLst>
          </p:cNvPr>
          <p:cNvSpPr txBox="1"/>
          <p:nvPr/>
        </p:nvSpPr>
        <p:spPr>
          <a:xfrm>
            <a:off x="16795" y="2347990"/>
            <a:ext cx="12175204" cy="400110"/>
          </a:xfrm>
          <a:prstGeom prst="rect">
            <a:avLst/>
          </a:prstGeom>
          <a:noFill/>
        </p:spPr>
        <p:txBody>
          <a:bodyPr wrap="square">
            <a:spAutoFit/>
          </a:bodyPr>
          <a:lstStyle/>
          <a:p>
            <a:pPr marL="0" lvl="1" indent="-285750">
              <a:spcAft>
                <a:spcPts val="800"/>
              </a:spcAft>
              <a:buClr>
                <a:srgbClr val="FF3300"/>
              </a:buClr>
              <a:buFont typeface="Wingdings" panose="05000000000000000000" pitchFamily="2" charset="2"/>
              <a:buChar char="§"/>
            </a:pPr>
            <a:r>
              <a:rPr lang="fr-FR" sz="2000" b="1" dirty="0">
                <a:solidFill>
                  <a:srgbClr val="FF3300"/>
                </a:solidFill>
              </a:rPr>
              <a:t>Attention!!</a:t>
            </a:r>
            <a:r>
              <a:rPr lang="fr-FR" sz="2000" b="1" dirty="0">
                <a:solidFill>
                  <a:schemeClr val="tx1">
                    <a:lumMod val="95000"/>
                    <a:lumOff val="5000"/>
                  </a:schemeClr>
                </a:solidFill>
              </a:rPr>
              <a:t> Pas très utile dans le cas de </a:t>
            </a:r>
            <a:r>
              <a:rPr lang="fr-FR" sz="2000" b="1" dirty="0" err="1">
                <a:solidFill>
                  <a:schemeClr val="tx1">
                    <a:lumMod val="95000"/>
                    <a:lumOff val="5000"/>
                  </a:schemeClr>
                </a:solidFill>
              </a:rPr>
              <a:t>unbalanced</a:t>
            </a:r>
            <a:r>
              <a:rPr lang="fr-FR" sz="2000" b="1" dirty="0">
                <a:solidFill>
                  <a:schemeClr val="tx1">
                    <a:lumMod val="95000"/>
                    <a:lumOff val="5000"/>
                  </a:schemeClr>
                </a:solidFill>
              </a:rPr>
              <a:t> </a:t>
            </a:r>
            <a:r>
              <a:rPr lang="fr-FR" sz="2000" b="1" dirty="0" err="1">
                <a:solidFill>
                  <a:schemeClr val="tx1">
                    <a:lumMod val="95000"/>
                    <a:lumOff val="5000"/>
                  </a:schemeClr>
                </a:solidFill>
              </a:rPr>
              <a:t>datasets</a:t>
            </a:r>
            <a:endParaRPr lang="fr-FR" sz="2000" b="1" dirty="0">
              <a:solidFill>
                <a:schemeClr val="tx1">
                  <a:lumMod val="95000"/>
                  <a:lumOff val="5000"/>
                </a:schemeClr>
              </a:solidFill>
            </a:endParaRPr>
          </a:p>
        </p:txBody>
      </p:sp>
      <p:sp>
        <p:nvSpPr>
          <p:cNvPr id="10" name="TextBox 9">
            <a:extLst>
              <a:ext uri="{FF2B5EF4-FFF2-40B4-BE49-F238E27FC236}">
                <a16:creationId xmlns:a16="http://schemas.microsoft.com/office/drawing/2014/main" id="{81A15EF8-4B14-E243-412D-55DE52EAB23E}"/>
              </a:ext>
            </a:extLst>
          </p:cNvPr>
          <p:cNvSpPr txBox="1"/>
          <p:nvPr/>
        </p:nvSpPr>
        <p:spPr>
          <a:xfrm>
            <a:off x="16794" y="3059736"/>
            <a:ext cx="12175203" cy="3303468"/>
          </a:xfrm>
          <a:prstGeom prst="rect">
            <a:avLst/>
          </a:prstGeom>
          <a:noFill/>
        </p:spPr>
        <p:txBody>
          <a:bodyPr wrap="square">
            <a:spAutoFit/>
          </a:bodyPr>
          <a:lstStyle/>
          <a:p>
            <a:pPr marL="0" lvl="1" indent="-285750">
              <a:spcAft>
                <a:spcPts val="800"/>
              </a:spcAft>
              <a:buClr>
                <a:srgbClr val="FF3300"/>
              </a:buClr>
              <a:buFont typeface="Wingdings" panose="05000000000000000000" pitchFamily="2" charset="2"/>
              <a:buChar char="§"/>
            </a:pPr>
            <a:r>
              <a:rPr lang="fr-FR" b="1" dirty="0">
                <a:solidFill>
                  <a:srgbClr val="0070C0"/>
                </a:solidFill>
              </a:rPr>
              <a:t>Exemple: détection des fraudes</a:t>
            </a:r>
            <a:endParaRPr lang="fr-FR" b="1" dirty="0">
              <a:solidFill>
                <a:schemeClr val="tx1">
                  <a:lumMod val="95000"/>
                  <a:lumOff val="5000"/>
                </a:schemeClr>
              </a:solidFill>
            </a:endParaRPr>
          </a:p>
          <a:p>
            <a:pPr marL="0" lvl="1"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Si nous détectons des fraudes dans les données bancaires pour 1000 transactions</a:t>
            </a:r>
          </a:p>
          <a:p>
            <a:pPr marL="457200" lvl="3"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Réalité: 10 cas de fraude, 990 non fraude</a:t>
            </a:r>
          </a:p>
          <a:p>
            <a:pPr marL="0" lvl="1"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Si un modèle est mal formé de sorte qu'il prédit tous les 1000 (disons) points de données comme des non-fraudes.</a:t>
            </a:r>
          </a:p>
          <a:p>
            <a:pPr marL="0" lvl="2"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Si la précision est mesurée, cela montrera que ce modèle prédit correctement 990 points de données</a:t>
            </a:r>
          </a:p>
          <a:p>
            <a:pPr marL="0" lvl="1"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Dans de tels cas, si </a:t>
            </a:r>
            <a:r>
              <a:rPr lang="fr-FR" b="1" dirty="0" err="1">
                <a:solidFill>
                  <a:schemeClr val="tx1">
                    <a:lumMod val="95000"/>
                    <a:lumOff val="5000"/>
                  </a:schemeClr>
                </a:solidFill>
              </a:rPr>
              <a:t>accuracy</a:t>
            </a:r>
            <a:r>
              <a:rPr lang="fr-FR" b="1" dirty="0">
                <a:solidFill>
                  <a:schemeClr val="tx1">
                    <a:lumMod val="95000"/>
                    <a:lumOff val="5000"/>
                  </a:schemeClr>
                </a:solidFill>
              </a:rPr>
              <a:t> est utilisée, le modèle s'avérera être précis à 99 % en prédisant tous les cas de test comme non frauduleux.</a:t>
            </a:r>
          </a:p>
          <a:p>
            <a:pPr marL="0" lvl="1" indent="-285750">
              <a:spcAft>
                <a:spcPts val="800"/>
              </a:spcAft>
              <a:buClr>
                <a:srgbClr val="FF3300"/>
              </a:buClr>
              <a:buFont typeface="Wingdings" panose="05000000000000000000" pitchFamily="2" charset="2"/>
              <a:buChar char="§"/>
            </a:pPr>
            <a:r>
              <a:rPr lang="fr-FR" b="1" dirty="0">
                <a:solidFill>
                  <a:srgbClr val="FF3300"/>
                </a:solidFill>
              </a:rPr>
              <a:t>Le modèle précis à 99% sera complètement inutile.</a:t>
            </a:r>
          </a:p>
          <a:p>
            <a:pPr marL="0" lvl="1" indent="-285750">
              <a:spcAft>
                <a:spcPts val="800"/>
              </a:spcAft>
              <a:buClr>
                <a:srgbClr val="FF3300"/>
              </a:buClr>
              <a:buFont typeface="Wingdings" panose="05000000000000000000" pitchFamily="2" charset="2"/>
              <a:buChar char="§"/>
            </a:pPr>
            <a:endParaRPr lang="fr-FR" b="1" dirty="0">
              <a:solidFill>
                <a:schemeClr val="tx1">
                  <a:lumMod val="95000"/>
                  <a:lumOff val="5000"/>
                </a:schemeClr>
              </a:solidFill>
            </a:endParaRPr>
          </a:p>
        </p:txBody>
      </p:sp>
    </p:spTree>
    <p:extLst>
      <p:ext uri="{BB962C8B-B14F-4D97-AF65-F5344CB8AC3E}">
        <p14:creationId xmlns:p14="http://schemas.microsoft.com/office/powerpoint/2010/main" val="1854597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necteur droit 3"/>
          <p:cNvCxnSpPr/>
          <p:nvPr/>
        </p:nvCxnSpPr>
        <p:spPr>
          <a:xfrm>
            <a:off x="0" y="708926"/>
            <a:ext cx="12204000" cy="0"/>
          </a:xfrm>
          <a:prstGeom prst="line">
            <a:avLst/>
          </a:prstGeom>
          <a:ln w="6350">
            <a:solidFill>
              <a:srgbClr val="FF0000"/>
            </a:solidFill>
          </a:ln>
        </p:spPr>
        <p:style>
          <a:lnRef idx="2">
            <a:schemeClr val="accent2"/>
          </a:lnRef>
          <a:fillRef idx="0">
            <a:schemeClr val="accent2"/>
          </a:fillRef>
          <a:effectRef idx="1">
            <a:schemeClr val="accent2"/>
          </a:effectRef>
          <a:fontRef idx="minor">
            <a:schemeClr val="tx1"/>
          </a:fontRef>
        </p:style>
      </p:cxnSp>
      <p:sp>
        <p:nvSpPr>
          <p:cNvPr id="5" name="ZoneTexte 4"/>
          <p:cNvSpPr txBox="1"/>
          <p:nvPr/>
        </p:nvSpPr>
        <p:spPr>
          <a:xfrm>
            <a:off x="571503" y="11730"/>
            <a:ext cx="9942396" cy="584775"/>
          </a:xfrm>
          <a:prstGeom prst="rect">
            <a:avLst/>
          </a:prstGeom>
          <a:noFill/>
        </p:spPr>
        <p:txBody>
          <a:bodyPr wrap="square" rtlCol="0">
            <a:spAutoFit/>
          </a:bodyPr>
          <a:lstStyle/>
          <a:p>
            <a:pPr algn="ctr"/>
            <a:r>
              <a:rPr lang="fr-FR" sz="3200" b="1" dirty="0">
                <a:solidFill>
                  <a:schemeClr val="tx1">
                    <a:lumMod val="75000"/>
                    <a:lumOff val="25000"/>
                  </a:schemeClr>
                </a:solidFill>
              </a:rPr>
              <a:t>Mesurer la performance d’un problème de classification</a:t>
            </a:r>
            <a:endParaRPr lang="fr-FR" sz="2400" b="1" dirty="0">
              <a:solidFill>
                <a:srgbClr val="FF0000"/>
              </a:solidFill>
            </a:endParaRPr>
          </a:p>
        </p:txBody>
      </p:sp>
      <mc:AlternateContent xmlns:mc="http://schemas.openxmlformats.org/markup-compatibility/2006">
        <mc:Choice xmlns:a14="http://schemas.microsoft.com/office/drawing/2010/main" Requires="a14">
          <p:sp>
            <p:nvSpPr>
              <p:cNvPr id="7" name="ZoneTexte 124">
                <a:extLst>
                  <a:ext uri="{FF2B5EF4-FFF2-40B4-BE49-F238E27FC236}">
                    <a16:creationId xmlns:a16="http://schemas.microsoft.com/office/drawing/2014/main" id="{C17E68F0-F468-7BCE-9636-A9FE485ED045}"/>
                  </a:ext>
                </a:extLst>
              </p:cNvPr>
              <p:cNvSpPr txBox="1"/>
              <p:nvPr/>
            </p:nvSpPr>
            <p:spPr>
              <a:xfrm>
                <a:off x="16795" y="779663"/>
                <a:ext cx="12175205" cy="1256691"/>
              </a:xfrm>
              <a:prstGeom prst="rect">
                <a:avLst/>
              </a:prstGeom>
              <a:noFill/>
            </p:spPr>
            <p:txBody>
              <a:bodyPr wrap="square" rtlCol="0">
                <a:spAutoFit/>
              </a:bodyPr>
              <a:lstStyle/>
              <a:p>
                <a:pPr marL="742950" lvl="1" indent="-285750">
                  <a:spcAft>
                    <a:spcPts val="800"/>
                  </a:spcAft>
                  <a:buClr>
                    <a:srgbClr val="FF3300"/>
                  </a:buClr>
                  <a:buFont typeface="Wingdings" panose="05000000000000000000" pitchFamily="2" charset="2"/>
                  <a:buChar char="§"/>
                </a:pPr>
                <a14:m>
                  <m:oMath xmlns:m="http://schemas.openxmlformats.org/officeDocument/2006/math">
                    <m:r>
                      <a:rPr lang="fr-FR" b="1" i="1" smtClean="0">
                        <a:solidFill>
                          <a:schemeClr val="tx1">
                            <a:lumMod val="95000"/>
                            <a:lumOff val="5000"/>
                          </a:schemeClr>
                        </a:solidFill>
                        <a:latin typeface="Cambria Math" panose="02040503050406030204" pitchFamily="18" charset="0"/>
                      </a:rPr>
                      <m:t>𝒂𝒄𝒄𝒖𝒓𝒂𝒄𝒚</m:t>
                    </m:r>
                    <m:r>
                      <a:rPr lang="fr-FR" b="1" i="1" smtClean="0">
                        <a:solidFill>
                          <a:schemeClr val="tx1">
                            <a:lumMod val="95000"/>
                            <a:lumOff val="5000"/>
                          </a:schemeClr>
                        </a:solidFill>
                        <a:latin typeface="Cambria Math" panose="02040503050406030204" pitchFamily="18" charset="0"/>
                      </a:rPr>
                      <m:t>=</m:t>
                    </m:r>
                    <m:f>
                      <m:fPr>
                        <m:ctrlPr>
                          <a:rPr lang="fr-FR" b="1" i="1" smtClean="0">
                            <a:solidFill>
                              <a:schemeClr val="tx1">
                                <a:lumMod val="95000"/>
                                <a:lumOff val="5000"/>
                              </a:schemeClr>
                            </a:solidFill>
                            <a:latin typeface="Cambria Math" panose="02040503050406030204" pitchFamily="18" charset="0"/>
                          </a:rPr>
                        </m:ctrlPr>
                      </m:fPr>
                      <m:num>
                        <m:r>
                          <a:rPr lang="fr-FR" b="1" i="1" smtClean="0">
                            <a:solidFill>
                              <a:schemeClr val="tx1">
                                <a:lumMod val="95000"/>
                                <a:lumOff val="5000"/>
                              </a:schemeClr>
                            </a:solidFill>
                            <a:latin typeface="Cambria Math" panose="02040503050406030204" pitchFamily="18" charset="0"/>
                          </a:rPr>
                          <m:t>𝒍𝒆</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𝒏𝒐𝒎𝒃𝒓𝒆</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𝒅𝒆𝒔</m:t>
                        </m:r>
                        <m:r>
                          <a:rPr lang="fr-FR" b="1" i="1" smtClean="0">
                            <a:solidFill>
                              <a:schemeClr val="tx1">
                                <a:lumMod val="95000"/>
                                <a:lumOff val="5000"/>
                              </a:schemeClr>
                            </a:solidFill>
                            <a:latin typeface="Cambria Math" panose="02040503050406030204" pitchFamily="18" charset="0"/>
                          </a:rPr>
                          <m:t> é</m:t>
                        </m:r>
                        <m:r>
                          <a:rPr lang="fr-FR" b="1" i="1" smtClean="0">
                            <a:solidFill>
                              <a:schemeClr val="tx1">
                                <a:lumMod val="95000"/>
                                <a:lumOff val="5000"/>
                              </a:schemeClr>
                            </a:solidFill>
                            <a:latin typeface="Cambria Math" panose="02040503050406030204" pitchFamily="18" charset="0"/>
                          </a:rPr>
                          <m:t>𝒍</m:t>
                        </m:r>
                        <m:r>
                          <a:rPr lang="fr-FR" b="1" i="1" smtClean="0">
                            <a:solidFill>
                              <a:schemeClr val="tx1">
                                <a:lumMod val="95000"/>
                                <a:lumOff val="5000"/>
                              </a:schemeClr>
                            </a:solidFill>
                            <a:latin typeface="Cambria Math" panose="02040503050406030204" pitchFamily="18" charset="0"/>
                          </a:rPr>
                          <m:t>é</m:t>
                        </m:r>
                        <m:r>
                          <a:rPr lang="fr-FR" b="1" i="1" smtClean="0">
                            <a:solidFill>
                              <a:schemeClr val="tx1">
                                <a:lumMod val="95000"/>
                                <a:lumOff val="5000"/>
                              </a:schemeClr>
                            </a:solidFill>
                            <a:latin typeface="Cambria Math" panose="02040503050406030204" pitchFamily="18" charset="0"/>
                          </a:rPr>
                          <m:t>𝒎𝒆𝒏𝒕𝒔</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𝒃𝒊𝒆𝒏</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𝒄𝒍𝒂𝒔𝒔</m:t>
                        </m:r>
                        <m:r>
                          <a:rPr lang="fr-FR" b="1" i="1" smtClean="0">
                            <a:solidFill>
                              <a:schemeClr val="tx1">
                                <a:lumMod val="95000"/>
                                <a:lumOff val="5000"/>
                              </a:schemeClr>
                            </a:solidFill>
                            <a:latin typeface="Cambria Math" panose="02040503050406030204" pitchFamily="18" charset="0"/>
                          </a:rPr>
                          <m:t>é</m:t>
                        </m:r>
                        <m:r>
                          <a:rPr lang="fr-FR" b="1" i="1" smtClean="0">
                            <a:solidFill>
                              <a:schemeClr val="tx1">
                                <a:lumMod val="95000"/>
                                <a:lumOff val="5000"/>
                              </a:schemeClr>
                            </a:solidFill>
                            <a:latin typeface="Cambria Math" panose="02040503050406030204" pitchFamily="18" charset="0"/>
                          </a:rPr>
                          <m:t>𝒔</m:t>
                        </m:r>
                      </m:num>
                      <m:den>
                        <m:r>
                          <a:rPr lang="fr-FR" b="1" i="1" smtClean="0">
                            <a:solidFill>
                              <a:schemeClr val="tx1">
                                <a:lumMod val="95000"/>
                                <a:lumOff val="5000"/>
                              </a:schemeClr>
                            </a:solidFill>
                            <a:latin typeface="Cambria Math" panose="02040503050406030204" pitchFamily="18" charset="0"/>
                          </a:rPr>
                          <m:t>𝒍𝒆</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𝒏𝒐𝒎𝒃𝒓𝒆</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𝒕𝒐𝒕𝒂𝒍</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𝒅𝒆𝒔</m:t>
                        </m:r>
                        <m:r>
                          <a:rPr lang="fr-FR" b="1" i="1" smtClean="0">
                            <a:solidFill>
                              <a:schemeClr val="tx1">
                                <a:lumMod val="95000"/>
                                <a:lumOff val="5000"/>
                              </a:schemeClr>
                            </a:solidFill>
                            <a:latin typeface="Cambria Math" panose="02040503050406030204" pitchFamily="18" charset="0"/>
                          </a:rPr>
                          <m:t> é</m:t>
                        </m:r>
                        <m:r>
                          <a:rPr lang="fr-FR" b="1" i="1" smtClean="0">
                            <a:solidFill>
                              <a:schemeClr val="tx1">
                                <a:lumMod val="95000"/>
                                <a:lumOff val="5000"/>
                              </a:schemeClr>
                            </a:solidFill>
                            <a:latin typeface="Cambria Math" panose="02040503050406030204" pitchFamily="18" charset="0"/>
                          </a:rPr>
                          <m:t>𝒍</m:t>
                        </m:r>
                        <m:r>
                          <a:rPr lang="fr-FR" b="1" i="1" smtClean="0">
                            <a:solidFill>
                              <a:schemeClr val="tx1">
                                <a:lumMod val="95000"/>
                                <a:lumOff val="5000"/>
                              </a:schemeClr>
                            </a:solidFill>
                            <a:latin typeface="Cambria Math" panose="02040503050406030204" pitchFamily="18" charset="0"/>
                          </a:rPr>
                          <m:t>é</m:t>
                        </m:r>
                        <m:r>
                          <a:rPr lang="fr-FR" b="1" i="1" smtClean="0">
                            <a:solidFill>
                              <a:schemeClr val="tx1">
                                <a:lumMod val="95000"/>
                                <a:lumOff val="5000"/>
                              </a:schemeClr>
                            </a:solidFill>
                            <a:latin typeface="Cambria Math" panose="02040503050406030204" pitchFamily="18" charset="0"/>
                          </a:rPr>
                          <m:t>𝒎𝒆𝒏𝒕𝒔</m:t>
                        </m:r>
                      </m:den>
                    </m:f>
                    <m:r>
                      <a:rPr lang="fr-FR" b="1" i="1" smtClean="0">
                        <a:solidFill>
                          <a:schemeClr val="tx1">
                            <a:lumMod val="95000"/>
                            <a:lumOff val="5000"/>
                          </a:schemeClr>
                        </a:solidFill>
                        <a:latin typeface="Cambria Math" panose="02040503050406030204" pitchFamily="18" charset="0"/>
                      </a:rPr>
                      <m:t>=</m:t>
                    </m:r>
                    <m:f>
                      <m:fPr>
                        <m:ctrlPr>
                          <a:rPr lang="fr-FR" b="1" i="1" smtClean="0">
                            <a:solidFill>
                              <a:schemeClr val="tx1">
                                <a:lumMod val="95000"/>
                                <a:lumOff val="5000"/>
                              </a:schemeClr>
                            </a:solidFill>
                            <a:latin typeface="Cambria Math" panose="02040503050406030204" pitchFamily="18" charset="0"/>
                          </a:rPr>
                        </m:ctrlPr>
                      </m:fPr>
                      <m:num>
                        <m:r>
                          <a:rPr lang="fr-FR" b="1" i="1" smtClean="0">
                            <a:solidFill>
                              <a:schemeClr val="tx1">
                                <a:lumMod val="95000"/>
                                <a:lumOff val="5000"/>
                              </a:schemeClr>
                            </a:solidFill>
                            <a:latin typeface="Cambria Math" panose="02040503050406030204" pitchFamily="18" charset="0"/>
                          </a:rPr>
                          <m:t>𝑻𝑷</m:t>
                        </m:r>
                        <m:r>
                          <a:rPr lang="fr-FR" b="1" i="1" smtClean="0">
                            <a:solidFill>
                              <a:schemeClr val="tx1">
                                <a:lumMod val="95000"/>
                                <a:lumOff val="5000"/>
                              </a:schemeClr>
                            </a:solidFill>
                            <a:latin typeface="Cambria Math" panose="02040503050406030204" pitchFamily="18" charset="0"/>
                          </a:rPr>
                          <m:t>+</m:t>
                        </m:r>
                        <m:r>
                          <a:rPr lang="fr-FR" b="1" i="1" smtClean="0">
                            <a:solidFill>
                              <a:schemeClr val="tx1">
                                <a:lumMod val="95000"/>
                                <a:lumOff val="5000"/>
                              </a:schemeClr>
                            </a:solidFill>
                            <a:latin typeface="Cambria Math" panose="02040503050406030204" pitchFamily="18" charset="0"/>
                          </a:rPr>
                          <m:t>𝑻𝑵</m:t>
                        </m:r>
                      </m:num>
                      <m:den>
                        <m:r>
                          <a:rPr lang="fr-FR" b="1" i="1" smtClean="0">
                            <a:solidFill>
                              <a:schemeClr val="tx1">
                                <a:lumMod val="95000"/>
                                <a:lumOff val="5000"/>
                              </a:schemeClr>
                            </a:solidFill>
                            <a:latin typeface="Cambria Math" panose="02040503050406030204" pitchFamily="18" charset="0"/>
                          </a:rPr>
                          <m:t>𝑻𝑷</m:t>
                        </m:r>
                        <m:r>
                          <a:rPr lang="fr-FR" b="1" i="1" smtClean="0">
                            <a:solidFill>
                              <a:schemeClr val="tx1">
                                <a:lumMod val="95000"/>
                                <a:lumOff val="5000"/>
                              </a:schemeClr>
                            </a:solidFill>
                            <a:latin typeface="Cambria Math" panose="02040503050406030204" pitchFamily="18" charset="0"/>
                          </a:rPr>
                          <m:t>+</m:t>
                        </m:r>
                        <m:r>
                          <a:rPr lang="fr-FR" b="1" i="1" smtClean="0">
                            <a:solidFill>
                              <a:schemeClr val="tx1">
                                <a:lumMod val="95000"/>
                                <a:lumOff val="5000"/>
                              </a:schemeClr>
                            </a:solidFill>
                            <a:latin typeface="Cambria Math" panose="02040503050406030204" pitchFamily="18" charset="0"/>
                          </a:rPr>
                          <m:t>𝑻𝑵</m:t>
                        </m:r>
                        <m:r>
                          <a:rPr lang="fr-FR" b="1" i="1" smtClean="0">
                            <a:solidFill>
                              <a:schemeClr val="tx1">
                                <a:lumMod val="95000"/>
                                <a:lumOff val="5000"/>
                              </a:schemeClr>
                            </a:solidFill>
                            <a:latin typeface="Cambria Math" panose="02040503050406030204" pitchFamily="18" charset="0"/>
                          </a:rPr>
                          <m:t>+</m:t>
                        </m:r>
                        <m:r>
                          <a:rPr lang="fr-FR" b="1" i="1" smtClean="0">
                            <a:solidFill>
                              <a:schemeClr val="tx1">
                                <a:lumMod val="95000"/>
                                <a:lumOff val="5000"/>
                              </a:schemeClr>
                            </a:solidFill>
                            <a:latin typeface="Cambria Math" panose="02040503050406030204" pitchFamily="18" charset="0"/>
                          </a:rPr>
                          <m:t>𝑭𝑷</m:t>
                        </m:r>
                        <m:r>
                          <a:rPr lang="fr-FR" b="1" i="1" smtClean="0">
                            <a:solidFill>
                              <a:schemeClr val="tx1">
                                <a:lumMod val="95000"/>
                                <a:lumOff val="5000"/>
                              </a:schemeClr>
                            </a:solidFill>
                            <a:latin typeface="Cambria Math" panose="02040503050406030204" pitchFamily="18" charset="0"/>
                          </a:rPr>
                          <m:t>+</m:t>
                        </m:r>
                        <m:r>
                          <a:rPr lang="fr-FR" b="1" i="1" smtClean="0">
                            <a:solidFill>
                              <a:schemeClr val="tx1">
                                <a:lumMod val="95000"/>
                                <a:lumOff val="5000"/>
                              </a:schemeClr>
                            </a:solidFill>
                            <a:latin typeface="Cambria Math" panose="02040503050406030204" pitchFamily="18" charset="0"/>
                          </a:rPr>
                          <m:t>𝑭𝑵</m:t>
                        </m:r>
                      </m:den>
                    </m:f>
                  </m:oMath>
                </a14:m>
                <a:endParaRPr lang="fr-FR" b="1" dirty="0">
                  <a:solidFill>
                    <a:schemeClr val="tx1">
                      <a:lumMod val="95000"/>
                      <a:lumOff val="5000"/>
                    </a:schemeClr>
                  </a:solidFill>
                </a:endParaRPr>
              </a:p>
              <a:p>
                <a:pPr marL="742950" lvl="1" indent="-285750">
                  <a:spcAft>
                    <a:spcPts val="800"/>
                  </a:spcAft>
                  <a:buClr>
                    <a:srgbClr val="FF3300"/>
                  </a:buClr>
                  <a:buFont typeface="Wingdings" panose="05000000000000000000" pitchFamily="2" charset="2"/>
                  <a:buChar char="§"/>
                </a:pPr>
                <a:endParaRPr lang="fr-FR" b="1" dirty="0">
                  <a:solidFill>
                    <a:srgbClr val="FF3300"/>
                  </a:solidFill>
                </a:endParaRPr>
              </a:p>
              <a:p>
                <a:pPr marL="742950" lvl="1"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Mesure à quel point notre modèle classe correctement les individus</a:t>
                </a:r>
              </a:p>
            </p:txBody>
          </p:sp>
        </mc:Choice>
        <mc:Fallback>
          <p:sp>
            <p:nvSpPr>
              <p:cNvPr id="7" name="ZoneTexte 124">
                <a:extLst>
                  <a:ext uri="{FF2B5EF4-FFF2-40B4-BE49-F238E27FC236}">
                    <a16:creationId xmlns:a16="http://schemas.microsoft.com/office/drawing/2014/main" id="{C17E68F0-F468-7BCE-9636-A9FE485ED045}"/>
                  </a:ext>
                </a:extLst>
              </p:cNvPr>
              <p:cNvSpPr txBox="1">
                <a:spLocks noRot="1" noChangeAspect="1" noMove="1" noResize="1" noEditPoints="1" noAdjustHandles="1" noChangeArrowheads="1" noChangeShapeType="1" noTextEdit="1"/>
              </p:cNvSpPr>
              <p:nvPr/>
            </p:nvSpPr>
            <p:spPr>
              <a:xfrm>
                <a:off x="16795" y="779663"/>
                <a:ext cx="12175205" cy="1256691"/>
              </a:xfrm>
              <a:prstGeom prst="rect">
                <a:avLst/>
              </a:prstGeom>
              <a:blipFill>
                <a:blip r:embed="rId2"/>
                <a:stretch>
                  <a:fillRect b="-6796"/>
                </a:stretch>
              </a:blipFill>
            </p:spPr>
            <p:txBody>
              <a:bodyPr/>
              <a:lstStyle/>
              <a:p>
                <a:r>
                  <a:rPr lang="fr-MA">
                    <a:noFill/>
                  </a:rPr>
                  <a:t> </a:t>
                </a:r>
              </a:p>
            </p:txBody>
          </p:sp>
        </mc:Fallback>
      </mc:AlternateContent>
      <p:sp>
        <p:nvSpPr>
          <p:cNvPr id="3" name="TextBox 2">
            <a:extLst>
              <a:ext uri="{FF2B5EF4-FFF2-40B4-BE49-F238E27FC236}">
                <a16:creationId xmlns:a16="http://schemas.microsoft.com/office/drawing/2014/main" id="{4C1AA871-0AA9-A6C4-44F8-6E8C227AC52E}"/>
              </a:ext>
            </a:extLst>
          </p:cNvPr>
          <p:cNvSpPr txBox="1"/>
          <p:nvPr/>
        </p:nvSpPr>
        <p:spPr>
          <a:xfrm>
            <a:off x="16795" y="2347990"/>
            <a:ext cx="12175204" cy="400110"/>
          </a:xfrm>
          <a:prstGeom prst="rect">
            <a:avLst/>
          </a:prstGeom>
          <a:noFill/>
        </p:spPr>
        <p:txBody>
          <a:bodyPr wrap="square">
            <a:spAutoFit/>
          </a:bodyPr>
          <a:lstStyle/>
          <a:p>
            <a:pPr marL="0" lvl="1" indent="-285750">
              <a:spcAft>
                <a:spcPts val="800"/>
              </a:spcAft>
              <a:buClr>
                <a:srgbClr val="FF3300"/>
              </a:buClr>
              <a:buFont typeface="Wingdings" panose="05000000000000000000" pitchFamily="2" charset="2"/>
              <a:buChar char="§"/>
            </a:pPr>
            <a:r>
              <a:rPr lang="fr-FR" sz="2000" b="1" dirty="0">
                <a:solidFill>
                  <a:srgbClr val="FF3300"/>
                </a:solidFill>
              </a:rPr>
              <a:t>Attention!!</a:t>
            </a:r>
            <a:r>
              <a:rPr lang="fr-FR" sz="2000" b="1" dirty="0">
                <a:solidFill>
                  <a:schemeClr val="tx1">
                    <a:lumMod val="95000"/>
                    <a:lumOff val="5000"/>
                  </a:schemeClr>
                </a:solidFill>
              </a:rPr>
              <a:t> Pas très utile dans le cas de </a:t>
            </a:r>
            <a:r>
              <a:rPr lang="fr-FR" sz="2000" b="1" dirty="0" err="1">
                <a:solidFill>
                  <a:schemeClr val="tx1">
                    <a:lumMod val="95000"/>
                    <a:lumOff val="5000"/>
                  </a:schemeClr>
                </a:solidFill>
              </a:rPr>
              <a:t>unbalanced</a:t>
            </a:r>
            <a:r>
              <a:rPr lang="fr-FR" sz="2000" b="1" dirty="0">
                <a:solidFill>
                  <a:schemeClr val="tx1">
                    <a:lumMod val="95000"/>
                    <a:lumOff val="5000"/>
                  </a:schemeClr>
                </a:solidFill>
              </a:rPr>
              <a:t> </a:t>
            </a:r>
            <a:r>
              <a:rPr lang="fr-FR" sz="2000" b="1" dirty="0" err="1">
                <a:solidFill>
                  <a:schemeClr val="tx1">
                    <a:lumMod val="95000"/>
                    <a:lumOff val="5000"/>
                  </a:schemeClr>
                </a:solidFill>
              </a:rPr>
              <a:t>datasets</a:t>
            </a:r>
            <a:endParaRPr lang="fr-FR" sz="2000" b="1" dirty="0">
              <a:solidFill>
                <a:schemeClr val="tx1">
                  <a:lumMod val="95000"/>
                  <a:lumOff val="5000"/>
                </a:schemeClr>
              </a:solidFill>
            </a:endParaRPr>
          </a:p>
        </p:txBody>
      </p:sp>
      <p:sp>
        <p:nvSpPr>
          <p:cNvPr id="10" name="TextBox 9">
            <a:extLst>
              <a:ext uri="{FF2B5EF4-FFF2-40B4-BE49-F238E27FC236}">
                <a16:creationId xmlns:a16="http://schemas.microsoft.com/office/drawing/2014/main" id="{81A15EF8-4B14-E243-412D-55DE52EAB23E}"/>
              </a:ext>
            </a:extLst>
          </p:cNvPr>
          <p:cNvSpPr txBox="1"/>
          <p:nvPr/>
        </p:nvSpPr>
        <p:spPr>
          <a:xfrm>
            <a:off x="16794" y="3059736"/>
            <a:ext cx="12175203" cy="3303468"/>
          </a:xfrm>
          <a:prstGeom prst="rect">
            <a:avLst/>
          </a:prstGeom>
          <a:noFill/>
        </p:spPr>
        <p:txBody>
          <a:bodyPr wrap="square">
            <a:spAutoFit/>
          </a:bodyPr>
          <a:lstStyle/>
          <a:p>
            <a:pPr marL="0" lvl="1" indent="-285750">
              <a:spcAft>
                <a:spcPts val="800"/>
              </a:spcAft>
              <a:buClr>
                <a:srgbClr val="FF3300"/>
              </a:buClr>
              <a:buFont typeface="Wingdings" panose="05000000000000000000" pitchFamily="2" charset="2"/>
              <a:buChar char="§"/>
            </a:pPr>
            <a:r>
              <a:rPr lang="fr-FR" b="1" dirty="0">
                <a:solidFill>
                  <a:srgbClr val="0070C0"/>
                </a:solidFill>
              </a:rPr>
              <a:t>Exemple: détection de COVID19</a:t>
            </a:r>
            <a:endParaRPr lang="fr-FR" b="1" dirty="0">
              <a:solidFill>
                <a:schemeClr val="tx1">
                  <a:lumMod val="95000"/>
                  <a:lumOff val="5000"/>
                </a:schemeClr>
              </a:solidFill>
            </a:endParaRPr>
          </a:p>
          <a:p>
            <a:pPr marL="0" lvl="1"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Si nous détectons des CAS COVID dans les données SANITAIRES pour 1000 PATIENTS</a:t>
            </a:r>
          </a:p>
          <a:p>
            <a:pPr marL="457200" lvl="3" indent="-285750">
              <a:spcAft>
                <a:spcPts val="800"/>
              </a:spcAft>
              <a:buClr>
                <a:srgbClr val="FF3300"/>
              </a:buClr>
              <a:buFont typeface="Wingdings" panose="05000000000000000000" pitchFamily="2" charset="2"/>
              <a:buChar char="§"/>
            </a:pPr>
            <a:r>
              <a:rPr lang="fr-FR" b="1" dirty="0">
                <a:solidFill>
                  <a:srgbClr val="0070C0"/>
                </a:solidFill>
              </a:rPr>
              <a:t>Réalité: 10 cas de COVID (P), 990 non ATTEINT DE COVID (N)</a:t>
            </a:r>
          </a:p>
          <a:p>
            <a:pPr marL="0" lvl="1"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Si un modèle est mal entrainé de sorte qu'il prédit tous les 1000 (disons) patients comme des non-atteints de covid.</a:t>
            </a:r>
          </a:p>
          <a:p>
            <a:pPr marL="0" lvl="2"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Si la précision est mesurée, cela montrera que ce modèle prédit correctement 990 points de données</a:t>
            </a:r>
          </a:p>
          <a:p>
            <a:pPr marL="0" lvl="1"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Dans de tels cas, si </a:t>
            </a:r>
            <a:r>
              <a:rPr lang="fr-FR" b="1" dirty="0" err="1">
                <a:solidFill>
                  <a:schemeClr val="tx1">
                    <a:lumMod val="95000"/>
                    <a:lumOff val="5000"/>
                  </a:schemeClr>
                </a:solidFill>
              </a:rPr>
              <a:t>accuracy</a:t>
            </a:r>
            <a:r>
              <a:rPr lang="fr-FR" b="1" dirty="0">
                <a:solidFill>
                  <a:schemeClr val="tx1">
                    <a:lumMod val="95000"/>
                    <a:lumOff val="5000"/>
                  </a:schemeClr>
                </a:solidFill>
              </a:rPr>
              <a:t> est utilisée, le modèle s'avérera être précis à 99 % en prédisant tous les cas de test comme non atteint de covid.</a:t>
            </a:r>
          </a:p>
          <a:p>
            <a:pPr marL="0" lvl="1" indent="-285750">
              <a:spcAft>
                <a:spcPts val="800"/>
              </a:spcAft>
              <a:buClr>
                <a:srgbClr val="FF3300"/>
              </a:buClr>
              <a:buFont typeface="Wingdings" panose="05000000000000000000" pitchFamily="2" charset="2"/>
              <a:buChar char="§"/>
            </a:pPr>
            <a:r>
              <a:rPr lang="fr-FR" b="1" dirty="0">
                <a:solidFill>
                  <a:srgbClr val="FF3300"/>
                </a:solidFill>
              </a:rPr>
              <a:t>Le modèle précis à 99% sera complètement inutile.</a:t>
            </a:r>
          </a:p>
          <a:p>
            <a:pPr marL="0" lvl="1" indent="-285750">
              <a:spcAft>
                <a:spcPts val="800"/>
              </a:spcAft>
              <a:buClr>
                <a:srgbClr val="FF3300"/>
              </a:buClr>
              <a:buFont typeface="Wingdings" panose="05000000000000000000" pitchFamily="2" charset="2"/>
              <a:buChar char="§"/>
            </a:pPr>
            <a:endParaRPr lang="fr-FR" b="1" dirty="0">
              <a:solidFill>
                <a:schemeClr val="tx1">
                  <a:lumMod val="95000"/>
                  <a:lumOff val="5000"/>
                </a:schemeClr>
              </a:solidFill>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BF85461-8338-E43B-432A-18B90F765129}"/>
                  </a:ext>
                </a:extLst>
              </p:cNvPr>
              <p:cNvSpPr txBox="1"/>
              <p:nvPr/>
            </p:nvSpPr>
            <p:spPr>
              <a:xfrm>
                <a:off x="7126706" y="5462847"/>
                <a:ext cx="5048500" cy="6154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fr-FR" b="1" i="1" smtClean="0">
                          <a:solidFill>
                            <a:schemeClr val="tx1">
                              <a:lumMod val="95000"/>
                              <a:lumOff val="5000"/>
                            </a:schemeClr>
                          </a:solidFill>
                          <a:latin typeface="Cambria Math" panose="02040503050406030204" pitchFamily="18" charset="0"/>
                        </a:rPr>
                        <m:t>𝒂𝒄𝒄𝒖𝒓𝒂𝒄𝒚</m:t>
                      </m:r>
                      <m:r>
                        <a:rPr lang="fr-FR" b="1" i="1" smtClean="0">
                          <a:solidFill>
                            <a:schemeClr val="tx1">
                              <a:lumMod val="95000"/>
                              <a:lumOff val="5000"/>
                            </a:schemeClr>
                          </a:solidFill>
                          <a:latin typeface="Cambria Math" panose="02040503050406030204" pitchFamily="18" charset="0"/>
                        </a:rPr>
                        <m:t>=</m:t>
                      </m:r>
                      <m:f>
                        <m:fPr>
                          <m:ctrlPr>
                            <a:rPr lang="fr-FR" b="1" i="1" smtClean="0">
                              <a:solidFill>
                                <a:schemeClr val="tx1">
                                  <a:lumMod val="95000"/>
                                  <a:lumOff val="5000"/>
                                </a:schemeClr>
                              </a:solidFill>
                              <a:latin typeface="Cambria Math" panose="02040503050406030204" pitchFamily="18" charset="0"/>
                            </a:rPr>
                          </m:ctrlPr>
                        </m:fPr>
                        <m:num>
                          <m:r>
                            <a:rPr lang="fr-FR" b="1" i="1" smtClean="0">
                              <a:solidFill>
                                <a:schemeClr val="tx1">
                                  <a:lumMod val="95000"/>
                                  <a:lumOff val="5000"/>
                                </a:schemeClr>
                              </a:solidFill>
                              <a:latin typeface="Cambria Math" panose="02040503050406030204" pitchFamily="18" charset="0"/>
                            </a:rPr>
                            <m:t>𝟎</m:t>
                          </m:r>
                          <m:r>
                            <a:rPr lang="fr-FR" b="1" i="1" smtClean="0">
                              <a:solidFill>
                                <a:schemeClr val="tx1">
                                  <a:lumMod val="95000"/>
                                  <a:lumOff val="5000"/>
                                </a:schemeClr>
                              </a:solidFill>
                              <a:latin typeface="Cambria Math" panose="02040503050406030204" pitchFamily="18" charset="0"/>
                            </a:rPr>
                            <m:t>+</m:t>
                          </m:r>
                          <m:r>
                            <a:rPr lang="fr-FR" b="1" i="1" smtClean="0">
                              <a:solidFill>
                                <a:schemeClr val="tx1">
                                  <a:lumMod val="95000"/>
                                  <a:lumOff val="5000"/>
                                </a:schemeClr>
                              </a:solidFill>
                              <a:latin typeface="Cambria Math" panose="02040503050406030204" pitchFamily="18" charset="0"/>
                            </a:rPr>
                            <m:t>𝟗𝟗𝟎</m:t>
                          </m:r>
                        </m:num>
                        <m:den>
                          <m:r>
                            <a:rPr lang="fr-FR" b="1" i="1" smtClean="0">
                              <a:solidFill>
                                <a:schemeClr val="tx1">
                                  <a:lumMod val="95000"/>
                                  <a:lumOff val="5000"/>
                                </a:schemeClr>
                              </a:solidFill>
                              <a:latin typeface="Cambria Math" panose="02040503050406030204" pitchFamily="18" charset="0"/>
                            </a:rPr>
                            <m:t>𝟏𝟎𝟎𝟎</m:t>
                          </m:r>
                        </m:den>
                      </m:f>
                    </m:oMath>
                  </m:oMathPara>
                </a14:m>
                <a:endParaRPr lang="fr-MA" dirty="0"/>
              </a:p>
            </p:txBody>
          </p:sp>
        </mc:Choice>
        <mc:Fallback>
          <p:sp>
            <p:nvSpPr>
              <p:cNvPr id="6" name="TextBox 5">
                <a:extLst>
                  <a:ext uri="{FF2B5EF4-FFF2-40B4-BE49-F238E27FC236}">
                    <a16:creationId xmlns:a16="http://schemas.microsoft.com/office/drawing/2014/main" id="{3BF85461-8338-E43B-432A-18B90F765129}"/>
                  </a:ext>
                </a:extLst>
              </p:cNvPr>
              <p:cNvSpPr txBox="1">
                <a:spLocks noRot="1" noChangeAspect="1" noMove="1" noResize="1" noEditPoints="1" noAdjustHandles="1" noChangeArrowheads="1" noChangeShapeType="1" noTextEdit="1"/>
              </p:cNvSpPr>
              <p:nvPr/>
            </p:nvSpPr>
            <p:spPr>
              <a:xfrm>
                <a:off x="7126706" y="5462847"/>
                <a:ext cx="5048500" cy="615490"/>
              </a:xfrm>
              <a:prstGeom prst="rect">
                <a:avLst/>
              </a:prstGeom>
              <a:blipFill>
                <a:blip r:embed="rId3"/>
                <a:stretch>
                  <a:fillRect/>
                </a:stretch>
              </a:blipFill>
            </p:spPr>
            <p:txBody>
              <a:bodyPr/>
              <a:lstStyle/>
              <a:p>
                <a:r>
                  <a:rPr lang="fr-MA">
                    <a:noFill/>
                  </a:rPr>
                  <a:t> </a:t>
                </a:r>
              </a:p>
            </p:txBody>
          </p:sp>
        </mc:Fallback>
      </mc:AlternateContent>
      <p:sp>
        <p:nvSpPr>
          <p:cNvPr id="8" name="Rectangle 7">
            <a:extLst>
              <a:ext uri="{FF2B5EF4-FFF2-40B4-BE49-F238E27FC236}">
                <a16:creationId xmlns:a16="http://schemas.microsoft.com/office/drawing/2014/main" id="{0C4DAC83-004C-C909-576A-76ECACC35632}"/>
              </a:ext>
            </a:extLst>
          </p:cNvPr>
          <p:cNvSpPr/>
          <p:nvPr/>
        </p:nvSpPr>
        <p:spPr>
          <a:xfrm>
            <a:off x="9884537" y="1214324"/>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9" name="Rectangle 8">
            <a:extLst>
              <a:ext uri="{FF2B5EF4-FFF2-40B4-BE49-F238E27FC236}">
                <a16:creationId xmlns:a16="http://schemas.microsoft.com/office/drawing/2014/main" id="{AC098A7C-CED4-32B7-550F-56B242C18B6F}"/>
              </a:ext>
            </a:extLst>
          </p:cNvPr>
          <p:cNvSpPr/>
          <p:nvPr/>
        </p:nvSpPr>
        <p:spPr>
          <a:xfrm>
            <a:off x="10788225" y="2110061"/>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1" name="Rectangle 10">
            <a:extLst>
              <a:ext uri="{FF2B5EF4-FFF2-40B4-BE49-F238E27FC236}">
                <a16:creationId xmlns:a16="http://schemas.microsoft.com/office/drawing/2014/main" id="{0EF15599-AD8F-1E01-472C-B88363844587}"/>
              </a:ext>
            </a:extLst>
          </p:cNvPr>
          <p:cNvSpPr/>
          <p:nvPr/>
        </p:nvSpPr>
        <p:spPr>
          <a:xfrm>
            <a:off x="10788225" y="1212167"/>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2" name="Rectangle 11">
            <a:extLst>
              <a:ext uri="{FF2B5EF4-FFF2-40B4-BE49-F238E27FC236}">
                <a16:creationId xmlns:a16="http://schemas.microsoft.com/office/drawing/2014/main" id="{960F84AF-2B44-5C21-BF0D-C74DFFE8CA06}"/>
              </a:ext>
            </a:extLst>
          </p:cNvPr>
          <p:cNvSpPr/>
          <p:nvPr/>
        </p:nvSpPr>
        <p:spPr>
          <a:xfrm>
            <a:off x="9877395" y="2105747"/>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3" name="TextBox 12">
            <a:extLst>
              <a:ext uri="{FF2B5EF4-FFF2-40B4-BE49-F238E27FC236}">
                <a16:creationId xmlns:a16="http://schemas.microsoft.com/office/drawing/2014/main" id="{DCA9BE8E-C3C1-9887-A25E-9C686227D064}"/>
              </a:ext>
            </a:extLst>
          </p:cNvPr>
          <p:cNvSpPr txBox="1"/>
          <p:nvPr/>
        </p:nvSpPr>
        <p:spPr>
          <a:xfrm>
            <a:off x="9984609" y="1277483"/>
            <a:ext cx="685882" cy="369332"/>
          </a:xfrm>
          <a:prstGeom prst="rect">
            <a:avLst/>
          </a:prstGeom>
          <a:solidFill>
            <a:schemeClr val="bg1">
              <a:lumMod val="95000"/>
            </a:schemeClr>
          </a:solidFill>
        </p:spPr>
        <p:txBody>
          <a:bodyPr wrap="square" rtlCol="0">
            <a:spAutoFit/>
          </a:bodyPr>
          <a:lstStyle/>
          <a:p>
            <a:r>
              <a:rPr lang="fr-MA" b="1" dirty="0">
                <a:solidFill>
                  <a:srgbClr val="0070C0"/>
                </a:solidFill>
              </a:rPr>
              <a:t>990</a:t>
            </a:r>
          </a:p>
        </p:txBody>
      </p:sp>
      <p:sp>
        <p:nvSpPr>
          <p:cNvPr id="14" name="TextBox 13">
            <a:extLst>
              <a:ext uri="{FF2B5EF4-FFF2-40B4-BE49-F238E27FC236}">
                <a16:creationId xmlns:a16="http://schemas.microsoft.com/office/drawing/2014/main" id="{8A8A7F96-FB87-BECF-593A-80DA364B2EC0}"/>
              </a:ext>
            </a:extLst>
          </p:cNvPr>
          <p:cNvSpPr txBox="1"/>
          <p:nvPr/>
        </p:nvSpPr>
        <p:spPr>
          <a:xfrm>
            <a:off x="9877395" y="2970751"/>
            <a:ext cx="878679" cy="369332"/>
          </a:xfrm>
          <a:prstGeom prst="rect">
            <a:avLst/>
          </a:prstGeom>
          <a:noFill/>
        </p:spPr>
        <p:txBody>
          <a:bodyPr wrap="square" rtlCol="0">
            <a:spAutoFit/>
          </a:bodyPr>
          <a:lstStyle/>
          <a:p>
            <a:pPr algn="ctr"/>
            <a:r>
              <a:rPr lang="fr-MA" b="1" dirty="0"/>
              <a:t>0</a:t>
            </a:r>
          </a:p>
        </p:txBody>
      </p:sp>
      <p:sp>
        <p:nvSpPr>
          <p:cNvPr id="15" name="TextBox 14">
            <a:extLst>
              <a:ext uri="{FF2B5EF4-FFF2-40B4-BE49-F238E27FC236}">
                <a16:creationId xmlns:a16="http://schemas.microsoft.com/office/drawing/2014/main" id="{EB9ECD61-65CA-6413-1D90-B73782AA6652}"/>
              </a:ext>
            </a:extLst>
          </p:cNvPr>
          <p:cNvSpPr txBox="1"/>
          <p:nvPr/>
        </p:nvSpPr>
        <p:spPr>
          <a:xfrm>
            <a:off x="8996924" y="1460003"/>
            <a:ext cx="871538" cy="369332"/>
          </a:xfrm>
          <a:prstGeom prst="rect">
            <a:avLst/>
          </a:prstGeom>
          <a:noFill/>
        </p:spPr>
        <p:txBody>
          <a:bodyPr wrap="square" rtlCol="0">
            <a:spAutoFit/>
          </a:bodyPr>
          <a:lstStyle/>
          <a:p>
            <a:pPr algn="ctr"/>
            <a:r>
              <a:rPr lang="fr-MA" b="1" dirty="0"/>
              <a:t>0</a:t>
            </a:r>
          </a:p>
        </p:txBody>
      </p:sp>
      <p:sp>
        <p:nvSpPr>
          <p:cNvPr id="16" name="TextBox 15">
            <a:extLst>
              <a:ext uri="{FF2B5EF4-FFF2-40B4-BE49-F238E27FC236}">
                <a16:creationId xmlns:a16="http://schemas.microsoft.com/office/drawing/2014/main" id="{76C63962-F35E-2673-F9AC-A3FB131D84EA}"/>
              </a:ext>
            </a:extLst>
          </p:cNvPr>
          <p:cNvSpPr txBox="1"/>
          <p:nvPr/>
        </p:nvSpPr>
        <p:spPr>
          <a:xfrm>
            <a:off x="10744081" y="3009301"/>
            <a:ext cx="878679" cy="369332"/>
          </a:xfrm>
          <a:prstGeom prst="rect">
            <a:avLst/>
          </a:prstGeom>
          <a:noFill/>
        </p:spPr>
        <p:txBody>
          <a:bodyPr wrap="square" rtlCol="0">
            <a:spAutoFit/>
          </a:bodyPr>
          <a:lstStyle/>
          <a:p>
            <a:pPr algn="ctr"/>
            <a:r>
              <a:rPr lang="fr-MA" b="1" dirty="0"/>
              <a:t>1</a:t>
            </a:r>
          </a:p>
        </p:txBody>
      </p:sp>
      <p:sp>
        <p:nvSpPr>
          <p:cNvPr id="17" name="TextBox 16">
            <a:extLst>
              <a:ext uri="{FF2B5EF4-FFF2-40B4-BE49-F238E27FC236}">
                <a16:creationId xmlns:a16="http://schemas.microsoft.com/office/drawing/2014/main" id="{2B04893C-7F76-B2E9-67E6-BCA4EBE50397}"/>
              </a:ext>
            </a:extLst>
          </p:cNvPr>
          <p:cNvSpPr txBox="1"/>
          <p:nvPr/>
        </p:nvSpPr>
        <p:spPr>
          <a:xfrm>
            <a:off x="8974729" y="2438514"/>
            <a:ext cx="871538" cy="369332"/>
          </a:xfrm>
          <a:prstGeom prst="rect">
            <a:avLst/>
          </a:prstGeom>
          <a:noFill/>
        </p:spPr>
        <p:txBody>
          <a:bodyPr wrap="square" rtlCol="0">
            <a:spAutoFit/>
          </a:bodyPr>
          <a:lstStyle/>
          <a:p>
            <a:pPr algn="ctr"/>
            <a:r>
              <a:rPr lang="fr-MA" b="1" dirty="0"/>
              <a:t>1</a:t>
            </a:r>
          </a:p>
        </p:txBody>
      </p:sp>
      <p:sp>
        <p:nvSpPr>
          <p:cNvPr id="18" name="TextBox 17">
            <a:extLst>
              <a:ext uri="{FF2B5EF4-FFF2-40B4-BE49-F238E27FC236}">
                <a16:creationId xmlns:a16="http://schemas.microsoft.com/office/drawing/2014/main" id="{349556D1-21A7-A967-F8B5-7758D91838C7}"/>
              </a:ext>
            </a:extLst>
          </p:cNvPr>
          <p:cNvSpPr txBox="1"/>
          <p:nvPr/>
        </p:nvSpPr>
        <p:spPr>
          <a:xfrm>
            <a:off x="10887825" y="2173904"/>
            <a:ext cx="685882" cy="369332"/>
          </a:xfrm>
          <a:prstGeom prst="rect">
            <a:avLst/>
          </a:prstGeom>
          <a:solidFill>
            <a:schemeClr val="bg1">
              <a:lumMod val="95000"/>
            </a:schemeClr>
          </a:solidFill>
        </p:spPr>
        <p:txBody>
          <a:bodyPr wrap="square" rtlCol="0">
            <a:spAutoFit/>
          </a:bodyPr>
          <a:lstStyle/>
          <a:p>
            <a:r>
              <a:rPr lang="fr-MA" b="1" dirty="0">
                <a:solidFill>
                  <a:srgbClr val="0070C0"/>
                </a:solidFill>
              </a:rPr>
              <a:t>0</a:t>
            </a:r>
          </a:p>
        </p:txBody>
      </p:sp>
      <p:sp>
        <p:nvSpPr>
          <p:cNvPr id="19" name="TextBox 18">
            <a:extLst>
              <a:ext uri="{FF2B5EF4-FFF2-40B4-BE49-F238E27FC236}">
                <a16:creationId xmlns:a16="http://schemas.microsoft.com/office/drawing/2014/main" id="{53D576BD-F3DA-3929-E9E9-422E094F196C}"/>
              </a:ext>
            </a:extLst>
          </p:cNvPr>
          <p:cNvSpPr txBox="1"/>
          <p:nvPr/>
        </p:nvSpPr>
        <p:spPr>
          <a:xfrm>
            <a:off x="10973880" y="1250555"/>
            <a:ext cx="685882" cy="369332"/>
          </a:xfrm>
          <a:prstGeom prst="rect">
            <a:avLst/>
          </a:prstGeom>
          <a:solidFill>
            <a:schemeClr val="bg1">
              <a:lumMod val="95000"/>
            </a:schemeClr>
          </a:solidFill>
        </p:spPr>
        <p:txBody>
          <a:bodyPr wrap="square" rtlCol="0">
            <a:spAutoFit/>
          </a:bodyPr>
          <a:lstStyle/>
          <a:p>
            <a:r>
              <a:rPr lang="fr-MA" b="1" dirty="0">
                <a:solidFill>
                  <a:srgbClr val="FF0000"/>
                </a:solidFill>
              </a:rPr>
              <a:t>0</a:t>
            </a:r>
          </a:p>
        </p:txBody>
      </p:sp>
      <p:sp>
        <p:nvSpPr>
          <p:cNvPr id="20" name="TextBox 19">
            <a:extLst>
              <a:ext uri="{FF2B5EF4-FFF2-40B4-BE49-F238E27FC236}">
                <a16:creationId xmlns:a16="http://schemas.microsoft.com/office/drawing/2014/main" id="{D64F074E-E604-74BC-AB4A-7F3BFFAC4E44}"/>
              </a:ext>
            </a:extLst>
          </p:cNvPr>
          <p:cNvSpPr txBox="1"/>
          <p:nvPr/>
        </p:nvSpPr>
        <p:spPr>
          <a:xfrm>
            <a:off x="9980753" y="2128689"/>
            <a:ext cx="613824" cy="369332"/>
          </a:xfrm>
          <a:prstGeom prst="rect">
            <a:avLst/>
          </a:prstGeom>
          <a:solidFill>
            <a:schemeClr val="bg1">
              <a:lumMod val="95000"/>
            </a:schemeClr>
          </a:solidFill>
        </p:spPr>
        <p:txBody>
          <a:bodyPr wrap="square" rtlCol="0">
            <a:spAutoFit/>
          </a:bodyPr>
          <a:lstStyle/>
          <a:p>
            <a:r>
              <a:rPr lang="fr-MA" b="1" dirty="0">
                <a:solidFill>
                  <a:srgbClr val="FF0000"/>
                </a:solidFill>
              </a:rPr>
              <a:t>10</a:t>
            </a:r>
          </a:p>
        </p:txBody>
      </p:sp>
      <p:sp>
        <p:nvSpPr>
          <p:cNvPr id="21" name="TextBox 20">
            <a:extLst>
              <a:ext uri="{FF2B5EF4-FFF2-40B4-BE49-F238E27FC236}">
                <a16:creationId xmlns:a16="http://schemas.microsoft.com/office/drawing/2014/main" id="{899FD03A-8EB3-835D-1AB9-27A00263BD33}"/>
              </a:ext>
            </a:extLst>
          </p:cNvPr>
          <p:cNvSpPr txBox="1"/>
          <p:nvPr/>
        </p:nvSpPr>
        <p:spPr>
          <a:xfrm>
            <a:off x="8447647" y="1865220"/>
            <a:ext cx="871537" cy="369332"/>
          </a:xfrm>
          <a:prstGeom prst="rect">
            <a:avLst/>
          </a:prstGeom>
          <a:noFill/>
        </p:spPr>
        <p:txBody>
          <a:bodyPr wrap="square">
            <a:spAutoFit/>
          </a:bodyPr>
          <a:lstStyle/>
          <a:p>
            <a:pPr algn="ctr"/>
            <a:r>
              <a:rPr lang="fr-MA" b="1" dirty="0" err="1"/>
              <a:t>Actual</a:t>
            </a:r>
            <a:endParaRPr lang="fr-MA" b="1" dirty="0"/>
          </a:p>
        </p:txBody>
      </p:sp>
      <p:sp>
        <p:nvSpPr>
          <p:cNvPr id="22" name="TextBox 21">
            <a:extLst>
              <a:ext uri="{FF2B5EF4-FFF2-40B4-BE49-F238E27FC236}">
                <a16:creationId xmlns:a16="http://schemas.microsoft.com/office/drawing/2014/main" id="{CF1ED962-F825-F60A-F4B9-ACA51C4D7CBD}"/>
              </a:ext>
            </a:extLst>
          </p:cNvPr>
          <p:cNvSpPr txBox="1"/>
          <p:nvPr/>
        </p:nvSpPr>
        <p:spPr>
          <a:xfrm>
            <a:off x="10029535" y="3204778"/>
            <a:ext cx="1331966" cy="369332"/>
          </a:xfrm>
          <a:prstGeom prst="rect">
            <a:avLst/>
          </a:prstGeom>
          <a:noFill/>
        </p:spPr>
        <p:txBody>
          <a:bodyPr wrap="square">
            <a:spAutoFit/>
          </a:bodyPr>
          <a:lstStyle/>
          <a:p>
            <a:pPr algn="ctr"/>
            <a:r>
              <a:rPr lang="fr-MA" b="1" dirty="0" err="1"/>
              <a:t>Predicted</a:t>
            </a:r>
            <a:endParaRPr lang="fr-MA" b="1" dirty="0"/>
          </a:p>
        </p:txBody>
      </p:sp>
    </p:spTree>
    <p:extLst>
      <p:ext uri="{BB962C8B-B14F-4D97-AF65-F5344CB8AC3E}">
        <p14:creationId xmlns:p14="http://schemas.microsoft.com/office/powerpoint/2010/main" val="2459275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necteur droit 3"/>
          <p:cNvCxnSpPr/>
          <p:nvPr/>
        </p:nvCxnSpPr>
        <p:spPr>
          <a:xfrm>
            <a:off x="0" y="708926"/>
            <a:ext cx="12204000" cy="0"/>
          </a:xfrm>
          <a:prstGeom prst="line">
            <a:avLst/>
          </a:prstGeom>
          <a:ln w="6350">
            <a:solidFill>
              <a:srgbClr val="FF0000"/>
            </a:solidFill>
          </a:ln>
        </p:spPr>
        <p:style>
          <a:lnRef idx="2">
            <a:schemeClr val="accent2"/>
          </a:lnRef>
          <a:fillRef idx="0">
            <a:schemeClr val="accent2"/>
          </a:fillRef>
          <a:effectRef idx="1">
            <a:schemeClr val="accent2"/>
          </a:effectRef>
          <a:fontRef idx="minor">
            <a:schemeClr val="tx1"/>
          </a:fontRef>
        </p:style>
      </p:cxnSp>
      <p:sp>
        <p:nvSpPr>
          <p:cNvPr id="5" name="ZoneTexte 4"/>
          <p:cNvSpPr txBox="1"/>
          <p:nvPr/>
        </p:nvSpPr>
        <p:spPr>
          <a:xfrm>
            <a:off x="571503" y="11730"/>
            <a:ext cx="9942396" cy="584775"/>
          </a:xfrm>
          <a:prstGeom prst="rect">
            <a:avLst/>
          </a:prstGeom>
          <a:noFill/>
        </p:spPr>
        <p:txBody>
          <a:bodyPr wrap="square" rtlCol="0">
            <a:spAutoFit/>
          </a:bodyPr>
          <a:lstStyle/>
          <a:p>
            <a:pPr algn="ctr"/>
            <a:r>
              <a:rPr lang="fr-FR" sz="3200" b="1" dirty="0">
                <a:solidFill>
                  <a:schemeClr val="tx1">
                    <a:lumMod val="75000"/>
                    <a:lumOff val="25000"/>
                  </a:schemeClr>
                </a:solidFill>
              </a:rPr>
              <a:t>Mesurer la performance d’un problème de classification</a:t>
            </a:r>
            <a:endParaRPr lang="fr-FR" sz="2400" b="1" dirty="0">
              <a:solidFill>
                <a:srgbClr val="FF0000"/>
              </a:solidFill>
            </a:endParaRPr>
          </a:p>
        </p:txBody>
      </p:sp>
      <mc:AlternateContent xmlns:mc="http://schemas.openxmlformats.org/markup-compatibility/2006">
        <mc:Choice xmlns:a14="http://schemas.microsoft.com/office/drawing/2010/main" Requires="a14">
          <p:sp>
            <p:nvSpPr>
              <p:cNvPr id="8" name="ZoneTexte 124">
                <a:extLst>
                  <a:ext uri="{FF2B5EF4-FFF2-40B4-BE49-F238E27FC236}">
                    <a16:creationId xmlns:a16="http://schemas.microsoft.com/office/drawing/2014/main" id="{E0B7EDE4-2667-2A4F-0FD7-A94FBAA293BA}"/>
                  </a:ext>
                </a:extLst>
              </p:cNvPr>
              <p:cNvSpPr txBox="1"/>
              <p:nvPr/>
            </p:nvSpPr>
            <p:spPr>
              <a:xfrm>
                <a:off x="8397" y="708926"/>
                <a:ext cx="12175205" cy="870816"/>
              </a:xfrm>
              <a:prstGeom prst="rect">
                <a:avLst/>
              </a:prstGeom>
              <a:noFill/>
            </p:spPr>
            <p:txBody>
              <a:bodyPr wrap="square" rtlCol="0">
                <a:spAutoFit/>
              </a:bodyPr>
              <a:lstStyle/>
              <a:p>
                <a:pPr marL="742950" lvl="1" indent="-285750">
                  <a:spcAft>
                    <a:spcPts val="800"/>
                  </a:spcAft>
                  <a:buClr>
                    <a:srgbClr val="FF3300"/>
                  </a:buClr>
                  <a:buFont typeface="Wingdings" panose="05000000000000000000" pitchFamily="2" charset="2"/>
                  <a:buChar char="§"/>
                </a:pPr>
                <a14:m>
                  <m:oMath xmlns:m="http://schemas.openxmlformats.org/officeDocument/2006/math">
                    <m:r>
                      <a:rPr lang="fr-FR" b="1" i="1" smtClean="0">
                        <a:solidFill>
                          <a:schemeClr val="tx1">
                            <a:lumMod val="95000"/>
                            <a:lumOff val="5000"/>
                          </a:schemeClr>
                        </a:solidFill>
                        <a:latin typeface="Cambria Math" panose="02040503050406030204" pitchFamily="18" charset="0"/>
                      </a:rPr>
                      <m:t>𝒑𝒓𝒆𝒄𝒊𝒔𝒊𝒐𝒏</m:t>
                    </m:r>
                    <m:r>
                      <a:rPr lang="fr-FR" b="1" i="1" smtClean="0">
                        <a:solidFill>
                          <a:schemeClr val="tx1">
                            <a:lumMod val="95000"/>
                            <a:lumOff val="5000"/>
                          </a:schemeClr>
                        </a:solidFill>
                        <a:latin typeface="Cambria Math" panose="02040503050406030204" pitchFamily="18" charset="0"/>
                      </a:rPr>
                      <m:t>=</m:t>
                    </m:r>
                    <m:f>
                      <m:fPr>
                        <m:ctrlPr>
                          <a:rPr lang="fr-FR" b="1" i="1" smtClean="0">
                            <a:solidFill>
                              <a:schemeClr val="tx1">
                                <a:lumMod val="95000"/>
                                <a:lumOff val="5000"/>
                              </a:schemeClr>
                            </a:solidFill>
                            <a:latin typeface="Cambria Math" panose="02040503050406030204" pitchFamily="18" charset="0"/>
                          </a:rPr>
                        </m:ctrlPr>
                      </m:fPr>
                      <m:num>
                        <m:r>
                          <a:rPr lang="fr-FR" b="1" i="1" smtClean="0">
                            <a:solidFill>
                              <a:schemeClr val="tx1">
                                <a:lumMod val="95000"/>
                                <a:lumOff val="5000"/>
                              </a:schemeClr>
                            </a:solidFill>
                            <a:latin typeface="Cambria Math" panose="02040503050406030204" pitchFamily="18" charset="0"/>
                          </a:rPr>
                          <m:t>𝑻𝑷</m:t>
                        </m:r>
                      </m:num>
                      <m:den>
                        <m:r>
                          <a:rPr lang="fr-FR" b="1" i="1" smtClean="0">
                            <a:solidFill>
                              <a:schemeClr val="tx1">
                                <a:lumMod val="95000"/>
                                <a:lumOff val="5000"/>
                              </a:schemeClr>
                            </a:solidFill>
                            <a:latin typeface="Cambria Math" panose="02040503050406030204" pitchFamily="18" charset="0"/>
                          </a:rPr>
                          <m:t>𝑻𝑷</m:t>
                        </m:r>
                        <m:r>
                          <a:rPr lang="fr-FR" b="1" i="1" smtClean="0">
                            <a:solidFill>
                              <a:schemeClr val="tx1">
                                <a:lumMod val="95000"/>
                                <a:lumOff val="5000"/>
                              </a:schemeClr>
                            </a:solidFill>
                            <a:latin typeface="Cambria Math" panose="02040503050406030204" pitchFamily="18" charset="0"/>
                          </a:rPr>
                          <m:t>+</m:t>
                        </m:r>
                        <m:r>
                          <a:rPr lang="fr-FR" b="1" i="1" smtClean="0">
                            <a:solidFill>
                              <a:schemeClr val="tx1">
                                <a:lumMod val="95000"/>
                                <a:lumOff val="5000"/>
                              </a:schemeClr>
                            </a:solidFill>
                            <a:latin typeface="Cambria Math" panose="02040503050406030204" pitchFamily="18" charset="0"/>
                          </a:rPr>
                          <m:t>𝑭𝑷</m:t>
                        </m:r>
                      </m:den>
                    </m:f>
                  </m:oMath>
                </a14:m>
                <a:endParaRPr lang="fr-FR" b="1" dirty="0">
                  <a:solidFill>
                    <a:schemeClr val="tx1">
                      <a:lumMod val="95000"/>
                      <a:lumOff val="5000"/>
                    </a:schemeClr>
                  </a:solidFill>
                </a:endParaRPr>
              </a:p>
              <a:p>
                <a:pPr marL="742950" lvl="1"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Ce rapport présente la capacité du modèle de classifier correctement la classe positive</a:t>
                </a:r>
              </a:p>
            </p:txBody>
          </p:sp>
        </mc:Choice>
        <mc:Fallback>
          <p:sp>
            <p:nvSpPr>
              <p:cNvPr id="8" name="ZoneTexte 124">
                <a:extLst>
                  <a:ext uri="{FF2B5EF4-FFF2-40B4-BE49-F238E27FC236}">
                    <a16:creationId xmlns:a16="http://schemas.microsoft.com/office/drawing/2014/main" id="{E0B7EDE4-2667-2A4F-0FD7-A94FBAA293BA}"/>
                  </a:ext>
                </a:extLst>
              </p:cNvPr>
              <p:cNvSpPr txBox="1">
                <a:spLocks noRot="1" noChangeAspect="1" noMove="1" noResize="1" noEditPoints="1" noAdjustHandles="1" noChangeArrowheads="1" noChangeShapeType="1" noTextEdit="1"/>
              </p:cNvSpPr>
              <p:nvPr/>
            </p:nvSpPr>
            <p:spPr>
              <a:xfrm>
                <a:off x="8397" y="708926"/>
                <a:ext cx="12175205" cy="870816"/>
              </a:xfrm>
              <a:prstGeom prst="rect">
                <a:avLst/>
              </a:prstGeom>
              <a:blipFill>
                <a:blip r:embed="rId2"/>
                <a:stretch>
                  <a:fillRect b="-10490"/>
                </a:stretch>
              </a:blipFill>
            </p:spPr>
            <p:txBody>
              <a:bodyPr/>
              <a:lstStyle/>
              <a:p>
                <a:r>
                  <a:rPr lang="fr-MA">
                    <a:noFill/>
                  </a:rPr>
                  <a:t> </a:t>
                </a:r>
              </a:p>
            </p:txBody>
          </p:sp>
        </mc:Fallback>
      </mc:AlternateContent>
      <p:sp>
        <p:nvSpPr>
          <p:cNvPr id="3" name="TextBox 2">
            <a:extLst>
              <a:ext uri="{FF2B5EF4-FFF2-40B4-BE49-F238E27FC236}">
                <a16:creationId xmlns:a16="http://schemas.microsoft.com/office/drawing/2014/main" id="{FB12FCE7-603B-1638-E4AB-01D07B1D6626}"/>
              </a:ext>
            </a:extLst>
          </p:cNvPr>
          <p:cNvSpPr txBox="1"/>
          <p:nvPr/>
        </p:nvSpPr>
        <p:spPr>
          <a:xfrm>
            <a:off x="-19052" y="1817441"/>
            <a:ext cx="12175204" cy="2441694"/>
          </a:xfrm>
          <a:prstGeom prst="rect">
            <a:avLst/>
          </a:prstGeom>
          <a:noFill/>
        </p:spPr>
        <p:txBody>
          <a:bodyPr wrap="square">
            <a:spAutoFit/>
          </a:bodyPr>
          <a:lstStyle/>
          <a:p>
            <a:pPr marL="742950" lvl="1" indent="-285750">
              <a:spcAft>
                <a:spcPts val="800"/>
              </a:spcAft>
              <a:buClr>
                <a:srgbClr val="FF3300"/>
              </a:buClr>
              <a:buFont typeface="Wingdings" panose="05000000000000000000" pitchFamily="2" charset="2"/>
              <a:buChar char="§"/>
            </a:pPr>
            <a:r>
              <a:rPr lang="fr-FR" b="1" dirty="0">
                <a:solidFill>
                  <a:srgbClr val="0070C0"/>
                </a:solidFill>
              </a:rPr>
              <a:t>Exemple: maintenance prédictive</a:t>
            </a:r>
          </a:p>
          <a:p>
            <a:pPr marL="742950" lvl="1"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Dans le problème de la maintenance prédictive (capacité de prévoir à l'avance quand une machine doit être réparée), la  métrique </a:t>
            </a:r>
            <a:r>
              <a:rPr lang="fr-FR" b="1" dirty="0" err="1">
                <a:solidFill>
                  <a:schemeClr val="tx1">
                    <a:lumMod val="95000"/>
                    <a:lumOff val="5000"/>
                  </a:schemeClr>
                </a:solidFill>
              </a:rPr>
              <a:t>precision</a:t>
            </a:r>
            <a:r>
              <a:rPr lang="fr-FR" b="1" dirty="0">
                <a:solidFill>
                  <a:schemeClr val="tx1">
                    <a:lumMod val="95000"/>
                    <a:lumOff val="5000"/>
                  </a:schemeClr>
                </a:solidFill>
              </a:rPr>
              <a:t> entre en jeu.</a:t>
            </a:r>
          </a:p>
          <a:p>
            <a:pPr marL="1200150" lvl="2"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Le coût de la maintenance est généralement élevé </a:t>
            </a:r>
          </a:p>
          <a:p>
            <a:pPr marL="1200150" lvl="2"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et, par conséquent, des prévisions incorrectes peuvent entraîner une perte pour l'entreprise</a:t>
            </a:r>
          </a:p>
          <a:p>
            <a:pPr marL="742950" lvl="1"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Dans de tels cas, la capacité du modèle à classer correctement la classe positive et à diminuer le nombre de faux positifs est primordiale !</a:t>
            </a:r>
          </a:p>
        </p:txBody>
      </p:sp>
      <p:sp>
        <p:nvSpPr>
          <p:cNvPr id="23" name="Rectangle 22">
            <a:extLst>
              <a:ext uri="{FF2B5EF4-FFF2-40B4-BE49-F238E27FC236}">
                <a16:creationId xmlns:a16="http://schemas.microsoft.com/office/drawing/2014/main" id="{D8422906-3CBE-43E4-C823-4988D24367C9}"/>
              </a:ext>
            </a:extLst>
          </p:cNvPr>
          <p:cNvSpPr/>
          <p:nvPr/>
        </p:nvSpPr>
        <p:spPr>
          <a:xfrm>
            <a:off x="9884537" y="4310449"/>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24" name="Rectangle 23">
            <a:extLst>
              <a:ext uri="{FF2B5EF4-FFF2-40B4-BE49-F238E27FC236}">
                <a16:creationId xmlns:a16="http://schemas.microsoft.com/office/drawing/2014/main" id="{C521A90A-C017-CBAF-B718-B8AE950C6C58}"/>
              </a:ext>
            </a:extLst>
          </p:cNvPr>
          <p:cNvSpPr/>
          <p:nvPr/>
        </p:nvSpPr>
        <p:spPr>
          <a:xfrm>
            <a:off x="10788225" y="5206186"/>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25" name="Rectangle 24">
            <a:extLst>
              <a:ext uri="{FF2B5EF4-FFF2-40B4-BE49-F238E27FC236}">
                <a16:creationId xmlns:a16="http://schemas.microsoft.com/office/drawing/2014/main" id="{6EFF2D02-151B-A29C-F27B-2D1A377AD234}"/>
              </a:ext>
            </a:extLst>
          </p:cNvPr>
          <p:cNvSpPr/>
          <p:nvPr/>
        </p:nvSpPr>
        <p:spPr>
          <a:xfrm>
            <a:off x="10788225" y="4308292"/>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26" name="Rectangle 25">
            <a:extLst>
              <a:ext uri="{FF2B5EF4-FFF2-40B4-BE49-F238E27FC236}">
                <a16:creationId xmlns:a16="http://schemas.microsoft.com/office/drawing/2014/main" id="{6D8024D0-E418-B6D5-2D86-79DCA5791535}"/>
              </a:ext>
            </a:extLst>
          </p:cNvPr>
          <p:cNvSpPr/>
          <p:nvPr/>
        </p:nvSpPr>
        <p:spPr>
          <a:xfrm>
            <a:off x="9877395" y="5201872"/>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27" name="TextBox 26">
            <a:extLst>
              <a:ext uri="{FF2B5EF4-FFF2-40B4-BE49-F238E27FC236}">
                <a16:creationId xmlns:a16="http://schemas.microsoft.com/office/drawing/2014/main" id="{4D8A3A33-FF1B-FAF0-1EDF-1298C79F2097}"/>
              </a:ext>
            </a:extLst>
          </p:cNvPr>
          <p:cNvSpPr txBox="1"/>
          <p:nvPr/>
        </p:nvSpPr>
        <p:spPr>
          <a:xfrm>
            <a:off x="9984609" y="4373608"/>
            <a:ext cx="685882" cy="369332"/>
          </a:xfrm>
          <a:prstGeom prst="rect">
            <a:avLst/>
          </a:prstGeom>
          <a:solidFill>
            <a:schemeClr val="bg1">
              <a:lumMod val="95000"/>
            </a:schemeClr>
          </a:solidFill>
        </p:spPr>
        <p:txBody>
          <a:bodyPr wrap="square" rtlCol="0">
            <a:spAutoFit/>
          </a:bodyPr>
          <a:lstStyle/>
          <a:p>
            <a:r>
              <a:rPr lang="fr-MA" b="1" dirty="0">
                <a:solidFill>
                  <a:srgbClr val="0070C0"/>
                </a:solidFill>
              </a:rPr>
              <a:t>990</a:t>
            </a:r>
          </a:p>
        </p:txBody>
      </p:sp>
      <p:sp>
        <p:nvSpPr>
          <p:cNvPr id="28" name="TextBox 27">
            <a:extLst>
              <a:ext uri="{FF2B5EF4-FFF2-40B4-BE49-F238E27FC236}">
                <a16:creationId xmlns:a16="http://schemas.microsoft.com/office/drawing/2014/main" id="{44FB0DE2-1B42-F822-6724-1766C08AB3E1}"/>
              </a:ext>
            </a:extLst>
          </p:cNvPr>
          <p:cNvSpPr txBox="1"/>
          <p:nvPr/>
        </p:nvSpPr>
        <p:spPr>
          <a:xfrm>
            <a:off x="9877395" y="6066876"/>
            <a:ext cx="878679" cy="369332"/>
          </a:xfrm>
          <a:prstGeom prst="rect">
            <a:avLst/>
          </a:prstGeom>
          <a:noFill/>
        </p:spPr>
        <p:txBody>
          <a:bodyPr wrap="square" rtlCol="0">
            <a:spAutoFit/>
          </a:bodyPr>
          <a:lstStyle/>
          <a:p>
            <a:pPr algn="ctr"/>
            <a:r>
              <a:rPr lang="fr-MA" b="1" dirty="0"/>
              <a:t>0</a:t>
            </a:r>
          </a:p>
        </p:txBody>
      </p:sp>
      <p:sp>
        <p:nvSpPr>
          <p:cNvPr id="29" name="TextBox 28">
            <a:extLst>
              <a:ext uri="{FF2B5EF4-FFF2-40B4-BE49-F238E27FC236}">
                <a16:creationId xmlns:a16="http://schemas.microsoft.com/office/drawing/2014/main" id="{F4B03F6E-7DEE-D97A-6A1B-32999AE55321}"/>
              </a:ext>
            </a:extLst>
          </p:cNvPr>
          <p:cNvSpPr txBox="1"/>
          <p:nvPr/>
        </p:nvSpPr>
        <p:spPr>
          <a:xfrm>
            <a:off x="8996924" y="4556128"/>
            <a:ext cx="871538" cy="369332"/>
          </a:xfrm>
          <a:prstGeom prst="rect">
            <a:avLst/>
          </a:prstGeom>
          <a:noFill/>
        </p:spPr>
        <p:txBody>
          <a:bodyPr wrap="square" rtlCol="0">
            <a:spAutoFit/>
          </a:bodyPr>
          <a:lstStyle/>
          <a:p>
            <a:pPr algn="ctr"/>
            <a:r>
              <a:rPr lang="fr-MA" b="1" dirty="0"/>
              <a:t>0</a:t>
            </a:r>
          </a:p>
        </p:txBody>
      </p:sp>
      <p:sp>
        <p:nvSpPr>
          <p:cNvPr id="30" name="TextBox 29">
            <a:extLst>
              <a:ext uri="{FF2B5EF4-FFF2-40B4-BE49-F238E27FC236}">
                <a16:creationId xmlns:a16="http://schemas.microsoft.com/office/drawing/2014/main" id="{B6A0C103-00A5-7587-5780-9B08BB25C2EB}"/>
              </a:ext>
            </a:extLst>
          </p:cNvPr>
          <p:cNvSpPr txBox="1"/>
          <p:nvPr/>
        </p:nvSpPr>
        <p:spPr>
          <a:xfrm>
            <a:off x="10744081" y="6105426"/>
            <a:ext cx="878679" cy="369332"/>
          </a:xfrm>
          <a:prstGeom prst="rect">
            <a:avLst/>
          </a:prstGeom>
          <a:noFill/>
        </p:spPr>
        <p:txBody>
          <a:bodyPr wrap="square" rtlCol="0">
            <a:spAutoFit/>
          </a:bodyPr>
          <a:lstStyle/>
          <a:p>
            <a:pPr algn="ctr"/>
            <a:r>
              <a:rPr lang="fr-MA" b="1" dirty="0"/>
              <a:t>1</a:t>
            </a:r>
          </a:p>
        </p:txBody>
      </p:sp>
      <p:sp>
        <p:nvSpPr>
          <p:cNvPr id="31" name="TextBox 30">
            <a:extLst>
              <a:ext uri="{FF2B5EF4-FFF2-40B4-BE49-F238E27FC236}">
                <a16:creationId xmlns:a16="http://schemas.microsoft.com/office/drawing/2014/main" id="{ECC0D064-FEDB-B741-1545-6EC9F0C0AB41}"/>
              </a:ext>
            </a:extLst>
          </p:cNvPr>
          <p:cNvSpPr txBox="1"/>
          <p:nvPr/>
        </p:nvSpPr>
        <p:spPr>
          <a:xfrm>
            <a:off x="8974729" y="5534639"/>
            <a:ext cx="871538" cy="369332"/>
          </a:xfrm>
          <a:prstGeom prst="rect">
            <a:avLst/>
          </a:prstGeom>
          <a:noFill/>
        </p:spPr>
        <p:txBody>
          <a:bodyPr wrap="square" rtlCol="0">
            <a:spAutoFit/>
          </a:bodyPr>
          <a:lstStyle/>
          <a:p>
            <a:pPr algn="ctr"/>
            <a:r>
              <a:rPr lang="fr-MA" b="1" dirty="0"/>
              <a:t>1</a:t>
            </a:r>
          </a:p>
        </p:txBody>
      </p:sp>
      <p:sp>
        <p:nvSpPr>
          <p:cNvPr id="32" name="TextBox 31">
            <a:extLst>
              <a:ext uri="{FF2B5EF4-FFF2-40B4-BE49-F238E27FC236}">
                <a16:creationId xmlns:a16="http://schemas.microsoft.com/office/drawing/2014/main" id="{E67899E6-51DB-FD16-BFEA-D83D585F0BCA}"/>
              </a:ext>
            </a:extLst>
          </p:cNvPr>
          <p:cNvSpPr txBox="1"/>
          <p:nvPr/>
        </p:nvSpPr>
        <p:spPr>
          <a:xfrm>
            <a:off x="10887825" y="5270029"/>
            <a:ext cx="685882" cy="369332"/>
          </a:xfrm>
          <a:prstGeom prst="rect">
            <a:avLst/>
          </a:prstGeom>
          <a:solidFill>
            <a:schemeClr val="bg1">
              <a:lumMod val="95000"/>
            </a:schemeClr>
          </a:solidFill>
        </p:spPr>
        <p:txBody>
          <a:bodyPr wrap="square" rtlCol="0">
            <a:spAutoFit/>
          </a:bodyPr>
          <a:lstStyle/>
          <a:p>
            <a:r>
              <a:rPr lang="fr-MA" b="1" dirty="0">
                <a:solidFill>
                  <a:srgbClr val="0070C0"/>
                </a:solidFill>
              </a:rPr>
              <a:t>1</a:t>
            </a:r>
          </a:p>
        </p:txBody>
      </p:sp>
      <p:sp>
        <p:nvSpPr>
          <p:cNvPr id="33" name="TextBox 32">
            <a:extLst>
              <a:ext uri="{FF2B5EF4-FFF2-40B4-BE49-F238E27FC236}">
                <a16:creationId xmlns:a16="http://schemas.microsoft.com/office/drawing/2014/main" id="{093A6182-2960-D819-0D45-69C529B2A20A}"/>
              </a:ext>
            </a:extLst>
          </p:cNvPr>
          <p:cNvSpPr txBox="1"/>
          <p:nvPr/>
        </p:nvSpPr>
        <p:spPr>
          <a:xfrm>
            <a:off x="10973880" y="4346680"/>
            <a:ext cx="685882" cy="369332"/>
          </a:xfrm>
          <a:prstGeom prst="rect">
            <a:avLst/>
          </a:prstGeom>
          <a:solidFill>
            <a:schemeClr val="bg1">
              <a:lumMod val="95000"/>
            </a:schemeClr>
          </a:solidFill>
        </p:spPr>
        <p:txBody>
          <a:bodyPr wrap="square" rtlCol="0">
            <a:spAutoFit/>
          </a:bodyPr>
          <a:lstStyle/>
          <a:p>
            <a:r>
              <a:rPr lang="fr-MA" b="1" dirty="0">
                <a:solidFill>
                  <a:srgbClr val="FF0000"/>
                </a:solidFill>
              </a:rPr>
              <a:t>0</a:t>
            </a:r>
          </a:p>
        </p:txBody>
      </p:sp>
      <p:sp>
        <p:nvSpPr>
          <p:cNvPr id="34" name="TextBox 33">
            <a:extLst>
              <a:ext uri="{FF2B5EF4-FFF2-40B4-BE49-F238E27FC236}">
                <a16:creationId xmlns:a16="http://schemas.microsoft.com/office/drawing/2014/main" id="{BDD7E7BF-A726-1F15-502E-7D16F0E011BF}"/>
              </a:ext>
            </a:extLst>
          </p:cNvPr>
          <p:cNvSpPr txBox="1"/>
          <p:nvPr/>
        </p:nvSpPr>
        <p:spPr>
          <a:xfrm>
            <a:off x="9980753" y="5224814"/>
            <a:ext cx="613824" cy="369332"/>
          </a:xfrm>
          <a:prstGeom prst="rect">
            <a:avLst/>
          </a:prstGeom>
          <a:solidFill>
            <a:schemeClr val="bg1">
              <a:lumMod val="95000"/>
            </a:schemeClr>
          </a:solidFill>
        </p:spPr>
        <p:txBody>
          <a:bodyPr wrap="square" rtlCol="0">
            <a:spAutoFit/>
          </a:bodyPr>
          <a:lstStyle/>
          <a:p>
            <a:r>
              <a:rPr lang="fr-MA" b="1" dirty="0">
                <a:solidFill>
                  <a:srgbClr val="FF0000"/>
                </a:solidFill>
              </a:rPr>
              <a:t>10</a:t>
            </a:r>
          </a:p>
        </p:txBody>
      </p:sp>
      <p:sp>
        <p:nvSpPr>
          <p:cNvPr id="35" name="TextBox 34">
            <a:extLst>
              <a:ext uri="{FF2B5EF4-FFF2-40B4-BE49-F238E27FC236}">
                <a16:creationId xmlns:a16="http://schemas.microsoft.com/office/drawing/2014/main" id="{21376CA0-65A3-DCDA-240F-B70EDC1AA738}"/>
              </a:ext>
            </a:extLst>
          </p:cNvPr>
          <p:cNvSpPr txBox="1"/>
          <p:nvPr/>
        </p:nvSpPr>
        <p:spPr>
          <a:xfrm>
            <a:off x="8447647" y="4961345"/>
            <a:ext cx="871537" cy="369332"/>
          </a:xfrm>
          <a:prstGeom prst="rect">
            <a:avLst/>
          </a:prstGeom>
          <a:noFill/>
        </p:spPr>
        <p:txBody>
          <a:bodyPr wrap="square">
            <a:spAutoFit/>
          </a:bodyPr>
          <a:lstStyle/>
          <a:p>
            <a:pPr algn="ctr"/>
            <a:r>
              <a:rPr lang="fr-MA" b="1" dirty="0" err="1"/>
              <a:t>Actual</a:t>
            </a:r>
            <a:endParaRPr lang="fr-MA" b="1" dirty="0"/>
          </a:p>
        </p:txBody>
      </p:sp>
      <p:sp>
        <p:nvSpPr>
          <p:cNvPr id="36" name="TextBox 35">
            <a:extLst>
              <a:ext uri="{FF2B5EF4-FFF2-40B4-BE49-F238E27FC236}">
                <a16:creationId xmlns:a16="http://schemas.microsoft.com/office/drawing/2014/main" id="{26C4BDBF-B078-04B7-3371-4BA1A4BC50C3}"/>
              </a:ext>
            </a:extLst>
          </p:cNvPr>
          <p:cNvSpPr txBox="1"/>
          <p:nvPr/>
        </p:nvSpPr>
        <p:spPr>
          <a:xfrm>
            <a:off x="10029535" y="6300903"/>
            <a:ext cx="1331966" cy="369332"/>
          </a:xfrm>
          <a:prstGeom prst="rect">
            <a:avLst/>
          </a:prstGeom>
          <a:noFill/>
        </p:spPr>
        <p:txBody>
          <a:bodyPr wrap="square">
            <a:spAutoFit/>
          </a:bodyPr>
          <a:lstStyle/>
          <a:p>
            <a:pPr algn="ctr"/>
            <a:r>
              <a:rPr lang="fr-MA" b="1" dirty="0" err="1"/>
              <a:t>Predicted</a:t>
            </a:r>
            <a:endParaRPr lang="fr-MA" b="1" dirty="0"/>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237AEC88-3417-9723-7A1D-33CA5944B63C}"/>
                  </a:ext>
                </a:extLst>
              </p:cNvPr>
              <p:cNvSpPr txBox="1"/>
              <p:nvPr/>
            </p:nvSpPr>
            <p:spPr>
              <a:xfrm>
                <a:off x="2854667" y="5289026"/>
                <a:ext cx="3722596" cy="491225"/>
              </a:xfrm>
              <a:prstGeom prst="rect">
                <a:avLst/>
              </a:prstGeom>
              <a:noFill/>
            </p:spPr>
            <p:txBody>
              <a:bodyPr wrap="square">
                <a:spAutoFit/>
              </a:bodyPr>
              <a:lstStyle/>
              <a:p>
                <a:pPr marL="742950" lvl="1" indent="-285750">
                  <a:spcAft>
                    <a:spcPts val="800"/>
                  </a:spcAft>
                  <a:buClr>
                    <a:srgbClr val="FF3300"/>
                  </a:buClr>
                  <a:buFont typeface="Wingdings" panose="05000000000000000000" pitchFamily="2" charset="2"/>
                  <a:buChar char="§"/>
                </a:pPr>
                <a14:m>
                  <m:oMath xmlns:m="http://schemas.openxmlformats.org/officeDocument/2006/math">
                    <m:r>
                      <a:rPr lang="fr-FR" b="1" i="1" smtClean="0">
                        <a:solidFill>
                          <a:schemeClr val="tx1">
                            <a:lumMod val="95000"/>
                            <a:lumOff val="5000"/>
                          </a:schemeClr>
                        </a:solidFill>
                        <a:latin typeface="Cambria Math" panose="02040503050406030204" pitchFamily="18" charset="0"/>
                      </a:rPr>
                      <m:t>𝒑𝒓𝒆𝒄𝒊𝒔𝒊𝒐𝒏</m:t>
                    </m:r>
                    <m:r>
                      <a:rPr lang="fr-FR" b="1" i="1" smtClean="0">
                        <a:solidFill>
                          <a:schemeClr val="tx1">
                            <a:lumMod val="95000"/>
                            <a:lumOff val="5000"/>
                          </a:schemeClr>
                        </a:solidFill>
                        <a:latin typeface="Cambria Math" panose="02040503050406030204" pitchFamily="18" charset="0"/>
                      </a:rPr>
                      <m:t>=</m:t>
                    </m:r>
                    <m:f>
                      <m:fPr>
                        <m:ctrlPr>
                          <a:rPr lang="fr-FR" b="1" i="1" smtClean="0">
                            <a:solidFill>
                              <a:schemeClr val="tx1">
                                <a:lumMod val="95000"/>
                                <a:lumOff val="5000"/>
                              </a:schemeClr>
                            </a:solidFill>
                            <a:latin typeface="Cambria Math" panose="02040503050406030204" pitchFamily="18" charset="0"/>
                          </a:rPr>
                        </m:ctrlPr>
                      </m:fPr>
                      <m:num>
                        <m:r>
                          <a:rPr lang="fr-FR" b="1" i="1" smtClean="0">
                            <a:solidFill>
                              <a:schemeClr val="tx1">
                                <a:lumMod val="95000"/>
                                <a:lumOff val="5000"/>
                              </a:schemeClr>
                            </a:solidFill>
                            <a:latin typeface="Cambria Math" panose="02040503050406030204" pitchFamily="18" charset="0"/>
                          </a:rPr>
                          <m:t>𝟏</m:t>
                        </m:r>
                      </m:num>
                      <m:den>
                        <m:r>
                          <a:rPr lang="fr-FR" b="1" i="1" smtClean="0">
                            <a:solidFill>
                              <a:schemeClr val="tx1">
                                <a:lumMod val="95000"/>
                                <a:lumOff val="5000"/>
                              </a:schemeClr>
                            </a:solidFill>
                            <a:latin typeface="Cambria Math" panose="02040503050406030204" pitchFamily="18" charset="0"/>
                          </a:rPr>
                          <m:t>𝟏</m:t>
                        </m:r>
                      </m:den>
                    </m:f>
                  </m:oMath>
                </a14:m>
                <a:endParaRPr lang="fr-FR" b="1" dirty="0">
                  <a:solidFill>
                    <a:schemeClr val="tx1">
                      <a:lumMod val="95000"/>
                      <a:lumOff val="5000"/>
                    </a:schemeClr>
                  </a:solidFill>
                </a:endParaRPr>
              </a:p>
            </p:txBody>
          </p:sp>
        </mc:Choice>
        <mc:Fallback>
          <p:sp>
            <p:nvSpPr>
              <p:cNvPr id="38" name="TextBox 37">
                <a:extLst>
                  <a:ext uri="{FF2B5EF4-FFF2-40B4-BE49-F238E27FC236}">
                    <a16:creationId xmlns:a16="http://schemas.microsoft.com/office/drawing/2014/main" id="{237AEC88-3417-9723-7A1D-33CA5944B63C}"/>
                  </a:ext>
                </a:extLst>
              </p:cNvPr>
              <p:cNvSpPr txBox="1">
                <a:spLocks noRot="1" noChangeAspect="1" noMove="1" noResize="1" noEditPoints="1" noAdjustHandles="1" noChangeArrowheads="1" noChangeShapeType="1" noTextEdit="1"/>
              </p:cNvSpPr>
              <p:nvPr/>
            </p:nvSpPr>
            <p:spPr>
              <a:xfrm>
                <a:off x="2854667" y="5289026"/>
                <a:ext cx="3722596" cy="491225"/>
              </a:xfrm>
              <a:prstGeom prst="rect">
                <a:avLst/>
              </a:prstGeom>
              <a:blipFill>
                <a:blip r:embed="rId3"/>
                <a:stretch>
                  <a:fillRect b="-3750"/>
                </a:stretch>
              </a:blipFill>
            </p:spPr>
            <p:txBody>
              <a:bodyPr/>
              <a:lstStyle/>
              <a:p>
                <a:r>
                  <a:rPr lang="fr-MA">
                    <a:noFill/>
                  </a:rPr>
                  <a:t> </a:t>
                </a:r>
              </a:p>
            </p:txBody>
          </p:sp>
        </mc:Fallback>
      </mc:AlternateContent>
    </p:spTree>
    <p:extLst>
      <p:ext uri="{BB962C8B-B14F-4D97-AF65-F5344CB8AC3E}">
        <p14:creationId xmlns:p14="http://schemas.microsoft.com/office/powerpoint/2010/main" val="3180180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necteur droit 3"/>
          <p:cNvCxnSpPr/>
          <p:nvPr/>
        </p:nvCxnSpPr>
        <p:spPr>
          <a:xfrm>
            <a:off x="0" y="708926"/>
            <a:ext cx="12204000" cy="0"/>
          </a:xfrm>
          <a:prstGeom prst="line">
            <a:avLst/>
          </a:prstGeom>
          <a:ln w="6350">
            <a:solidFill>
              <a:srgbClr val="FF0000"/>
            </a:solidFill>
          </a:ln>
        </p:spPr>
        <p:style>
          <a:lnRef idx="2">
            <a:schemeClr val="accent2"/>
          </a:lnRef>
          <a:fillRef idx="0">
            <a:schemeClr val="accent2"/>
          </a:fillRef>
          <a:effectRef idx="1">
            <a:schemeClr val="accent2"/>
          </a:effectRef>
          <a:fontRef idx="minor">
            <a:schemeClr val="tx1"/>
          </a:fontRef>
        </p:style>
      </p:cxnSp>
      <p:sp>
        <p:nvSpPr>
          <p:cNvPr id="5" name="ZoneTexte 4"/>
          <p:cNvSpPr txBox="1"/>
          <p:nvPr/>
        </p:nvSpPr>
        <p:spPr>
          <a:xfrm>
            <a:off x="571503" y="11730"/>
            <a:ext cx="9942396" cy="584775"/>
          </a:xfrm>
          <a:prstGeom prst="rect">
            <a:avLst/>
          </a:prstGeom>
          <a:noFill/>
        </p:spPr>
        <p:txBody>
          <a:bodyPr wrap="square" rtlCol="0">
            <a:spAutoFit/>
          </a:bodyPr>
          <a:lstStyle/>
          <a:p>
            <a:pPr algn="ctr"/>
            <a:r>
              <a:rPr lang="fr-FR" sz="3200" b="1" dirty="0">
                <a:solidFill>
                  <a:schemeClr val="tx1">
                    <a:lumMod val="75000"/>
                    <a:lumOff val="25000"/>
                  </a:schemeClr>
                </a:solidFill>
              </a:rPr>
              <a:t>Mesurer la performance d’un problème de classification</a:t>
            </a:r>
            <a:endParaRPr lang="fr-FR" sz="2400" b="1" dirty="0">
              <a:solidFill>
                <a:srgbClr val="FF0000"/>
              </a:solidFill>
            </a:endParaRPr>
          </a:p>
        </p:txBody>
      </p:sp>
      <mc:AlternateContent xmlns:mc="http://schemas.openxmlformats.org/markup-compatibility/2006">
        <mc:Choice xmlns:a14="http://schemas.microsoft.com/office/drawing/2010/main" Requires="a14">
          <p:sp>
            <p:nvSpPr>
              <p:cNvPr id="9" name="ZoneTexte 124">
                <a:extLst>
                  <a:ext uri="{FF2B5EF4-FFF2-40B4-BE49-F238E27FC236}">
                    <a16:creationId xmlns:a16="http://schemas.microsoft.com/office/drawing/2014/main" id="{8230CE6A-A226-EE8D-26CB-52E9CBF13E2A}"/>
                  </a:ext>
                </a:extLst>
              </p:cNvPr>
              <p:cNvSpPr txBox="1"/>
              <p:nvPr/>
            </p:nvSpPr>
            <p:spPr>
              <a:xfrm>
                <a:off x="0" y="805250"/>
                <a:ext cx="12175205" cy="1465401"/>
              </a:xfrm>
              <a:prstGeom prst="rect">
                <a:avLst/>
              </a:prstGeom>
              <a:noFill/>
            </p:spPr>
            <p:txBody>
              <a:bodyPr wrap="square" rtlCol="0">
                <a:spAutoFit/>
              </a:bodyPr>
              <a:lstStyle/>
              <a:p>
                <a:pPr marL="742950" lvl="1" indent="-285750">
                  <a:spcAft>
                    <a:spcPts val="800"/>
                  </a:spcAft>
                  <a:buClr>
                    <a:srgbClr val="FF3300"/>
                  </a:buClr>
                  <a:buFont typeface="Wingdings" panose="05000000000000000000" pitchFamily="2" charset="2"/>
                  <a:buChar char="§"/>
                </a:pPr>
                <a:r>
                  <a:rPr lang="fr-FR" sz="2400" b="1" dirty="0" err="1">
                    <a:solidFill>
                      <a:schemeClr val="tx1">
                        <a:lumMod val="95000"/>
                        <a:lumOff val="5000"/>
                      </a:schemeClr>
                    </a:solidFill>
                  </a:rPr>
                  <a:t>Recall</a:t>
                </a:r>
                <a:r>
                  <a:rPr lang="fr-FR" sz="2400" b="1" dirty="0">
                    <a:solidFill>
                      <a:schemeClr val="tx1">
                        <a:lumMod val="95000"/>
                        <a:lumOff val="5000"/>
                      </a:schemeClr>
                    </a:solidFill>
                  </a:rPr>
                  <a:t> (</a:t>
                </a:r>
                <a:r>
                  <a:rPr lang="fr-FR" sz="2400" b="1" dirty="0" err="1">
                    <a:solidFill>
                      <a:schemeClr val="tx1">
                        <a:lumMod val="95000"/>
                        <a:lumOff val="5000"/>
                      </a:schemeClr>
                    </a:solidFill>
                  </a:rPr>
                  <a:t>sensitivity</a:t>
                </a:r>
                <a:r>
                  <a:rPr lang="fr-FR" sz="2400" b="1" dirty="0">
                    <a:solidFill>
                      <a:schemeClr val="tx1">
                        <a:lumMod val="95000"/>
                        <a:lumOff val="5000"/>
                      </a:schemeClr>
                    </a:solidFill>
                  </a:rPr>
                  <a:t>)</a:t>
                </a:r>
                <a14:m>
                  <m:oMath xmlns:m="http://schemas.openxmlformats.org/officeDocument/2006/math">
                    <m:r>
                      <a:rPr lang="fr-FR" sz="2400" b="1" i="1" smtClean="0">
                        <a:solidFill>
                          <a:schemeClr val="tx1">
                            <a:lumMod val="95000"/>
                            <a:lumOff val="5000"/>
                          </a:schemeClr>
                        </a:solidFill>
                        <a:latin typeface="Cambria Math" panose="02040503050406030204" pitchFamily="18" charset="0"/>
                      </a:rPr>
                      <m:t>=</m:t>
                    </m:r>
                    <m:f>
                      <m:fPr>
                        <m:ctrlPr>
                          <a:rPr lang="fr-FR" sz="2400" b="1" i="1" smtClean="0">
                            <a:solidFill>
                              <a:schemeClr val="tx1">
                                <a:lumMod val="95000"/>
                                <a:lumOff val="5000"/>
                              </a:schemeClr>
                            </a:solidFill>
                            <a:latin typeface="Cambria Math" panose="02040503050406030204" pitchFamily="18" charset="0"/>
                          </a:rPr>
                        </m:ctrlPr>
                      </m:fPr>
                      <m:num>
                        <m:r>
                          <a:rPr lang="fr-FR" sz="2400" b="1" i="1" smtClean="0">
                            <a:solidFill>
                              <a:schemeClr val="tx1">
                                <a:lumMod val="95000"/>
                                <a:lumOff val="5000"/>
                              </a:schemeClr>
                            </a:solidFill>
                            <a:latin typeface="Cambria Math" panose="02040503050406030204" pitchFamily="18" charset="0"/>
                          </a:rPr>
                          <m:t>𝑻𝑷</m:t>
                        </m:r>
                      </m:num>
                      <m:den>
                        <m:r>
                          <a:rPr lang="fr-FR" sz="2400" b="1" i="1" smtClean="0">
                            <a:solidFill>
                              <a:schemeClr val="tx1">
                                <a:lumMod val="95000"/>
                                <a:lumOff val="5000"/>
                              </a:schemeClr>
                            </a:solidFill>
                            <a:latin typeface="Cambria Math" panose="02040503050406030204" pitchFamily="18" charset="0"/>
                          </a:rPr>
                          <m:t>𝑻𝑷</m:t>
                        </m:r>
                        <m:r>
                          <a:rPr lang="fr-FR" sz="2400" b="1" i="1" smtClean="0">
                            <a:solidFill>
                              <a:schemeClr val="tx1">
                                <a:lumMod val="95000"/>
                                <a:lumOff val="5000"/>
                              </a:schemeClr>
                            </a:solidFill>
                            <a:latin typeface="Cambria Math" panose="02040503050406030204" pitchFamily="18" charset="0"/>
                          </a:rPr>
                          <m:t>+</m:t>
                        </m:r>
                        <m:r>
                          <a:rPr lang="fr-FR" sz="2400" b="1" i="1" smtClean="0">
                            <a:solidFill>
                              <a:schemeClr val="tx1">
                                <a:lumMod val="95000"/>
                                <a:lumOff val="5000"/>
                              </a:schemeClr>
                            </a:solidFill>
                            <a:latin typeface="Cambria Math" panose="02040503050406030204" pitchFamily="18" charset="0"/>
                          </a:rPr>
                          <m:t>𝑭𝑵</m:t>
                        </m:r>
                      </m:den>
                    </m:f>
                  </m:oMath>
                </a14:m>
                <a:endParaRPr lang="fr-FR" sz="2400" b="1" dirty="0">
                  <a:solidFill>
                    <a:schemeClr val="tx1">
                      <a:lumMod val="95000"/>
                      <a:lumOff val="5000"/>
                    </a:schemeClr>
                  </a:solidFill>
                </a:endParaRPr>
              </a:p>
              <a:p>
                <a:pPr marL="742950" lvl="1" indent="-285750">
                  <a:spcAft>
                    <a:spcPts val="800"/>
                  </a:spcAft>
                  <a:buClr>
                    <a:srgbClr val="FF3300"/>
                  </a:buClr>
                  <a:buFont typeface="Wingdings" panose="05000000000000000000" pitchFamily="2" charset="2"/>
                  <a:buChar char="§"/>
                </a:pPr>
                <a:r>
                  <a:rPr lang="fr-FR" sz="2400" dirty="0">
                    <a:solidFill>
                      <a:schemeClr val="tx1">
                        <a:lumMod val="95000"/>
                        <a:lumOff val="5000"/>
                      </a:schemeClr>
                    </a:solidFill>
                  </a:rPr>
                  <a:t>mesure la proportion d'instances positives réelles qui sont correctement identifiées par le modèle comme positives</a:t>
                </a:r>
              </a:p>
            </p:txBody>
          </p:sp>
        </mc:Choice>
        <mc:Fallback>
          <p:sp>
            <p:nvSpPr>
              <p:cNvPr id="9" name="ZoneTexte 124">
                <a:extLst>
                  <a:ext uri="{FF2B5EF4-FFF2-40B4-BE49-F238E27FC236}">
                    <a16:creationId xmlns:a16="http://schemas.microsoft.com/office/drawing/2014/main" id="{8230CE6A-A226-EE8D-26CB-52E9CBF13E2A}"/>
                  </a:ext>
                </a:extLst>
              </p:cNvPr>
              <p:cNvSpPr txBox="1">
                <a:spLocks noRot="1" noChangeAspect="1" noMove="1" noResize="1" noEditPoints="1" noAdjustHandles="1" noChangeArrowheads="1" noChangeShapeType="1" noTextEdit="1"/>
              </p:cNvSpPr>
              <p:nvPr/>
            </p:nvSpPr>
            <p:spPr>
              <a:xfrm>
                <a:off x="0" y="805250"/>
                <a:ext cx="12175205" cy="1465401"/>
              </a:xfrm>
              <a:prstGeom prst="rect">
                <a:avLst/>
              </a:prstGeom>
              <a:blipFill>
                <a:blip r:embed="rId2"/>
                <a:stretch>
                  <a:fillRect b="-8750"/>
                </a:stretch>
              </a:blipFill>
            </p:spPr>
            <p:txBody>
              <a:bodyPr/>
              <a:lstStyle/>
              <a:p>
                <a:r>
                  <a:rPr lang="fr-MA">
                    <a:noFill/>
                  </a:rPr>
                  <a:t> </a:t>
                </a:r>
              </a:p>
            </p:txBody>
          </p:sp>
        </mc:Fallback>
      </mc:AlternateContent>
      <p:sp>
        <p:nvSpPr>
          <p:cNvPr id="3" name="TextBox 2">
            <a:extLst>
              <a:ext uri="{FF2B5EF4-FFF2-40B4-BE49-F238E27FC236}">
                <a16:creationId xmlns:a16="http://schemas.microsoft.com/office/drawing/2014/main" id="{D799ACC4-8104-E12E-0B4E-A7D5B05DA0DC}"/>
              </a:ext>
            </a:extLst>
          </p:cNvPr>
          <p:cNvSpPr txBox="1"/>
          <p:nvPr/>
        </p:nvSpPr>
        <p:spPr>
          <a:xfrm>
            <a:off x="0" y="2557398"/>
            <a:ext cx="12192000" cy="1025922"/>
          </a:xfrm>
          <a:prstGeom prst="rect">
            <a:avLst/>
          </a:prstGeom>
          <a:noFill/>
        </p:spPr>
        <p:txBody>
          <a:bodyPr wrap="square">
            <a:spAutoFit/>
          </a:bodyPr>
          <a:lstStyle/>
          <a:p>
            <a:pPr marL="0" lvl="1" indent="-285750">
              <a:spcAft>
                <a:spcPts val="800"/>
              </a:spcAft>
              <a:buClr>
                <a:srgbClr val="FF3300"/>
              </a:buClr>
              <a:buFont typeface="Wingdings" panose="05000000000000000000" pitchFamily="2" charset="2"/>
              <a:buChar char="§"/>
            </a:pPr>
            <a:r>
              <a:rPr lang="fr-FR" b="1" dirty="0">
                <a:solidFill>
                  <a:srgbClr val="0070C0"/>
                </a:solidFill>
              </a:rPr>
              <a:t>Exemple: Problème de transaction frauduleuse</a:t>
            </a:r>
          </a:p>
          <a:p>
            <a:pPr marL="0" lvl="1"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La valeur de rappel sera très utile dans ce cas car une valeur de </a:t>
            </a:r>
            <a:r>
              <a:rPr lang="fr-FR" b="1" dirty="0" err="1">
                <a:solidFill>
                  <a:schemeClr val="tx1">
                    <a:lumMod val="95000"/>
                    <a:lumOff val="5000"/>
                  </a:schemeClr>
                </a:solidFill>
              </a:rPr>
              <a:t>recall</a:t>
            </a:r>
            <a:r>
              <a:rPr lang="fr-FR" b="1" dirty="0">
                <a:solidFill>
                  <a:schemeClr val="tx1">
                    <a:lumMod val="95000"/>
                    <a:lumOff val="5000"/>
                  </a:schemeClr>
                </a:solidFill>
              </a:rPr>
              <a:t> élevée indiquera qu'un grand nombre de cas de fraude ont été identifiés sur le nombre total de fraudes</a:t>
            </a:r>
          </a:p>
        </p:txBody>
      </p:sp>
      <p:sp>
        <p:nvSpPr>
          <p:cNvPr id="6" name="Rectangle 5">
            <a:extLst>
              <a:ext uri="{FF2B5EF4-FFF2-40B4-BE49-F238E27FC236}">
                <a16:creationId xmlns:a16="http://schemas.microsoft.com/office/drawing/2014/main" id="{3B43283E-3D46-D258-21D8-FFA8549F39D7}"/>
              </a:ext>
            </a:extLst>
          </p:cNvPr>
          <p:cNvSpPr/>
          <p:nvPr/>
        </p:nvSpPr>
        <p:spPr>
          <a:xfrm>
            <a:off x="9884537" y="3235633"/>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7" name="Rectangle 6">
            <a:extLst>
              <a:ext uri="{FF2B5EF4-FFF2-40B4-BE49-F238E27FC236}">
                <a16:creationId xmlns:a16="http://schemas.microsoft.com/office/drawing/2014/main" id="{D46C2282-AC75-B9B5-F8AE-A4E332774514}"/>
              </a:ext>
            </a:extLst>
          </p:cNvPr>
          <p:cNvSpPr/>
          <p:nvPr/>
        </p:nvSpPr>
        <p:spPr>
          <a:xfrm>
            <a:off x="10788225" y="4131370"/>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0" name="Rectangle 9">
            <a:extLst>
              <a:ext uri="{FF2B5EF4-FFF2-40B4-BE49-F238E27FC236}">
                <a16:creationId xmlns:a16="http://schemas.microsoft.com/office/drawing/2014/main" id="{C86EC9E0-B785-A1FC-BF70-D377D16E6ED3}"/>
              </a:ext>
            </a:extLst>
          </p:cNvPr>
          <p:cNvSpPr/>
          <p:nvPr/>
        </p:nvSpPr>
        <p:spPr>
          <a:xfrm>
            <a:off x="10788225" y="3233476"/>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1" name="Rectangle 10">
            <a:extLst>
              <a:ext uri="{FF2B5EF4-FFF2-40B4-BE49-F238E27FC236}">
                <a16:creationId xmlns:a16="http://schemas.microsoft.com/office/drawing/2014/main" id="{D0D72A53-F8B4-7031-C9B7-7EA90D73A650}"/>
              </a:ext>
            </a:extLst>
          </p:cNvPr>
          <p:cNvSpPr/>
          <p:nvPr/>
        </p:nvSpPr>
        <p:spPr>
          <a:xfrm>
            <a:off x="9877395" y="4127056"/>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2" name="TextBox 11">
            <a:extLst>
              <a:ext uri="{FF2B5EF4-FFF2-40B4-BE49-F238E27FC236}">
                <a16:creationId xmlns:a16="http://schemas.microsoft.com/office/drawing/2014/main" id="{8D160B4F-5D85-033A-640A-949689A780C2}"/>
              </a:ext>
            </a:extLst>
          </p:cNvPr>
          <p:cNvSpPr txBox="1"/>
          <p:nvPr/>
        </p:nvSpPr>
        <p:spPr>
          <a:xfrm>
            <a:off x="9984609" y="3298792"/>
            <a:ext cx="685882" cy="369332"/>
          </a:xfrm>
          <a:prstGeom prst="rect">
            <a:avLst/>
          </a:prstGeom>
          <a:solidFill>
            <a:schemeClr val="bg1">
              <a:lumMod val="95000"/>
            </a:schemeClr>
          </a:solidFill>
        </p:spPr>
        <p:txBody>
          <a:bodyPr wrap="square" rtlCol="0">
            <a:spAutoFit/>
          </a:bodyPr>
          <a:lstStyle/>
          <a:p>
            <a:r>
              <a:rPr lang="fr-MA" b="1" dirty="0">
                <a:solidFill>
                  <a:srgbClr val="0070C0"/>
                </a:solidFill>
              </a:rPr>
              <a:t>990</a:t>
            </a:r>
          </a:p>
        </p:txBody>
      </p:sp>
      <p:sp>
        <p:nvSpPr>
          <p:cNvPr id="13" name="TextBox 12">
            <a:extLst>
              <a:ext uri="{FF2B5EF4-FFF2-40B4-BE49-F238E27FC236}">
                <a16:creationId xmlns:a16="http://schemas.microsoft.com/office/drawing/2014/main" id="{274562D9-1362-7442-9777-2D856024774D}"/>
              </a:ext>
            </a:extLst>
          </p:cNvPr>
          <p:cNvSpPr txBox="1"/>
          <p:nvPr/>
        </p:nvSpPr>
        <p:spPr>
          <a:xfrm>
            <a:off x="9877395" y="4992060"/>
            <a:ext cx="878679" cy="369332"/>
          </a:xfrm>
          <a:prstGeom prst="rect">
            <a:avLst/>
          </a:prstGeom>
          <a:noFill/>
        </p:spPr>
        <p:txBody>
          <a:bodyPr wrap="square" rtlCol="0">
            <a:spAutoFit/>
          </a:bodyPr>
          <a:lstStyle/>
          <a:p>
            <a:pPr algn="ctr"/>
            <a:r>
              <a:rPr lang="fr-MA" b="1" dirty="0"/>
              <a:t>0</a:t>
            </a:r>
          </a:p>
        </p:txBody>
      </p:sp>
      <p:sp>
        <p:nvSpPr>
          <p:cNvPr id="14" name="TextBox 13">
            <a:extLst>
              <a:ext uri="{FF2B5EF4-FFF2-40B4-BE49-F238E27FC236}">
                <a16:creationId xmlns:a16="http://schemas.microsoft.com/office/drawing/2014/main" id="{8BD21694-31E0-6365-2361-9CA994691028}"/>
              </a:ext>
            </a:extLst>
          </p:cNvPr>
          <p:cNvSpPr txBox="1"/>
          <p:nvPr/>
        </p:nvSpPr>
        <p:spPr>
          <a:xfrm>
            <a:off x="8996924" y="3481312"/>
            <a:ext cx="871538" cy="369332"/>
          </a:xfrm>
          <a:prstGeom prst="rect">
            <a:avLst/>
          </a:prstGeom>
          <a:noFill/>
        </p:spPr>
        <p:txBody>
          <a:bodyPr wrap="square" rtlCol="0">
            <a:spAutoFit/>
          </a:bodyPr>
          <a:lstStyle/>
          <a:p>
            <a:pPr algn="ctr"/>
            <a:r>
              <a:rPr lang="fr-MA" b="1" dirty="0"/>
              <a:t>0</a:t>
            </a:r>
          </a:p>
        </p:txBody>
      </p:sp>
      <p:sp>
        <p:nvSpPr>
          <p:cNvPr id="15" name="TextBox 14">
            <a:extLst>
              <a:ext uri="{FF2B5EF4-FFF2-40B4-BE49-F238E27FC236}">
                <a16:creationId xmlns:a16="http://schemas.microsoft.com/office/drawing/2014/main" id="{F82F93CE-E07A-9CAB-7AA5-2183F97E6787}"/>
              </a:ext>
            </a:extLst>
          </p:cNvPr>
          <p:cNvSpPr txBox="1"/>
          <p:nvPr/>
        </p:nvSpPr>
        <p:spPr>
          <a:xfrm>
            <a:off x="10744081" y="5030610"/>
            <a:ext cx="878679" cy="369332"/>
          </a:xfrm>
          <a:prstGeom prst="rect">
            <a:avLst/>
          </a:prstGeom>
          <a:noFill/>
        </p:spPr>
        <p:txBody>
          <a:bodyPr wrap="square" rtlCol="0">
            <a:spAutoFit/>
          </a:bodyPr>
          <a:lstStyle/>
          <a:p>
            <a:pPr algn="ctr"/>
            <a:r>
              <a:rPr lang="fr-MA" b="1" dirty="0"/>
              <a:t>1</a:t>
            </a:r>
          </a:p>
        </p:txBody>
      </p:sp>
      <p:sp>
        <p:nvSpPr>
          <p:cNvPr id="16" name="TextBox 15">
            <a:extLst>
              <a:ext uri="{FF2B5EF4-FFF2-40B4-BE49-F238E27FC236}">
                <a16:creationId xmlns:a16="http://schemas.microsoft.com/office/drawing/2014/main" id="{8708D54F-E438-0177-FCD4-5EBBDA2A2534}"/>
              </a:ext>
            </a:extLst>
          </p:cNvPr>
          <p:cNvSpPr txBox="1"/>
          <p:nvPr/>
        </p:nvSpPr>
        <p:spPr>
          <a:xfrm>
            <a:off x="8974729" y="4459823"/>
            <a:ext cx="871538" cy="369332"/>
          </a:xfrm>
          <a:prstGeom prst="rect">
            <a:avLst/>
          </a:prstGeom>
          <a:noFill/>
        </p:spPr>
        <p:txBody>
          <a:bodyPr wrap="square" rtlCol="0">
            <a:spAutoFit/>
          </a:bodyPr>
          <a:lstStyle/>
          <a:p>
            <a:pPr algn="ctr"/>
            <a:r>
              <a:rPr lang="fr-MA" b="1" dirty="0"/>
              <a:t>1</a:t>
            </a:r>
          </a:p>
        </p:txBody>
      </p:sp>
      <p:sp>
        <p:nvSpPr>
          <p:cNvPr id="17" name="TextBox 16">
            <a:extLst>
              <a:ext uri="{FF2B5EF4-FFF2-40B4-BE49-F238E27FC236}">
                <a16:creationId xmlns:a16="http://schemas.microsoft.com/office/drawing/2014/main" id="{57DBE276-CCDF-C00B-44F6-7563FADA807B}"/>
              </a:ext>
            </a:extLst>
          </p:cNvPr>
          <p:cNvSpPr txBox="1"/>
          <p:nvPr/>
        </p:nvSpPr>
        <p:spPr>
          <a:xfrm>
            <a:off x="10887825" y="4195213"/>
            <a:ext cx="685882" cy="369332"/>
          </a:xfrm>
          <a:prstGeom prst="rect">
            <a:avLst/>
          </a:prstGeom>
          <a:solidFill>
            <a:schemeClr val="bg1">
              <a:lumMod val="95000"/>
            </a:schemeClr>
          </a:solidFill>
        </p:spPr>
        <p:txBody>
          <a:bodyPr wrap="square" rtlCol="0">
            <a:spAutoFit/>
          </a:bodyPr>
          <a:lstStyle/>
          <a:p>
            <a:r>
              <a:rPr lang="fr-MA" b="1" dirty="0">
                <a:solidFill>
                  <a:srgbClr val="0070C0"/>
                </a:solidFill>
              </a:rPr>
              <a:t>1</a:t>
            </a:r>
          </a:p>
        </p:txBody>
      </p:sp>
      <p:sp>
        <p:nvSpPr>
          <p:cNvPr id="18" name="TextBox 17">
            <a:extLst>
              <a:ext uri="{FF2B5EF4-FFF2-40B4-BE49-F238E27FC236}">
                <a16:creationId xmlns:a16="http://schemas.microsoft.com/office/drawing/2014/main" id="{1C67E696-E258-3AC1-F08E-69A0DF638ABE}"/>
              </a:ext>
            </a:extLst>
          </p:cNvPr>
          <p:cNvSpPr txBox="1"/>
          <p:nvPr/>
        </p:nvSpPr>
        <p:spPr>
          <a:xfrm>
            <a:off x="10973880" y="3271864"/>
            <a:ext cx="685882" cy="369332"/>
          </a:xfrm>
          <a:prstGeom prst="rect">
            <a:avLst/>
          </a:prstGeom>
          <a:solidFill>
            <a:schemeClr val="bg1">
              <a:lumMod val="95000"/>
            </a:schemeClr>
          </a:solidFill>
        </p:spPr>
        <p:txBody>
          <a:bodyPr wrap="square" rtlCol="0">
            <a:spAutoFit/>
          </a:bodyPr>
          <a:lstStyle/>
          <a:p>
            <a:r>
              <a:rPr lang="fr-MA" b="1" dirty="0">
                <a:solidFill>
                  <a:srgbClr val="FF0000"/>
                </a:solidFill>
              </a:rPr>
              <a:t>0</a:t>
            </a:r>
          </a:p>
        </p:txBody>
      </p:sp>
      <p:sp>
        <p:nvSpPr>
          <p:cNvPr id="19" name="TextBox 18">
            <a:extLst>
              <a:ext uri="{FF2B5EF4-FFF2-40B4-BE49-F238E27FC236}">
                <a16:creationId xmlns:a16="http://schemas.microsoft.com/office/drawing/2014/main" id="{FBFADA3E-067B-535D-7738-DC3B95ADCCDA}"/>
              </a:ext>
            </a:extLst>
          </p:cNvPr>
          <p:cNvSpPr txBox="1"/>
          <p:nvPr/>
        </p:nvSpPr>
        <p:spPr>
          <a:xfrm>
            <a:off x="9980753" y="4149998"/>
            <a:ext cx="613824" cy="369332"/>
          </a:xfrm>
          <a:prstGeom prst="rect">
            <a:avLst/>
          </a:prstGeom>
          <a:solidFill>
            <a:schemeClr val="bg1">
              <a:lumMod val="95000"/>
            </a:schemeClr>
          </a:solidFill>
        </p:spPr>
        <p:txBody>
          <a:bodyPr wrap="square" rtlCol="0">
            <a:spAutoFit/>
          </a:bodyPr>
          <a:lstStyle/>
          <a:p>
            <a:r>
              <a:rPr lang="fr-MA" b="1" dirty="0">
                <a:solidFill>
                  <a:srgbClr val="FF0000"/>
                </a:solidFill>
              </a:rPr>
              <a:t>10</a:t>
            </a:r>
          </a:p>
        </p:txBody>
      </p:sp>
      <p:sp>
        <p:nvSpPr>
          <p:cNvPr id="20" name="TextBox 19">
            <a:extLst>
              <a:ext uri="{FF2B5EF4-FFF2-40B4-BE49-F238E27FC236}">
                <a16:creationId xmlns:a16="http://schemas.microsoft.com/office/drawing/2014/main" id="{82CE876C-2287-296A-43F2-D5DBAC5DAD8D}"/>
              </a:ext>
            </a:extLst>
          </p:cNvPr>
          <p:cNvSpPr txBox="1"/>
          <p:nvPr/>
        </p:nvSpPr>
        <p:spPr>
          <a:xfrm>
            <a:off x="8447647" y="3886529"/>
            <a:ext cx="871537" cy="369332"/>
          </a:xfrm>
          <a:prstGeom prst="rect">
            <a:avLst/>
          </a:prstGeom>
          <a:noFill/>
        </p:spPr>
        <p:txBody>
          <a:bodyPr wrap="square">
            <a:spAutoFit/>
          </a:bodyPr>
          <a:lstStyle/>
          <a:p>
            <a:pPr algn="ctr"/>
            <a:r>
              <a:rPr lang="fr-MA" b="1" dirty="0" err="1"/>
              <a:t>Actual</a:t>
            </a:r>
            <a:endParaRPr lang="fr-MA" b="1" dirty="0"/>
          </a:p>
        </p:txBody>
      </p:sp>
      <p:sp>
        <p:nvSpPr>
          <p:cNvPr id="21" name="TextBox 20">
            <a:extLst>
              <a:ext uri="{FF2B5EF4-FFF2-40B4-BE49-F238E27FC236}">
                <a16:creationId xmlns:a16="http://schemas.microsoft.com/office/drawing/2014/main" id="{B6D2B3C4-24E4-2309-9D48-1D545B72BC6A}"/>
              </a:ext>
            </a:extLst>
          </p:cNvPr>
          <p:cNvSpPr txBox="1"/>
          <p:nvPr/>
        </p:nvSpPr>
        <p:spPr>
          <a:xfrm>
            <a:off x="10029535" y="5226087"/>
            <a:ext cx="1331966" cy="369332"/>
          </a:xfrm>
          <a:prstGeom prst="rect">
            <a:avLst/>
          </a:prstGeom>
          <a:noFill/>
        </p:spPr>
        <p:txBody>
          <a:bodyPr wrap="square">
            <a:spAutoFit/>
          </a:bodyPr>
          <a:lstStyle/>
          <a:p>
            <a:pPr algn="ctr"/>
            <a:r>
              <a:rPr lang="fr-MA" b="1" dirty="0" err="1"/>
              <a:t>Predicted</a:t>
            </a:r>
            <a:endParaRPr lang="fr-MA" b="1" dirty="0"/>
          </a:p>
        </p:txBody>
      </p: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8C647DA6-D43D-5CF8-45F1-F3CB31D3B627}"/>
                  </a:ext>
                </a:extLst>
              </p:cNvPr>
              <p:cNvSpPr txBox="1"/>
              <p:nvPr/>
            </p:nvSpPr>
            <p:spPr>
              <a:xfrm>
                <a:off x="2004803" y="4111362"/>
                <a:ext cx="6160168" cy="491225"/>
              </a:xfrm>
              <a:prstGeom prst="rect">
                <a:avLst/>
              </a:prstGeom>
              <a:noFill/>
            </p:spPr>
            <p:txBody>
              <a:bodyPr wrap="square">
                <a:spAutoFit/>
              </a:bodyPr>
              <a:lstStyle/>
              <a:p>
                <a:pPr marL="742950" lvl="1" indent="-285750">
                  <a:spcAft>
                    <a:spcPts val="800"/>
                  </a:spcAft>
                  <a:buClr>
                    <a:srgbClr val="FF3300"/>
                  </a:buClr>
                  <a:buFont typeface="Wingdings" panose="05000000000000000000" pitchFamily="2" charset="2"/>
                  <a:buChar char="§"/>
                </a:pPr>
                <a:r>
                  <a:rPr lang="fr-FR" sz="1800" b="1" dirty="0">
                    <a:solidFill>
                      <a:schemeClr val="tx1">
                        <a:lumMod val="95000"/>
                        <a:lumOff val="5000"/>
                      </a:schemeClr>
                    </a:solidFill>
                  </a:rPr>
                  <a:t>Recall (</a:t>
                </a:r>
                <a:r>
                  <a:rPr lang="fr-FR" sz="1800" b="1" dirty="0" err="1">
                    <a:solidFill>
                      <a:schemeClr val="tx1">
                        <a:lumMod val="95000"/>
                        <a:lumOff val="5000"/>
                      </a:schemeClr>
                    </a:solidFill>
                  </a:rPr>
                  <a:t>sensitivity</a:t>
                </a:r>
                <a:r>
                  <a:rPr lang="fr-FR" sz="1800" b="1" dirty="0">
                    <a:solidFill>
                      <a:schemeClr val="tx1">
                        <a:lumMod val="95000"/>
                        <a:lumOff val="5000"/>
                      </a:schemeClr>
                    </a:solidFill>
                  </a:rPr>
                  <a:t>)</a:t>
                </a:r>
                <a14:m>
                  <m:oMath xmlns:m="http://schemas.openxmlformats.org/officeDocument/2006/math">
                    <m:r>
                      <a:rPr lang="fr-FR" sz="1800" b="1" i="1" smtClean="0">
                        <a:solidFill>
                          <a:schemeClr val="tx1">
                            <a:lumMod val="95000"/>
                            <a:lumOff val="5000"/>
                          </a:schemeClr>
                        </a:solidFill>
                        <a:latin typeface="Cambria Math" panose="02040503050406030204" pitchFamily="18" charset="0"/>
                      </a:rPr>
                      <m:t>=</m:t>
                    </m:r>
                    <m:f>
                      <m:fPr>
                        <m:ctrlPr>
                          <a:rPr lang="fr-FR" sz="1800" b="1" i="1" smtClean="0">
                            <a:solidFill>
                              <a:schemeClr val="tx1">
                                <a:lumMod val="95000"/>
                                <a:lumOff val="5000"/>
                              </a:schemeClr>
                            </a:solidFill>
                            <a:latin typeface="Cambria Math" panose="02040503050406030204" pitchFamily="18" charset="0"/>
                          </a:rPr>
                        </m:ctrlPr>
                      </m:fPr>
                      <m:num>
                        <m:r>
                          <a:rPr lang="fr-FR" sz="1800" b="1" i="1" smtClean="0">
                            <a:solidFill>
                              <a:schemeClr val="tx1">
                                <a:lumMod val="95000"/>
                                <a:lumOff val="5000"/>
                              </a:schemeClr>
                            </a:solidFill>
                            <a:latin typeface="Cambria Math" panose="02040503050406030204" pitchFamily="18" charset="0"/>
                          </a:rPr>
                          <m:t>𝟏</m:t>
                        </m:r>
                      </m:num>
                      <m:den>
                        <m:r>
                          <a:rPr lang="fr-FR" sz="1800" b="1" i="1" smtClean="0">
                            <a:solidFill>
                              <a:schemeClr val="tx1">
                                <a:lumMod val="95000"/>
                                <a:lumOff val="5000"/>
                              </a:schemeClr>
                            </a:solidFill>
                            <a:latin typeface="Cambria Math" panose="02040503050406030204" pitchFamily="18" charset="0"/>
                          </a:rPr>
                          <m:t>𝟏</m:t>
                        </m:r>
                        <m:r>
                          <a:rPr lang="fr-FR" sz="1800" b="1" i="1" smtClean="0">
                            <a:solidFill>
                              <a:schemeClr val="tx1">
                                <a:lumMod val="95000"/>
                                <a:lumOff val="5000"/>
                              </a:schemeClr>
                            </a:solidFill>
                            <a:latin typeface="Cambria Math" panose="02040503050406030204" pitchFamily="18" charset="0"/>
                          </a:rPr>
                          <m:t>+</m:t>
                        </m:r>
                        <m:r>
                          <a:rPr lang="fr-FR" sz="1800" b="1" i="1" smtClean="0">
                            <a:solidFill>
                              <a:schemeClr val="tx1">
                                <a:lumMod val="95000"/>
                                <a:lumOff val="5000"/>
                              </a:schemeClr>
                            </a:solidFill>
                            <a:latin typeface="Cambria Math" panose="02040503050406030204" pitchFamily="18" charset="0"/>
                          </a:rPr>
                          <m:t>𝟏𝟎</m:t>
                        </m:r>
                      </m:den>
                    </m:f>
                  </m:oMath>
                </a14:m>
                <a:endParaRPr lang="fr-FR" sz="1800" b="1" dirty="0">
                  <a:solidFill>
                    <a:schemeClr val="tx1">
                      <a:lumMod val="95000"/>
                      <a:lumOff val="5000"/>
                    </a:schemeClr>
                  </a:solidFill>
                </a:endParaRPr>
              </a:p>
            </p:txBody>
          </p:sp>
        </mc:Choice>
        <mc:Fallback>
          <p:sp>
            <p:nvSpPr>
              <p:cNvPr id="23" name="TextBox 22">
                <a:extLst>
                  <a:ext uri="{FF2B5EF4-FFF2-40B4-BE49-F238E27FC236}">
                    <a16:creationId xmlns:a16="http://schemas.microsoft.com/office/drawing/2014/main" id="{8C647DA6-D43D-5CF8-45F1-F3CB31D3B627}"/>
                  </a:ext>
                </a:extLst>
              </p:cNvPr>
              <p:cNvSpPr txBox="1">
                <a:spLocks noRot="1" noChangeAspect="1" noMove="1" noResize="1" noEditPoints="1" noAdjustHandles="1" noChangeArrowheads="1" noChangeShapeType="1" noTextEdit="1"/>
              </p:cNvSpPr>
              <p:nvPr/>
            </p:nvSpPr>
            <p:spPr>
              <a:xfrm>
                <a:off x="2004803" y="4111362"/>
                <a:ext cx="6160168" cy="491225"/>
              </a:xfrm>
              <a:prstGeom prst="rect">
                <a:avLst/>
              </a:prstGeom>
              <a:blipFill>
                <a:blip r:embed="rId3"/>
                <a:stretch>
                  <a:fillRect b="-7407"/>
                </a:stretch>
              </a:blipFill>
            </p:spPr>
            <p:txBody>
              <a:bodyPr/>
              <a:lstStyle/>
              <a:p>
                <a:r>
                  <a:rPr lang="fr-MA">
                    <a:noFill/>
                  </a:rPr>
                  <a:t> </a:t>
                </a:r>
              </a:p>
            </p:txBody>
          </p:sp>
        </mc:Fallback>
      </mc:AlternateContent>
      <p:sp>
        <p:nvSpPr>
          <p:cNvPr id="24" name="Rectangle 23">
            <a:extLst>
              <a:ext uri="{FF2B5EF4-FFF2-40B4-BE49-F238E27FC236}">
                <a16:creationId xmlns:a16="http://schemas.microsoft.com/office/drawing/2014/main" id="{D072AA87-7646-8535-1253-8CC864009011}"/>
              </a:ext>
            </a:extLst>
          </p:cNvPr>
          <p:cNvSpPr/>
          <p:nvPr/>
        </p:nvSpPr>
        <p:spPr>
          <a:xfrm>
            <a:off x="7374013" y="4700284"/>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25" name="Rectangle 24">
            <a:extLst>
              <a:ext uri="{FF2B5EF4-FFF2-40B4-BE49-F238E27FC236}">
                <a16:creationId xmlns:a16="http://schemas.microsoft.com/office/drawing/2014/main" id="{F309B496-D604-A40F-3C2C-024E360A23C0}"/>
              </a:ext>
            </a:extLst>
          </p:cNvPr>
          <p:cNvSpPr/>
          <p:nvPr/>
        </p:nvSpPr>
        <p:spPr>
          <a:xfrm>
            <a:off x="8277701" y="5596021"/>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26" name="Rectangle 25">
            <a:extLst>
              <a:ext uri="{FF2B5EF4-FFF2-40B4-BE49-F238E27FC236}">
                <a16:creationId xmlns:a16="http://schemas.microsoft.com/office/drawing/2014/main" id="{B8214144-77BB-9133-B225-BA4427660BD5}"/>
              </a:ext>
            </a:extLst>
          </p:cNvPr>
          <p:cNvSpPr/>
          <p:nvPr/>
        </p:nvSpPr>
        <p:spPr>
          <a:xfrm>
            <a:off x="8277701" y="4698127"/>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27" name="Rectangle 26">
            <a:extLst>
              <a:ext uri="{FF2B5EF4-FFF2-40B4-BE49-F238E27FC236}">
                <a16:creationId xmlns:a16="http://schemas.microsoft.com/office/drawing/2014/main" id="{F4F79FFE-A3F5-2992-D2CF-4D9D23436140}"/>
              </a:ext>
            </a:extLst>
          </p:cNvPr>
          <p:cNvSpPr/>
          <p:nvPr/>
        </p:nvSpPr>
        <p:spPr>
          <a:xfrm>
            <a:off x="7366871" y="5591707"/>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28" name="TextBox 27">
            <a:extLst>
              <a:ext uri="{FF2B5EF4-FFF2-40B4-BE49-F238E27FC236}">
                <a16:creationId xmlns:a16="http://schemas.microsoft.com/office/drawing/2014/main" id="{D0F4C913-1776-B5E7-95D2-6C4C5ADF7E08}"/>
              </a:ext>
            </a:extLst>
          </p:cNvPr>
          <p:cNvSpPr txBox="1"/>
          <p:nvPr/>
        </p:nvSpPr>
        <p:spPr>
          <a:xfrm>
            <a:off x="7474085" y="4763443"/>
            <a:ext cx="685882" cy="369332"/>
          </a:xfrm>
          <a:prstGeom prst="rect">
            <a:avLst/>
          </a:prstGeom>
          <a:solidFill>
            <a:schemeClr val="bg1">
              <a:lumMod val="95000"/>
            </a:schemeClr>
          </a:solidFill>
        </p:spPr>
        <p:txBody>
          <a:bodyPr wrap="square" rtlCol="0">
            <a:spAutoFit/>
          </a:bodyPr>
          <a:lstStyle/>
          <a:p>
            <a:r>
              <a:rPr lang="fr-MA" b="1" dirty="0">
                <a:solidFill>
                  <a:srgbClr val="0070C0"/>
                </a:solidFill>
              </a:rPr>
              <a:t>990</a:t>
            </a:r>
          </a:p>
        </p:txBody>
      </p:sp>
      <p:sp>
        <p:nvSpPr>
          <p:cNvPr id="29" name="TextBox 28">
            <a:extLst>
              <a:ext uri="{FF2B5EF4-FFF2-40B4-BE49-F238E27FC236}">
                <a16:creationId xmlns:a16="http://schemas.microsoft.com/office/drawing/2014/main" id="{0534653D-4CFA-F6E7-BED6-4C4912BF365D}"/>
              </a:ext>
            </a:extLst>
          </p:cNvPr>
          <p:cNvSpPr txBox="1"/>
          <p:nvPr/>
        </p:nvSpPr>
        <p:spPr>
          <a:xfrm>
            <a:off x="7366871" y="6456711"/>
            <a:ext cx="878679" cy="369332"/>
          </a:xfrm>
          <a:prstGeom prst="rect">
            <a:avLst/>
          </a:prstGeom>
          <a:noFill/>
        </p:spPr>
        <p:txBody>
          <a:bodyPr wrap="square" rtlCol="0">
            <a:spAutoFit/>
          </a:bodyPr>
          <a:lstStyle/>
          <a:p>
            <a:pPr algn="ctr"/>
            <a:r>
              <a:rPr lang="fr-MA" b="1" dirty="0"/>
              <a:t>0</a:t>
            </a:r>
          </a:p>
        </p:txBody>
      </p:sp>
      <p:sp>
        <p:nvSpPr>
          <p:cNvPr id="30" name="TextBox 29">
            <a:extLst>
              <a:ext uri="{FF2B5EF4-FFF2-40B4-BE49-F238E27FC236}">
                <a16:creationId xmlns:a16="http://schemas.microsoft.com/office/drawing/2014/main" id="{82789553-75FC-4496-853E-560C6647DC76}"/>
              </a:ext>
            </a:extLst>
          </p:cNvPr>
          <p:cNvSpPr txBox="1"/>
          <p:nvPr/>
        </p:nvSpPr>
        <p:spPr>
          <a:xfrm>
            <a:off x="6486400" y="4945963"/>
            <a:ext cx="871538" cy="369332"/>
          </a:xfrm>
          <a:prstGeom prst="rect">
            <a:avLst/>
          </a:prstGeom>
          <a:noFill/>
        </p:spPr>
        <p:txBody>
          <a:bodyPr wrap="square" rtlCol="0">
            <a:spAutoFit/>
          </a:bodyPr>
          <a:lstStyle/>
          <a:p>
            <a:pPr algn="ctr"/>
            <a:r>
              <a:rPr lang="fr-MA" b="1" dirty="0"/>
              <a:t>0</a:t>
            </a:r>
          </a:p>
        </p:txBody>
      </p:sp>
      <p:sp>
        <p:nvSpPr>
          <p:cNvPr id="31" name="TextBox 30">
            <a:extLst>
              <a:ext uri="{FF2B5EF4-FFF2-40B4-BE49-F238E27FC236}">
                <a16:creationId xmlns:a16="http://schemas.microsoft.com/office/drawing/2014/main" id="{11354AE4-8000-70AD-D258-DA53740E2636}"/>
              </a:ext>
            </a:extLst>
          </p:cNvPr>
          <p:cNvSpPr txBox="1"/>
          <p:nvPr/>
        </p:nvSpPr>
        <p:spPr>
          <a:xfrm>
            <a:off x="8233557" y="6495261"/>
            <a:ext cx="878679" cy="369332"/>
          </a:xfrm>
          <a:prstGeom prst="rect">
            <a:avLst/>
          </a:prstGeom>
          <a:noFill/>
        </p:spPr>
        <p:txBody>
          <a:bodyPr wrap="square" rtlCol="0">
            <a:spAutoFit/>
          </a:bodyPr>
          <a:lstStyle/>
          <a:p>
            <a:pPr algn="ctr"/>
            <a:r>
              <a:rPr lang="fr-MA" b="1" dirty="0"/>
              <a:t>1</a:t>
            </a:r>
          </a:p>
        </p:txBody>
      </p:sp>
      <p:sp>
        <p:nvSpPr>
          <p:cNvPr id="32" name="TextBox 31">
            <a:extLst>
              <a:ext uri="{FF2B5EF4-FFF2-40B4-BE49-F238E27FC236}">
                <a16:creationId xmlns:a16="http://schemas.microsoft.com/office/drawing/2014/main" id="{83864F56-BE98-8136-C5CB-17F5E8DDF5ED}"/>
              </a:ext>
            </a:extLst>
          </p:cNvPr>
          <p:cNvSpPr txBox="1"/>
          <p:nvPr/>
        </p:nvSpPr>
        <p:spPr>
          <a:xfrm>
            <a:off x="6464205" y="5924474"/>
            <a:ext cx="871538" cy="369332"/>
          </a:xfrm>
          <a:prstGeom prst="rect">
            <a:avLst/>
          </a:prstGeom>
          <a:noFill/>
        </p:spPr>
        <p:txBody>
          <a:bodyPr wrap="square" rtlCol="0">
            <a:spAutoFit/>
          </a:bodyPr>
          <a:lstStyle/>
          <a:p>
            <a:pPr algn="ctr"/>
            <a:r>
              <a:rPr lang="fr-MA" b="1" dirty="0"/>
              <a:t>1</a:t>
            </a:r>
          </a:p>
        </p:txBody>
      </p:sp>
      <p:sp>
        <p:nvSpPr>
          <p:cNvPr id="33" name="TextBox 32">
            <a:extLst>
              <a:ext uri="{FF2B5EF4-FFF2-40B4-BE49-F238E27FC236}">
                <a16:creationId xmlns:a16="http://schemas.microsoft.com/office/drawing/2014/main" id="{0F2E77AA-BCC5-D89F-1838-6C152C65930C}"/>
              </a:ext>
            </a:extLst>
          </p:cNvPr>
          <p:cNvSpPr txBox="1"/>
          <p:nvPr/>
        </p:nvSpPr>
        <p:spPr>
          <a:xfrm>
            <a:off x="8377301" y="5659864"/>
            <a:ext cx="685882" cy="369332"/>
          </a:xfrm>
          <a:prstGeom prst="rect">
            <a:avLst/>
          </a:prstGeom>
          <a:solidFill>
            <a:schemeClr val="bg1">
              <a:lumMod val="95000"/>
            </a:schemeClr>
          </a:solidFill>
        </p:spPr>
        <p:txBody>
          <a:bodyPr wrap="square" rtlCol="0">
            <a:spAutoFit/>
          </a:bodyPr>
          <a:lstStyle/>
          <a:p>
            <a:r>
              <a:rPr lang="fr-MA" b="1" dirty="0">
                <a:solidFill>
                  <a:srgbClr val="0070C0"/>
                </a:solidFill>
              </a:rPr>
              <a:t>10</a:t>
            </a:r>
          </a:p>
        </p:txBody>
      </p:sp>
      <p:sp>
        <p:nvSpPr>
          <p:cNvPr id="34" name="TextBox 33">
            <a:extLst>
              <a:ext uri="{FF2B5EF4-FFF2-40B4-BE49-F238E27FC236}">
                <a16:creationId xmlns:a16="http://schemas.microsoft.com/office/drawing/2014/main" id="{13B155FA-E68E-2B88-9FC1-BE45FA16E71C}"/>
              </a:ext>
            </a:extLst>
          </p:cNvPr>
          <p:cNvSpPr txBox="1"/>
          <p:nvPr/>
        </p:nvSpPr>
        <p:spPr>
          <a:xfrm>
            <a:off x="8463356" y="4736515"/>
            <a:ext cx="685882" cy="369332"/>
          </a:xfrm>
          <a:prstGeom prst="rect">
            <a:avLst/>
          </a:prstGeom>
          <a:solidFill>
            <a:schemeClr val="bg1">
              <a:lumMod val="95000"/>
            </a:schemeClr>
          </a:solidFill>
        </p:spPr>
        <p:txBody>
          <a:bodyPr wrap="square" rtlCol="0">
            <a:spAutoFit/>
          </a:bodyPr>
          <a:lstStyle/>
          <a:p>
            <a:r>
              <a:rPr lang="fr-MA" b="1" dirty="0">
                <a:solidFill>
                  <a:srgbClr val="FF0000"/>
                </a:solidFill>
              </a:rPr>
              <a:t>0</a:t>
            </a:r>
          </a:p>
        </p:txBody>
      </p:sp>
      <p:sp>
        <p:nvSpPr>
          <p:cNvPr id="35" name="TextBox 34">
            <a:extLst>
              <a:ext uri="{FF2B5EF4-FFF2-40B4-BE49-F238E27FC236}">
                <a16:creationId xmlns:a16="http://schemas.microsoft.com/office/drawing/2014/main" id="{057E38C4-19E8-2967-B1FC-7D9051A005F2}"/>
              </a:ext>
            </a:extLst>
          </p:cNvPr>
          <p:cNvSpPr txBox="1"/>
          <p:nvPr/>
        </p:nvSpPr>
        <p:spPr>
          <a:xfrm>
            <a:off x="7470229" y="5614649"/>
            <a:ext cx="613824" cy="369332"/>
          </a:xfrm>
          <a:prstGeom prst="rect">
            <a:avLst/>
          </a:prstGeom>
          <a:solidFill>
            <a:schemeClr val="bg1">
              <a:lumMod val="95000"/>
            </a:schemeClr>
          </a:solidFill>
        </p:spPr>
        <p:txBody>
          <a:bodyPr wrap="square" rtlCol="0">
            <a:spAutoFit/>
          </a:bodyPr>
          <a:lstStyle/>
          <a:p>
            <a:r>
              <a:rPr lang="fr-MA" b="1" dirty="0">
                <a:solidFill>
                  <a:srgbClr val="FF0000"/>
                </a:solidFill>
              </a:rPr>
              <a:t>0</a:t>
            </a:r>
          </a:p>
        </p:txBody>
      </p:sp>
      <p:sp>
        <p:nvSpPr>
          <p:cNvPr id="36" name="TextBox 35">
            <a:extLst>
              <a:ext uri="{FF2B5EF4-FFF2-40B4-BE49-F238E27FC236}">
                <a16:creationId xmlns:a16="http://schemas.microsoft.com/office/drawing/2014/main" id="{8A83E23A-18C1-08C1-295D-A6BA2B5A8643}"/>
              </a:ext>
            </a:extLst>
          </p:cNvPr>
          <p:cNvSpPr txBox="1"/>
          <p:nvPr/>
        </p:nvSpPr>
        <p:spPr>
          <a:xfrm>
            <a:off x="5937123" y="5351180"/>
            <a:ext cx="871537" cy="369332"/>
          </a:xfrm>
          <a:prstGeom prst="rect">
            <a:avLst/>
          </a:prstGeom>
          <a:noFill/>
        </p:spPr>
        <p:txBody>
          <a:bodyPr wrap="square">
            <a:spAutoFit/>
          </a:bodyPr>
          <a:lstStyle/>
          <a:p>
            <a:pPr algn="ctr"/>
            <a:r>
              <a:rPr lang="fr-MA" b="1" dirty="0" err="1"/>
              <a:t>Actual</a:t>
            </a:r>
            <a:endParaRPr lang="fr-MA" b="1" dirty="0"/>
          </a:p>
        </p:txBody>
      </p:sp>
      <p:sp>
        <p:nvSpPr>
          <p:cNvPr id="37" name="TextBox 36">
            <a:extLst>
              <a:ext uri="{FF2B5EF4-FFF2-40B4-BE49-F238E27FC236}">
                <a16:creationId xmlns:a16="http://schemas.microsoft.com/office/drawing/2014/main" id="{39F54851-B875-DECB-7F6C-0D252D22022C}"/>
              </a:ext>
            </a:extLst>
          </p:cNvPr>
          <p:cNvSpPr txBox="1"/>
          <p:nvPr/>
        </p:nvSpPr>
        <p:spPr>
          <a:xfrm>
            <a:off x="7519011" y="6690738"/>
            <a:ext cx="1331966" cy="369332"/>
          </a:xfrm>
          <a:prstGeom prst="rect">
            <a:avLst/>
          </a:prstGeom>
          <a:noFill/>
        </p:spPr>
        <p:txBody>
          <a:bodyPr wrap="square">
            <a:spAutoFit/>
          </a:bodyPr>
          <a:lstStyle/>
          <a:p>
            <a:pPr algn="ctr"/>
            <a:r>
              <a:rPr lang="fr-MA" b="1" dirty="0" err="1"/>
              <a:t>Predicted</a:t>
            </a:r>
            <a:endParaRPr lang="fr-MA" b="1" dirty="0"/>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C1AF423C-5B85-A37D-A08D-8014874F872B}"/>
                  </a:ext>
                </a:extLst>
              </p:cNvPr>
              <p:cNvSpPr txBox="1"/>
              <p:nvPr/>
            </p:nvSpPr>
            <p:spPr>
              <a:xfrm>
                <a:off x="374230" y="4885016"/>
                <a:ext cx="4093852" cy="491225"/>
              </a:xfrm>
              <a:prstGeom prst="rect">
                <a:avLst/>
              </a:prstGeom>
              <a:noFill/>
            </p:spPr>
            <p:txBody>
              <a:bodyPr wrap="square">
                <a:spAutoFit/>
              </a:bodyPr>
              <a:lstStyle/>
              <a:p>
                <a:pPr marL="742950" lvl="1" indent="-285750">
                  <a:spcAft>
                    <a:spcPts val="800"/>
                  </a:spcAft>
                  <a:buClr>
                    <a:srgbClr val="FF3300"/>
                  </a:buClr>
                  <a:buFont typeface="Wingdings" panose="05000000000000000000" pitchFamily="2" charset="2"/>
                  <a:buChar char="§"/>
                </a:pPr>
                <a:r>
                  <a:rPr lang="fr-FR" sz="1800" b="1" dirty="0">
                    <a:solidFill>
                      <a:schemeClr val="tx1">
                        <a:lumMod val="95000"/>
                        <a:lumOff val="5000"/>
                      </a:schemeClr>
                    </a:solidFill>
                  </a:rPr>
                  <a:t>Recall (</a:t>
                </a:r>
                <a:r>
                  <a:rPr lang="fr-FR" sz="1800" b="1" dirty="0" err="1">
                    <a:solidFill>
                      <a:schemeClr val="tx1">
                        <a:lumMod val="95000"/>
                        <a:lumOff val="5000"/>
                      </a:schemeClr>
                    </a:solidFill>
                  </a:rPr>
                  <a:t>sensitivity</a:t>
                </a:r>
                <a:r>
                  <a:rPr lang="fr-FR" sz="1800" b="1" dirty="0">
                    <a:solidFill>
                      <a:schemeClr val="tx1">
                        <a:lumMod val="95000"/>
                        <a:lumOff val="5000"/>
                      </a:schemeClr>
                    </a:solidFill>
                  </a:rPr>
                  <a:t>)</a:t>
                </a:r>
                <a14:m>
                  <m:oMath xmlns:m="http://schemas.openxmlformats.org/officeDocument/2006/math">
                    <m:r>
                      <a:rPr lang="fr-FR" sz="1800" b="1" i="1" smtClean="0">
                        <a:solidFill>
                          <a:schemeClr val="tx1">
                            <a:lumMod val="95000"/>
                            <a:lumOff val="5000"/>
                          </a:schemeClr>
                        </a:solidFill>
                        <a:latin typeface="Cambria Math" panose="02040503050406030204" pitchFamily="18" charset="0"/>
                      </a:rPr>
                      <m:t>=</m:t>
                    </m:r>
                    <m:f>
                      <m:fPr>
                        <m:ctrlPr>
                          <a:rPr lang="fr-FR" sz="1800" b="1" i="1" smtClean="0">
                            <a:solidFill>
                              <a:schemeClr val="tx1">
                                <a:lumMod val="95000"/>
                                <a:lumOff val="5000"/>
                              </a:schemeClr>
                            </a:solidFill>
                            <a:latin typeface="Cambria Math" panose="02040503050406030204" pitchFamily="18" charset="0"/>
                          </a:rPr>
                        </m:ctrlPr>
                      </m:fPr>
                      <m:num>
                        <m:r>
                          <a:rPr lang="fr-FR" sz="1800" b="1" i="1" smtClean="0">
                            <a:solidFill>
                              <a:schemeClr val="tx1">
                                <a:lumMod val="95000"/>
                                <a:lumOff val="5000"/>
                              </a:schemeClr>
                            </a:solidFill>
                            <a:latin typeface="Cambria Math" panose="02040503050406030204" pitchFamily="18" charset="0"/>
                          </a:rPr>
                          <m:t>𝟏𝟎</m:t>
                        </m:r>
                      </m:num>
                      <m:den>
                        <m:r>
                          <a:rPr lang="fr-FR" sz="1800" b="1" i="1" smtClean="0">
                            <a:solidFill>
                              <a:schemeClr val="tx1">
                                <a:lumMod val="95000"/>
                                <a:lumOff val="5000"/>
                              </a:schemeClr>
                            </a:solidFill>
                            <a:latin typeface="Cambria Math" panose="02040503050406030204" pitchFamily="18" charset="0"/>
                          </a:rPr>
                          <m:t>𝟏𝟎</m:t>
                        </m:r>
                      </m:den>
                    </m:f>
                  </m:oMath>
                </a14:m>
                <a:endParaRPr lang="fr-FR" sz="1800" b="1" dirty="0">
                  <a:solidFill>
                    <a:schemeClr val="tx1">
                      <a:lumMod val="95000"/>
                      <a:lumOff val="5000"/>
                    </a:schemeClr>
                  </a:solidFill>
                </a:endParaRPr>
              </a:p>
            </p:txBody>
          </p:sp>
        </mc:Choice>
        <mc:Fallback>
          <p:sp>
            <p:nvSpPr>
              <p:cNvPr id="38" name="TextBox 37">
                <a:extLst>
                  <a:ext uri="{FF2B5EF4-FFF2-40B4-BE49-F238E27FC236}">
                    <a16:creationId xmlns:a16="http://schemas.microsoft.com/office/drawing/2014/main" id="{C1AF423C-5B85-A37D-A08D-8014874F872B}"/>
                  </a:ext>
                </a:extLst>
              </p:cNvPr>
              <p:cNvSpPr txBox="1">
                <a:spLocks noRot="1" noChangeAspect="1" noMove="1" noResize="1" noEditPoints="1" noAdjustHandles="1" noChangeArrowheads="1" noChangeShapeType="1" noTextEdit="1"/>
              </p:cNvSpPr>
              <p:nvPr/>
            </p:nvSpPr>
            <p:spPr>
              <a:xfrm>
                <a:off x="374230" y="4885016"/>
                <a:ext cx="4093852" cy="491225"/>
              </a:xfrm>
              <a:prstGeom prst="rect">
                <a:avLst/>
              </a:prstGeom>
              <a:blipFill>
                <a:blip r:embed="rId4"/>
                <a:stretch>
                  <a:fillRect b="-7407"/>
                </a:stretch>
              </a:blipFill>
            </p:spPr>
            <p:txBody>
              <a:bodyPr/>
              <a:lstStyle/>
              <a:p>
                <a:r>
                  <a:rPr lang="fr-MA">
                    <a:noFill/>
                  </a:rPr>
                  <a:t> </a:t>
                </a:r>
              </a:p>
            </p:txBody>
          </p:sp>
        </mc:Fallback>
      </mc:AlternateContent>
    </p:spTree>
    <p:extLst>
      <p:ext uri="{BB962C8B-B14F-4D97-AF65-F5344CB8AC3E}">
        <p14:creationId xmlns:p14="http://schemas.microsoft.com/office/powerpoint/2010/main" val="3331319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00FC11-967E-F99F-987E-4CBAF1217079}"/>
              </a:ext>
            </a:extLst>
          </p:cNvPr>
          <p:cNvSpPr/>
          <p:nvPr/>
        </p:nvSpPr>
        <p:spPr>
          <a:xfrm>
            <a:off x="8529044" y="433084"/>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3" name="Rectangle 2">
            <a:extLst>
              <a:ext uri="{FF2B5EF4-FFF2-40B4-BE49-F238E27FC236}">
                <a16:creationId xmlns:a16="http://schemas.microsoft.com/office/drawing/2014/main" id="{1FCCECD5-2F66-8705-AB59-6CBE6841C9BE}"/>
              </a:ext>
            </a:extLst>
          </p:cNvPr>
          <p:cNvSpPr/>
          <p:nvPr/>
        </p:nvSpPr>
        <p:spPr>
          <a:xfrm>
            <a:off x="9432732" y="1328821"/>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4" name="Rectangle 3">
            <a:extLst>
              <a:ext uri="{FF2B5EF4-FFF2-40B4-BE49-F238E27FC236}">
                <a16:creationId xmlns:a16="http://schemas.microsoft.com/office/drawing/2014/main" id="{17F9B22D-E4B2-0CA6-89F7-015F4FE82945}"/>
              </a:ext>
            </a:extLst>
          </p:cNvPr>
          <p:cNvSpPr/>
          <p:nvPr/>
        </p:nvSpPr>
        <p:spPr>
          <a:xfrm>
            <a:off x="9432732" y="430927"/>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dirty="0"/>
          </a:p>
        </p:txBody>
      </p:sp>
      <p:sp>
        <p:nvSpPr>
          <p:cNvPr id="5" name="Rectangle 4">
            <a:extLst>
              <a:ext uri="{FF2B5EF4-FFF2-40B4-BE49-F238E27FC236}">
                <a16:creationId xmlns:a16="http://schemas.microsoft.com/office/drawing/2014/main" id="{C753497B-8361-E72F-8FB9-DA1728FF2764}"/>
              </a:ext>
            </a:extLst>
          </p:cNvPr>
          <p:cNvSpPr/>
          <p:nvPr/>
        </p:nvSpPr>
        <p:spPr>
          <a:xfrm>
            <a:off x="8521902" y="1324507"/>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6" name="TextBox 5">
            <a:extLst>
              <a:ext uri="{FF2B5EF4-FFF2-40B4-BE49-F238E27FC236}">
                <a16:creationId xmlns:a16="http://schemas.microsoft.com/office/drawing/2014/main" id="{508BBD83-C0B5-A65E-122E-102C538A97E8}"/>
              </a:ext>
            </a:extLst>
          </p:cNvPr>
          <p:cNvSpPr txBox="1"/>
          <p:nvPr/>
        </p:nvSpPr>
        <p:spPr>
          <a:xfrm>
            <a:off x="8629116" y="496243"/>
            <a:ext cx="685882" cy="369332"/>
          </a:xfrm>
          <a:prstGeom prst="rect">
            <a:avLst/>
          </a:prstGeom>
          <a:solidFill>
            <a:schemeClr val="bg1">
              <a:lumMod val="95000"/>
            </a:schemeClr>
          </a:solidFill>
        </p:spPr>
        <p:txBody>
          <a:bodyPr wrap="square" rtlCol="0">
            <a:spAutoFit/>
          </a:bodyPr>
          <a:lstStyle/>
          <a:p>
            <a:r>
              <a:rPr lang="fr-MA" b="1" dirty="0">
                <a:solidFill>
                  <a:srgbClr val="0070C0"/>
                </a:solidFill>
              </a:rPr>
              <a:t>500</a:t>
            </a:r>
          </a:p>
        </p:txBody>
      </p:sp>
      <p:sp>
        <p:nvSpPr>
          <p:cNvPr id="7" name="TextBox 6">
            <a:extLst>
              <a:ext uri="{FF2B5EF4-FFF2-40B4-BE49-F238E27FC236}">
                <a16:creationId xmlns:a16="http://schemas.microsoft.com/office/drawing/2014/main" id="{D8949D6F-B09D-AAE0-426D-1C182BBEEB04}"/>
              </a:ext>
            </a:extLst>
          </p:cNvPr>
          <p:cNvSpPr txBox="1"/>
          <p:nvPr/>
        </p:nvSpPr>
        <p:spPr>
          <a:xfrm>
            <a:off x="8521902" y="2189511"/>
            <a:ext cx="878679" cy="369332"/>
          </a:xfrm>
          <a:prstGeom prst="rect">
            <a:avLst/>
          </a:prstGeom>
          <a:noFill/>
        </p:spPr>
        <p:txBody>
          <a:bodyPr wrap="square" rtlCol="0">
            <a:spAutoFit/>
          </a:bodyPr>
          <a:lstStyle/>
          <a:p>
            <a:pPr algn="ctr"/>
            <a:r>
              <a:rPr lang="fr-MA" b="1" dirty="0"/>
              <a:t>0</a:t>
            </a:r>
          </a:p>
        </p:txBody>
      </p:sp>
      <p:sp>
        <p:nvSpPr>
          <p:cNvPr id="8" name="TextBox 7">
            <a:extLst>
              <a:ext uri="{FF2B5EF4-FFF2-40B4-BE49-F238E27FC236}">
                <a16:creationId xmlns:a16="http://schemas.microsoft.com/office/drawing/2014/main" id="{82E480B1-3AB9-BD02-CCEE-9190530A8991}"/>
              </a:ext>
            </a:extLst>
          </p:cNvPr>
          <p:cNvSpPr txBox="1"/>
          <p:nvPr/>
        </p:nvSpPr>
        <p:spPr>
          <a:xfrm>
            <a:off x="7641431" y="678763"/>
            <a:ext cx="871538" cy="369332"/>
          </a:xfrm>
          <a:prstGeom prst="rect">
            <a:avLst/>
          </a:prstGeom>
          <a:noFill/>
        </p:spPr>
        <p:txBody>
          <a:bodyPr wrap="square" rtlCol="0">
            <a:spAutoFit/>
          </a:bodyPr>
          <a:lstStyle/>
          <a:p>
            <a:pPr algn="ctr"/>
            <a:r>
              <a:rPr lang="fr-MA" b="1" dirty="0"/>
              <a:t>0</a:t>
            </a:r>
          </a:p>
        </p:txBody>
      </p:sp>
      <p:sp>
        <p:nvSpPr>
          <p:cNvPr id="9" name="TextBox 8">
            <a:extLst>
              <a:ext uri="{FF2B5EF4-FFF2-40B4-BE49-F238E27FC236}">
                <a16:creationId xmlns:a16="http://schemas.microsoft.com/office/drawing/2014/main" id="{45042D04-4546-8DE5-AD30-133ECD51F71C}"/>
              </a:ext>
            </a:extLst>
          </p:cNvPr>
          <p:cNvSpPr txBox="1"/>
          <p:nvPr/>
        </p:nvSpPr>
        <p:spPr>
          <a:xfrm>
            <a:off x="9388588" y="2228061"/>
            <a:ext cx="878679" cy="369332"/>
          </a:xfrm>
          <a:prstGeom prst="rect">
            <a:avLst/>
          </a:prstGeom>
          <a:noFill/>
        </p:spPr>
        <p:txBody>
          <a:bodyPr wrap="square" rtlCol="0">
            <a:spAutoFit/>
          </a:bodyPr>
          <a:lstStyle/>
          <a:p>
            <a:pPr algn="ctr"/>
            <a:r>
              <a:rPr lang="fr-MA" b="1" dirty="0"/>
              <a:t>1</a:t>
            </a:r>
          </a:p>
        </p:txBody>
      </p:sp>
      <p:sp>
        <p:nvSpPr>
          <p:cNvPr id="10" name="TextBox 9">
            <a:extLst>
              <a:ext uri="{FF2B5EF4-FFF2-40B4-BE49-F238E27FC236}">
                <a16:creationId xmlns:a16="http://schemas.microsoft.com/office/drawing/2014/main" id="{ED49CEC4-9AAE-1FFB-27A0-0A22759CAF1C}"/>
              </a:ext>
            </a:extLst>
          </p:cNvPr>
          <p:cNvSpPr txBox="1"/>
          <p:nvPr/>
        </p:nvSpPr>
        <p:spPr>
          <a:xfrm>
            <a:off x="7619236" y="1657274"/>
            <a:ext cx="871538" cy="369332"/>
          </a:xfrm>
          <a:prstGeom prst="rect">
            <a:avLst/>
          </a:prstGeom>
          <a:noFill/>
        </p:spPr>
        <p:txBody>
          <a:bodyPr wrap="square" rtlCol="0">
            <a:spAutoFit/>
          </a:bodyPr>
          <a:lstStyle/>
          <a:p>
            <a:pPr algn="ctr"/>
            <a:r>
              <a:rPr lang="fr-MA" b="1" dirty="0"/>
              <a:t>1</a:t>
            </a:r>
          </a:p>
        </p:txBody>
      </p:sp>
      <p:sp>
        <p:nvSpPr>
          <p:cNvPr id="11" name="TextBox 10">
            <a:extLst>
              <a:ext uri="{FF2B5EF4-FFF2-40B4-BE49-F238E27FC236}">
                <a16:creationId xmlns:a16="http://schemas.microsoft.com/office/drawing/2014/main" id="{39DAFF3B-EE55-5269-A24B-49FF065E07A0}"/>
              </a:ext>
            </a:extLst>
          </p:cNvPr>
          <p:cNvSpPr txBox="1"/>
          <p:nvPr/>
        </p:nvSpPr>
        <p:spPr>
          <a:xfrm>
            <a:off x="9532332" y="1392664"/>
            <a:ext cx="685882" cy="369332"/>
          </a:xfrm>
          <a:prstGeom prst="rect">
            <a:avLst/>
          </a:prstGeom>
          <a:solidFill>
            <a:schemeClr val="bg1">
              <a:lumMod val="95000"/>
            </a:schemeClr>
          </a:solidFill>
        </p:spPr>
        <p:txBody>
          <a:bodyPr wrap="square" rtlCol="0">
            <a:spAutoFit/>
          </a:bodyPr>
          <a:lstStyle/>
          <a:p>
            <a:r>
              <a:rPr lang="fr-MA" b="1" dirty="0">
                <a:solidFill>
                  <a:srgbClr val="0070C0"/>
                </a:solidFill>
              </a:rPr>
              <a:t>500</a:t>
            </a:r>
          </a:p>
        </p:txBody>
      </p:sp>
      <p:sp>
        <p:nvSpPr>
          <p:cNvPr id="12" name="TextBox 11">
            <a:extLst>
              <a:ext uri="{FF2B5EF4-FFF2-40B4-BE49-F238E27FC236}">
                <a16:creationId xmlns:a16="http://schemas.microsoft.com/office/drawing/2014/main" id="{1DA50D8E-94EC-92B1-1C26-067370E69F6B}"/>
              </a:ext>
            </a:extLst>
          </p:cNvPr>
          <p:cNvSpPr txBox="1"/>
          <p:nvPr/>
        </p:nvSpPr>
        <p:spPr>
          <a:xfrm>
            <a:off x="9618387" y="469315"/>
            <a:ext cx="685882" cy="369332"/>
          </a:xfrm>
          <a:prstGeom prst="rect">
            <a:avLst/>
          </a:prstGeom>
          <a:solidFill>
            <a:schemeClr val="bg1">
              <a:lumMod val="95000"/>
            </a:schemeClr>
          </a:solidFill>
        </p:spPr>
        <p:txBody>
          <a:bodyPr wrap="square" rtlCol="0">
            <a:spAutoFit/>
          </a:bodyPr>
          <a:lstStyle/>
          <a:p>
            <a:r>
              <a:rPr lang="fr-MA" b="1" dirty="0">
                <a:solidFill>
                  <a:srgbClr val="FF0000"/>
                </a:solidFill>
              </a:rPr>
              <a:t>0</a:t>
            </a:r>
          </a:p>
        </p:txBody>
      </p:sp>
      <p:sp>
        <p:nvSpPr>
          <p:cNvPr id="13" name="TextBox 12">
            <a:extLst>
              <a:ext uri="{FF2B5EF4-FFF2-40B4-BE49-F238E27FC236}">
                <a16:creationId xmlns:a16="http://schemas.microsoft.com/office/drawing/2014/main" id="{97D5C34B-96F8-0A20-380D-B71F45DC923B}"/>
              </a:ext>
            </a:extLst>
          </p:cNvPr>
          <p:cNvSpPr txBox="1"/>
          <p:nvPr/>
        </p:nvSpPr>
        <p:spPr>
          <a:xfrm>
            <a:off x="8625260" y="1347449"/>
            <a:ext cx="613824" cy="369332"/>
          </a:xfrm>
          <a:prstGeom prst="rect">
            <a:avLst/>
          </a:prstGeom>
          <a:solidFill>
            <a:schemeClr val="bg1">
              <a:lumMod val="95000"/>
            </a:schemeClr>
          </a:solidFill>
        </p:spPr>
        <p:txBody>
          <a:bodyPr wrap="square" rtlCol="0">
            <a:spAutoFit/>
          </a:bodyPr>
          <a:lstStyle/>
          <a:p>
            <a:r>
              <a:rPr lang="fr-MA" b="1" dirty="0">
                <a:solidFill>
                  <a:srgbClr val="FF0000"/>
                </a:solidFill>
              </a:rPr>
              <a:t>0</a:t>
            </a:r>
          </a:p>
        </p:txBody>
      </p:sp>
      <p:sp>
        <p:nvSpPr>
          <p:cNvPr id="14" name="TextBox 13">
            <a:extLst>
              <a:ext uri="{FF2B5EF4-FFF2-40B4-BE49-F238E27FC236}">
                <a16:creationId xmlns:a16="http://schemas.microsoft.com/office/drawing/2014/main" id="{FC462687-6894-DCA5-1C09-EAAE5DF2D1F5}"/>
              </a:ext>
            </a:extLst>
          </p:cNvPr>
          <p:cNvSpPr txBox="1"/>
          <p:nvPr/>
        </p:nvSpPr>
        <p:spPr>
          <a:xfrm>
            <a:off x="7092154" y="1083980"/>
            <a:ext cx="871537" cy="369332"/>
          </a:xfrm>
          <a:prstGeom prst="rect">
            <a:avLst/>
          </a:prstGeom>
          <a:noFill/>
        </p:spPr>
        <p:txBody>
          <a:bodyPr wrap="square">
            <a:spAutoFit/>
          </a:bodyPr>
          <a:lstStyle/>
          <a:p>
            <a:pPr algn="ctr"/>
            <a:r>
              <a:rPr lang="fr-MA" b="1" dirty="0" err="1"/>
              <a:t>Actual</a:t>
            </a:r>
            <a:endParaRPr lang="fr-MA" b="1" dirty="0"/>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C790766C-B87D-7B5A-C84D-1BC334F594FF}"/>
                  </a:ext>
                </a:extLst>
              </p:cNvPr>
              <p:cNvSpPr txBox="1"/>
              <p:nvPr/>
            </p:nvSpPr>
            <p:spPr>
              <a:xfrm>
                <a:off x="529390" y="673581"/>
                <a:ext cx="6096000" cy="896336"/>
              </a:xfrm>
              <a:prstGeom prst="rect">
                <a:avLst/>
              </a:prstGeom>
              <a:noFill/>
            </p:spPr>
            <p:txBody>
              <a:bodyPr wrap="square">
                <a:spAutoFit/>
              </a:bodyPr>
              <a:lstStyle/>
              <a:p>
                <a:pPr marL="742950" lvl="1" indent="-285750">
                  <a:spcAft>
                    <a:spcPts val="800"/>
                  </a:spcAft>
                  <a:buClr>
                    <a:srgbClr val="FF3300"/>
                  </a:buClr>
                  <a:buFont typeface="Wingdings" panose="05000000000000000000" pitchFamily="2" charset="2"/>
                  <a:buChar char="§"/>
                </a:pPr>
                <a14:m>
                  <m:oMath xmlns:m="http://schemas.openxmlformats.org/officeDocument/2006/math">
                    <m:r>
                      <a:rPr lang="fr-FR" b="1" i="1" smtClean="0">
                        <a:solidFill>
                          <a:schemeClr val="tx1">
                            <a:lumMod val="95000"/>
                            <a:lumOff val="5000"/>
                          </a:schemeClr>
                        </a:solidFill>
                        <a:latin typeface="Cambria Math" panose="02040503050406030204" pitchFamily="18" charset="0"/>
                      </a:rPr>
                      <m:t>𝒂𝒄𝒄𝒖𝒓𝒂𝒄𝒚</m:t>
                    </m:r>
                    <m:r>
                      <a:rPr lang="fr-FR" b="1" i="1" smtClean="0">
                        <a:solidFill>
                          <a:schemeClr val="tx1">
                            <a:lumMod val="95000"/>
                            <a:lumOff val="5000"/>
                          </a:schemeClr>
                        </a:solidFill>
                        <a:latin typeface="Cambria Math" panose="02040503050406030204" pitchFamily="18" charset="0"/>
                      </a:rPr>
                      <m:t>=</m:t>
                    </m:r>
                    <m:f>
                      <m:fPr>
                        <m:ctrlPr>
                          <a:rPr lang="fr-FR" b="1" i="1" smtClean="0">
                            <a:solidFill>
                              <a:schemeClr val="tx1">
                                <a:lumMod val="95000"/>
                                <a:lumOff val="5000"/>
                              </a:schemeClr>
                            </a:solidFill>
                            <a:latin typeface="Cambria Math" panose="02040503050406030204" pitchFamily="18" charset="0"/>
                          </a:rPr>
                        </m:ctrlPr>
                      </m:fPr>
                      <m:num>
                        <m:r>
                          <a:rPr lang="fr-FR" b="1" i="1" smtClean="0">
                            <a:solidFill>
                              <a:schemeClr val="tx1">
                                <a:lumMod val="95000"/>
                                <a:lumOff val="5000"/>
                              </a:schemeClr>
                            </a:solidFill>
                            <a:latin typeface="Cambria Math" panose="02040503050406030204" pitchFamily="18" charset="0"/>
                          </a:rPr>
                          <m:t>𝒍𝒆</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𝒏𝒐𝒎𝒃𝒓𝒆</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𝒅𝒆𝒔</m:t>
                        </m:r>
                        <m:r>
                          <a:rPr lang="fr-FR" b="1" i="1" smtClean="0">
                            <a:solidFill>
                              <a:schemeClr val="tx1">
                                <a:lumMod val="95000"/>
                                <a:lumOff val="5000"/>
                              </a:schemeClr>
                            </a:solidFill>
                            <a:latin typeface="Cambria Math" panose="02040503050406030204" pitchFamily="18" charset="0"/>
                          </a:rPr>
                          <m:t> é</m:t>
                        </m:r>
                        <m:r>
                          <a:rPr lang="fr-FR" b="1" i="1" smtClean="0">
                            <a:solidFill>
                              <a:schemeClr val="tx1">
                                <a:lumMod val="95000"/>
                                <a:lumOff val="5000"/>
                              </a:schemeClr>
                            </a:solidFill>
                            <a:latin typeface="Cambria Math" panose="02040503050406030204" pitchFamily="18" charset="0"/>
                          </a:rPr>
                          <m:t>𝒍</m:t>
                        </m:r>
                        <m:r>
                          <a:rPr lang="fr-FR" b="1" i="1" smtClean="0">
                            <a:solidFill>
                              <a:schemeClr val="tx1">
                                <a:lumMod val="95000"/>
                                <a:lumOff val="5000"/>
                              </a:schemeClr>
                            </a:solidFill>
                            <a:latin typeface="Cambria Math" panose="02040503050406030204" pitchFamily="18" charset="0"/>
                          </a:rPr>
                          <m:t>é</m:t>
                        </m:r>
                        <m:r>
                          <a:rPr lang="fr-FR" b="1" i="1" smtClean="0">
                            <a:solidFill>
                              <a:schemeClr val="tx1">
                                <a:lumMod val="95000"/>
                                <a:lumOff val="5000"/>
                              </a:schemeClr>
                            </a:solidFill>
                            <a:latin typeface="Cambria Math" panose="02040503050406030204" pitchFamily="18" charset="0"/>
                          </a:rPr>
                          <m:t>𝒎𝒆𝒏𝒕𝒔</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𝒃𝒊𝒆𝒏</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𝒄𝒍𝒂𝒔𝒔</m:t>
                        </m:r>
                        <m:r>
                          <a:rPr lang="fr-FR" b="1" i="1" smtClean="0">
                            <a:solidFill>
                              <a:schemeClr val="tx1">
                                <a:lumMod val="95000"/>
                                <a:lumOff val="5000"/>
                              </a:schemeClr>
                            </a:solidFill>
                            <a:latin typeface="Cambria Math" panose="02040503050406030204" pitchFamily="18" charset="0"/>
                          </a:rPr>
                          <m:t>é</m:t>
                        </m:r>
                        <m:r>
                          <a:rPr lang="fr-FR" b="1" i="1" smtClean="0">
                            <a:solidFill>
                              <a:schemeClr val="tx1">
                                <a:lumMod val="95000"/>
                                <a:lumOff val="5000"/>
                              </a:schemeClr>
                            </a:solidFill>
                            <a:latin typeface="Cambria Math" panose="02040503050406030204" pitchFamily="18" charset="0"/>
                          </a:rPr>
                          <m:t>𝒔</m:t>
                        </m:r>
                      </m:num>
                      <m:den>
                        <m:r>
                          <a:rPr lang="fr-FR" b="1" i="1" smtClean="0">
                            <a:solidFill>
                              <a:schemeClr val="tx1">
                                <a:lumMod val="95000"/>
                                <a:lumOff val="5000"/>
                              </a:schemeClr>
                            </a:solidFill>
                            <a:latin typeface="Cambria Math" panose="02040503050406030204" pitchFamily="18" charset="0"/>
                          </a:rPr>
                          <m:t>𝒍𝒆</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𝒏𝒐𝒎𝒃𝒓𝒆</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𝒕𝒐𝒕𝒂𝒍</m:t>
                        </m:r>
                        <m:r>
                          <a:rPr lang="fr-FR" b="1" i="1" smtClean="0">
                            <a:solidFill>
                              <a:schemeClr val="tx1">
                                <a:lumMod val="95000"/>
                                <a:lumOff val="5000"/>
                              </a:schemeClr>
                            </a:solidFill>
                            <a:latin typeface="Cambria Math" panose="02040503050406030204" pitchFamily="18" charset="0"/>
                          </a:rPr>
                          <m:t> </m:t>
                        </m:r>
                        <m:r>
                          <a:rPr lang="fr-FR" b="1" i="1" smtClean="0">
                            <a:solidFill>
                              <a:schemeClr val="tx1">
                                <a:lumMod val="95000"/>
                                <a:lumOff val="5000"/>
                              </a:schemeClr>
                            </a:solidFill>
                            <a:latin typeface="Cambria Math" panose="02040503050406030204" pitchFamily="18" charset="0"/>
                          </a:rPr>
                          <m:t>𝒅𝒆𝒔</m:t>
                        </m:r>
                        <m:r>
                          <a:rPr lang="fr-FR" b="1" i="1" smtClean="0">
                            <a:solidFill>
                              <a:schemeClr val="tx1">
                                <a:lumMod val="95000"/>
                                <a:lumOff val="5000"/>
                              </a:schemeClr>
                            </a:solidFill>
                            <a:latin typeface="Cambria Math" panose="02040503050406030204" pitchFamily="18" charset="0"/>
                          </a:rPr>
                          <m:t> é</m:t>
                        </m:r>
                        <m:r>
                          <a:rPr lang="fr-FR" b="1" i="1" smtClean="0">
                            <a:solidFill>
                              <a:schemeClr val="tx1">
                                <a:lumMod val="95000"/>
                                <a:lumOff val="5000"/>
                              </a:schemeClr>
                            </a:solidFill>
                            <a:latin typeface="Cambria Math" panose="02040503050406030204" pitchFamily="18" charset="0"/>
                          </a:rPr>
                          <m:t>𝒍</m:t>
                        </m:r>
                        <m:r>
                          <a:rPr lang="fr-FR" b="1" i="1" smtClean="0">
                            <a:solidFill>
                              <a:schemeClr val="tx1">
                                <a:lumMod val="95000"/>
                                <a:lumOff val="5000"/>
                              </a:schemeClr>
                            </a:solidFill>
                            <a:latin typeface="Cambria Math" panose="02040503050406030204" pitchFamily="18" charset="0"/>
                          </a:rPr>
                          <m:t>é</m:t>
                        </m:r>
                        <m:r>
                          <a:rPr lang="fr-FR" b="1" i="1" smtClean="0">
                            <a:solidFill>
                              <a:schemeClr val="tx1">
                                <a:lumMod val="95000"/>
                                <a:lumOff val="5000"/>
                              </a:schemeClr>
                            </a:solidFill>
                            <a:latin typeface="Cambria Math" panose="02040503050406030204" pitchFamily="18" charset="0"/>
                          </a:rPr>
                          <m:t>𝒎𝒆𝒏𝒕𝒔</m:t>
                        </m:r>
                      </m:den>
                    </m:f>
                    <m:r>
                      <a:rPr lang="fr-FR" b="1" i="1" smtClean="0">
                        <a:solidFill>
                          <a:schemeClr val="tx1">
                            <a:lumMod val="95000"/>
                            <a:lumOff val="5000"/>
                          </a:schemeClr>
                        </a:solidFill>
                        <a:latin typeface="Cambria Math" panose="02040503050406030204" pitchFamily="18" charset="0"/>
                      </a:rPr>
                      <m:t>=</m:t>
                    </m:r>
                    <m:f>
                      <m:fPr>
                        <m:ctrlPr>
                          <a:rPr lang="fr-FR" b="1" i="1" smtClean="0">
                            <a:solidFill>
                              <a:schemeClr val="tx1">
                                <a:lumMod val="95000"/>
                                <a:lumOff val="5000"/>
                              </a:schemeClr>
                            </a:solidFill>
                            <a:latin typeface="Cambria Math" panose="02040503050406030204" pitchFamily="18" charset="0"/>
                          </a:rPr>
                        </m:ctrlPr>
                      </m:fPr>
                      <m:num>
                        <m:r>
                          <a:rPr lang="fr-FR" b="1" i="1" smtClean="0">
                            <a:solidFill>
                              <a:schemeClr val="tx1">
                                <a:lumMod val="95000"/>
                                <a:lumOff val="5000"/>
                              </a:schemeClr>
                            </a:solidFill>
                            <a:latin typeface="Cambria Math" panose="02040503050406030204" pitchFamily="18" charset="0"/>
                          </a:rPr>
                          <m:t>𝟓𝟎𝟎</m:t>
                        </m:r>
                        <m:r>
                          <a:rPr lang="fr-FR" b="1" i="1" smtClean="0">
                            <a:solidFill>
                              <a:schemeClr val="tx1">
                                <a:lumMod val="95000"/>
                                <a:lumOff val="5000"/>
                              </a:schemeClr>
                            </a:solidFill>
                            <a:latin typeface="Cambria Math" panose="02040503050406030204" pitchFamily="18" charset="0"/>
                          </a:rPr>
                          <m:t>+</m:t>
                        </m:r>
                        <m:r>
                          <a:rPr lang="fr-FR" b="1" i="1" smtClean="0">
                            <a:solidFill>
                              <a:schemeClr val="tx1">
                                <a:lumMod val="95000"/>
                                <a:lumOff val="5000"/>
                              </a:schemeClr>
                            </a:solidFill>
                            <a:latin typeface="Cambria Math" panose="02040503050406030204" pitchFamily="18" charset="0"/>
                          </a:rPr>
                          <m:t>𝟓𝟎𝟎</m:t>
                        </m:r>
                      </m:num>
                      <m:den>
                        <m:r>
                          <a:rPr lang="fr-FR" b="1" i="1" smtClean="0">
                            <a:solidFill>
                              <a:schemeClr val="tx1">
                                <a:lumMod val="95000"/>
                                <a:lumOff val="5000"/>
                              </a:schemeClr>
                            </a:solidFill>
                            <a:latin typeface="Cambria Math" panose="02040503050406030204" pitchFamily="18" charset="0"/>
                          </a:rPr>
                          <m:t>𝟓𝟎𝟎</m:t>
                        </m:r>
                        <m:r>
                          <a:rPr lang="fr-FR" b="1" i="1" smtClean="0">
                            <a:solidFill>
                              <a:schemeClr val="tx1">
                                <a:lumMod val="95000"/>
                                <a:lumOff val="5000"/>
                              </a:schemeClr>
                            </a:solidFill>
                            <a:latin typeface="Cambria Math" panose="02040503050406030204" pitchFamily="18" charset="0"/>
                          </a:rPr>
                          <m:t>+</m:t>
                        </m:r>
                        <m:r>
                          <a:rPr lang="fr-FR" b="1" i="1" smtClean="0">
                            <a:solidFill>
                              <a:schemeClr val="tx1">
                                <a:lumMod val="95000"/>
                                <a:lumOff val="5000"/>
                              </a:schemeClr>
                            </a:solidFill>
                            <a:latin typeface="Cambria Math" panose="02040503050406030204" pitchFamily="18" charset="0"/>
                          </a:rPr>
                          <m:t>𝟓𝟎𝟎</m:t>
                        </m:r>
                        <m:r>
                          <a:rPr lang="fr-FR" b="1" i="1" smtClean="0">
                            <a:solidFill>
                              <a:schemeClr val="tx1">
                                <a:lumMod val="95000"/>
                                <a:lumOff val="5000"/>
                              </a:schemeClr>
                            </a:solidFill>
                            <a:latin typeface="Cambria Math" panose="02040503050406030204" pitchFamily="18" charset="0"/>
                          </a:rPr>
                          <m:t>+</m:t>
                        </m:r>
                        <m:r>
                          <a:rPr lang="fr-FR" b="1" i="1" smtClean="0">
                            <a:solidFill>
                              <a:schemeClr val="tx1">
                                <a:lumMod val="95000"/>
                                <a:lumOff val="5000"/>
                              </a:schemeClr>
                            </a:solidFill>
                            <a:latin typeface="Cambria Math" panose="02040503050406030204" pitchFamily="18" charset="0"/>
                          </a:rPr>
                          <m:t>𝟎</m:t>
                        </m:r>
                        <m:r>
                          <a:rPr lang="fr-FR" b="1" i="1" smtClean="0">
                            <a:solidFill>
                              <a:schemeClr val="tx1">
                                <a:lumMod val="95000"/>
                                <a:lumOff val="5000"/>
                              </a:schemeClr>
                            </a:solidFill>
                            <a:latin typeface="Cambria Math" panose="02040503050406030204" pitchFamily="18" charset="0"/>
                          </a:rPr>
                          <m:t>+</m:t>
                        </m:r>
                        <m:r>
                          <a:rPr lang="fr-FR" b="1" i="1" smtClean="0">
                            <a:solidFill>
                              <a:schemeClr val="tx1">
                                <a:lumMod val="95000"/>
                                <a:lumOff val="5000"/>
                              </a:schemeClr>
                            </a:solidFill>
                            <a:latin typeface="Cambria Math" panose="02040503050406030204" pitchFamily="18" charset="0"/>
                          </a:rPr>
                          <m:t>𝟎</m:t>
                        </m:r>
                      </m:den>
                    </m:f>
                  </m:oMath>
                </a14:m>
                <a:endParaRPr lang="fr-FR" b="1" dirty="0">
                  <a:solidFill>
                    <a:schemeClr val="tx1">
                      <a:lumMod val="95000"/>
                      <a:lumOff val="5000"/>
                    </a:schemeClr>
                  </a:solidFill>
                </a:endParaRPr>
              </a:p>
            </p:txBody>
          </p:sp>
        </mc:Choice>
        <mc:Fallback>
          <p:sp>
            <p:nvSpPr>
              <p:cNvPr id="16" name="TextBox 15">
                <a:extLst>
                  <a:ext uri="{FF2B5EF4-FFF2-40B4-BE49-F238E27FC236}">
                    <a16:creationId xmlns:a16="http://schemas.microsoft.com/office/drawing/2014/main" id="{C790766C-B87D-7B5A-C84D-1BC334F594FF}"/>
                  </a:ext>
                </a:extLst>
              </p:cNvPr>
              <p:cNvSpPr txBox="1">
                <a:spLocks noRot="1" noChangeAspect="1" noMove="1" noResize="1" noEditPoints="1" noAdjustHandles="1" noChangeArrowheads="1" noChangeShapeType="1" noTextEdit="1"/>
              </p:cNvSpPr>
              <p:nvPr/>
            </p:nvSpPr>
            <p:spPr>
              <a:xfrm>
                <a:off x="529390" y="673581"/>
                <a:ext cx="6096000" cy="896336"/>
              </a:xfrm>
              <a:prstGeom prst="rect">
                <a:avLst/>
              </a:prstGeom>
              <a:blipFill>
                <a:blip r:embed="rId3"/>
                <a:stretch>
                  <a:fillRect b="-676"/>
                </a:stretch>
              </a:blipFill>
            </p:spPr>
            <p:txBody>
              <a:bodyPr/>
              <a:lstStyle/>
              <a:p>
                <a:r>
                  <a:rPr lang="fr-MA">
                    <a:noFill/>
                  </a:rPr>
                  <a:t> </a:t>
                </a:r>
              </a:p>
            </p:txBody>
          </p:sp>
        </mc:Fallback>
      </mc:AlternateContent>
      <p:sp>
        <p:nvSpPr>
          <p:cNvPr id="17" name="Rectangle 16">
            <a:extLst>
              <a:ext uri="{FF2B5EF4-FFF2-40B4-BE49-F238E27FC236}">
                <a16:creationId xmlns:a16="http://schemas.microsoft.com/office/drawing/2014/main" id="{AEECEB58-C6D1-8033-AA68-797627F0F656}"/>
              </a:ext>
            </a:extLst>
          </p:cNvPr>
          <p:cNvSpPr/>
          <p:nvPr/>
        </p:nvSpPr>
        <p:spPr>
          <a:xfrm>
            <a:off x="8785930" y="2855379"/>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8" name="Rectangle 17">
            <a:extLst>
              <a:ext uri="{FF2B5EF4-FFF2-40B4-BE49-F238E27FC236}">
                <a16:creationId xmlns:a16="http://schemas.microsoft.com/office/drawing/2014/main" id="{3CD5DB87-5DEC-66F0-5CD8-B10C1E3536EE}"/>
              </a:ext>
            </a:extLst>
          </p:cNvPr>
          <p:cNvSpPr/>
          <p:nvPr/>
        </p:nvSpPr>
        <p:spPr>
          <a:xfrm>
            <a:off x="9689618" y="3751116"/>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9" name="Rectangle 18">
            <a:extLst>
              <a:ext uri="{FF2B5EF4-FFF2-40B4-BE49-F238E27FC236}">
                <a16:creationId xmlns:a16="http://schemas.microsoft.com/office/drawing/2014/main" id="{C4639F31-1A17-4F91-592B-9164E35F5557}"/>
              </a:ext>
            </a:extLst>
          </p:cNvPr>
          <p:cNvSpPr/>
          <p:nvPr/>
        </p:nvSpPr>
        <p:spPr>
          <a:xfrm>
            <a:off x="9689618" y="2853222"/>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dirty="0"/>
          </a:p>
        </p:txBody>
      </p:sp>
      <p:sp>
        <p:nvSpPr>
          <p:cNvPr id="20" name="Rectangle 19">
            <a:extLst>
              <a:ext uri="{FF2B5EF4-FFF2-40B4-BE49-F238E27FC236}">
                <a16:creationId xmlns:a16="http://schemas.microsoft.com/office/drawing/2014/main" id="{735BE488-CD32-1657-8E85-C986A3F4BE43}"/>
              </a:ext>
            </a:extLst>
          </p:cNvPr>
          <p:cNvSpPr/>
          <p:nvPr/>
        </p:nvSpPr>
        <p:spPr>
          <a:xfrm>
            <a:off x="8778788" y="3746802"/>
            <a:ext cx="871537" cy="8650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21" name="TextBox 20">
            <a:extLst>
              <a:ext uri="{FF2B5EF4-FFF2-40B4-BE49-F238E27FC236}">
                <a16:creationId xmlns:a16="http://schemas.microsoft.com/office/drawing/2014/main" id="{D5E11C68-FBEA-246C-A9C5-7976BD162538}"/>
              </a:ext>
            </a:extLst>
          </p:cNvPr>
          <p:cNvSpPr txBox="1"/>
          <p:nvPr/>
        </p:nvSpPr>
        <p:spPr>
          <a:xfrm>
            <a:off x="8886002" y="2918538"/>
            <a:ext cx="685882" cy="369332"/>
          </a:xfrm>
          <a:prstGeom prst="rect">
            <a:avLst/>
          </a:prstGeom>
          <a:solidFill>
            <a:schemeClr val="bg1">
              <a:lumMod val="95000"/>
            </a:schemeClr>
          </a:solidFill>
        </p:spPr>
        <p:txBody>
          <a:bodyPr wrap="square" rtlCol="0">
            <a:spAutoFit/>
          </a:bodyPr>
          <a:lstStyle/>
          <a:p>
            <a:r>
              <a:rPr lang="fr-MA" b="1" dirty="0">
                <a:solidFill>
                  <a:srgbClr val="0070C0"/>
                </a:solidFill>
              </a:rPr>
              <a:t>480</a:t>
            </a:r>
          </a:p>
        </p:txBody>
      </p:sp>
      <p:sp>
        <p:nvSpPr>
          <p:cNvPr id="22" name="TextBox 21">
            <a:extLst>
              <a:ext uri="{FF2B5EF4-FFF2-40B4-BE49-F238E27FC236}">
                <a16:creationId xmlns:a16="http://schemas.microsoft.com/office/drawing/2014/main" id="{223545F4-D902-F80D-F455-391D2C1ACE91}"/>
              </a:ext>
            </a:extLst>
          </p:cNvPr>
          <p:cNvSpPr txBox="1"/>
          <p:nvPr/>
        </p:nvSpPr>
        <p:spPr>
          <a:xfrm>
            <a:off x="8778788" y="4611806"/>
            <a:ext cx="878679" cy="369332"/>
          </a:xfrm>
          <a:prstGeom prst="rect">
            <a:avLst/>
          </a:prstGeom>
          <a:noFill/>
        </p:spPr>
        <p:txBody>
          <a:bodyPr wrap="square" rtlCol="0">
            <a:spAutoFit/>
          </a:bodyPr>
          <a:lstStyle/>
          <a:p>
            <a:pPr algn="ctr"/>
            <a:r>
              <a:rPr lang="fr-MA" b="1" dirty="0"/>
              <a:t>0</a:t>
            </a:r>
          </a:p>
        </p:txBody>
      </p:sp>
      <p:sp>
        <p:nvSpPr>
          <p:cNvPr id="23" name="TextBox 22">
            <a:extLst>
              <a:ext uri="{FF2B5EF4-FFF2-40B4-BE49-F238E27FC236}">
                <a16:creationId xmlns:a16="http://schemas.microsoft.com/office/drawing/2014/main" id="{22D4D702-DF15-1D5F-2604-251C6F648E6C}"/>
              </a:ext>
            </a:extLst>
          </p:cNvPr>
          <p:cNvSpPr txBox="1"/>
          <p:nvPr/>
        </p:nvSpPr>
        <p:spPr>
          <a:xfrm>
            <a:off x="7898317" y="3101058"/>
            <a:ext cx="871538" cy="369332"/>
          </a:xfrm>
          <a:prstGeom prst="rect">
            <a:avLst/>
          </a:prstGeom>
          <a:noFill/>
        </p:spPr>
        <p:txBody>
          <a:bodyPr wrap="square" rtlCol="0">
            <a:spAutoFit/>
          </a:bodyPr>
          <a:lstStyle/>
          <a:p>
            <a:pPr algn="ctr"/>
            <a:r>
              <a:rPr lang="fr-MA" b="1" dirty="0"/>
              <a:t>0</a:t>
            </a:r>
          </a:p>
        </p:txBody>
      </p:sp>
      <p:sp>
        <p:nvSpPr>
          <p:cNvPr id="24" name="TextBox 23">
            <a:extLst>
              <a:ext uri="{FF2B5EF4-FFF2-40B4-BE49-F238E27FC236}">
                <a16:creationId xmlns:a16="http://schemas.microsoft.com/office/drawing/2014/main" id="{CAA68DD3-D690-5DBA-F44F-092EC547BABF}"/>
              </a:ext>
            </a:extLst>
          </p:cNvPr>
          <p:cNvSpPr txBox="1"/>
          <p:nvPr/>
        </p:nvSpPr>
        <p:spPr>
          <a:xfrm>
            <a:off x="9645474" y="4650356"/>
            <a:ext cx="878679" cy="369332"/>
          </a:xfrm>
          <a:prstGeom prst="rect">
            <a:avLst/>
          </a:prstGeom>
          <a:noFill/>
        </p:spPr>
        <p:txBody>
          <a:bodyPr wrap="square" rtlCol="0">
            <a:spAutoFit/>
          </a:bodyPr>
          <a:lstStyle/>
          <a:p>
            <a:pPr algn="ctr"/>
            <a:r>
              <a:rPr lang="fr-MA" b="1" dirty="0"/>
              <a:t>1</a:t>
            </a:r>
          </a:p>
        </p:txBody>
      </p:sp>
      <p:sp>
        <p:nvSpPr>
          <p:cNvPr id="25" name="TextBox 24">
            <a:extLst>
              <a:ext uri="{FF2B5EF4-FFF2-40B4-BE49-F238E27FC236}">
                <a16:creationId xmlns:a16="http://schemas.microsoft.com/office/drawing/2014/main" id="{935D7E3B-B09B-600B-42BB-CD02F5EC4E7B}"/>
              </a:ext>
            </a:extLst>
          </p:cNvPr>
          <p:cNvSpPr txBox="1"/>
          <p:nvPr/>
        </p:nvSpPr>
        <p:spPr>
          <a:xfrm>
            <a:off x="7876122" y="4079569"/>
            <a:ext cx="871538" cy="369332"/>
          </a:xfrm>
          <a:prstGeom prst="rect">
            <a:avLst/>
          </a:prstGeom>
          <a:noFill/>
        </p:spPr>
        <p:txBody>
          <a:bodyPr wrap="square" rtlCol="0">
            <a:spAutoFit/>
          </a:bodyPr>
          <a:lstStyle/>
          <a:p>
            <a:pPr algn="ctr"/>
            <a:r>
              <a:rPr lang="fr-MA" b="1" dirty="0"/>
              <a:t>1</a:t>
            </a:r>
          </a:p>
        </p:txBody>
      </p:sp>
      <p:sp>
        <p:nvSpPr>
          <p:cNvPr id="26" name="TextBox 25">
            <a:extLst>
              <a:ext uri="{FF2B5EF4-FFF2-40B4-BE49-F238E27FC236}">
                <a16:creationId xmlns:a16="http://schemas.microsoft.com/office/drawing/2014/main" id="{0C91AD9B-4C54-CE57-D2F3-C7A966463D0C}"/>
              </a:ext>
            </a:extLst>
          </p:cNvPr>
          <p:cNvSpPr txBox="1"/>
          <p:nvPr/>
        </p:nvSpPr>
        <p:spPr>
          <a:xfrm>
            <a:off x="9789218" y="3814959"/>
            <a:ext cx="685882" cy="369332"/>
          </a:xfrm>
          <a:prstGeom prst="rect">
            <a:avLst/>
          </a:prstGeom>
          <a:solidFill>
            <a:schemeClr val="bg1">
              <a:lumMod val="95000"/>
            </a:schemeClr>
          </a:solidFill>
        </p:spPr>
        <p:txBody>
          <a:bodyPr wrap="square" rtlCol="0">
            <a:spAutoFit/>
          </a:bodyPr>
          <a:lstStyle/>
          <a:p>
            <a:r>
              <a:rPr lang="fr-MA" b="1" dirty="0">
                <a:solidFill>
                  <a:srgbClr val="0070C0"/>
                </a:solidFill>
              </a:rPr>
              <a:t>490</a:t>
            </a:r>
          </a:p>
        </p:txBody>
      </p:sp>
      <p:sp>
        <p:nvSpPr>
          <p:cNvPr id="27" name="TextBox 26">
            <a:extLst>
              <a:ext uri="{FF2B5EF4-FFF2-40B4-BE49-F238E27FC236}">
                <a16:creationId xmlns:a16="http://schemas.microsoft.com/office/drawing/2014/main" id="{1268743C-36E2-0000-7D64-03276AB18961}"/>
              </a:ext>
            </a:extLst>
          </p:cNvPr>
          <p:cNvSpPr txBox="1"/>
          <p:nvPr/>
        </p:nvSpPr>
        <p:spPr>
          <a:xfrm>
            <a:off x="9875273" y="2891610"/>
            <a:ext cx="685882" cy="369332"/>
          </a:xfrm>
          <a:prstGeom prst="rect">
            <a:avLst/>
          </a:prstGeom>
          <a:solidFill>
            <a:schemeClr val="bg1">
              <a:lumMod val="95000"/>
            </a:schemeClr>
          </a:solidFill>
        </p:spPr>
        <p:txBody>
          <a:bodyPr wrap="square" rtlCol="0">
            <a:spAutoFit/>
          </a:bodyPr>
          <a:lstStyle/>
          <a:p>
            <a:r>
              <a:rPr lang="fr-FR" b="1" dirty="0">
                <a:solidFill>
                  <a:srgbClr val="FF0000"/>
                </a:solidFill>
              </a:rPr>
              <a:t>2</a:t>
            </a:r>
            <a:r>
              <a:rPr lang="fr-MA" b="1" dirty="0">
                <a:solidFill>
                  <a:srgbClr val="FF0000"/>
                </a:solidFill>
              </a:rPr>
              <a:t>0</a:t>
            </a:r>
          </a:p>
        </p:txBody>
      </p:sp>
      <p:sp>
        <p:nvSpPr>
          <p:cNvPr id="28" name="TextBox 27">
            <a:extLst>
              <a:ext uri="{FF2B5EF4-FFF2-40B4-BE49-F238E27FC236}">
                <a16:creationId xmlns:a16="http://schemas.microsoft.com/office/drawing/2014/main" id="{2ADB07CC-D351-27B6-949F-3959E9A7707C}"/>
              </a:ext>
            </a:extLst>
          </p:cNvPr>
          <p:cNvSpPr txBox="1"/>
          <p:nvPr/>
        </p:nvSpPr>
        <p:spPr>
          <a:xfrm>
            <a:off x="8882146" y="3769744"/>
            <a:ext cx="613824" cy="369332"/>
          </a:xfrm>
          <a:prstGeom prst="rect">
            <a:avLst/>
          </a:prstGeom>
          <a:solidFill>
            <a:schemeClr val="bg1">
              <a:lumMod val="95000"/>
            </a:schemeClr>
          </a:solidFill>
        </p:spPr>
        <p:txBody>
          <a:bodyPr wrap="square" rtlCol="0">
            <a:spAutoFit/>
          </a:bodyPr>
          <a:lstStyle/>
          <a:p>
            <a:r>
              <a:rPr lang="fr-MA" b="1" dirty="0">
                <a:solidFill>
                  <a:srgbClr val="FF0000"/>
                </a:solidFill>
              </a:rPr>
              <a:t>10</a:t>
            </a:r>
          </a:p>
        </p:txBody>
      </p:sp>
      <p:sp>
        <p:nvSpPr>
          <p:cNvPr id="29" name="TextBox 28">
            <a:extLst>
              <a:ext uri="{FF2B5EF4-FFF2-40B4-BE49-F238E27FC236}">
                <a16:creationId xmlns:a16="http://schemas.microsoft.com/office/drawing/2014/main" id="{1AA5689F-56BD-DBB5-5838-36415DE31E89}"/>
              </a:ext>
            </a:extLst>
          </p:cNvPr>
          <p:cNvSpPr txBox="1"/>
          <p:nvPr/>
        </p:nvSpPr>
        <p:spPr>
          <a:xfrm>
            <a:off x="7349040" y="3506275"/>
            <a:ext cx="871537" cy="369332"/>
          </a:xfrm>
          <a:prstGeom prst="rect">
            <a:avLst/>
          </a:prstGeom>
          <a:noFill/>
        </p:spPr>
        <p:txBody>
          <a:bodyPr wrap="square">
            <a:spAutoFit/>
          </a:bodyPr>
          <a:lstStyle/>
          <a:p>
            <a:pPr algn="ctr"/>
            <a:r>
              <a:rPr lang="fr-MA" b="1" dirty="0" err="1"/>
              <a:t>Actual</a:t>
            </a:r>
            <a:endParaRPr lang="fr-MA" b="1" dirty="0"/>
          </a:p>
        </p:txBody>
      </p:sp>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F86468FE-0BCE-FB03-1397-366EE5FCC904}"/>
                  </a:ext>
                </a:extLst>
              </p:cNvPr>
              <p:cNvSpPr txBox="1"/>
              <p:nvPr/>
            </p:nvSpPr>
            <p:spPr>
              <a:xfrm>
                <a:off x="595418" y="3746802"/>
                <a:ext cx="6096000" cy="496611"/>
              </a:xfrm>
              <a:prstGeom prst="rect">
                <a:avLst/>
              </a:prstGeom>
              <a:noFill/>
            </p:spPr>
            <p:txBody>
              <a:bodyPr wrap="square">
                <a:spAutoFit/>
              </a:bodyPr>
              <a:lstStyle/>
              <a:p>
                <a:pPr marL="742950" lvl="1" indent="-285750">
                  <a:spcAft>
                    <a:spcPts val="800"/>
                  </a:spcAft>
                  <a:buClr>
                    <a:srgbClr val="FF3300"/>
                  </a:buClr>
                  <a:buFont typeface="Wingdings" panose="05000000000000000000" pitchFamily="2" charset="2"/>
                  <a:buChar char="§"/>
                </a:pPr>
                <a14:m>
                  <m:oMath xmlns:m="http://schemas.openxmlformats.org/officeDocument/2006/math">
                    <m:r>
                      <a:rPr lang="fr-FR" b="1" i="1" smtClean="0">
                        <a:solidFill>
                          <a:schemeClr val="tx1">
                            <a:lumMod val="95000"/>
                            <a:lumOff val="5000"/>
                          </a:schemeClr>
                        </a:solidFill>
                        <a:latin typeface="Cambria Math" panose="02040503050406030204" pitchFamily="18" charset="0"/>
                      </a:rPr>
                      <m:t>𝒂𝒄𝒄𝒖𝒓𝒂𝒄𝒚</m:t>
                    </m:r>
                    <m:r>
                      <a:rPr lang="fr-FR" b="1" i="1" smtClean="0">
                        <a:solidFill>
                          <a:schemeClr val="tx1">
                            <a:lumMod val="95000"/>
                            <a:lumOff val="5000"/>
                          </a:schemeClr>
                        </a:solidFill>
                        <a:latin typeface="Cambria Math" panose="02040503050406030204" pitchFamily="18" charset="0"/>
                      </a:rPr>
                      <m:t>=</m:t>
                    </m:r>
                    <m:f>
                      <m:fPr>
                        <m:ctrlPr>
                          <a:rPr lang="fr-FR" b="1" i="1" smtClean="0">
                            <a:solidFill>
                              <a:schemeClr val="tx1">
                                <a:lumMod val="95000"/>
                                <a:lumOff val="5000"/>
                              </a:schemeClr>
                            </a:solidFill>
                            <a:latin typeface="Cambria Math" panose="02040503050406030204" pitchFamily="18" charset="0"/>
                          </a:rPr>
                        </m:ctrlPr>
                      </m:fPr>
                      <m:num>
                        <m:r>
                          <a:rPr lang="fr-FR" b="1" i="1" smtClean="0">
                            <a:solidFill>
                              <a:schemeClr val="tx1">
                                <a:lumMod val="95000"/>
                                <a:lumOff val="5000"/>
                              </a:schemeClr>
                            </a:solidFill>
                            <a:latin typeface="Cambria Math" panose="02040503050406030204" pitchFamily="18" charset="0"/>
                          </a:rPr>
                          <m:t>𝟗𝟕𝟎</m:t>
                        </m:r>
                      </m:num>
                      <m:den>
                        <m:r>
                          <a:rPr lang="fr-FR" b="1" i="1" smtClean="0">
                            <a:solidFill>
                              <a:schemeClr val="tx1">
                                <a:lumMod val="95000"/>
                                <a:lumOff val="5000"/>
                              </a:schemeClr>
                            </a:solidFill>
                            <a:latin typeface="Cambria Math" panose="02040503050406030204" pitchFamily="18" charset="0"/>
                          </a:rPr>
                          <m:t>𝟏𝟎𝟎𝟎</m:t>
                        </m:r>
                      </m:den>
                    </m:f>
                  </m:oMath>
                </a14:m>
                <a:r>
                  <a:rPr lang="fr-FR" b="1" dirty="0">
                    <a:solidFill>
                      <a:schemeClr val="tx1">
                        <a:lumMod val="95000"/>
                        <a:lumOff val="5000"/>
                      </a:schemeClr>
                    </a:solidFill>
                  </a:rPr>
                  <a:t>=97%</a:t>
                </a:r>
              </a:p>
            </p:txBody>
          </p:sp>
        </mc:Choice>
        <mc:Fallback>
          <p:sp>
            <p:nvSpPr>
              <p:cNvPr id="30" name="TextBox 29">
                <a:extLst>
                  <a:ext uri="{FF2B5EF4-FFF2-40B4-BE49-F238E27FC236}">
                    <a16:creationId xmlns:a16="http://schemas.microsoft.com/office/drawing/2014/main" id="{F86468FE-0BCE-FB03-1397-366EE5FCC904}"/>
                  </a:ext>
                </a:extLst>
              </p:cNvPr>
              <p:cNvSpPr txBox="1">
                <a:spLocks noRot="1" noChangeAspect="1" noMove="1" noResize="1" noEditPoints="1" noAdjustHandles="1" noChangeArrowheads="1" noChangeShapeType="1" noTextEdit="1"/>
              </p:cNvSpPr>
              <p:nvPr/>
            </p:nvSpPr>
            <p:spPr>
              <a:xfrm>
                <a:off x="595418" y="3746802"/>
                <a:ext cx="6096000" cy="496611"/>
              </a:xfrm>
              <a:prstGeom prst="rect">
                <a:avLst/>
              </a:prstGeom>
              <a:blipFill>
                <a:blip r:embed="rId4"/>
                <a:stretch>
                  <a:fillRect b="-7407"/>
                </a:stretch>
              </a:blipFill>
            </p:spPr>
            <p:txBody>
              <a:bodyPr/>
              <a:lstStyle/>
              <a:p>
                <a:r>
                  <a:rPr lang="fr-MA">
                    <a:noFill/>
                  </a:rPr>
                  <a:t> </a:t>
                </a:r>
              </a:p>
            </p:txBody>
          </p:sp>
        </mc:Fallback>
      </mc:AlternateContent>
    </p:spTree>
    <p:extLst>
      <p:ext uri="{BB962C8B-B14F-4D97-AF65-F5344CB8AC3E}">
        <p14:creationId xmlns:p14="http://schemas.microsoft.com/office/powerpoint/2010/main" val="30235608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necteur droit 3"/>
          <p:cNvCxnSpPr/>
          <p:nvPr/>
        </p:nvCxnSpPr>
        <p:spPr>
          <a:xfrm>
            <a:off x="0" y="708926"/>
            <a:ext cx="12204000" cy="0"/>
          </a:xfrm>
          <a:prstGeom prst="line">
            <a:avLst/>
          </a:prstGeom>
          <a:ln w="6350">
            <a:solidFill>
              <a:srgbClr val="FF0000"/>
            </a:solidFill>
          </a:ln>
        </p:spPr>
        <p:style>
          <a:lnRef idx="2">
            <a:schemeClr val="accent2"/>
          </a:lnRef>
          <a:fillRef idx="0">
            <a:schemeClr val="accent2"/>
          </a:fillRef>
          <a:effectRef idx="1">
            <a:schemeClr val="accent2"/>
          </a:effectRef>
          <a:fontRef idx="minor">
            <a:schemeClr val="tx1"/>
          </a:fontRef>
        </p:style>
      </p:cxnSp>
      <p:sp>
        <p:nvSpPr>
          <p:cNvPr id="5" name="ZoneTexte 4"/>
          <p:cNvSpPr txBox="1"/>
          <p:nvPr/>
        </p:nvSpPr>
        <p:spPr>
          <a:xfrm>
            <a:off x="571503" y="11730"/>
            <a:ext cx="9942396" cy="584775"/>
          </a:xfrm>
          <a:prstGeom prst="rect">
            <a:avLst/>
          </a:prstGeom>
          <a:noFill/>
        </p:spPr>
        <p:txBody>
          <a:bodyPr wrap="square" rtlCol="0">
            <a:spAutoFit/>
          </a:bodyPr>
          <a:lstStyle/>
          <a:p>
            <a:pPr algn="ctr"/>
            <a:r>
              <a:rPr lang="fr-FR" sz="3200" b="1" dirty="0">
                <a:solidFill>
                  <a:schemeClr val="tx1">
                    <a:lumMod val="75000"/>
                    <a:lumOff val="25000"/>
                  </a:schemeClr>
                </a:solidFill>
              </a:rPr>
              <a:t>Mesurer la performance d’un problème de classification</a:t>
            </a:r>
            <a:endParaRPr lang="fr-FR" sz="2400" b="1" dirty="0">
              <a:solidFill>
                <a:srgbClr val="FF0000"/>
              </a:solidFill>
            </a:endParaRPr>
          </a:p>
        </p:txBody>
      </p:sp>
      <mc:AlternateContent xmlns:mc="http://schemas.openxmlformats.org/markup-compatibility/2006">
        <mc:Choice xmlns:a14="http://schemas.microsoft.com/office/drawing/2010/main" Requires="a14">
          <p:sp>
            <p:nvSpPr>
              <p:cNvPr id="9" name="ZoneTexte 124">
                <a:extLst>
                  <a:ext uri="{FF2B5EF4-FFF2-40B4-BE49-F238E27FC236}">
                    <a16:creationId xmlns:a16="http://schemas.microsoft.com/office/drawing/2014/main" id="{8230CE6A-A226-EE8D-26CB-52E9CBF13E2A}"/>
                  </a:ext>
                </a:extLst>
              </p:cNvPr>
              <p:cNvSpPr txBox="1"/>
              <p:nvPr/>
            </p:nvSpPr>
            <p:spPr>
              <a:xfrm>
                <a:off x="0" y="766990"/>
                <a:ext cx="12175205" cy="530723"/>
              </a:xfrm>
              <a:prstGeom prst="rect">
                <a:avLst/>
              </a:prstGeom>
              <a:noFill/>
            </p:spPr>
            <p:txBody>
              <a:bodyPr wrap="square" rtlCol="0">
                <a:spAutoFit/>
              </a:bodyPr>
              <a:lstStyle/>
              <a:p>
                <a:pPr marL="742950" lvl="1"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latin typeface="+mj-lt"/>
                  </a:rPr>
                  <a:t>f</a:t>
                </a:r>
                <a14:m>
                  <m:oMath xmlns:m="http://schemas.openxmlformats.org/officeDocument/2006/math">
                    <m:r>
                      <a:rPr lang="fr-FR" b="1" i="0" smtClean="0">
                        <a:solidFill>
                          <a:schemeClr val="tx1">
                            <a:lumMod val="95000"/>
                            <a:lumOff val="5000"/>
                          </a:schemeClr>
                        </a:solidFill>
                        <a:latin typeface="+mj-lt"/>
                      </a:rPr>
                      <m:t>𝟏𝐒𝐜𝐨𝐫𝐞</m:t>
                    </m:r>
                    <m:r>
                      <a:rPr lang="fr-FR" b="1" i="1" smtClean="0">
                        <a:solidFill>
                          <a:schemeClr val="tx1">
                            <a:lumMod val="95000"/>
                            <a:lumOff val="5000"/>
                          </a:schemeClr>
                        </a:solidFill>
                        <a:latin typeface="+mj-lt"/>
                      </a:rPr>
                      <m:t>=</m:t>
                    </m:r>
                    <m:r>
                      <a:rPr lang="fr-FR" b="1" i="1" smtClean="0">
                        <a:solidFill>
                          <a:schemeClr val="tx1">
                            <a:lumMod val="95000"/>
                            <a:lumOff val="5000"/>
                          </a:schemeClr>
                        </a:solidFill>
                        <a:latin typeface="+mj-lt"/>
                      </a:rPr>
                      <m:t>𝟐</m:t>
                    </m:r>
                    <m:r>
                      <a:rPr lang="fr-FR" b="1" i="1" smtClean="0">
                        <a:solidFill>
                          <a:schemeClr val="tx1">
                            <a:lumMod val="95000"/>
                            <a:lumOff val="5000"/>
                          </a:schemeClr>
                        </a:solidFill>
                        <a:latin typeface="+mj-lt"/>
                      </a:rPr>
                      <m:t>∗</m:t>
                    </m:r>
                    <m:f>
                      <m:fPr>
                        <m:ctrlPr>
                          <a:rPr lang="fr-FR" b="1" i="1" smtClean="0">
                            <a:solidFill>
                              <a:schemeClr val="tx1">
                                <a:lumMod val="95000"/>
                                <a:lumOff val="5000"/>
                              </a:schemeClr>
                            </a:solidFill>
                            <a:latin typeface="+mj-lt"/>
                          </a:rPr>
                        </m:ctrlPr>
                      </m:fPr>
                      <m:num>
                        <m:r>
                          <a:rPr lang="fr-FR" b="1" i="1" smtClean="0">
                            <a:solidFill>
                              <a:schemeClr val="tx1">
                                <a:lumMod val="95000"/>
                                <a:lumOff val="5000"/>
                              </a:schemeClr>
                            </a:solidFill>
                            <a:latin typeface="+mj-lt"/>
                          </a:rPr>
                          <m:t>𝒑𝒓𝒆𝒄𝒊𝒔𝒊𝒐𝒏</m:t>
                        </m:r>
                        <m:r>
                          <a:rPr lang="fr-FR" b="1" i="1" smtClean="0">
                            <a:solidFill>
                              <a:schemeClr val="tx1">
                                <a:lumMod val="95000"/>
                                <a:lumOff val="5000"/>
                              </a:schemeClr>
                            </a:solidFill>
                            <a:latin typeface="+mj-lt"/>
                          </a:rPr>
                          <m:t>∗</m:t>
                        </m:r>
                        <m:r>
                          <a:rPr lang="fr-FR" b="1" i="1" smtClean="0">
                            <a:solidFill>
                              <a:schemeClr val="tx1">
                                <a:lumMod val="95000"/>
                                <a:lumOff val="5000"/>
                              </a:schemeClr>
                            </a:solidFill>
                            <a:latin typeface="+mj-lt"/>
                          </a:rPr>
                          <m:t>𝒓𝒆𝒄𝒂𝒍𝒍</m:t>
                        </m:r>
                      </m:num>
                      <m:den>
                        <m:r>
                          <a:rPr lang="fr-FR" b="1" i="1" smtClean="0">
                            <a:solidFill>
                              <a:schemeClr val="tx1">
                                <a:lumMod val="95000"/>
                                <a:lumOff val="5000"/>
                              </a:schemeClr>
                            </a:solidFill>
                            <a:latin typeface="+mj-lt"/>
                          </a:rPr>
                          <m:t>𝒑𝒓𝒆𝒄𝒊𝒔𝒊𝒐𝒏</m:t>
                        </m:r>
                        <m:r>
                          <a:rPr lang="fr-FR" b="1" i="1" smtClean="0">
                            <a:solidFill>
                              <a:schemeClr val="tx1">
                                <a:lumMod val="95000"/>
                                <a:lumOff val="5000"/>
                              </a:schemeClr>
                            </a:solidFill>
                            <a:latin typeface="+mj-lt"/>
                          </a:rPr>
                          <m:t>+</m:t>
                        </m:r>
                        <m:r>
                          <a:rPr lang="fr-FR" b="1" i="1" smtClean="0">
                            <a:solidFill>
                              <a:schemeClr val="tx1">
                                <a:lumMod val="95000"/>
                                <a:lumOff val="5000"/>
                              </a:schemeClr>
                            </a:solidFill>
                            <a:latin typeface="+mj-lt"/>
                          </a:rPr>
                          <m:t>𝒓𝒆𝒄𝒂𝒍𝒍</m:t>
                        </m:r>
                      </m:den>
                    </m:f>
                  </m:oMath>
                </a14:m>
                <a:endParaRPr lang="fr-FR" b="1" dirty="0">
                  <a:solidFill>
                    <a:schemeClr val="tx1">
                      <a:lumMod val="95000"/>
                      <a:lumOff val="5000"/>
                    </a:schemeClr>
                  </a:solidFill>
                  <a:latin typeface="+mj-lt"/>
                </a:endParaRPr>
              </a:p>
            </p:txBody>
          </p:sp>
        </mc:Choice>
        <mc:Fallback>
          <p:sp>
            <p:nvSpPr>
              <p:cNvPr id="9" name="ZoneTexte 124">
                <a:extLst>
                  <a:ext uri="{FF2B5EF4-FFF2-40B4-BE49-F238E27FC236}">
                    <a16:creationId xmlns:a16="http://schemas.microsoft.com/office/drawing/2014/main" id="{8230CE6A-A226-EE8D-26CB-52E9CBF13E2A}"/>
                  </a:ext>
                </a:extLst>
              </p:cNvPr>
              <p:cNvSpPr txBox="1">
                <a:spLocks noRot="1" noChangeAspect="1" noMove="1" noResize="1" noEditPoints="1" noAdjustHandles="1" noChangeArrowheads="1" noChangeShapeType="1" noTextEdit="1"/>
              </p:cNvSpPr>
              <p:nvPr/>
            </p:nvSpPr>
            <p:spPr>
              <a:xfrm>
                <a:off x="0" y="766990"/>
                <a:ext cx="12175205" cy="530723"/>
              </a:xfrm>
              <a:prstGeom prst="rect">
                <a:avLst/>
              </a:prstGeom>
              <a:blipFill>
                <a:blip r:embed="rId2"/>
                <a:stretch>
                  <a:fillRect b="-5747"/>
                </a:stretch>
              </a:blipFill>
            </p:spPr>
            <p:txBody>
              <a:bodyPr/>
              <a:lstStyle/>
              <a:p>
                <a:r>
                  <a:rPr lang="fr-MA">
                    <a:noFill/>
                  </a:rPr>
                  <a:t> </a:t>
                </a:r>
              </a:p>
            </p:txBody>
          </p:sp>
        </mc:Fallback>
      </mc:AlternateContent>
      <p:sp>
        <p:nvSpPr>
          <p:cNvPr id="3" name="TextBox 2">
            <a:extLst>
              <a:ext uri="{FF2B5EF4-FFF2-40B4-BE49-F238E27FC236}">
                <a16:creationId xmlns:a16="http://schemas.microsoft.com/office/drawing/2014/main" id="{B479CF96-FE57-A930-AC91-0CE6169F46BC}"/>
              </a:ext>
            </a:extLst>
          </p:cNvPr>
          <p:cNvSpPr txBox="1"/>
          <p:nvPr/>
        </p:nvSpPr>
        <p:spPr>
          <a:xfrm>
            <a:off x="0" y="1850686"/>
            <a:ext cx="12175205" cy="1887696"/>
          </a:xfrm>
          <a:prstGeom prst="rect">
            <a:avLst/>
          </a:prstGeom>
          <a:noFill/>
        </p:spPr>
        <p:txBody>
          <a:bodyPr wrap="square">
            <a:spAutoFit/>
          </a:bodyPr>
          <a:lstStyle/>
          <a:p>
            <a:pPr marL="0" lvl="1" indent="-285750">
              <a:spcAft>
                <a:spcPts val="800"/>
              </a:spcAft>
              <a:buClr>
                <a:srgbClr val="FF3300"/>
              </a:buClr>
              <a:buFont typeface="Wingdings" panose="05000000000000000000" pitchFamily="2" charset="2"/>
              <a:buChar char="§"/>
            </a:pPr>
            <a:r>
              <a:rPr lang="fr-FR" b="1" dirty="0">
                <a:solidFill>
                  <a:srgbClr val="0070C0"/>
                </a:solidFill>
                <a:latin typeface="+mj-lt"/>
              </a:rPr>
              <a:t>Exemple: identification de pièces d'avion qui pourraient nécessiter une réparation</a:t>
            </a:r>
          </a:p>
          <a:p>
            <a:pPr marL="0" lvl="1"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latin typeface="+mj-lt"/>
              </a:rPr>
              <a:t>Le score F1 est la moyenne harmonique du rappel et de la précision et, par conséquent, équilibre les points forts de chacun.</a:t>
            </a:r>
          </a:p>
          <a:p>
            <a:pPr marL="0" lvl="1"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latin typeface="+mj-lt"/>
              </a:rPr>
              <a:t>Il est utile dans les cas où le rappel et la précision peuvent être précieux. </a:t>
            </a:r>
          </a:p>
          <a:p>
            <a:pPr marL="0" lvl="2"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latin typeface="+mj-lt"/>
              </a:rPr>
              <a:t>La précision sera nécessaire pour économiser sur les coûts de l'entreprise (car les pièces d'avion sont extrêmement chères)</a:t>
            </a:r>
          </a:p>
          <a:p>
            <a:pPr marL="0" lvl="2"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latin typeface="+mj-lt"/>
              </a:rPr>
              <a:t>Et le rappel sera nécessaire pour s'assurer que la machinerie est stable et ne menace pas les vies humaines.</a:t>
            </a:r>
          </a:p>
        </p:txBody>
      </p:sp>
    </p:spTree>
    <p:extLst>
      <p:ext uri="{BB962C8B-B14F-4D97-AF65-F5344CB8AC3E}">
        <p14:creationId xmlns:p14="http://schemas.microsoft.com/office/powerpoint/2010/main" val="22070100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3BF4017-4E4E-5469-0B2C-5B6F5FE809FC}"/>
              </a:ext>
            </a:extLst>
          </p:cNvPr>
          <p:cNvGraphicFramePr>
            <a:graphicFrameLocks noGrp="1"/>
          </p:cNvGraphicFramePr>
          <p:nvPr>
            <p:extLst>
              <p:ext uri="{D42A27DB-BD31-4B8C-83A1-F6EECF244321}">
                <p14:modId xmlns:p14="http://schemas.microsoft.com/office/powerpoint/2010/main" val="1415528087"/>
              </p:ext>
            </p:extLst>
          </p:nvPr>
        </p:nvGraphicFramePr>
        <p:xfrm>
          <a:off x="385012" y="574341"/>
          <a:ext cx="11806989" cy="4798570"/>
        </p:xfrm>
        <a:graphic>
          <a:graphicData uri="http://schemas.openxmlformats.org/drawingml/2006/table">
            <a:tbl>
              <a:tblPr/>
              <a:tblGrid>
                <a:gridCol w="1652335">
                  <a:extLst>
                    <a:ext uri="{9D8B030D-6E8A-4147-A177-3AD203B41FA5}">
                      <a16:colId xmlns:a16="http://schemas.microsoft.com/office/drawing/2014/main" val="456361124"/>
                    </a:ext>
                  </a:extLst>
                </a:gridCol>
                <a:gridCol w="4315327">
                  <a:extLst>
                    <a:ext uri="{9D8B030D-6E8A-4147-A177-3AD203B41FA5}">
                      <a16:colId xmlns:a16="http://schemas.microsoft.com/office/drawing/2014/main" val="465490375"/>
                    </a:ext>
                  </a:extLst>
                </a:gridCol>
                <a:gridCol w="5839327">
                  <a:extLst>
                    <a:ext uri="{9D8B030D-6E8A-4147-A177-3AD203B41FA5}">
                      <a16:colId xmlns:a16="http://schemas.microsoft.com/office/drawing/2014/main" val="393590972"/>
                    </a:ext>
                  </a:extLst>
                </a:gridCol>
              </a:tblGrid>
              <a:tr h="108108">
                <a:tc>
                  <a:txBody>
                    <a:bodyPr/>
                    <a:lstStyle/>
                    <a:p>
                      <a:pPr fontAlgn="b"/>
                      <a:r>
                        <a:rPr lang="fr-MA" sz="1800" b="1">
                          <a:effectLst/>
                        </a:rPr>
                        <a:t>Métrique</a:t>
                      </a:r>
                    </a:p>
                  </a:txBody>
                  <a:tcPr marL="27027" marR="27027" marT="13513" marB="13513" anchor="b">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9525"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
                      <a:r>
                        <a:rPr lang="fr-MA" sz="1800" b="1">
                          <a:effectLst/>
                        </a:rPr>
                        <a:t>Formule</a:t>
                      </a:r>
                    </a:p>
                  </a:txBody>
                  <a:tcPr marL="27027" marR="27027" marT="13513" marB="13513" anchor="b">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9525"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
                      <a:r>
                        <a:rPr lang="fr-MA" sz="1800" b="1">
                          <a:effectLst/>
                        </a:rPr>
                        <a:t>Description</a:t>
                      </a:r>
                    </a:p>
                  </a:txBody>
                  <a:tcPr marL="27027" marR="27027" marT="13513" marB="13513" anchor="b">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9525"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1908074020"/>
                  </a:ext>
                </a:extLst>
              </a:tr>
              <a:tr h="756754">
                <a:tc>
                  <a:txBody>
                    <a:bodyPr/>
                    <a:lstStyle/>
                    <a:p>
                      <a:pPr fontAlgn="base"/>
                      <a:r>
                        <a:rPr lang="fr-MA" sz="1800">
                          <a:effectLst/>
                        </a:rPr>
                        <a:t>Accuracy</a:t>
                      </a:r>
                    </a:p>
                  </a:txBody>
                  <a:tcPr marL="27027" marR="27027" marT="13513" marB="1351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fr-MA" sz="1800">
                          <a:effectLst/>
                        </a:rPr>
                        <a:t>(TP + TN) / (TP + TN + FP + FN)</a:t>
                      </a:r>
                    </a:p>
                  </a:txBody>
                  <a:tcPr marL="27027" marR="27027" marT="13513" marB="1351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fr-FR" sz="1800" dirty="0">
                          <a:effectLst/>
                        </a:rPr>
                        <a:t>Mesure la proportion d'échantillons correctement classés (positifs et négatifs) par rapport à l'ensemble total d'échantillons.</a:t>
                      </a:r>
                    </a:p>
                  </a:txBody>
                  <a:tcPr marL="27027" marR="27027" marT="13513" marB="1351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980719246"/>
                  </a:ext>
                </a:extLst>
              </a:tr>
              <a:tr h="1081078">
                <a:tc>
                  <a:txBody>
                    <a:bodyPr/>
                    <a:lstStyle/>
                    <a:p>
                      <a:pPr fontAlgn="base"/>
                      <a:r>
                        <a:rPr lang="fr-MA" sz="1800">
                          <a:effectLst/>
                        </a:rPr>
                        <a:t>Précision</a:t>
                      </a:r>
                    </a:p>
                  </a:txBody>
                  <a:tcPr marL="27027" marR="27027" marT="13513" marB="1351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fr-MA" sz="1800">
                          <a:effectLst/>
                        </a:rPr>
                        <a:t>TP / (TP + FP)</a:t>
                      </a:r>
                    </a:p>
                  </a:txBody>
                  <a:tcPr marL="27027" marR="27027" marT="13513" marB="1351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fr-FR" sz="1800">
                          <a:effectLst/>
                        </a:rPr>
                        <a:t>Mesure la proportion d'échantillons positifs correctement classés par rapport à l'ensemble des échantillons prédits positifs. Elle met l'accent sur l'exactitude des prédictions positives.</a:t>
                      </a:r>
                    </a:p>
                  </a:txBody>
                  <a:tcPr marL="27027" marR="27027" marT="13513" marB="1351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2442617634"/>
                  </a:ext>
                </a:extLst>
              </a:tr>
              <a:tr h="1324320">
                <a:tc>
                  <a:txBody>
                    <a:bodyPr/>
                    <a:lstStyle/>
                    <a:p>
                      <a:pPr fontAlgn="base"/>
                      <a:r>
                        <a:rPr lang="fr-MA" sz="1800">
                          <a:effectLst/>
                        </a:rPr>
                        <a:t>F1-score</a:t>
                      </a:r>
                    </a:p>
                  </a:txBody>
                  <a:tcPr marL="27027" marR="27027" marT="13513" marB="1351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fr-FR" sz="1800">
                          <a:effectLst/>
                        </a:rPr>
                        <a:t>2 * (précision * rappel) / (précision + rappel)</a:t>
                      </a:r>
                    </a:p>
                  </a:txBody>
                  <a:tcPr marL="27027" marR="27027" marT="13513" marB="1351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fr-FR" sz="1800">
                          <a:effectLst/>
                        </a:rPr>
                        <a:t>F1-score est une mesure qui combine précision et rappel en une seule valeur. Il représente la moyenne harmonique de précision et de rappel. Il est utile lorsque vous voulez équilibrer précision et rappel pour évaluer les performances globales.</a:t>
                      </a:r>
                    </a:p>
                  </a:txBody>
                  <a:tcPr marL="27027" marR="27027" marT="13513" marB="1351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966905700"/>
                  </a:ext>
                </a:extLst>
              </a:tr>
              <a:tr h="1081078">
                <a:tc>
                  <a:txBody>
                    <a:bodyPr/>
                    <a:lstStyle/>
                    <a:p>
                      <a:pPr fontAlgn="base"/>
                      <a:r>
                        <a:rPr lang="fr-MA" sz="1800">
                          <a:effectLst/>
                        </a:rPr>
                        <a:t>Rappel (Recall)</a:t>
                      </a:r>
                    </a:p>
                  </a:txBody>
                  <a:tcPr marL="27027" marR="27027" marT="13513" marB="1351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9525" cap="flat" cmpd="sng" algn="ctr">
                      <a:solidFill>
                        <a:srgbClr val="D9D9E3"/>
                      </a:solidFill>
                      <a:prstDash val="solid"/>
                      <a:round/>
                      <a:headEnd type="none" w="med" len="med"/>
                      <a:tailEnd type="none" w="med" len="med"/>
                    </a:lnB>
                    <a:solidFill>
                      <a:srgbClr val="F7F7F8"/>
                    </a:solidFill>
                  </a:tcPr>
                </a:tc>
                <a:tc>
                  <a:txBody>
                    <a:bodyPr/>
                    <a:lstStyle/>
                    <a:p>
                      <a:pPr fontAlgn="base"/>
                      <a:r>
                        <a:rPr lang="fr-MA" sz="1800">
                          <a:effectLst/>
                        </a:rPr>
                        <a:t>TP / (TP + FN)</a:t>
                      </a:r>
                    </a:p>
                  </a:txBody>
                  <a:tcPr marL="27027" marR="27027" marT="13513" marB="1351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9525" cap="flat" cmpd="sng" algn="ctr">
                      <a:solidFill>
                        <a:srgbClr val="D9D9E3"/>
                      </a:solidFill>
                      <a:prstDash val="solid"/>
                      <a:round/>
                      <a:headEnd type="none" w="med" len="med"/>
                      <a:tailEnd type="none" w="med" len="med"/>
                    </a:lnB>
                    <a:solidFill>
                      <a:srgbClr val="F7F7F8"/>
                    </a:solidFill>
                  </a:tcPr>
                </a:tc>
                <a:tc>
                  <a:txBody>
                    <a:bodyPr/>
                    <a:lstStyle/>
                    <a:p>
                      <a:pPr fontAlgn="base"/>
                      <a:r>
                        <a:rPr lang="fr-FR" sz="1800" dirty="0">
                          <a:effectLst/>
                        </a:rPr>
                        <a:t>Mesure la proportion d'échantillons positifs correctement classés par rapport à l'ensemble total des échantillons positifs. Il met l'accent sur la sensibilité du modèle à détecter les vrais positifs.</a:t>
                      </a:r>
                    </a:p>
                  </a:txBody>
                  <a:tcPr marL="27027" marR="27027" marT="13513" marB="13513"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9525"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2328835253"/>
                  </a:ext>
                </a:extLst>
              </a:tr>
            </a:tbl>
          </a:graphicData>
        </a:graphic>
      </p:graphicFrame>
    </p:spTree>
    <p:extLst>
      <p:ext uri="{BB962C8B-B14F-4D97-AF65-F5344CB8AC3E}">
        <p14:creationId xmlns:p14="http://schemas.microsoft.com/office/powerpoint/2010/main" val="2252085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necteur droit 3"/>
          <p:cNvCxnSpPr/>
          <p:nvPr/>
        </p:nvCxnSpPr>
        <p:spPr>
          <a:xfrm>
            <a:off x="0" y="708926"/>
            <a:ext cx="12204000" cy="0"/>
          </a:xfrm>
          <a:prstGeom prst="line">
            <a:avLst/>
          </a:prstGeom>
          <a:ln w="6350">
            <a:solidFill>
              <a:srgbClr val="FF0000"/>
            </a:solidFill>
          </a:ln>
        </p:spPr>
        <p:style>
          <a:lnRef idx="2">
            <a:schemeClr val="accent2"/>
          </a:lnRef>
          <a:fillRef idx="0">
            <a:schemeClr val="accent2"/>
          </a:fillRef>
          <a:effectRef idx="1">
            <a:schemeClr val="accent2"/>
          </a:effectRef>
          <a:fontRef idx="minor">
            <a:schemeClr val="tx1"/>
          </a:fontRef>
        </p:style>
      </p:cxnSp>
      <p:sp>
        <p:nvSpPr>
          <p:cNvPr id="5" name="ZoneTexte 4"/>
          <p:cNvSpPr txBox="1"/>
          <p:nvPr/>
        </p:nvSpPr>
        <p:spPr>
          <a:xfrm>
            <a:off x="571503" y="11730"/>
            <a:ext cx="9942396" cy="584775"/>
          </a:xfrm>
          <a:prstGeom prst="rect">
            <a:avLst/>
          </a:prstGeom>
          <a:noFill/>
        </p:spPr>
        <p:txBody>
          <a:bodyPr wrap="square" rtlCol="0">
            <a:spAutoFit/>
          </a:bodyPr>
          <a:lstStyle/>
          <a:p>
            <a:pPr algn="ctr"/>
            <a:r>
              <a:rPr lang="fr-FR" sz="3200" b="1" dirty="0">
                <a:solidFill>
                  <a:schemeClr val="tx1">
                    <a:lumMod val="75000"/>
                    <a:lumOff val="25000"/>
                  </a:schemeClr>
                </a:solidFill>
              </a:rPr>
              <a:t>Mesurer la performance d’un problème de classification</a:t>
            </a:r>
            <a:endParaRPr lang="fr-FR" sz="2400" b="1" dirty="0">
              <a:solidFill>
                <a:srgbClr val="FF0000"/>
              </a:solidFill>
            </a:endParaRPr>
          </a:p>
        </p:txBody>
      </p:sp>
      <p:sp>
        <p:nvSpPr>
          <p:cNvPr id="9" name="ZoneTexte 124">
            <a:extLst>
              <a:ext uri="{FF2B5EF4-FFF2-40B4-BE49-F238E27FC236}">
                <a16:creationId xmlns:a16="http://schemas.microsoft.com/office/drawing/2014/main" id="{8230CE6A-A226-EE8D-26CB-52E9CBF13E2A}"/>
              </a:ext>
            </a:extLst>
          </p:cNvPr>
          <p:cNvSpPr txBox="1"/>
          <p:nvPr/>
        </p:nvSpPr>
        <p:spPr>
          <a:xfrm>
            <a:off x="1" y="818141"/>
            <a:ext cx="7200900" cy="3724096"/>
          </a:xfrm>
          <a:prstGeom prst="rect">
            <a:avLst/>
          </a:prstGeom>
          <a:noFill/>
        </p:spPr>
        <p:txBody>
          <a:bodyPr wrap="square" rtlCol="0">
            <a:spAutoFit/>
          </a:bodyPr>
          <a:lstStyle/>
          <a:p>
            <a:pPr marL="0" lvl="1" indent="-285750">
              <a:spcAft>
                <a:spcPts val="800"/>
              </a:spcAft>
              <a:buClr>
                <a:srgbClr val="FF3300"/>
              </a:buClr>
              <a:buFont typeface="Wingdings" panose="05000000000000000000" pitchFamily="2" charset="2"/>
              <a:buChar char="§"/>
            </a:pPr>
            <a:r>
              <a:rPr lang="fr-FR" sz="2400" b="0" i="0" dirty="0">
                <a:solidFill>
                  <a:srgbClr val="374151"/>
                </a:solidFill>
                <a:effectLst/>
                <a:latin typeface="Söhne"/>
              </a:rPr>
              <a:t>Le score ROC (</a:t>
            </a:r>
            <a:r>
              <a:rPr lang="fr-FR" sz="2400" b="0" i="0" dirty="0" err="1">
                <a:solidFill>
                  <a:srgbClr val="374151"/>
                </a:solidFill>
                <a:effectLst/>
                <a:latin typeface="Söhne"/>
              </a:rPr>
              <a:t>Receiver</a:t>
            </a:r>
            <a:r>
              <a:rPr lang="fr-FR" sz="2400" b="0" i="0" dirty="0">
                <a:solidFill>
                  <a:srgbClr val="374151"/>
                </a:solidFill>
                <a:effectLst/>
                <a:latin typeface="Söhne"/>
              </a:rPr>
              <a:t> Operating </a:t>
            </a:r>
            <a:r>
              <a:rPr lang="fr-FR" sz="2400" b="0" i="0" dirty="0" err="1">
                <a:solidFill>
                  <a:srgbClr val="374151"/>
                </a:solidFill>
                <a:effectLst/>
                <a:latin typeface="Söhne"/>
              </a:rPr>
              <a:t>Characteristic</a:t>
            </a:r>
            <a:r>
              <a:rPr lang="fr-FR" sz="2400" b="0" i="0" dirty="0">
                <a:solidFill>
                  <a:srgbClr val="374151"/>
                </a:solidFill>
                <a:effectLst/>
                <a:latin typeface="Söhne"/>
              </a:rPr>
              <a:t>) est une mesure utilisée pour évaluer les performances d'un modèle de classification binaire.</a:t>
            </a:r>
          </a:p>
          <a:p>
            <a:pPr marL="0" lvl="1" indent="-285750">
              <a:spcAft>
                <a:spcPts val="800"/>
              </a:spcAft>
              <a:buClr>
                <a:srgbClr val="FF3300"/>
              </a:buClr>
              <a:buFont typeface="Wingdings" panose="05000000000000000000" pitchFamily="2" charset="2"/>
              <a:buChar char="§"/>
            </a:pPr>
            <a:r>
              <a:rPr lang="fr-FR" sz="2400" b="0" i="0" dirty="0">
                <a:solidFill>
                  <a:srgbClr val="374151"/>
                </a:solidFill>
                <a:effectLst/>
                <a:latin typeface="Söhne"/>
              </a:rPr>
              <a:t>Il est largement utilisé dans divers domaines tels que la médecine, la finance et la recherche</a:t>
            </a:r>
          </a:p>
          <a:p>
            <a:pPr marL="0" lvl="1" indent="-285750">
              <a:spcAft>
                <a:spcPts val="800"/>
              </a:spcAft>
              <a:buClr>
                <a:srgbClr val="FF3300"/>
              </a:buClr>
              <a:buFont typeface="Wingdings" panose="05000000000000000000" pitchFamily="2" charset="2"/>
              <a:buChar char="§"/>
            </a:pPr>
            <a:r>
              <a:rPr lang="fr-FR" sz="2400" dirty="0"/>
              <a:t>Une courbe ROC montre le taux de vrais positifs (TPR), par rapport au taux de faux positifs (FPR) Pour différents seuils de scores de classification.</a:t>
            </a:r>
            <a:endParaRPr lang="fr-FR" sz="2400" b="0" i="0" dirty="0">
              <a:solidFill>
                <a:srgbClr val="374151"/>
              </a:solidFill>
              <a:effectLst/>
              <a:latin typeface="Söhne"/>
            </a:endParaRPr>
          </a:p>
          <a:p>
            <a:pPr marL="0" lvl="1" indent="-285750">
              <a:spcAft>
                <a:spcPts val="800"/>
              </a:spcAft>
              <a:buClr>
                <a:srgbClr val="FF3300"/>
              </a:buClr>
              <a:buFont typeface="Wingdings" panose="05000000000000000000" pitchFamily="2" charset="2"/>
              <a:buChar char="§"/>
            </a:pPr>
            <a:endParaRPr lang="fr-FR" sz="2400" b="1" dirty="0">
              <a:solidFill>
                <a:schemeClr val="tx1">
                  <a:lumMod val="95000"/>
                  <a:lumOff val="5000"/>
                </a:schemeClr>
              </a:solidFill>
              <a:latin typeface="+mj-lt"/>
            </a:endParaRPr>
          </a:p>
        </p:txBody>
      </p:sp>
      <p:sp>
        <p:nvSpPr>
          <p:cNvPr id="3" name="TextBox 2">
            <a:extLst>
              <a:ext uri="{FF2B5EF4-FFF2-40B4-BE49-F238E27FC236}">
                <a16:creationId xmlns:a16="http://schemas.microsoft.com/office/drawing/2014/main" id="{B479CF96-FE57-A930-AC91-0CE6169F46BC}"/>
              </a:ext>
            </a:extLst>
          </p:cNvPr>
          <p:cNvSpPr txBox="1"/>
          <p:nvPr/>
        </p:nvSpPr>
        <p:spPr>
          <a:xfrm>
            <a:off x="0" y="4423075"/>
            <a:ext cx="12175205" cy="1785104"/>
          </a:xfrm>
          <a:prstGeom prst="rect">
            <a:avLst/>
          </a:prstGeom>
          <a:noFill/>
        </p:spPr>
        <p:txBody>
          <a:bodyPr wrap="square">
            <a:spAutoFit/>
          </a:bodyPr>
          <a:lstStyle/>
          <a:p>
            <a:pPr marL="0" lvl="1" indent="-285750">
              <a:spcAft>
                <a:spcPts val="1200"/>
              </a:spcAft>
              <a:buClr>
                <a:srgbClr val="FF3300"/>
              </a:buClr>
              <a:buFont typeface="Wingdings" panose="05000000000000000000" pitchFamily="2" charset="2"/>
              <a:buChar char="§"/>
            </a:pPr>
            <a:r>
              <a:rPr lang="fr-FR" sz="1600" dirty="0"/>
              <a:t>L'aire sous une courbe ROC (AUC) correspond à l'intégrale de la courbe (valeurs TPR) par rapport aux valeurs FPR de zéro à un.</a:t>
            </a:r>
          </a:p>
          <a:p>
            <a:pPr marL="0" lvl="1" indent="-285750">
              <a:spcAft>
                <a:spcPts val="1200"/>
              </a:spcAft>
              <a:buClr>
                <a:srgbClr val="FF3300"/>
              </a:buClr>
              <a:buFont typeface="Wingdings" panose="05000000000000000000" pitchFamily="2" charset="2"/>
              <a:buChar char="§"/>
            </a:pPr>
            <a:r>
              <a:rPr lang="fr-FR" sz="1600" dirty="0"/>
              <a:t>Des valeurs AUC plus élevées indiquent de meilleures performances de classifieur.</a:t>
            </a:r>
            <a:endParaRPr lang="fr-MA" sz="1600" dirty="0"/>
          </a:p>
          <a:p>
            <a:pPr marL="0" lvl="1" indent="-285750">
              <a:spcAft>
                <a:spcPts val="1200"/>
              </a:spcAft>
              <a:buClr>
                <a:srgbClr val="FF3300"/>
              </a:buClr>
              <a:buFont typeface="Wingdings" panose="05000000000000000000" pitchFamily="2" charset="2"/>
              <a:buChar char="§"/>
            </a:pPr>
            <a:r>
              <a:rPr lang="fr-MA" sz="1600" dirty="0"/>
              <a:t>Un classificateur parfait attribue toujours correctement les observations de classe positives à la classe positive et a un TPR de 1 pour toutes les valeurs de seuil.</a:t>
            </a:r>
          </a:p>
          <a:p>
            <a:pPr marL="0" lvl="1" indent="-285750">
              <a:spcAft>
                <a:spcPts val="1200"/>
              </a:spcAft>
              <a:buClr>
                <a:srgbClr val="FF3300"/>
              </a:buClr>
              <a:buFont typeface="Wingdings" panose="05000000000000000000" pitchFamily="2" charset="2"/>
              <a:buChar char="§"/>
            </a:pPr>
            <a:r>
              <a:rPr lang="fr-MA" sz="1600" dirty="0"/>
              <a:t>Un classificateur aléatoire renvoie des valeurs de score aléatoires et a les mêmes valeurs pour le FPR et le TPR pour toutes les valeurs de seuil.</a:t>
            </a:r>
            <a:endParaRPr lang="fr-FR" sz="1600" b="1" dirty="0">
              <a:solidFill>
                <a:schemeClr val="tx1">
                  <a:lumMod val="95000"/>
                  <a:lumOff val="5000"/>
                </a:schemeClr>
              </a:solidFill>
              <a:latin typeface="+mj-lt"/>
            </a:endParaRPr>
          </a:p>
        </p:txBody>
      </p:sp>
      <p:pic>
        <p:nvPicPr>
          <p:cNvPr id="8" name="Picture 7">
            <a:extLst>
              <a:ext uri="{FF2B5EF4-FFF2-40B4-BE49-F238E27FC236}">
                <a16:creationId xmlns:a16="http://schemas.microsoft.com/office/drawing/2014/main" id="{52B002CA-5FEA-F586-4960-F6FD87D2CAB5}"/>
              </a:ext>
            </a:extLst>
          </p:cNvPr>
          <p:cNvPicPr>
            <a:picLocks noChangeAspect="1"/>
          </p:cNvPicPr>
          <p:nvPr/>
        </p:nvPicPr>
        <p:blipFill>
          <a:blip r:embed="rId2"/>
          <a:stretch>
            <a:fillRect/>
          </a:stretch>
        </p:blipFill>
        <p:spPr>
          <a:xfrm>
            <a:off x="7371501" y="929563"/>
            <a:ext cx="3666613" cy="2922008"/>
          </a:xfrm>
          <a:prstGeom prst="rect">
            <a:avLst/>
          </a:prstGeom>
        </p:spPr>
      </p:pic>
    </p:spTree>
    <p:extLst>
      <p:ext uri="{BB962C8B-B14F-4D97-AF65-F5344CB8AC3E}">
        <p14:creationId xmlns:p14="http://schemas.microsoft.com/office/powerpoint/2010/main" val="839070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necteur droit 3"/>
          <p:cNvCxnSpPr/>
          <p:nvPr/>
        </p:nvCxnSpPr>
        <p:spPr>
          <a:xfrm>
            <a:off x="0" y="708926"/>
            <a:ext cx="12204000" cy="0"/>
          </a:xfrm>
          <a:prstGeom prst="line">
            <a:avLst/>
          </a:prstGeom>
          <a:ln w="6350">
            <a:solidFill>
              <a:srgbClr val="FF0000"/>
            </a:solidFill>
          </a:ln>
        </p:spPr>
        <p:style>
          <a:lnRef idx="2">
            <a:schemeClr val="accent2"/>
          </a:lnRef>
          <a:fillRef idx="0">
            <a:schemeClr val="accent2"/>
          </a:fillRef>
          <a:effectRef idx="1">
            <a:schemeClr val="accent2"/>
          </a:effectRef>
          <a:fontRef idx="minor">
            <a:schemeClr val="tx1"/>
          </a:fontRef>
        </p:style>
      </p:cxnSp>
      <p:sp>
        <p:nvSpPr>
          <p:cNvPr id="5" name="ZoneTexte 4"/>
          <p:cNvSpPr txBox="1"/>
          <p:nvPr/>
        </p:nvSpPr>
        <p:spPr>
          <a:xfrm>
            <a:off x="571503" y="11730"/>
            <a:ext cx="9942396" cy="584775"/>
          </a:xfrm>
          <a:prstGeom prst="rect">
            <a:avLst/>
          </a:prstGeom>
          <a:noFill/>
        </p:spPr>
        <p:txBody>
          <a:bodyPr wrap="square" rtlCol="0">
            <a:spAutoFit/>
          </a:bodyPr>
          <a:lstStyle/>
          <a:p>
            <a:pPr algn="ctr"/>
            <a:r>
              <a:rPr lang="fr-FR" sz="3200" b="1" dirty="0">
                <a:solidFill>
                  <a:schemeClr val="tx1">
                    <a:lumMod val="75000"/>
                    <a:lumOff val="25000"/>
                  </a:schemeClr>
                </a:solidFill>
              </a:rPr>
              <a:t>Mesurer la performance d’un problème de classification</a:t>
            </a:r>
            <a:endParaRPr lang="fr-FR" sz="2400" b="1" dirty="0">
              <a:solidFill>
                <a:srgbClr val="FF0000"/>
              </a:solidFill>
            </a:endParaRPr>
          </a:p>
        </p:txBody>
      </p:sp>
      <p:sp>
        <p:nvSpPr>
          <p:cNvPr id="9" name="ZoneTexte 124">
            <a:extLst>
              <a:ext uri="{FF2B5EF4-FFF2-40B4-BE49-F238E27FC236}">
                <a16:creationId xmlns:a16="http://schemas.microsoft.com/office/drawing/2014/main" id="{8230CE6A-A226-EE8D-26CB-52E9CBF13E2A}"/>
              </a:ext>
            </a:extLst>
          </p:cNvPr>
          <p:cNvSpPr txBox="1"/>
          <p:nvPr/>
        </p:nvSpPr>
        <p:spPr>
          <a:xfrm>
            <a:off x="0" y="818141"/>
            <a:ext cx="12175205" cy="933589"/>
          </a:xfrm>
          <a:prstGeom prst="rect">
            <a:avLst/>
          </a:prstGeom>
          <a:noFill/>
        </p:spPr>
        <p:txBody>
          <a:bodyPr wrap="square" rtlCol="0">
            <a:spAutoFit/>
          </a:bodyPr>
          <a:lstStyle/>
          <a:p>
            <a:pPr marL="0" lvl="1" indent="-285750">
              <a:spcAft>
                <a:spcPts val="800"/>
              </a:spcAft>
              <a:buClr>
                <a:srgbClr val="FF3300"/>
              </a:buClr>
              <a:buFont typeface="Wingdings" panose="05000000000000000000" pitchFamily="2" charset="2"/>
              <a:buChar char="§"/>
            </a:pPr>
            <a:r>
              <a:rPr lang="fr-FR" sz="2400" b="1" dirty="0" err="1">
                <a:solidFill>
                  <a:srgbClr val="0070C0"/>
                </a:solidFill>
                <a:latin typeface="+mj-lt"/>
              </a:rPr>
              <a:t>Auc</a:t>
            </a:r>
            <a:r>
              <a:rPr lang="fr-FR" sz="2400" b="1" dirty="0">
                <a:solidFill>
                  <a:srgbClr val="0070C0"/>
                </a:solidFill>
                <a:latin typeface="+mj-lt"/>
              </a:rPr>
              <a:t> –ROC </a:t>
            </a:r>
            <a:r>
              <a:rPr lang="fr-FR" sz="2400" b="1" dirty="0" err="1">
                <a:solidFill>
                  <a:srgbClr val="0070C0"/>
                </a:solidFill>
                <a:latin typeface="+mj-lt"/>
              </a:rPr>
              <a:t>curve</a:t>
            </a:r>
            <a:endParaRPr lang="fr-FR" sz="2400" b="1" dirty="0">
              <a:solidFill>
                <a:srgbClr val="0070C0"/>
              </a:solidFill>
              <a:latin typeface="+mj-lt"/>
            </a:endParaRPr>
          </a:p>
          <a:p>
            <a:pPr marL="0" lvl="1">
              <a:spcAft>
                <a:spcPts val="800"/>
              </a:spcAft>
              <a:buClr>
                <a:srgbClr val="FF3300"/>
              </a:buClr>
            </a:pPr>
            <a:r>
              <a:rPr lang="fr-FR" sz="2400" b="1" dirty="0">
                <a:solidFill>
                  <a:schemeClr val="tx1">
                    <a:lumMod val="95000"/>
                    <a:lumOff val="5000"/>
                  </a:schemeClr>
                </a:solidFill>
                <a:latin typeface="+mj-lt"/>
              </a:rPr>
              <a:t>Principalement basée sur deux mesures:</a:t>
            </a:r>
          </a:p>
        </p:txBody>
      </p:sp>
      <mc:AlternateContent xmlns:mc="http://schemas.openxmlformats.org/markup-compatibility/2006">
        <mc:Choice xmlns:a14="http://schemas.microsoft.com/office/drawing/2010/main" Requires="a14">
          <p:sp>
            <p:nvSpPr>
              <p:cNvPr id="2" name="ZoneTexte 124">
                <a:extLst>
                  <a:ext uri="{FF2B5EF4-FFF2-40B4-BE49-F238E27FC236}">
                    <a16:creationId xmlns:a16="http://schemas.microsoft.com/office/drawing/2014/main" id="{10429E52-BAA5-6D87-0986-0A82025910D8}"/>
                  </a:ext>
                </a:extLst>
              </p:cNvPr>
              <p:cNvSpPr txBox="1"/>
              <p:nvPr/>
            </p:nvSpPr>
            <p:spPr>
              <a:xfrm>
                <a:off x="-16327" y="1949924"/>
                <a:ext cx="12175205" cy="1096069"/>
              </a:xfrm>
              <a:prstGeom prst="rect">
                <a:avLst/>
              </a:prstGeom>
              <a:noFill/>
            </p:spPr>
            <p:txBody>
              <a:bodyPr wrap="square" rtlCol="0">
                <a:spAutoFit/>
              </a:bodyPr>
              <a:lstStyle/>
              <a:p>
                <a:pPr marL="0" lvl="1" indent="-285750">
                  <a:spcAft>
                    <a:spcPts val="800"/>
                  </a:spcAft>
                  <a:buClr>
                    <a:srgbClr val="FF3300"/>
                  </a:buClr>
                  <a:buFont typeface="Wingdings" panose="05000000000000000000" pitchFamily="2" charset="2"/>
                  <a:buChar char="§"/>
                </a:pPr>
                <a:r>
                  <a:rPr lang="fr-FR" sz="2400" b="1" dirty="0" err="1">
                    <a:solidFill>
                      <a:schemeClr val="tx1">
                        <a:lumMod val="95000"/>
                        <a:lumOff val="5000"/>
                      </a:schemeClr>
                    </a:solidFill>
                  </a:rPr>
                  <a:t>True</a:t>
                </a:r>
                <a:r>
                  <a:rPr lang="fr-FR" sz="2400" b="1" dirty="0">
                    <a:solidFill>
                      <a:schemeClr val="tx1">
                        <a:lumMod val="95000"/>
                        <a:lumOff val="5000"/>
                      </a:schemeClr>
                    </a:solidFill>
                  </a:rPr>
                  <a:t> </a:t>
                </a:r>
                <a:r>
                  <a:rPr lang="fr-FR" sz="2400" b="1" dirty="0" err="1">
                    <a:solidFill>
                      <a:schemeClr val="tx1">
                        <a:lumMod val="95000"/>
                        <a:lumOff val="5000"/>
                      </a:schemeClr>
                    </a:solidFill>
                  </a:rPr>
                  <a:t>Postive</a:t>
                </a:r>
                <a:r>
                  <a:rPr lang="fr-FR" sz="2400" b="1" dirty="0">
                    <a:solidFill>
                      <a:schemeClr val="tx1">
                        <a:lumMod val="95000"/>
                        <a:lumOff val="5000"/>
                      </a:schemeClr>
                    </a:solidFill>
                  </a:rPr>
                  <a:t> Rate</a:t>
                </a:r>
              </a:p>
              <a:p>
                <a:pPr marL="0" lvl="1">
                  <a:spcAft>
                    <a:spcPts val="800"/>
                  </a:spcAft>
                  <a:buClr>
                    <a:srgbClr val="FF3300"/>
                  </a:buClr>
                </a:pPr>
                <a:r>
                  <a:rPr lang="fr-FR" sz="2400" b="1" dirty="0">
                    <a:solidFill>
                      <a:schemeClr val="tx1">
                        <a:lumMod val="95000"/>
                        <a:lumOff val="5000"/>
                      </a:schemeClr>
                    </a:solidFill>
                  </a:rPr>
                  <a:t>TPR=</a:t>
                </a:r>
                <a:r>
                  <a:rPr lang="fr-FR" sz="2400" b="1" dirty="0" err="1">
                    <a:solidFill>
                      <a:schemeClr val="tx1">
                        <a:lumMod val="95000"/>
                        <a:lumOff val="5000"/>
                      </a:schemeClr>
                    </a:solidFill>
                  </a:rPr>
                  <a:t>recall</a:t>
                </a:r>
                <a14:m>
                  <m:oMath xmlns:m="http://schemas.openxmlformats.org/officeDocument/2006/math">
                    <m:r>
                      <a:rPr lang="fr-FR" sz="2400" b="1" i="1" smtClean="0">
                        <a:solidFill>
                          <a:schemeClr val="tx1">
                            <a:lumMod val="95000"/>
                            <a:lumOff val="5000"/>
                          </a:schemeClr>
                        </a:solidFill>
                        <a:latin typeface="Cambria Math" panose="02040503050406030204" pitchFamily="18" charset="0"/>
                      </a:rPr>
                      <m:t>=</m:t>
                    </m:r>
                    <m:f>
                      <m:fPr>
                        <m:ctrlPr>
                          <a:rPr lang="fr-FR" sz="2400" b="1" i="1" smtClean="0">
                            <a:solidFill>
                              <a:schemeClr val="tx1">
                                <a:lumMod val="95000"/>
                                <a:lumOff val="5000"/>
                              </a:schemeClr>
                            </a:solidFill>
                            <a:latin typeface="Cambria Math" panose="02040503050406030204" pitchFamily="18" charset="0"/>
                          </a:rPr>
                        </m:ctrlPr>
                      </m:fPr>
                      <m:num>
                        <m:r>
                          <a:rPr lang="fr-FR" sz="2400" b="1" i="1" smtClean="0">
                            <a:solidFill>
                              <a:schemeClr val="tx1">
                                <a:lumMod val="95000"/>
                                <a:lumOff val="5000"/>
                              </a:schemeClr>
                            </a:solidFill>
                            <a:latin typeface="Cambria Math" panose="02040503050406030204" pitchFamily="18" charset="0"/>
                          </a:rPr>
                          <m:t>𝑻𝑷</m:t>
                        </m:r>
                      </m:num>
                      <m:den>
                        <m:r>
                          <a:rPr lang="fr-FR" sz="2400" b="1" i="1" smtClean="0">
                            <a:solidFill>
                              <a:schemeClr val="tx1">
                                <a:lumMod val="95000"/>
                                <a:lumOff val="5000"/>
                              </a:schemeClr>
                            </a:solidFill>
                            <a:latin typeface="Cambria Math" panose="02040503050406030204" pitchFamily="18" charset="0"/>
                          </a:rPr>
                          <m:t>𝑻𝑷</m:t>
                        </m:r>
                        <m:r>
                          <a:rPr lang="fr-FR" sz="2400" b="1" i="1" smtClean="0">
                            <a:solidFill>
                              <a:schemeClr val="tx1">
                                <a:lumMod val="95000"/>
                                <a:lumOff val="5000"/>
                              </a:schemeClr>
                            </a:solidFill>
                            <a:latin typeface="Cambria Math" panose="02040503050406030204" pitchFamily="18" charset="0"/>
                          </a:rPr>
                          <m:t>+</m:t>
                        </m:r>
                        <m:r>
                          <a:rPr lang="fr-FR" sz="2400" b="1" i="1" smtClean="0">
                            <a:solidFill>
                              <a:schemeClr val="tx1">
                                <a:lumMod val="95000"/>
                                <a:lumOff val="5000"/>
                              </a:schemeClr>
                            </a:solidFill>
                            <a:latin typeface="Cambria Math" panose="02040503050406030204" pitchFamily="18" charset="0"/>
                          </a:rPr>
                          <m:t>𝑭𝑵</m:t>
                        </m:r>
                      </m:den>
                    </m:f>
                  </m:oMath>
                </a14:m>
                <a:endParaRPr lang="fr-FR" sz="2400" b="1" dirty="0">
                  <a:solidFill>
                    <a:schemeClr val="tx1">
                      <a:lumMod val="95000"/>
                      <a:lumOff val="5000"/>
                    </a:schemeClr>
                  </a:solidFill>
                </a:endParaRPr>
              </a:p>
            </p:txBody>
          </p:sp>
        </mc:Choice>
        <mc:Fallback>
          <p:sp>
            <p:nvSpPr>
              <p:cNvPr id="2" name="ZoneTexte 124">
                <a:extLst>
                  <a:ext uri="{FF2B5EF4-FFF2-40B4-BE49-F238E27FC236}">
                    <a16:creationId xmlns:a16="http://schemas.microsoft.com/office/drawing/2014/main" id="{10429E52-BAA5-6D87-0986-0A82025910D8}"/>
                  </a:ext>
                </a:extLst>
              </p:cNvPr>
              <p:cNvSpPr txBox="1">
                <a:spLocks noRot="1" noChangeAspect="1" noMove="1" noResize="1" noEditPoints="1" noAdjustHandles="1" noChangeArrowheads="1" noChangeShapeType="1" noTextEdit="1"/>
              </p:cNvSpPr>
              <p:nvPr/>
            </p:nvSpPr>
            <p:spPr>
              <a:xfrm>
                <a:off x="-16327" y="1949924"/>
                <a:ext cx="12175205" cy="1096069"/>
              </a:xfrm>
              <a:prstGeom prst="rect">
                <a:avLst/>
              </a:prstGeom>
              <a:blipFill>
                <a:blip r:embed="rId2"/>
                <a:stretch>
                  <a:fillRect l="-751" t="-4444" b="-5000"/>
                </a:stretch>
              </a:blipFill>
            </p:spPr>
            <p:txBody>
              <a:bodyPr/>
              <a:lstStyle/>
              <a:p>
                <a:r>
                  <a:rPr lang="fr-MA">
                    <a:noFill/>
                  </a:rPr>
                  <a:t> </a:t>
                </a:r>
              </a:p>
            </p:txBody>
          </p:sp>
        </mc:Fallback>
      </mc:AlternateContent>
      <mc:AlternateContent xmlns:mc="http://schemas.openxmlformats.org/markup-compatibility/2006">
        <mc:Choice xmlns:a14="http://schemas.microsoft.com/office/drawing/2010/main" Requires="a14">
          <p:sp>
            <p:nvSpPr>
              <p:cNvPr id="6" name="ZoneTexte 124">
                <a:extLst>
                  <a:ext uri="{FF2B5EF4-FFF2-40B4-BE49-F238E27FC236}">
                    <a16:creationId xmlns:a16="http://schemas.microsoft.com/office/drawing/2014/main" id="{5F08A24C-5B9E-10BD-0F8D-995A336A7385}"/>
                  </a:ext>
                </a:extLst>
              </p:cNvPr>
              <p:cNvSpPr txBox="1"/>
              <p:nvPr/>
            </p:nvSpPr>
            <p:spPr>
              <a:xfrm>
                <a:off x="28795" y="3303537"/>
                <a:ext cx="12175205" cy="1096069"/>
              </a:xfrm>
              <a:prstGeom prst="rect">
                <a:avLst/>
              </a:prstGeom>
              <a:noFill/>
            </p:spPr>
            <p:txBody>
              <a:bodyPr wrap="square" rtlCol="0">
                <a:spAutoFit/>
              </a:bodyPr>
              <a:lstStyle/>
              <a:p>
                <a:pPr marL="0" lvl="1" indent="-285750">
                  <a:spcAft>
                    <a:spcPts val="800"/>
                  </a:spcAft>
                  <a:buClr>
                    <a:srgbClr val="FF3300"/>
                  </a:buClr>
                  <a:buFont typeface="Wingdings" panose="05000000000000000000" pitchFamily="2" charset="2"/>
                  <a:buChar char="§"/>
                </a:pPr>
                <a:r>
                  <a:rPr lang="fr-FR" sz="2400" b="1" dirty="0">
                    <a:solidFill>
                      <a:schemeClr val="tx1">
                        <a:lumMod val="95000"/>
                        <a:lumOff val="5000"/>
                      </a:schemeClr>
                    </a:solidFill>
                  </a:rPr>
                  <a:t>False </a:t>
                </a:r>
                <a:r>
                  <a:rPr lang="fr-FR" sz="2400" b="1" dirty="0" err="1">
                    <a:solidFill>
                      <a:schemeClr val="tx1">
                        <a:lumMod val="95000"/>
                        <a:lumOff val="5000"/>
                      </a:schemeClr>
                    </a:solidFill>
                  </a:rPr>
                  <a:t>Postive</a:t>
                </a:r>
                <a:r>
                  <a:rPr lang="fr-FR" sz="2400" b="1" dirty="0">
                    <a:solidFill>
                      <a:schemeClr val="tx1">
                        <a:lumMod val="95000"/>
                        <a:lumOff val="5000"/>
                      </a:schemeClr>
                    </a:solidFill>
                  </a:rPr>
                  <a:t> Rate</a:t>
                </a:r>
              </a:p>
              <a:p>
                <a:pPr marL="0" lvl="1">
                  <a:spcAft>
                    <a:spcPts val="800"/>
                  </a:spcAft>
                  <a:buClr>
                    <a:srgbClr val="FF3300"/>
                  </a:buClr>
                </a:pPr>
                <a:r>
                  <a:rPr lang="fr-FR" sz="2400" b="1" dirty="0">
                    <a:solidFill>
                      <a:schemeClr val="tx1">
                        <a:lumMod val="95000"/>
                        <a:lumOff val="5000"/>
                      </a:schemeClr>
                    </a:solidFill>
                  </a:rPr>
                  <a:t>FPR</a:t>
                </a:r>
                <a14:m>
                  <m:oMath xmlns:m="http://schemas.openxmlformats.org/officeDocument/2006/math">
                    <m:r>
                      <a:rPr lang="fr-FR" sz="2400" b="1" i="1" smtClean="0">
                        <a:solidFill>
                          <a:schemeClr val="tx1">
                            <a:lumMod val="95000"/>
                            <a:lumOff val="5000"/>
                          </a:schemeClr>
                        </a:solidFill>
                        <a:latin typeface="Cambria Math" panose="02040503050406030204" pitchFamily="18" charset="0"/>
                      </a:rPr>
                      <m:t>=</m:t>
                    </m:r>
                    <m:f>
                      <m:fPr>
                        <m:ctrlPr>
                          <a:rPr lang="fr-FR" sz="2400" b="1" i="1" smtClean="0">
                            <a:solidFill>
                              <a:schemeClr val="tx1">
                                <a:lumMod val="95000"/>
                                <a:lumOff val="5000"/>
                              </a:schemeClr>
                            </a:solidFill>
                            <a:latin typeface="Cambria Math" panose="02040503050406030204" pitchFamily="18" charset="0"/>
                          </a:rPr>
                        </m:ctrlPr>
                      </m:fPr>
                      <m:num>
                        <m:r>
                          <a:rPr lang="fr-FR" sz="2400" b="1" i="1" smtClean="0">
                            <a:solidFill>
                              <a:schemeClr val="tx1">
                                <a:lumMod val="95000"/>
                                <a:lumOff val="5000"/>
                              </a:schemeClr>
                            </a:solidFill>
                            <a:latin typeface="Cambria Math" panose="02040503050406030204" pitchFamily="18" charset="0"/>
                          </a:rPr>
                          <m:t>𝑭</m:t>
                        </m:r>
                        <m:r>
                          <a:rPr lang="fr-FR" sz="2400" b="1" i="1" smtClean="0">
                            <a:solidFill>
                              <a:schemeClr val="tx1">
                                <a:lumMod val="95000"/>
                                <a:lumOff val="5000"/>
                              </a:schemeClr>
                            </a:solidFill>
                            <a:latin typeface="Cambria Math" panose="02040503050406030204" pitchFamily="18" charset="0"/>
                          </a:rPr>
                          <m:t>𝑷</m:t>
                        </m:r>
                      </m:num>
                      <m:den>
                        <m:r>
                          <a:rPr lang="fr-FR" sz="2400" b="1" i="1" smtClean="0">
                            <a:solidFill>
                              <a:schemeClr val="tx1">
                                <a:lumMod val="95000"/>
                                <a:lumOff val="5000"/>
                              </a:schemeClr>
                            </a:solidFill>
                            <a:latin typeface="Cambria Math" panose="02040503050406030204" pitchFamily="18" charset="0"/>
                          </a:rPr>
                          <m:t>𝑻</m:t>
                        </m:r>
                        <m:r>
                          <a:rPr lang="fr-FR" sz="2400" b="1" i="1" smtClean="0">
                            <a:solidFill>
                              <a:schemeClr val="tx1">
                                <a:lumMod val="95000"/>
                                <a:lumOff val="5000"/>
                              </a:schemeClr>
                            </a:solidFill>
                            <a:latin typeface="Cambria Math" panose="02040503050406030204" pitchFamily="18" charset="0"/>
                          </a:rPr>
                          <m:t>𝑵</m:t>
                        </m:r>
                        <m:r>
                          <a:rPr lang="fr-FR" sz="2400" b="1" i="1" smtClean="0">
                            <a:solidFill>
                              <a:schemeClr val="tx1">
                                <a:lumMod val="95000"/>
                                <a:lumOff val="5000"/>
                              </a:schemeClr>
                            </a:solidFill>
                            <a:latin typeface="Cambria Math" panose="02040503050406030204" pitchFamily="18" charset="0"/>
                          </a:rPr>
                          <m:t>+</m:t>
                        </m:r>
                        <m:r>
                          <a:rPr lang="fr-FR" sz="2400" b="1" i="1" smtClean="0">
                            <a:solidFill>
                              <a:schemeClr val="tx1">
                                <a:lumMod val="95000"/>
                                <a:lumOff val="5000"/>
                              </a:schemeClr>
                            </a:solidFill>
                            <a:latin typeface="Cambria Math" panose="02040503050406030204" pitchFamily="18" charset="0"/>
                          </a:rPr>
                          <m:t>𝑭𝑵</m:t>
                        </m:r>
                      </m:den>
                    </m:f>
                  </m:oMath>
                </a14:m>
                <a:endParaRPr lang="fr-FR" sz="2400" b="1" dirty="0">
                  <a:solidFill>
                    <a:schemeClr val="tx1">
                      <a:lumMod val="95000"/>
                      <a:lumOff val="5000"/>
                    </a:schemeClr>
                  </a:solidFill>
                </a:endParaRPr>
              </a:p>
            </p:txBody>
          </p:sp>
        </mc:Choice>
        <mc:Fallback>
          <p:sp>
            <p:nvSpPr>
              <p:cNvPr id="6" name="ZoneTexte 124">
                <a:extLst>
                  <a:ext uri="{FF2B5EF4-FFF2-40B4-BE49-F238E27FC236}">
                    <a16:creationId xmlns:a16="http://schemas.microsoft.com/office/drawing/2014/main" id="{5F08A24C-5B9E-10BD-0F8D-995A336A7385}"/>
                  </a:ext>
                </a:extLst>
              </p:cNvPr>
              <p:cNvSpPr txBox="1">
                <a:spLocks noRot="1" noChangeAspect="1" noMove="1" noResize="1" noEditPoints="1" noAdjustHandles="1" noChangeArrowheads="1" noChangeShapeType="1" noTextEdit="1"/>
              </p:cNvSpPr>
              <p:nvPr/>
            </p:nvSpPr>
            <p:spPr>
              <a:xfrm>
                <a:off x="28795" y="3303537"/>
                <a:ext cx="12175205" cy="1096069"/>
              </a:xfrm>
              <a:prstGeom prst="rect">
                <a:avLst/>
              </a:prstGeom>
              <a:blipFill>
                <a:blip r:embed="rId3"/>
                <a:stretch>
                  <a:fillRect l="-801" t="-4444" b="-5000"/>
                </a:stretch>
              </a:blipFill>
            </p:spPr>
            <p:txBody>
              <a:bodyPr/>
              <a:lstStyle/>
              <a:p>
                <a:r>
                  <a:rPr lang="fr-MA">
                    <a:noFill/>
                  </a:rPr>
                  <a:t> </a:t>
                </a:r>
              </a:p>
            </p:txBody>
          </p:sp>
        </mc:Fallback>
      </mc:AlternateContent>
      <p:graphicFrame>
        <p:nvGraphicFramePr>
          <p:cNvPr id="12" name="Table 11">
            <a:extLst>
              <a:ext uri="{FF2B5EF4-FFF2-40B4-BE49-F238E27FC236}">
                <a16:creationId xmlns:a16="http://schemas.microsoft.com/office/drawing/2014/main" id="{88D8384A-27B1-11C5-0935-0B7A59366057}"/>
              </a:ext>
            </a:extLst>
          </p:cNvPr>
          <p:cNvGraphicFramePr>
            <a:graphicFrameLocks noGrp="1"/>
          </p:cNvGraphicFramePr>
          <p:nvPr>
            <p:extLst>
              <p:ext uri="{D42A27DB-BD31-4B8C-83A1-F6EECF244321}">
                <p14:modId xmlns:p14="http://schemas.microsoft.com/office/powerpoint/2010/main" val="2344455881"/>
              </p:ext>
            </p:extLst>
          </p:nvPr>
        </p:nvGraphicFramePr>
        <p:xfrm>
          <a:off x="5065461" y="1682142"/>
          <a:ext cx="7093418" cy="4483766"/>
        </p:xfrm>
        <a:graphic>
          <a:graphicData uri="http://schemas.openxmlformats.org/drawingml/2006/table">
            <a:tbl>
              <a:tblPr/>
              <a:tblGrid>
                <a:gridCol w="1449639">
                  <a:extLst>
                    <a:ext uri="{9D8B030D-6E8A-4147-A177-3AD203B41FA5}">
                      <a16:colId xmlns:a16="http://schemas.microsoft.com/office/drawing/2014/main" val="3434989912"/>
                    </a:ext>
                  </a:extLst>
                </a:gridCol>
                <a:gridCol w="1697243">
                  <a:extLst>
                    <a:ext uri="{9D8B030D-6E8A-4147-A177-3AD203B41FA5}">
                      <a16:colId xmlns:a16="http://schemas.microsoft.com/office/drawing/2014/main" val="385112621"/>
                    </a:ext>
                  </a:extLst>
                </a:gridCol>
                <a:gridCol w="3946536">
                  <a:extLst>
                    <a:ext uri="{9D8B030D-6E8A-4147-A177-3AD203B41FA5}">
                      <a16:colId xmlns:a16="http://schemas.microsoft.com/office/drawing/2014/main" val="2794497175"/>
                    </a:ext>
                  </a:extLst>
                </a:gridCol>
              </a:tblGrid>
              <a:tr h="189189">
                <a:tc>
                  <a:txBody>
                    <a:bodyPr/>
                    <a:lstStyle/>
                    <a:p>
                      <a:pPr fontAlgn="b"/>
                      <a:r>
                        <a:rPr lang="fr-MA" sz="1800" b="1">
                          <a:effectLst/>
                        </a:rPr>
                        <a:t>Métrique</a:t>
                      </a:r>
                    </a:p>
                  </a:txBody>
                  <a:tcPr marL="47297" marR="47297" marT="23649" marB="23649" anchor="b">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9525"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
                      <a:r>
                        <a:rPr lang="fr-MA" sz="1800" b="1">
                          <a:effectLst/>
                        </a:rPr>
                        <a:t>Formule</a:t>
                      </a:r>
                    </a:p>
                  </a:txBody>
                  <a:tcPr marL="47297" marR="47297" marT="23649" marB="23649" anchor="b">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9525"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
                      <a:r>
                        <a:rPr lang="fr-MA" sz="1800" b="1">
                          <a:effectLst/>
                        </a:rPr>
                        <a:t>Description</a:t>
                      </a:r>
                    </a:p>
                  </a:txBody>
                  <a:tcPr marL="47297" marR="47297" marT="23649" marB="23649" anchor="b">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9525"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4175103946"/>
                  </a:ext>
                </a:extLst>
              </a:tr>
              <a:tr h="1040537">
                <a:tc>
                  <a:txBody>
                    <a:bodyPr/>
                    <a:lstStyle/>
                    <a:p>
                      <a:pPr fontAlgn="base"/>
                      <a:r>
                        <a:rPr lang="fr-MA" sz="1800">
                          <a:effectLst/>
                        </a:rPr>
                        <a:t>TPR (recall)</a:t>
                      </a:r>
                    </a:p>
                  </a:txBody>
                  <a:tcPr marL="47297" marR="47297" marT="23649" marB="23649"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fr-MA" sz="1800">
                          <a:effectLst/>
                        </a:rPr>
                        <a:t>TP / (TP + FN)</a:t>
                      </a:r>
                    </a:p>
                  </a:txBody>
                  <a:tcPr marL="47297" marR="47297" marT="23649" marB="23649"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fr-FR" sz="1800">
                          <a:effectLst/>
                        </a:rPr>
                        <a:t>Proportion d'échantillons positifs correctement classés par rapport à l'ensemble des positifs</a:t>
                      </a:r>
                    </a:p>
                  </a:txBody>
                  <a:tcPr marL="47297" marR="47297" marT="23649" marB="23649"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4036941252"/>
                  </a:ext>
                </a:extLst>
              </a:tr>
              <a:tr h="1040537">
                <a:tc>
                  <a:txBody>
                    <a:bodyPr/>
                    <a:lstStyle/>
                    <a:p>
                      <a:pPr fontAlgn="base"/>
                      <a:r>
                        <a:rPr lang="fr-MA" sz="1800" dirty="0">
                          <a:effectLst/>
                        </a:rPr>
                        <a:t>FPR</a:t>
                      </a:r>
                    </a:p>
                  </a:txBody>
                  <a:tcPr marL="47297" marR="47297" marT="23649" marB="23649"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fr-MA" sz="1800">
                          <a:effectLst/>
                        </a:rPr>
                        <a:t>FP / (FP + TN)</a:t>
                      </a:r>
                    </a:p>
                  </a:txBody>
                  <a:tcPr marL="47297" marR="47297" marT="23649" marB="23649"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fr-FR" sz="1800">
                          <a:effectLst/>
                        </a:rPr>
                        <a:t>Proportion d'échantillons négatifs incorrectement classés par rapport à l'ensemble des négatifs</a:t>
                      </a:r>
                    </a:p>
                  </a:txBody>
                  <a:tcPr marL="47297" marR="47297" marT="23649" marB="23649"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2535344767"/>
                  </a:ext>
                </a:extLst>
              </a:tr>
              <a:tr h="1040537">
                <a:tc>
                  <a:txBody>
                    <a:bodyPr/>
                    <a:lstStyle/>
                    <a:p>
                      <a:pPr fontAlgn="base"/>
                      <a:r>
                        <a:rPr lang="fr-MA" sz="1800" dirty="0">
                          <a:effectLst/>
                        </a:rPr>
                        <a:t>Précision</a:t>
                      </a:r>
                    </a:p>
                  </a:txBody>
                  <a:tcPr marL="47297" marR="47297" marT="23649" marB="23649"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fr-MA" sz="1800">
                          <a:effectLst/>
                        </a:rPr>
                        <a:t>TP / (TP + FP)</a:t>
                      </a:r>
                    </a:p>
                  </a:txBody>
                  <a:tcPr marL="47297" marR="47297" marT="23649" marB="23649"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tc>
                  <a:txBody>
                    <a:bodyPr/>
                    <a:lstStyle/>
                    <a:p>
                      <a:pPr fontAlgn="base"/>
                      <a:r>
                        <a:rPr lang="fr-FR" sz="1800">
                          <a:effectLst/>
                        </a:rPr>
                        <a:t>Proportion d'échantillons positifs correctement classés par rapport à l'ensemble des prédictions</a:t>
                      </a:r>
                    </a:p>
                  </a:txBody>
                  <a:tcPr marL="47297" marR="47297" marT="23649" marB="23649"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4138557103"/>
                  </a:ext>
                </a:extLst>
              </a:tr>
              <a:tr h="1040537">
                <a:tc>
                  <a:txBody>
                    <a:bodyPr/>
                    <a:lstStyle/>
                    <a:p>
                      <a:pPr fontAlgn="base"/>
                      <a:r>
                        <a:rPr lang="fr-MA" sz="1800">
                          <a:effectLst/>
                        </a:rPr>
                        <a:t>Spécificité</a:t>
                      </a:r>
                    </a:p>
                  </a:txBody>
                  <a:tcPr marL="47297" marR="47297" marT="23649" marB="23649"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9525" cap="flat" cmpd="sng" algn="ctr">
                      <a:solidFill>
                        <a:srgbClr val="D9D9E3"/>
                      </a:solidFill>
                      <a:prstDash val="solid"/>
                      <a:round/>
                      <a:headEnd type="none" w="med" len="med"/>
                      <a:tailEnd type="none" w="med" len="med"/>
                    </a:lnB>
                    <a:solidFill>
                      <a:srgbClr val="F7F7F8"/>
                    </a:solidFill>
                  </a:tcPr>
                </a:tc>
                <a:tc>
                  <a:txBody>
                    <a:bodyPr/>
                    <a:lstStyle/>
                    <a:p>
                      <a:pPr fontAlgn="base"/>
                      <a:r>
                        <a:rPr lang="fr-MA" sz="1800">
                          <a:effectLst/>
                        </a:rPr>
                        <a:t>TN / (TN + FP)</a:t>
                      </a:r>
                    </a:p>
                  </a:txBody>
                  <a:tcPr marL="47297" marR="47297" marT="23649" marB="23649"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9525" cap="flat" cmpd="sng" algn="ctr">
                      <a:solidFill>
                        <a:srgbClr val="D9D9E3"/>
                      </a:solidFill>
                      <a:prstDash val="solid"/>
                      <a:round/>
                      <a:headEnd type="none" w="med" len="med"/>
                      <a:tailEnd type="none" w="med" len="med"/>
                    </a:lnB>
                    <a:solidFill>
                      <a:srgbClr val="F7F7F8"/>
                    </a:solidFill>
                  </a:tcPr>
                </a:tc>
                <a:tc>
                  <a:txBody>
                    <a:bodyPr/>
                    <a:lstStyle/>
                    <a:p>
                      <a:pPr fontAlgn="base"/>
                      <a:r>
                        <a:rPr lang="fr-FR" sz="1800" dirty="0">
                          <a:effectLst/>
                        </a:rPr>
                        <a:t>Proportion d'échantillons négatifs correctement classés par rapport à l'ensemble des négatifs</a:t>
                      </a:r>
                    </a:p>
                  </a:txBody>
                  <a:tcPr marL="47297" marR="47297" marT="23649" marB="23649" anchor="ctr">
                    <a:lnL w="9525" cap="flat" cmpd="sng" algn="ctr">
                      <a:solidFill>
                        <a:srgbClr val="D9D9E3"/>
                      </a:solidFill>
                      <a:prstDash val="solid"/>
                      <a:round/>
                      <a:headEnd type="none" w="med" len="med"/>
                      <a:tailEnd type="none" w="med" len="med"/>
                    </a:lnL>
                    <a:lnR w="9525"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9525" cap="flat" cmpd="sng" algn="ctr">
                      <a:solidFill>
                        <a:srgbClr val="D9D9E3"/>
                      </a:solidFill>
                      <a:prstDash val="solid"/>
                      <a:round/>
                      <a:headEnd type="none" w="med" len="med"/>
                      <a:tailEnd type="none" w="med" len="med"/>
                    </a:lnB>
                    <a:solidFill>
                      <a:srgbClr val="F7F7F8"/>
                    </a:solidFill>
                  </a:tcPr>
                </a:tc>
                <a:extLst>
                  <a:ext uri="{0D108BD9-81ED-4DB2-BD59-A6C34878D82A}">
                    <a16:rowId xmlns:a16="http://schemas.microsoft.com/office/drawing/2014/main" val="3357213008"/>
                  </a:ext>
                </a:extLst>
              </a:tr>
            </a:tbl>
          </a:graphicData>
        </a:graphic>
      </p:graphicFrame>
    </p:spTree>
    <p:extLst>
      <p:ext uri="{BB962C8B-B14F-4D97-AF65-F5344CB8AC3E}">
        <p14:creationId xmlns:p14="http://schemas.microsoft.com/office/powerpoint/2010/main" val="2573480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8E4A2B8-4473-4A79-36C0-6EE6621E413B}"/>
              </a:ext>
            </a:extLst>
          </p:cNvPr>
          <p:cNvSpPr txBox="1"/>
          <p:nvPr/>
        </p:nvSpPr>
        <p:spPr>
          <a:xfrm>
            <a:off x="175531" y="117707"/>
            <a:ext cx="8837839" cy="369332"/>
          </a:xfrm>
          <a:prstGeom prst="rect">
            <a:avLst/>
          </a:prstGeom>
          <a:noFill/>
        </p:spPr>
        <p:txBody>
          <a:bodyPr wrap="square">
            <a:spAutoFit/>
          </a:bodyPr>
          <a:lstStyle/>
          <a:p>
            <a:pPr algn="l"/>
            <a:r>
              <a:rPr lang="en-US" b="1" i="0" dirty="0">
                <a:solidFill>
                  <a:schemeClr val="tx1">
                    <a:lumMod val="95000"/>
                    <a:lumOff val="5000"/>
                  </a:schemeClr>
                </a:solidFill>
                <a:effectLst/>
                <a:latin typeface="IBM Plex Sans" panose="020F0502020204030204" pitchFamily="34" charset="0"/>
              </a:rPr>
              <a:t>Model selection in machine learning (choosing model validation strategy)</a:t>
            </a:r>
          </a:p>
        </p:txBody>
      </p:sp>
      <p:sp>
        <p:nvSpPr>
          <p:cNvPr id="7" name="TextBox 6">
            <a:extLst>
              <a:ext uri="{FF2B5EF4-FFF2-40B4-BE49-F238E27FC236}">
                <a16:creationId xmlns:a16="http://schemas.microsoft.com/office/drawing/2014/main" id="{40D4E2D1-A57B-7C2F-1AA0-43E1E17A0906}"/>
              </a:ext>
            </a:extLst>
          </p:cNvPr>
          <p:cNvSpPr txBox="1"/>
          <p:nvPr/>
        </p:nvSpPr>
        <p:spPr>
          <a:xfrm>
            <a:off x="175531" y="1562491"/>
            <a:ext cx="6098720" cy="369332"/>
          </a:xfrm>
          <a:prstGeom prst="rect">
            <a:avLst/>
          </a:prstGeom>
          <a:noFill/>
        </p:spPr>
        <p:txBody>
          <a:bodyPr wrap="square">
            <a:spAutoFit/>
          </a:bodyPr>
          <a:lstStyle/>
          <a:p>
            <a:pPr algn="l"/>
            <a:r>
              <a:rPr lang="fr-MA" b="1" i="0" dirty="0" err="1">
                <a:solidFill>
                  <a:schemeClr val="tx1">
                    <a:lumMod val="95000"/>
                    <a:lumOff val="5000"/>
                  </a:schemeClr>
                </a:solidFill>
                <a:effectLst/>
                <a:latin typeface="IBM Plex Sans" panose="020B0503050203000203" pitchFamily="34" charset="0"/>
              </a:rPr>
              <a:t>Resampling</a:t>
            </a:r>
            <a:r>
              <a:rPr lang="fr-MA" b="1" i="0" dirty="0">
                <a:solidFill>
                  <a:schemeClr val="tx1">
                    <a:lumMod val="95000"/>
                    <a:lumOff val="5000"/>
                  </a:schemeClr>
                </a:solidFill>
                <a:effectLst/>
                <a:latin typeface="IBM Plex Sans" panose="020B0503050203000203" pitchFamily="34" charset="0"/>
              </a:rPr>
              <a:t> </a:t>
            </a:r>
            <a:r>
              <a:rPr lang="fr-MA" b="1" i="0" dirty="0" err="1">
                <a:solidFill>
                  <a:schemeClr val="tx1">
                    <a:lumMod val="95000"/>
                    <a:lumOff val="5000"/>
                  </a:schemeClr>
                </a:solidFill>
                <a:effectLst/>
                <a:latin typeface="IBM Plex Sans" panose="020B0503050203000203" pitchFamily="34" charset="0"/>
              </a:rPr>
              <a:t>methods</a:t>
            </a:r>
            <a:r>
              <a:rPr lang="fr-MA" b="1" i="0" dirty="0">
                <a:solidFill>
                  <a:schemeClr val="tx1">
                    <a:lumMod val="95000"/>
                    <a:lumOff val="5000"/>
                  </a:schemeClr>
                </a:solidFill>
                <a:effectLst/>
                <a:latin typeface="IBM Plex Sans" panose="020B0503050203000203" pitchFamily="34" charset="0"/>
              </a:rPr>
              <a:t> (méthodes de </a:t>
            </a:r>
            <a:r>
              <a:rPr lang="fr-MA" b="1" i="0" dirty="0" err="1">
                <a:solidFill>
                  <a:schemeClr val="tx1">
                    <a:lumMod val="95000"/>
                    <a:lumOff val="5000"/>
                  </a:schemeClr>
                </a:solidFill>
                <a:effectLst/>
                <a:latin typeface="IBM Plex Sans" panose="020B0503050203000203" pitchFamily="34" charset="0"/>
              </a:rPr>
              <a:t>rééchantionnage</a:t>
            </a:r>
            <a:r>
              <a:rPr lang="fr-MA" b="1" i="0" dirty="0">
                <a:solidFill>
                  <a:schemeClr val="tx1">
                    <a:lumMod val="95000"/>
                    <a:lumOff val="5000"/>
                  </a:schemeClr>
                </a:solidFill>
                <a:effectLst/>
                <a:latin typeface="IBM Plex Sans" panose="020B0503050203000203" pitchFamily="34" charset="0"/>
              </a:rPr>
              <a:t>)</a:t>
            </a:r>
          </a:p>
        </p:txBody>
      </p:sp>
      <p:sp>
        <p:nvSpPr>
          <p:cNvPr id="9" name="TextBox 8">
            <a:extLst>
              <a:ext uri="{FF2B5EF4-FFF2-40B4-BE49-F238E27FC236}">
                <a16:creationId xmlns:a16="http://schemas.microsoft.com/office/drawing/2014/main" id="{128F4CE9-CE1B-4F56-80CF-04AC665BBE52}"/>
              </a:ext>
            </a:extLst>
          </p:cNvPr>
          <p:cNvSpPr txBox="1"/>
          <p:nvPr/>
        </p:nvSpPr>
        <p:spPr>
          <a:xfrm>
            <a:off x="0" y="2551837"/>
            <a:ext cx="12192000" cy="3016210"/>
          </a:xfrm>
          <a:prstGeom prst="rect">
            <a:avLst/>
          </a:prstGeom>
          <a:noFill/>
        </p:spPr>
        <p:txBody>
          <a:bodyPr wrap="square">
            <a:spAutoFit/>
          </a:bodyPr>
          <a:lstStyle/>
          <a:p>
            <a:pPr marL="342900" indent="-342900">
              <a:spcBef>
                <a:spcPts val="1200"/>
              </a:spcBef>
              <a:buFont typeface="Wingdings" panose="05000000000000000000" pitchFamily="2" charset="2"/>
              <a:buChar char="§"/>
            </a:pPr>
            <a:r>
              <a:rPr lang="fr-MA" sz="2000" dirty="0"/>
              <a:t>Se sont des techniques simples de réorganisation des échantillons de données pour vérifier si le modèle fonctionne bien sur des échantillons de données sur lesquels il n'a pas été formé.</a:t>
            </a:r>
          </a:p>
          <a:p>
            <a:pPr marL="342900" indent="-342900">
              <a:spcBef>
                <a:spcPts val="1200"/>
              </a:spcBef>
              <a:buFont typeface="Wingdings" panose="05000000000000000000" pitchFamily="2" charset="2"/>
              <a:buChar char="§"/>
            </a:pPr>
            <a:r>
              <a:rPr lang="fr-MA" sz="2000" dirty="0"/>
              <a:t>Le rééchantillonnage nous aide à comprendre si le modèle se généralisera bien.</a:t>
            </a:r>
          </a:p>
          <a:p>
            <a:pPr marL="342900" indent="-342900">
              <a:spcBef>
                <a:spcPts val="1200"/>
              </a:spcBef>
              <a:buFont typeface="Wingdings" panose="05000000000000000000" pitchFamily="2" charset="2"/>
              <a:buChar char="§"/>
            </a:pPr>
            <a:r>
              <a:rPr lang="fr-MA" sz="2000" b="1" i="0" dirty="0" err="1">
                <a:solidFill>
                  <a:srgbClr val="0070C0"/>
                </a:solidFill>
                <a:effectLst/>
                <a:latin typeface="IBM Plex Sans" panose="020B0503050203000203" pitchFamily="34" charset="0"/>
              </a:rPr>
              <a:t>Random</a:t>
            </a:r>
            <a:r>
              <a:rPr lang="fr-MA" sz="2000" b="1" i="0" dirty="0">
                <a:solidFill>
                  <a:srgbClr val="0070C0"/>
                </a:solidFill>
                <a:effectLst/>
                <a:latin typeface="IBM Plex Sans" panose="020B0503050203000203" pitchFamily="34" charset="0"/>
              </a:rPr>
              <a:t> Split</a:t>
            </a:r>
          </a:p>
          <a:p>
            <a:pPr marL="342900" indent="-342900">
              <a:spcBef>
                <a:spcPts val="1200"/>
              </a:spcBef>
              <a:buFont typeface="Wingdings" panose="05000000000000000000" pitchFamily="2" charset="2"/>
              <a:buChar char="§"/>
            </a:pPr>
            <a:r>
              <a:rPr lang="fr-MA" sz="2000" b="1" i="0" dirty="0">
                <a:solidFill>
                  <a:srgbClr val="0070C0"/>
                </a:solidFill>
                <a:effectLst/>
                <a:latin typeface="IBM Plex Sans" panose="020B0503050203000203" pitchFamily="34" charset="0"/>
              </a:rPr>
              <a:t>Time-</a:t>
            </a:r>
            <a:r>
              <a:rPr lang="fr-MA" sz="2000" b="1" i="0" dirty="0" err="1">
                <a:solidFill>
                  <a:srgbClr val="0070C0"/>
                </a:solidFill>
                <a:effectLst/>
                <a:latin typeface="IBM Plex Sans" panose="020B0503050203000203" pitchFamily="34" charset="0"/>
              </a:rPr>
              <a:t>Based</a:t>
            </a:r>
            <a:r>
              <a:rPr lang="fr-MA" sz="2000" b="1" i="0" dirty="0">
                <a:solidFill>
                  <a:srgbClr val="0070C0"/>
                </a:solidFill>
                <a:effectLst/>
                <a:latin typeface="IBM Plex Sans" panose="020B0503050203000203" pitchFamily="34" charset="0"/>
              </a:rPr>
              <a:t> Split</a:t>
            </a:r>
          </a:p>
          <a:p>
            <a:pPr marL="342900" indent="-342900">
              <a:spcBef>
                <a:spcPts val="1200"/>
              </a:spcBef>
              <a:buFont typeface="Wingdings" panose="05000000000000000000" pitchFamily="2" charset="2"/>
              <a:buChar char="§"/>
            </a:pPr>
            <a:r>
              <a:rPr lang="fr-MA" sz="2000" b="1" i="0" dirty="0">
                <a:solidFill>
                  <a:srgbClr val="0070C0"/>
                </a:solidFill>
                <a:effectLst/>
                <a:latin typeface="IBM Plex Sans" panose="020B0503050203000203" pitchFamily="34" charset="0"/>
              </a:rPr>
              <a:t>K-</a:t>
            </a:r>
            <a:r>
              <a:rPr lang="fr-MA" sz="2000" b="1" i="0" dirty="0" err="1">
                <a:solidFill>
                  <a:srgbClr val="0070C0"/>
                </a:solidFill>
                <a:effectLst/>
                <a:latin typeface="IBM Plex Sans" panose="020B0503050203000203" pitchFamily="34" charset="0"/>
              </a:rPr>
              <a:t>Fold</a:t>
            </a:r>
            <a:r>
              <a:rPr lang="fr-MA" sz="2000" b="1" i="0" dirty="0">
                <a:solidFill>
                  <a:srgbClr val="0070C0"/>
                </a:solidFill>
                <a:effectLst/>
                <a:latin typeface="IBM Plex Sans" panose="020B0503050203000203" pitchFamily="34" charset="0"/>
              </a:rPr>
              <a:t> Cross-Validation</a:t>
            </a:r>
          </a:p>
          <a:p>
            <a:pPr marL="342900" indent="-342900">
              <a:spcBef>
                <a:spcPts val="1200"/>
              </a:spcBef>
              <a:buFont typeface="Wingdings" panose="05000000000000000000" pitchFamily="2" charset="2"/>
              <a:buChar char="§"/>
            </a:pPr>
            <a:endParaRPr lang="fr-MA" sz="2000" dirty="0"/>
          </a:p>
        </p:txBody>
      </p:sp>
    </p:spTree>
    <p:extLst>
      <p:ext uri="{BB962C8B-B14F-4D97-AF65-F5344CB8AC3E}">
        <p14:creationId xmlns:p14="http://schemas.microsoft.com/office/powerpoint/2010/main" val="1443916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8E4A2B8-4473-4A79-36C0-6EE6621E413B}"/>
              </a:ext>
            </a:extLst>
          </p:cNvPr>
          <p:cNvSpPr txBox="1"/>
          <p:nvPr/>
        </p:nvSpPr>
        <p:spPr>
          <a:xfrm>
            <a:off x="175531" y="117707"/>
            <a:ext cx="8837839" cy="369332"/>
          </a:xfrm>
          <a:prstGeom prst="rect">
            <a:avLst/>
          </a:prstGeom>
          <a:noFill/>
        </p:spPr>
        <p:txBody>
          <a:bodyPr wrap="square">
            <a:spAutoFit/>
          </a:bodyPr>
          <a:lstStyle/>
          <a:p>
            <a:pPr algn="l"/>
            <a:r>
              <a:rPr lang="en-US" b="1" i="0" dirty="0">
                <a:solidFill>
                  <a:schemeClr val="tx1">
                    <a:lumMod val="95000"/>
                    <a:lumOff val="5000"/>
                  </a:schemeClr>
                </a:solidFill>
                <a:effectLst/>
                <a:latin typeface="IBM Plex Sans" panose="020F0502020204030204" pitchFamily="34" charset="0"/>
              </a:rPr>
              <a:t>Model selection in machine learning (choosing model validation strategy)</a:t>
            </a:r>
          </a:p>
        </p:txBody>
      </p:sp>
      <p:sp>
        <p:nvSpPr>
          <p:cNvPr id="7" name="TextBox 6">
            <a:extLst>
              <a:ext uri="{FF2B5EF4-FFF2-40B4-BE49-F238E27FC236}">
                <a16:creationId xmlns:a16="http://schemas.microsoft.com/office/drawing/2014/main" id="{40D4E2D1-A57B-7C2F-1AA0-43E1E17A0906}"/>
              </a:ext>
            </a:extLst>
          </p:cNvPr>
          <p:cNvSpPr txBox="1"/>
          <p:nvPr/>
        </p:nvSpPr>
        <p:spPr>
          <a:xfrm>
            <a:off x="175531" y="1562491"/>
            <a:ext cx="6098720" cy="369332"/>
          </a:xfrm>
          <a:prstGeom prst="rect">
            <a:avLst/>
          </a:prstGeom>
          <a:noFill/>
        </p:spPr>
        <p:txBody>
          <a:bodyPr wrap="square">
            <a:spAutoFit/>
          </a:bodyPr>
          <a:lstStyle/>
          <a:p>
            <a:pPr algn="l"/>
            <a:r>
              <a:rPr lang="fr-MA" b="1" i="0" dirty="0" err="1">
                <a:solidFill>
                  <a:schemeClr val="tx1">
                    <a:lumMod val="95000"/>
                    <a:lumOff val="5000"/>
                  </a:schemeClr>
                </a:solidFill>
                <a:effectLst/>
                <a:latin typeface="IBM Plex Sans" panose="020B0503050203000203" pitchFamily="34" charset="0"/>
              </a:rPr>
              <a:t>Resampling</a:t>
            </a:r>
            <a:r>
              <a:rPr lang="fr-MA" b="1" i="0" dirty="0">
                <a:solidFill>
                  <a:schemeClr val="tx1">
                    <a:lumMod val="95000"/>
                    <a:lumOff val="5000"/>
                  </a:schemeClr>
                </a:solidFill>
                <a:effectLst/>
                <a:latin typeface="IBM Plex Sans" panose="020B0503050203000203" pitchFamily="34" charset="0"/>
              </a:rPr>
              <a:t> </a:t>
            </a:r>
            <a:r>
              <a:rPr lang="fr-MA" b="1" i="0" dirty="0" err="1">
                <a:solidFill>
                  <a:schemeClr val="tx1">
                    <a:lumMod val="95000"/>
                    <a:lumOff val="5000"/>
                  </a:schemeClr>
                </a:solidFill>
                <a:effectLst/>
                <a:latin typeface="IBM Plex Sans" panose="020B0503050203000203" pitchFamily="34" charset="0"/>
              </a:rPr>
              <a:t>methods</a:t>
            </a:r>
            <a:r>
              <a:rPr lang="fr-MA" b="1" i="0" dirty="0">
                <a:solidFill>
                  <a:schemeClr val="tx1">
                    <a:lumMod val="95000"/>
                    <a:lumOff val="5000"/>
                  </a:schemeClr>
                </a:solidFill>
                <a:effectLst/>
                <a:latin typeface="IBM Plex Sans" panose="020B0503050203000203" pitchFamily="34" charset="0"/>
              </a:rPr>
              <a:t> (méthodes de </a:t>
            </a:r>
            <a:r>
              <a:rPr lang="fr-MA" b="1" i="0" dirty="0" err="1">
                <a:solidFill>
                  <a:schemeClr val="tx1">
                    <a:lumMod val="95000"/>
                    <a:lumOff val="5000"/>
                  </a:schemeClr>
                </a:solidFill>
                <a:effectLst/>
                <a:latin typeface="IBM Plex Sans" panose="020B0503050203000203" pitchFamily="34" charset="0"/>
              </a:rPr>
              <a:t>rééchantionnage</a:t>
            </a:r>
            <a:r>
              <a:rPr lang="fr-MA" b="1" i="0" dirty="0">
                <a:solidFill>
                  <a:schemeClr val="tx1">
                    <a:lumMod val="95000"/>
                    <a:lumOff val="5000"/>
                  </a:schemeClr>
                </a:solidFill>
                <a:effectLst/>
                <a:latin typeface="IBM Plex Sans" panose="020B0503050203000203" pitchFamily="34" charset="0"/>
              </a:rPr>
              <a:t>)</a:t>
            </a:r>
          </a:p>
        </p:txBody>
      </p:sp>
      <p:sp>
        <p:nvSpPr>
          <p:cNvPr id="9" name="TextBox 8">
            <a:extLst>
              <a:ext uri="{FF2B5EF4-FFF2-40B4-BE49-F238E27FC236}">
                <a16:creationId xmlns:a16="http://schemas.microsoft.com/office/drawing/2014/main" id="{128F4CE9-CE1B-4F56-80CF-04AC665BBE52}"/>
              </a:ext>
            </a:extLst>
          </p:cNvPr>
          <p:cNvSpPr txBox="1"/>
          <p:nvPr/>
        </p:nvSpPr>
        <p:spPr>
          <a:xfrm>
            <a:off x="0" y="2551837"/>
            <a:ext cx="12192000" cy="3016210"/>
          </a:xfrm>
          <a:prstGeom prst="rect">
            <a:avLst/>
          </a:prstGeom>
          <a:noFill/>
        </p:spPr>
        <p:txBody>
          <a:bodyPr wrap="square">
            <a:spAutoFit/>
          </a:bodyPr>
          <a:lstStyle/>
          <a:p>
            <a:pPr marL="342900" indent="-342900">
              <a:spcBef>
                <a:spcPts val="1200"/>
              </a:spcBef>
              <a:buFont typeface="Wingdings" panose="05000000000000000000" pitchFamily="2" charset="2"/>
              <a:buChar char="§"/>
            </a:pPr>
            <a:r>
              <a:rPr lang="fr-MA" sz="2000" dirty="0"/>
              <a:t>Se sont des techniques simples de réorganisation des échantillons de données pour vérifier si le modèle fonctionne bien sur des échantillons de données sur lesquels il n'a pas été formé.</a:t>
            </a:r>
          </a:p>
          <a:p>
            <a:pPr marL="342900" indent="-342900">
              <a:spcBef>
                <a:spcPts val="1200"/>
              </a:spcBef>
              <a:buFont typeface="Wingdings" panose="05000000000000000000" pitchFamily="2" charset="2"/>
              <a:buChar char="§"/>
            </a:pPr>
            <a:r>
              <a:rPr lang="fr-MA" sz="2000" dirty="0"/>
              <a:t>Le rééchantillonnage nous aide à comprendre si le modèle se généralisera bien.</a:t>
            </a:r>
          </a:p>
          <a:p>
            <a:pPr marL="342900" indent="-342900">
              <a:spcBef>
                <a:spcPts val="1200"/>
              </a:spcBef>
              <a:buFont typeface="Wingdings" panose="05000000000000000000" pitchFamily="2" charset="2"/>
              <a:buChar char="§"/>
            </a:pPr>
            <a:r>
              <a:rPr lang="fr-MA" sz="2000" b="1" i="0" dirty="0" err="1">
                <a:solidFill>
                  <a:srgbClr val="0070C0"/>
                </a:solidFill>
                <a:effectLst/>
                <a:latin typeface="IBM Plex Sans" panose="020B0503050203000203" pitchFamily="34" charset="0"/>
              </a:rPr>
              <a:t>Random</a:t>
            </a:r>
            <a:r>
              <a:rPr lang="fr-MA" sz="2000" b="1" i="0" dirty="0">
                <a:solidFill>
                  <a:srgbClr val="0070C0"/>
                </a:solidFill>
                <a:effectLst/>
                <a:latin typeface="IBM Plex Sans" panose="020B0503050203000203" pitchFamily="34" charset="0"/>
              </a:rPr>
              <a:t> Split</a:t>
            </a:r>
          </a:p>
          <a:p>
            <a:pPr marL="342900" indent="-342900">
              <a:spcBef>
                <a:spcPts val="1200"/>
              </a:spcBef>
              <a:buFont typeface="Wingdings" panose="05000000000000000000" pitchFamily="2" charset="2"/>
              <a:buChar char="§"/>
            </a:pPr>
            <a:r>
              <a:rPr lang="fr-MA" sz="2000" b="1" i="0" dirty="0">
                <a:solidFill>
                  <a:srgbClr val="0070C0"/>
                </a:solidFill>
                <a:effectLst/>
                <a:latin typeface="IBM Plex Sans" panose="020B0503050203000203" pitchFamily="34" charset="0"/>
              </a:rPr>
              <a:t>Time-</a:t>
            </a:r>
            <a:r>
              <a:rPr lang="fr-MA" sz="2000" b="1" i="0" dirty="0" err="1">
                <a:solidFill>
                  <a:srgbClr val="0070C0"/>
                </a:solidFill>
                <a:effectLst/>
                <a:latin typeface="IBM Plex Sans" panose="020B0503050203000203" pitchFamily="34" charset="0"/>
              </a:rPr>
              <a:t>Based</a:t>
            </a:r>
            <a:r>
              <a:rPr lang="fr-MA" sz="2000" b="1" i="0" dirty="0">
                <a:solidFill>
                  <a:srgbClr val="0070C0"/>
                </a:solidFill>
                <a:effectLst/>
                <a:latin typeface="IBM Plex Sans" panose="020B0503050203000203" pitchFamily="34" charset="0"/>
              </a:rPr>
              <a:t> Split</a:t>
            </a:r>
          </a:p>
          <a:p>
            <a:pPr marL="342900" indent="-342900">
              <a:spcBef>
                <a:spcPts val="1200"/>
              </a:spcBef>
              <a:buFont typeface="Wingdings" panose="05000000000000000000" pitchFamily="2" charset="2"/>
              <a:buChar char="§"/>
            </a:pPr>
            <a:r>
              <a:rPr lang="fr-MA" sz="2000" b="1" i="0" dirty="0">
                <a:solidFill>
                  <a:srgbClr val="0070C0"/>
                </a:solidFill>
                <a:effectLst/>
                <a:latin typeface="IBM Plex Sans" panose="020B0503050203000203" pitchFamily="34" charset="0"/>
              </a:rPr>
              <a:t>K-</a:t>
            </a:r>
            <a:r>
              <a:rPr lang="fr-MA" sz="2000" b="1" i="0" dirty="0" err="1">
                <a:solidFill>
                  <a:srgbClr val="0070C0"/>
                </a:solidFill>
                <a:effectLst/>
                <a:latin typeface="IBM Plex Sans" panose="020B0503050203000203" pitchFamily="34" charset="0"/>
              </a:rPr>
              <a:t>Fold</a:t>
            </a:r>
            <a:r>
              <a:rPr lang="fr-MA" sz="2000" b="1" i="0" dirty="0">
                <a:solidFill>
                  <a:srgbClr val="0070C0"/>
                </a:solidFill>
                <a:effectLst/>
                <a:latin typeface="IBM Plex Sans" panose="020B0503050203000203" pitchFamily="34" charset="0"/>
              </a:rPr>
              <a:t> Cross-Validation</a:t>
            </a:r>
          </a:p>
          <a:p>
            <a:pPr marL="342900" indent="-342900">
              <a:spcBef>
                <a:spcPts val="1200"/>
              </a:spcBef>
              <a:buFont typeface="Wingdings" panose="05000000000000000000" pitchFamily="2" charset="2"/>
              <a:buChar char="§"/>
            </a:pPr>
            <a:endParaRPr lang="fr-MA" sz="2000" dirty="0"/>
          </a:p>
        </p:txBody>
      </p:sp>
    </p:spTree>
    <p:extLst>
      <p:ext uri="{BB962C8B-B14F-4D97-AF65-F5344CB8AC3E}">
        <p14:creationId xmlns:p14="http://schemas.microsoft.com/office/powerpoint/2010/main" val="2996000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necteur droit 3"/>
          <p:cNvCxnSpPr/>
          <p:nvPr/>
        </p:nvCxnSpPr>
        <p:spPr>
          <a:xfrm>
            <a:off x="0" y="708926"/>
            <a:ext cx="12204000" cy="0"/>
          </a:xfrm>
          <a:prstGeom prst="line">
            <a:avLst/>
          </a:prstGeom>
          <a:ln w="6350">
            <a:solidFill>
              <a:srgbClr val="FF0000"/>
            </a:solidFill>
          </a:ln>
        </p:spPr>
        <p:style>
          <a:lnRef idx="2">
            <a:schemeClr val="accent2"/>
          </a:lnRef>
          <a:fillRef idx="0">
            <a:schemeClr val="accent2"/>
          </a:fillRef>
          <a:effectRef idx="1">
            <a:schemeClr val="accent2"/>
          </a:effectRef>
          <a:fontRef idx="minor">
            <a:schemeClr val="tx1"/>
          </a:fontRef>
        </p:style>
      </p:cxnSp>
      <p:sp>
        <p:nvSpPr>
          <p:cNvPr id="5" name="ZoneTexte 4"/>
          <p:cNvSpPr txBox="1"/>
          <p:nvPr/>
        </p:nvSpPr>
        <p:spPr>
          <a:xfrm>
            <a:off x="1255596" y="28057"/>
            <a:ext cx="9144000" cy="584775"/>
          </a:xfrm>
          <a:prstGeom prst="rect">
            <a:avLst/>
          </a:prstGeom>
          <a:noFill/>
        </p:spPr>
        <p:txBody>
          <a:bodyPr wrap="square" rtlCol="0">
            <a:spAutoFit/>
          </a:bodyPr>
          <a:lstStyle/>
          <a:p>
            <a:pPr algn="ctr"/>
            <a:r>
              <a:rPr lang="fr-FR" sz="3200" b="1" dirty="0">
                <a:solidFill>
                  <a:schemeClr val="tx1">
                    <a:lumMod val="75000"/>
                    <a:lumOff val="25000"/>
                  </a:schemeClr>
                </a:solidFill>
              </a:rPr>
              <a:t>Évaluer la performance de ML</a:t>
            </a:r>
            <a:endParaRPr lang="fr-FR" sz="2400" b="1" dirty="0">
              <a:solidFill>
                <a:schemeClr val="tx1">
                  <a:lumMod val="75000"/>
                  <a:lumOff val="25000"/>
                </a:schemeClr>
              </a:solidFill>
            </a:endParaRPr>
          </a:p>
        </p:txBody>
      </p:sp>
      <p:sp>
        <p:nvSpPr>
          <p:cNvPr id="125" name="ZoneTexte 124"/>
          <p:cNvSpPr txBox="1"/>
          <p:nvPr/>
        </p:nvSpPr>
        <p:spPr>
          <a:xfrm>
            <a:off x="16796" y="791373"/>
            <a:ext cx="4138953" cy="1887696"/>
          </a:xfrm>
          <a:prstGeom prst="rect">
            <a:avLst/>
          </a:prstGeom>
          <a:noFill/>
        </p:spPr>
        <p:txBody>
          <a:bodyPr wrap="square" rtlCol="0">
            <a:spAutoFit/>
          </a:bodyPr>
          <a:lstStyle/>
          <a:p>
            <a:pPr marL="285750"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Matrice de confusion (TP,TN,FP,FN)</a:t>
            </a:r>
          </a:p>
          <a:p>
            <a:pPr marL="285750" indent="-285750">
              <a:spcAft>
                <a:spcPts val="800"/>
              </a:spcAft>
              <a:buClr>
                <a:srgbClr val="FF3300"/>
              </a:buClr>
              <a:buFont typeface="Wingdings" panose="05000000000000000000" pitchFamily="2" charset="2"/>
              <a:buChar char="§"/>
            </a:pPr>
            <a:r>
              <a:rPr lang="fr-FR" b="1" dirty="0" err="1">
                <a:solidFill>
                  <a:schemeClr val="tx1">
                    <a:lumMod val="95000"/>
                    <a:lumOff val="5000"/>
                  </a:schemeClr>
                </a:solidFill>
              </a:rPr>
              <a:t>Precision</a:t>
            </a:r>
            <a:endParaRPr lang="fr-FR" b="1" dirty="0">
              <a:solidFill>
                <a:schemeClr val="tx1">
                  <a:lumMod val="95000"/>
                  <a:lumOff val="5000"/>
                </a:schemeClr>
              </a:solidFill>
            </a:endParaRPr>
          </a:p>
          <a:p>
            <a:pPr marL="285750"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Rappel (ou sensibilité)</a:t>
            </a:r>
          </a:p>
          <a:p>
            <a:pPr marL="285750"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Précision ou rappel?</a:t>
            </a:r>
          </a:p>
          <a:p>
            <a:pPr marL="285750" indent="-285750">
              <a:spcAft>
                <a:spcPts val="800"/>
              </a:spcAft>
              <a:buClr>
                <a:srgbClr val="FF3300"/>
              </a:buClr>
              <a:buFont typeface="Wingdings" panose="05000000000000000000" pitchFamily="2" charset="2"/>
              <a:buChar char="§"/>
            </a:pPr>
            <a:r>
              <a:rPr lang="fr-FR" b="1" dirty="0">
                <a:solidFill>
                  <a:schemeClr val="tx1">
                    <a:lumMod val="95000"/>
                    <a:lumOff val="5000"/>
                  </a:schemeClr>
                </a:solidFill>
              </a:rPr>
              <a:t>Coefficient f1_score</a:t>
            </a:r>
          </a:p>
        </p:txBody>
      </p:sp>
      <p:pic>
        <p:nvPicPr>
          <p:cNvPr id="2" name="Image 1"/>
          <p:cNvPicPr>
            <a:picLocks noChangeAspect="1"/>
          </p:cNvPicPr>
          <p:nvPr/>
        </p:nvPicPr>
        <p:blipFill>
          <a:blip r:embed="rId2"/>
          <a:stretch>
            <a:fillRect/>
          </a:stretch>
        </p:blipFill>
        <p:spPr>
          <a:xfrm>
            <a:off x="4155749" y="854379"/>
            <a:ext cx="6243847" cy="1524995"/>
          </a:xfrm>
          <a:prstGeom prst="rect">
            <a:avLst/>
          </a:prstGeom>
        </p:spPr>
      </p:pic>
      <p:cxnSp>
        <p:nvCxnSpPr>
          <p:cNvPr id="9" name="Connecteur droit 8"/>
          <p:cNvCxnSpPr/>
          <p:nvPr/>
        </p:nvCxnSpPr>
        <p:spPr>
          <a:xfrm>
            <a:off x="9127353" y="2811130"/>
            <a:ext cx="57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ZoneTexte 9"/>
          <p:cNvSpPr txBox="1"/>
          <p:nvPr/>
        </p:nvSpPr>
        <p:spPr>
          <a:xfrm>
            <a:off x="9074209" y="2483584"/>
            <a:ext cx="612699" cy="369332"/>
          </a:xfrm>
          <a:prstGeom prst="rect">
            <a:avLst/>
          </a:prstGeom>
          <a:noFill/>
        </p:spPr>
        <p:txBody>
          <a:bodyPr wrap="square" rtlCol="0">
            <a:spAutoFit/>
          </a:bodyPr>
          <a:lstStyle/>
          <a:p>
            <a:pPr algn="ctr"/>
            <a:r>
              <a:rPr lang="fr-FR" b="1" dirty="0">
                <a:solidFill>
                  <a:srgbClr val="0070C0"/>
                </a:solidFill>
              </a:rPr>
              <a:t>5</a:t>
            </a:r>
          </a:p>
        </p:txBody>
      </p:sp>
      <p:sp>
        <p:nvSpPr>
          <p:cNvPr id="134" name="ZoneTexte 133"/>
          <p:cNvSpPr txBox="1"/>
          <p:nvPr/>
        </p:nvSpPr>
        <p:spPr>
          <a:xfrm>
            <a:off x="9131073" y="2772460"/>
            <a:ext cx="612699" cy="369332"/>
          </a:xfrm>
          <a:prstGeom prst="rect">
            <a:avLst/>
          </a:prstGeom>
          <a:noFill/>
        </p:spPr>
        <p:txBody>
          <a:bodyPr wrap="square" rtlCol="0">
            <a:spAutoFit/>
          </a:bodyPr>
          <a:lstStyle/>
          <a:p>
            <a:pPr algn="ctr"/>
            <a:r>
              <a:rPr lang="fr-FR" b="1" dirty="0"/>
              <a:t>5+</a:t>
            </a:r>
            <a:r>
              <a:rPr lang="fr-FR" b="1" dirty="0">
                <a:solidFill>
                  <a:srgbClr val="FF0000"/>
                </a:solidFill>
              </a:rPr>
              <a:t>1</a:t>
            </a:r>
          </a:p>
        </p:txBody>
      </p:sp>
      <p:sp>
        <p:nvSpPr>
          <p:cNvPr id="148" name="ZoneTexte 147"/>
          <p:cNvSpPr txBox="1"/>
          <p:nvPr/>
        </p:nvSpPr>
        <p:spPr>
          <a:xfrm>
            <a:off x="7861111" y="2617505"/>
            <a:ext cx="1328380" cy="369332"/>
          </a:xfrm>
          <a:prstGeom prst="rect">
            <a:avLst/>
          </a:prstGeom>
          <a:noFill/>
        </p:spPr>
        <p:txBody>
          <a:bodyPr wrap="square" rtlCol="0">
            <a:spAutoFit/>
          </a:bodyPr>
          <a:lstStyle/>
          <a:p>
            <a:pPr algn="ctr"/>
            <a:r>
              <a:rPr lang="fr-FR" b="1" dirty="0" err="1"/>
              <a:t>precision</a:t>
            </a:r>
            <a:r>
              <a:rPr lang="fr-FR" b="1" dirty="0"/>
              <a:t> =</a:t>
            </a:r>
          </a:p>
        </p:txBody>
      </p:sp>
      <p:cxnSp>
        <p:nvCxnSpPr>
          <p:cNvPr id="149" name="Connecteur droit 148"/>
          <p:cNvCxnSpPr/>
          <p:nvPr/>
        </p:nvCxnSpPr>
        <p:spPr>
          <a:xfrm>
            <a:off x="8764140" y="3524228"/>
            <a:ext cx="57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0" name="ZoneTexte 149"/>
          <p:cNvSpPr txBox="1"/>
          <p:nvPr/>
        </p:nvSpPr>
        <p:spPr>
          <a:xfrm>
            <a:off x="8710996" y="3196682"/>
            <a:ext cx="612699" cy="369332"/>
          </a:xfrm>
          <a:prstGeom prst="rect">
            <a:avLst/>
          </a:prstGeom>
          <a:noFill/>
        </p:spPr>
        <p:txBody>
          <a:bodyPr wrap="square" rtlCol="0">
            <a:spAutoFit/>
          </a:bodyPr>
          <a:lstStyle/>
          <a:p>
            <a:pPr algn="ctr"/>
            <a:r>
              <a:rPr lang="fr-FR" b="1" dirty="0">
                <a:solidFill>
                  <a:srgbClr val="0070C0"/>
                </a:solidFill>
              </a:rPr>
              <a:t>5</a:t>
            </a:r>
          </a:p>
        </p:txBody>
      </p:sp>
      <p:sp>
        <p:nvSpPr>
          <p:cNvPr id="151" name="ZoneTexte 150"/>
          <p:cNvSpPr txBox="1"/>
          <p:nvPr/>
        </p:nvSpPr>
        <p:spPr>
          <a:xfrm>
            <a:off x="8767860" y="3485558"/>
            <a:ext cx="612699" cy="369332"/>
          </a:xfrm>
          <a:prstGeom prst="rect">
            <a:avLst/>
          </a:prstGeom>
          <a:noFill/>
        </p:spPr>
        <p:txBody>
          <a:bodyPr wrap="square" rtlCol="0">
            <a:spAutoFit/>
          </a:bodyPr>
          <a:lstStyle/>
          <a:p>
            <a:pPr algn="ctr"/>
            <a:r>
              <a:rPr lang="fr-FR" b="1" dirty="0">
                <a:solidFill>
                  <a:srgbClr val="0070C0"/>
                </a:solidFill>
              </a:rPr>
              <a:t>5</a:t>
            </a:r>
            <a:r>
              <a:rPr lang="fr-FR" b="1" dirty="0"/>
              <a:t>+</a:t>
            </a:r>
            <a:r>
              <a:rPr lang="fr-FR" b="1" dirty="0">
                <a:solidFill>
                  <a:srgbClr val="FF0000"/>
                </a:solidFill>
              </a:rPr>
              <a:t>2</a:t>
            </a:r>
          </a:p>
        </p:txBody>
      </p:sp>
      <p:sp>
        <p:nvSpPr>
          <p:cNvPr id="152" name="ZoneTexte 151"/>
          <p:cNvSpPr txBox="1"/>
          <p:nvPr/>
        </p:nvSpPr>
        <p:spPr>
          <a:xfrm>
            <a:off x="7729914" y="3330603"/>
            <a:ext cx="1328380" cy="369332"/>
          </a:xfrm>
          <a:prstGeom prst="rect">
            <a:avLst/>
          </a:prstGeom>
          <a:noFill/>
        </p:spPr>
        <p:txBody>
          <a:bodyPr wrap="square" rtlCol="0">
            <a:spAutoFit/>
          </a:bodyPr>
          <a:lstStyle/>
          <a:p>
            <a:pPr algn="ctr"/>
            <a:r>
              <a:rPr lang="fr-FR" b="1" dirty="0"/>
              <a:t>rappel=</a:t>
            </a:r>
          </a:p>
        </p:txBody>
      </p:sp>
      <p:cxnSp>
        <p:nvCxnSpPr>
          <p:cNvPr id="153" name="Connecteur droit 152"/>
          <p:cNvCxnSpPr/>
          <p:nvPr/>
        </p:nvCxnSpPr>
        <p:spPr>
          <a:xfrm>
            <a:off x="6318179" y="2813402"/>
            <a:ext cx="57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4" name="ZoneTexte 153"/>
          <p:cNvSpPr txBox="1"/>
          <p:nvPr/>
        </p:nvSpPr>
        <p:spPr>
          <a:xfrm>
            <a:off x="6169499" y="2485856"/>
            <a:ext cx="831801" cy="369332"/>
          </a:xfrm>
          <a:prstGeom prst="rect">
            <a:avLst/>
          </a:prstGeom>
          <a:noFill/>
        </p:spPr>
        <p:txBody>
          <a:bodyPr wrap="square" rtlCol="0">
            <a:spAutoFit/>
          </a:bodyPr>
          <a:lstStyle/>
          <a:p>
            <a:pPr algn="ctr"/>
            <a:r>
              <a:rPr lang="fr-FR" b="1" dirty="0">
                <a:solidFill>
                  <a:srgbClr val="0070C0"/>
                </a:solidFill>
              </a:rPr>
              <a:t>TP</a:t>
            </a:r>
          </a:p>
        </p:txBody>
      </p:sp>
      <p:sp>
        <p:nvSpPr>
          <p:cNvPr id="155" name="ZoneTexte 154"/>
          <p:cNvSpPr txBox="1"/>
          <p:nvPr/>
        </p:nvSpPr>
        <p:spPr>
          <a:xfrm>
            <a:off x="6199067" y="2774732"/>
            <a:ext cx="853734" cy="369332"/>
          </a:xfrm>
          <a:prstGeom prst="rect">
            <a:avLst/>
          </a:prstGeom>
          <a:noFill/>
        </p:spPr>
        <p:txBody>
          <a:bodyPr wrap="square" rtlCol="0">
            <a:spAutoFit/>
          </a:bodyPr>
          <a:lstStyle/>
          <a:p>
            <a:pPr algn="ctr"/>
            <a:r>
              <a:rPr lang="fr-FR" b="1" dirty="0">
                <a:solidFill>
                  <a:srgbClr val="0070C0"/>
                </a:solidFill>
              </a:rPr>
              <a:t>TP</a:t>
            </a:r>
            <a:r>
              <a:rPr lang="fr-FR" b="1" dirty="0"/>
              <a:t>+</a:t>
            </a:r>
            <a:r>
              <a:rPr lang="fr-FR" b="1" dirty="0">
                <a:solidFill>
                  <a:srgbClr val="FF3300"/>
                </a:solidFill>
              </a:rPr>
              <a:t>FP</a:t>
            </a:r>
          </a:p>
        </p:txBody>
      </p:sp>
      <p:sp>
        <p:nvSpPr>
          <p:cNvPr id="156" name="ZoneTexte 155"/>
          <p:cNvSpPr txBox="1"/>
          <p:nvPr/>
        </p:nvSpPr>
        <p:spPr>
          <a:xfrm>
            <a:off x="5051937" y="2619777"/>
            <a:ext cx="1328380" cy="369332"/>
          </a:xfrm>
          <a:prstGeom prst="rect">
            <a:avLst/>
          </a:prstGeom>
          <a:noFill/>
        </p:spPr>
        <p:txBody>
          <a:bodyPr wrap="square" rtlCol="0">
            <a:spAutoFit/>
          </a:bodyPr>
          <a:lstStyle/>
          <a:p>
            <a:pPr algn="ctr"/>
            <a:r>
              <a:rPr lang="fr-FR" b="1" dirty="0" err="1"/>
              <a:t>precision</a:t>
            </a:r>
            <a:r>
              <a:rPr lang="fr-FR" b="1" dirty="0"/>
              <a:t> =</a:t>
            </a:r>
          </a:p>
        </p:txBody>
      </p:sp>
      <p:cxnSp>
        <p:nvCxnSpPr>
          <p:cNvPr id="157" name="Connecteur droit 156"/>
          <p:cNvCxnSpPr/>
          <p:nvPr/>
        </p:nvCxnSpPr>
        <p:spPr>
          <a:xfrm>
            <a:off x="6361395" y="3525364"/>
            <a:ext cx="57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8" name="ZoneTexte 157"/>
          <p:cNvSpPr txBox="1"/>
          <p:nvPr/>
        </p:nvSpPr>
        <p:spPr>
          <a:xfrm>
            <a:off x="6212715" y="3197818"/>
            <a:ext cx="831801" cy="369332"/>
          </a:xfrm>
          <a:prstGeom prst="rect">
            <a:avLst/>
          </a:prstGeom>
          <a:noFill/>
        </p:spPr>
        <p:txBody>
          <a:bodyPr wrap="square" rtlCol="0">
            <a:spAutoFit/>
          </a:bodyPr>
          <a:lstStyle/>
          <a:p>
            <a:pPr algn="ctr"/>
            <a:r>
              <a:rPr lang="fr-FR" b="1" dirty="0">
                <a:solidFill>
                  <a:srgbClr val="0070C0"/>
                </a:solidFill>
              </a:rPr>
              <a:t>TP</a:t>
            </a:r>
          </a:p>
        </p:txBody>
      </p:sp>
      <p:sp>
        <p:nvSpPr>
          <p:cNvPr id="159" name="ZoneTexte 158"/>
          <p:cNvSpPr txBox="1"/>
          <p:nvPr/>
        </p:nvSpPr>
        <p:spPr>
          <a:xfrm>
            <a:off x="6242283" y="3486694"/>
            <a:ext cx="853734" cy="369332"/>
          </a:xfrm>
          <a:prstGeom prst="rect">
            <a:avLst/>
          </a:prstGeom>
          <a:noFill/>
        </p:spPr>
        <p:txBody>
          <a:bodyPr wrap="square" rtlCol="0">
            <a:spAutoFit/>
          </a:bodyPr>
          <a:lstStyle/>
          <a:p>
            <a:pPr algn="ctr"/>
            <a:r>
              <a:rPr lang="fr-FR" b="1" dirty="0">
                <a:solidFill>
                  <a:srgbClr val="0070C0"/>
                </a:solidFill>
              </a:rPr>
              <a:t>TP</a:t>
            </a:r>
            <a:r>
              <a:rPr lang="fr-FR" b="1" dirty="0"/>
              <a:t>+</a:t>
            </a:r>
            <a:r>
              <a:rPr lang="fr-FR" b="1" dirty="0">
                <a:solidFill>
                  <a:srgbClr val="FF0000"/>
                </a:solidFill>
              </a:rPr>
              <a:t>FN</a:t>
            </a:r>
          </a:p>
        </p:txBody>
      </p:sp>
      <p:sp>
        <p:nvSpPr>
          <p:cNvPr id="160" name="ZoneTexte 159"/>
          <p:cNvSpPr txBox="1"/>
          <p:nvPr/>
        </p:nvSpPr>
        <p:spPr>
          <a:xfrm>
            <a:off x="5095153" y="3331739"/>
            <a:ext cx="1328380" cy="369332"/>
          </a:xfrm>
          <a:prstGeom prst="rect">
            <a:avLst/>
          </a:prstGeom>
          <a:noFill/>
        </p:spPr>
        <p:txBody>
          <a:bodyPr wrap="square" rtlCol="0">
            <a:spAutoFit/>
          </a:bodyPr>
          <a:lstStyle/>
          <a:p>
            <a:pPr algn="ctr"/>
            <a:r>
              <a:rPr lang="fr-FR" b="1" dirty="0"/>
              <a:t>rappel=</a:t>
            </a:r>
          </a:p>
        </p:txBody>
      </p:sp>
      <p:sp>
        <p:nvSpPr>
          <p:cNvPr id="161" name="ZoneTexte 160"/>
          <p:cNvSpPr txBox="1"/>
          <p:nvPr/>
        </p:nvSpPr>
        <p:spPr>
          <a:xfrm>
            <a:off x="9708109" y="2622049"/>
            <a:ext cx="1059975" cy="369332"/>
          </a:xfrm>
          <a:prstGeom prst="rect">
            <a:avLst/>
          </a:prstGeom>
          <a:noFill/>
        </p:spPr>
        <p:txBody>
          <a:bodyPr wrap="square" rtlCol="0">
            <a:spAutoFit/>
          </a:bodyPr>
          <a:lstStyle/>
          <a:p>
            <a:r>
              <a:rPr lang="fr-FR" b="1" dirty="0"/>
              <a:t>=83.3%</a:t>
            </a:r>
          </a:p>
        </p:txBody>
      </p:sp>
      <p:sp>
        <p:nvSpPr>
          <p:cNvPr id="162" name="ZoneTexte 161"/>
          <p:cNvSpPr txBox="1"/>
          <p:nvPr/>
        </p:nvSpPr>
        <p:spPr>
          <a:xfrm>
            <a:off x="9423778" y="3279420"/>
            <a:ext cx="1059975" cy="369332"/>
          </a:xfrm>
          <a:prstGeom prst="rect">
            <a:avLst/>
          </a:prstGeom>
          <a:noFill/>
        </p:spPr>
        <p:txBody>
          <a:bodyPr wrap="square" rtlCol="0">
            <a:spAutoFit/>
          </a:bodyPr>
          <a:lstStyle/>
          <a:p>
            <a:r>
              <a:rPr lang="fr-FR" b="1" dirty="0"/>
              <a:t>=71.4%</a:t>
            </a:r>
          </a:p>
        </p:txBody>
      </p:sp>
      <p:cxnSp>
        <p:nvCxnSpPr>
          <p:cNvPr id="163" name="Connecteur droit 162"/>
          <p:cNvCxnSpPr/>
          <p:nvPr/>
        </p:nvCxnSpPr>
        <p:spPr>
          <a:xfrm>
            <a:off x="7043785" y="4453410"/>
            <a:ext cx="126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4" name="ZoneTexte 163"/>
          <p:cNvSpPr txBox="1"/>
          <p:nvPr/>
        </p:nvSpPr>
        <p:spPr>
          <a:xfrm>
            <a:off x="7195360" y="4057624"/>
            <a:ext cx="831801" cy="369332"/>
          </a:xfrm>
          <a:prstGeom prst="rect">
            <a:avLst/>
          </a:prstGeom>
          <a:noFill/>
        </p:spPr>
        <p:txBody>
          <a:bodyPr wrap="square" rtlCol="0">
            <a:spAutoFit/>
          </a:bodyPr>
          <a:lstStyle/>
          <a:p>
            <a:pPr algn="ctr"/>
            <a:r>
              <a:rPr lang="fr-FR" b="1" dirty="0">
                <a:solidFill>
                  <a:srgbClr val="0070C0"/>
                </a:solidFill>
              </a:rPr>
              <a:t>TP+TN</a:t>
            </a:r>
          </a:p>
        </p:txBody>
      </p:sp>
      <p:sp>
        <p:nvSpPr>
          <p:cNvPr id="165" name="ZoneTexte 164"/>
          <p:cNvSpPr txBox="1"/>
          <p:nvPr/>
        </p:nvSpPr>
        <p:spPr>
          <a:xfrm>
            <a:off x="6924673" y="4482980"/>
            <a:ext cx="1591530" cy="369332"/>
          </a:xfrm>
          <a:prstGeom prst="rect">
            <a:avLst/>
          </a:prstGeom>
          <a:noFill/>
        </p:spPr>
        <p:txBody>
          <a:bodyPr wrap="square" rtlCol="0">
            <a:spAutoFit/>
          </a:bodyPr>
          <a:lstStyle/>
          <a:p>
            <a:pPr algn="ctr"/>
            <a:r>
              <a:rPr lang="fr-FR" b="1" dirty="0">
                <a:solidFill>
                  <a:srgbClr val="0070C0"/>
                </a:solidFill>
              </a:rPr>
              <a:t>TP</a:t>
            </a:r>
            <a:r>
              <a:rPr lang="fr-FR" b="1" dirty="0"/>
              <a:t>+</a:t>
            </a:r>
            <a:r>
              <a:rPr lang="fr-FR" b="1" dirty="0">
                <a:solidFill>
                  <a:srgbClr val="0070C0"/>
                </a:solidFill>
              </a:rPr>
              <a:t>TN</a:t>
            </a:r>
            <a:r>
              <a:rPr lang="fr-FR" b="1" dirty="0"/>
              <a:t>+</a:t>
            </a:r>
            <a:r>
              <a:rPr lang="fr-FR" b="1" dirty="0">
                <a:solidFill>
                  <a:srgbClr val="FF3300"/>
                </a:solidFill>
              </a:rPr>
              <a:t>FP</a:t>
            </a:r>
            <a:r>
              <a:rPr lang="fr-FR" b="1" dirty="0"/>
              <a:t>+</a:t>
            </a:r>
            <a:r>
              <a:rPr lang="fr-FR" b="1" dirty="0">
                <a:solidFill>
                  <a:srgbClr val="FF3300"/>
                </a:solidFill>
              </a:rPr>
              <a:t>FN</a:t>
            </a:r>
          </a:p>
        </p:txBody>
      </p:sp>
      <p:sp>
        <p:nvSpPr>
          <p:cNvPr id="166" name="ZoneTexte 165"/>
          <p:cNvSpPr txBox="1"/>
          <p:nvPr/>
        </p:nvSpPr>
        <p:spPr>
          <a:xfrm>
            <a:off x="5022375" y="4259785"/>
            <a:ext cx="2083547" cy="369332"/>
          </a:xfrm>
          <a:prstGeom prst="rect">
            <a:avLst/>
          </a:prstGeom>
          <a:noFill/>
        </p:spPr>
        <p:txBody>
          <a:bodyPr wrap="square" rtlCol="0">
            <a:spAutoFit/>
          </a:bodyPr>
          <a:lstStyle/>
          <a:p>
            <a:pPr algn="ctr"/>
            <a:r>
              <a:rPr lang="fr-FR" b="1" dirty="0"/>
              <a:t>Exactitude</a:t>
            </a:r>
          </a:p>
        </p:txBody>
      </p:sp>
    </p:spTree>
    <p:extLst>
      <p:ext uri="{BB962C8B-B14F-4D97-AF65-F5344CB8AC3E}">
        <p14:creationId xmlns:p14="http://schemas.microsoft.com/office/powerpoint/2010/main" val="34861970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necteur droit 3"/>
          <p:cNvCxnSpPr/>
          <p:nvPr/>
        </p:nvCxnSpPr>
        <p:spPr>
          <a:xfrm>
            <a:off x="0" y="708926"/>
            <a:ext cx="12204000" cy="0"/>
          </a:xfrm>
          <a:prstGeom prst="line">
            <a:avLst/>
          </a:prstGeom>
          <a:ln w="6350">
            <a:solidFill>
              <a:srgbClr val="FF0000"/>
            </a:solidFill>
          </a:ln>
        </p:spPr>
        <p:style>
          <a:lnRef idx="2">
            <a:schemeClr val="accent2"/>
          </a:lnRef>
          <a:fillRef idx="0">
            <a:schemeClr val="accent2"/>
          </a:fillRef>
          <a:effectRef idx="1">
            <a:schemeClr val="accent2"/>
          </a:effectRef>
          <a:fontRef idx="minor">
            <a:schemeClr val="tx1"/>
          </a:fontRef>
        </p:style>
      </p:cxnSp>
      <p:sp>
        <p:nvSpPr>
          <p:cNvPr id="5" name="ZoneTexte 4"/>
          <p:cNvSpPr txBox="1"/>
          <p:nvPr/>
        </p:nvSpPr>
        <p:spPr>
          <a:xfrm>
            <a:off x="1255596" y="28057"/>
            <a:ext cx="9144000" cy="584775"/>
          </a:xfrm>
          <a:prstGeom prst="rect">
            <a:avLst/>
          </a:prstGeom>
          <a:noFill/>
        </p:spPr>
        <p:txBody>
          <a:bodyPr wrap="square" rtlCol="0">
            <a:spAutoFit/>
          </a:bodyPr>
          <a:lstStyle/>
          <a:p>
            <a:pPr algn="ctr"/>
            <a:r>
              <a:rPr lang="fr-FR" sz="3200" b="1" dirty="0">
                <a:solidFill>
                  <a:schemeClr val="tx1">
                    <a:lumMod val="75000"/>
                    <a:lumOff val="25000"/>
                  </a:schemeClr>
                </a:solidFill>
              </a:rPr>
              <a:t>Évaluation de la Performance</a:t>
            </a:r>
            <a:endParaRPr lang="fr-FR" sz="2400" b="1" dirty="0">
              <a:solidFill>
                <a:schemeClr val="tx1">
                  <a:lumMod val="75000"/>
                  <a:lumOff val="25000"/>
                </a:schemeClr>
              </a:solidFill>
            </a:endParaRPr>
          </a:p>
        </p:txBody>
      </p:sp>
      <p:sp>
        <p:nvSpPr>
          <p:cNvPr id="2" name="Rectangle 1"/>
          <p:cNvSpPr/>
          <p:nvPr/>
        </p:nvSpPr>
        <p:spPr>
          <a:xfrm>
            <a:off x="5999" y="805021"/>
            <a:ext cx="9315421" cy="369332"/>
          </a:xfrm>
          <a:prstGeom prst="rect">
            <a:avLst/>
          </a:prstGeom>
        </p:spPr>
        <p:txBody>
          <a:bodyPr wrap="square">
            <a:spAutoFit/>
          </a:bodyPr>
          <a:lstStyle/>
          <a:p>
            <a:r>
              <a:rPr lang="fr-FR" dirty="0">
                <a:hlinkClick r:id="rId2"/>
              </a:rPr>
              <a:t>https://docs.microsoft.com/fr-fr/azure/machine-learning/studio/evaluate-model-performance</a:t>
            </a:r>
            <a:endParaRPr lang="fr-FR" dirty="0"/>
          </a:p>
        </p:txBody>
      </p:sp>
      <p:sp>
        <p:nvSpPr>
          <p:cNvPr id="3" name="Rectangle 2"/>
          <p:cNvSpPr/>
          <p:nvPr/>
        </p:nvSpPr>
        <p:spPr>
          <a:xfrm>
            <a:off x="109182" y="1270447"/>
            <a:ext cx="9512490" cy="369332"/>
          </a:xfrm>
          <a:prstGeom prst="rect">
            <a:avLst/>
          </a:prstGeom>
        </p:spPr>
        <p:txBody>
          <a:bodyPr wrap="square">
            <a:spAutoFit/>
          </a:bodyPr>
          <a:lstStyle/>
          <a:p>
            <a:r>
              <a:rPr lang="fr-FR" dirty="0">
                <a:hlinkClick r:id="rId3"/>
              </a:rPr>
              <a:t>https://docs.aws.amazon.com/fr_fr/machine-learning/latest/dg/cross-validation.html</a:t>
            </a:r>
            <a:endParaRPr lang="fr-FR" dirty="0"/>
          </a:p>
        </p:txBody>
      </p:sp>
    </p:spTree>
    <p:extLst>
      <p:ext uri="{BB962C8B-B14F-4D97-AF65-F5344CB8AC3E}">
        <p14:creationId xmlns:p14="http://schemas.microsoft.com/office/powerpoint/2010/main" val="188042224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4861</TotalTime>
  <Words>2517</Words>
  <Application>Microsoft Office PowerPoint</Application>
  <PresentationFormat>Widescreen</PresentationFormat>
  <Paragraphs>388</Paragraphs>
  <Slides>26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Calibri</vt:lpstr>
      <vt:lpstr>Calibri Light</vt:lpstr>
      <vt:lpstr>Cambria Math</vt:lpstr>
      <vt:lpstr>IBM Plex Sans</vt:lpstr>
      <vt:lpstr>Söhne</vt:lpstr>
      <vt:lpstr>Source Sans Pro</vt:lpstr>
      <vt:lpstr>Wingdings</vt:lpstr>
      <vt:lpstr>Thème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Moha</dc:creator>
  <cp:lastModifiedBy>abdelwahab naji</cp:lastModifiedBy>
  <cp:revision>196</cp:revision>
  <dcterms:created xsi:type="dcterms:W3CDTF">2019-09-13T15:50:46Z</dcterms:created>
  <dcterms:modified xsi:type="dcterms:W3CDTF">2023-07-15T15:04:09Z</dcterms:modified>
</cp:coreProperties>
</file>