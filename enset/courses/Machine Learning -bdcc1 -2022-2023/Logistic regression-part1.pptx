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695" r:id="rId2"/>
    <p:sldId id="420" r:id="rId3"/>
    <p:sldId id="722" r:id="rId4"/>
    <p:sldId id="753" r:id="rId5"/>
    <p:sldId id="575" r:id="rId6"/>
    <p:sldId id="592" r:id="rId7"/>
    <p:sldId id="574" r:id="rId8"/>
    <p:sldId id="498" r:id="rId9"/>
    <p:sldId id="512" r:id="rId10"/>
    <p:sldId id="535" r:id="rId11"/>
    <p:sldId id="496" r:id="rId12"/>
    <p:sldId id="593" r:id="rId13"/>
    <p:sldId id="595" r:id="rId14"/>
    <p:sldId id="576" r:id="rId15"/>
    <p:sldId id="602" r:id="rId16"/>
    <p:sldId id="601" r:id="rId17"/>
    <p:sldId id="594" r:id="rId18"/>
    <p:sldId id="603" r:id="rId19"/>
    <p:sldId id="490" r:id="rId20"/>
    <p:sldId id="589" r:id="rId21"/>
    <p:sldId id="691" r:id="rId22"/>
    <p:sldId id="760" r:id="rId23"/>
    <p:sldId id="752" r:id="rId24"/>
    <p:sldId id="692" r:id="rId25"/>
    <p:sldId id="759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3E6"/>
    <a:srgbClr val="FF3300"/>
    <a:srgbClr val="0000FF"/>
    <a:srgbClr val="008AF2"/>
    <a:srgbClr val="FFFFCC"/>
    <a:srgbClr val="FF6565"/>
    <a:srgbClr val="FCEEE4"/>
    <a:srgbClr val="FEF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8C6D1-1BBD-4F50-B2E6-F8F9E22458E3}" type="datetimeFigureOut">
              <a:rPr lang="fr-FR" smtClean="0"/>
              <a:t>24/06/2023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4739A-9817-4881-995B-3535CC16398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246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4739A-9817-4881-995B-3535CC16398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820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4739A-9817-4881-995B-3535CC16398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3274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24/06/2023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24/06/2023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60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24/06/2023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24/06/2023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1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24/06/2023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91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24/06/2023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24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24/06/2023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22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24/06/2023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0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24/06/2023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4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24/06/2023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69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24/06/2023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3102C-BDDD-4D12-A779-AA842E1C06C6}" type="datetimeFigureOut">
              <a:rPr lang="fr-FR" smtClean="0"/>
              <a:t>24/06/2023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c/AbdelwahabNaji" TargetMode="External"/><Relationship Id="rId5" Type="http://schemas.openxmlformats.org/officeDocument/2006/relationships/hyperlink" Target="mailto:Abdelwahab.naji@gmail.com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2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9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290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/>
          <p:cNvCxnSpPr/>
          <p:nvPr/>
        </p:nvCxnSpPr>
        <p:spPr>
          <a:xfrm>
            <a:off x="0" y="5007980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873459" y="2472243"/>
            <a:ext cx="100583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 err="1">
                <a:solidFill>
                  <a:srgbClr val="FF0000"/>
                </a:solidFill>
              </a:rPr>
              <a:t>L</a:t>
            </a:r>
            <a:r>
              <a:rPr lang="fr-FR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inear</a:t>
            </a:r>
            <a:r>
              <a:rPr lang="fr-FR" sz="4800" b="1" dirty="0">
                <a:solidFill>
                  <a:srgbClr val="FF0000"/>
                </a:solidFill>
              </a:rPr>
              <a:t> </a:t>
            </a:r>
            <a:r>
              <a:rPr lang="fr-FR" sz="4800" b="1" dirty="0" err="1">
                <a:solidFill>
                  <a:srgbClr val="FF0000"/>
                </a:solidFill>
              </a:rPr>
              <a:t>R</a:t>
            </a:r>
            <a:r>
              <a:rPr lang="fr-FR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egression</a:t>
            </a:r>
            <a:endParaRPr lang="fr-FR" sz="4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fr-FR" sz="4800" b="1" dirty="0" err="1">
                <a:solidFill>
                  <a:srgbClr val="FF3300"/>
                </a:solidFill>
              </a:rPr>
              <a:t>L</a:t>
            </a:r>
            <a:r>
              <a:rPr lang="fr-FR" sz="4800" b="1" dirty="0" err="1">
                <a:solidFill>
                  <a:srgbClr val="0083E6"/>
                </a:solidFill>
              </a:rPr>
              <a:t>ogistic</a:t>
            </a:r>
            <a:r>
              <a:rPr lang="fr-FR" sz="4800" b="1" dirty="0">
                <a:solidFill>
                  <a:srgbClr val="0083E6"/>
                </a:solidFill>
              </a:rPr>
              <a:t> </a:t>
            </a:r>
            <a:r>
              <a:rPr lang="fr-FR" sz="4800" b="1" dirty="0" err="1">
                <a:solidFill>
                  <a:srgbClr val="FF3300"/>
                </a:solidFill>
              </a:rPr>
              <a:t>R</a:t>
            </a:r>
            <a:r>
              <a:rPr lang="fr-FR" sz="4800" b="1" dirty="0" err="1">
                <a:solidFill>
                  <a:srgbClr val="0083E6"/>
                </a:solidFill>
              </a:rPr>
              <a:t>egression</a:t>
            </a:r>
            <a:r>
              <a:rPr lang="fr-FR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algn="ctr"/>
            <a:r>
              <a:rPr lang="fr-FR" sz="4800" b="1" dirty="0">
                <a:solidFill>
                  <a:srgbClr val="FF0000"/>
                </a:solidFill>
              </a:rPr>
              <a:t>N</a:t>
            </a:r>
            <a:r>
              <a:rPr lang="fr-FR" sz="4800" b="1" dirty="0">
                <a:solidFill>
                  <a:srgbClr val="0083E6"/>
                </a:solidFill>
              </a:rPr>
              <a:t>eural</a:t>
            </a:r>
            <a:r>
              <a:rPr lang="fr-FR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</a:rPr>
              <a:t>N</a:t>
            </a:r>
            <a:r>
              <a:rPr lang="fr-FR" sz="4800" b="1" dirty="0">
                <a:solidFill>
                  <a:srgbClr val="0083E6"/>
                </a:solidFill>
              </a:rPr>
              <a:t>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6866" y="4669426"/>
            <a:ext cx="11063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dirty="0">
                <a:solidFill>
                  <a:srgbClr val="FF3300"/>
                </a:solidFill>
              </a:rPr>
              <a:t>2022/2023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08" y="105415"/>
            <a:ext cx="3112898" cy="230026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014" y="1659535"/>
            <a:ext cx="1518883" cy="113916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048" y="42910"/>
            <a:ext cx="1746816" cy="1377399"/>
          </a:xfrm>
          <a:prstGeom prst="rect">
            <a:avLst/>
          </a:prstGeom>
        </p:spPr>
      </p:pic>
      <p:sp>
        <p:nvSpPr>
          <p:cNvPr id="3" name="ZoneTexte 3">
            <a:extLst>
              <a:ext uri="{FF2B5EF4-FFF2-40B4-BE49-F238E27FC236}">
                <a16:creationId xmlns:a16="http://schemas.microsoft.com/office/drawing/2014/main" id="{5DCD0953-05C4-9B9D-A9D3-FAC989F23C02}"/>
              </a:ext>
            </a:extLst>
          </p:cNvPr>
          <p:cNvSpPr txBox="1"/>
          <p:nvPr/>
        </p:nvSpPr>
        <p:spPr>
          <a:xfrm>
            <a:off x="0" y="5050844"/>
            <a:ext cx="12192000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lvl="7"/>
            <a:r>
              <a:rPr lang="fr-FR" sz="2000" b="1" dirty="0" err="1"/>
              <a:t>Abdelwahab</a:t>
            </a:r>
            <a:r>
              <a:rPr lang="fr-FR" sz="2000" b="1" dirty="0"/>
              <a:t> Naji - </a:t>
            </a:r>
            <a:r>
              <a:rPr lang="fr-FR" sz="1600" b="1" dirty="0"/>
              <a:t>Enseignant chercheur</a:t>
            </a:r>
            <a:r>
              <a:rPr lang="fr-FR" sz="2000" b="1" dirty="0"/>
              <a:t> </a:t>
            </a:r>
            <a:endParaRPr lang="fr-FR" sz="2400" b="1" dirty="0"/>
          </a:p>
          <a:p>
            <a:pPr marL="0" lvl="7"/>
            <a:r>
              <a:rPr lang="fr-FR" sz="2000" dirty="0">
                <a:hlinkClick r:id="rId5"/>
              </a:rPr>
              <a:t>Abdelwahab.naji@gmail.com</a:t>
            </a:r>
            <a:r>
              <a:rPr lang="fr-FR" sz="2000" dirty="0"/>
              <a:t> </a:t>
            </a:r>
            <a:endParaRPr lang="fr-FR" sz="1600" dirty="0"/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ENSAO, Université Mohamed premier - Oujda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/>
              </a:rPr>
              <a:t>https://www.youtube.com/c/AbdelwahabNaji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663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6F60AAF-D276-4E9C-8DCF-33C7E6AFA9F8}"/>
              </a:ext>
            </a:extLst>
          </p:cNvPr>
          <p:cNvSpPr/>
          <p:nvPr/>
        </p:nvSpPr>
        <p:spPr>
          <a:xfrm>
            <a:off x="355955" y="3231954"/>
            <a:ext cx="1813560" cy="12801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6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25DB2D-D038-4D5F-A5D3-2A806DDAB9A9}"/>
              </a:ext>
            </a:extLst>
          </p:cNvPr>
          <p:cNvSpPr/>
          <p:nvPr/>
        </p:nvSpPr>
        <p:spPr>
          <a:xfrm>
            <a:off x="218795" y="2698554"/>
            <a:ext cx="2148840" cy="181356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D6723-48FA-47B0-BDB0-8D7E68C52CFA}"/>
              </a:ext>
            </a:extLst>
          </p:cNvPr>
          <p:cNvSpPr txBox="1"/>
          <p:nvPr/>
        </p:nvSpPr>
        <p:spPr>
          <a:xfrm>
            <a:off x="615035" y="3231954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400" dirty="0"/>
              <a:t>Machine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7A5E6-2FDC-415B-AB50-1E86F5BF528C}"/>
              </a:ext>
            </a:extLst>
          </p:cNvPr>
          <p:cNvSpPr txBox="1"/>
          <p:nvPr/>
        </p:nvSpPr>
        <p:spPr>
          <a:xfrm>
            <a:off x="569315" y="2680188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400" dirty="0" err="1"/>
              <a:t>Artificial</a:t>
            </a:r>
            <a:r>
              <a:rPr lang="fr-MA" sz="1400" dirty="0"/>
              <a:t> intelligence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C403EA-B94A-4A81-BDE2-3BD4516EB5F4}"/>
              </a:ext>
            </a:extLst>
          </p:cNvPr>
          <p:cNvSpPr/>
          <p:nvPr/>
        </p:nvSpPr>
        <p:spPr>
          <a:xfrm>
            <a:off x="3135084" y="3236715"/>
            <a:ext cx="1008000" cy="4851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6BBB9-0261-478C-AE09-8E452A868ECA}"/>
              </a:ext>
            </a:extLst>
          </p:cNvPr>
          <p:cNvSpPr txBox="1"/>
          <p:nvPr/>
        </p:nvSpPr>
        <p:spPr>
          <a:xfrm>
            <a:off x="3087187" y="3236714"/>
            <a:ext cx="1071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/>
              <a:t>ML </a:t>
            </a:r>
            <a:r>
              <a:rPr lang="fr-MA" sz="1200" b="1" dirty="0" err="1"/>
              <a:t>problem</a:t>
            </a:r>
            <a:r>
              <a:rPr lang="fr-MA" sz="1200" b="1" dirty="0"/>
              <a:t> 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16424-D999-4ACE-A4B3-342A49AAB693}"/>
              </a:ext>
            </a:extLst>
          </p:cNvPr>
          <p:cNvSpPr txBox="1"/>
          <p:nvPr/>
        </p:nvSpPr>
        <p:spPr>
          <a:xfrm>
            <a:off x="4635162" y="822587"/>
            <a:ext cx="986824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/>
              <a:t>Regression</a:t>
            </a:r>
            <a:endParaRPr lang="fr-MA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DBC9C-60D2-4DE2-AC7A-9DA8FC11DC4D}"/>
              </a:ext>
            </a:extLst>
          </p:cNvPr>
          <p:cNvSpPr txBox="1"/>
          <p:nvPr/>
        </p:nvSpPr>
        <p:spPr>
          <a:xfrm>
            <a:off x="5876115" y="2804516"/>
            <a:ext cx="936000" cy="276999"/>
          </a:xfrm>
          <a:prstGeom prst="rect">
            <a:avLst/>
          </a:prstGeom>
          <a:solidFill>
            <a:srgbClr val="00518E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chemeClr val="bg1"/>
                </a:solidFill>
              </a:rPr>
              <a:t>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CC6A9-A885-4A02-9696-9A2C84E89263}"/>
              </a:ext>
            </a:extLst>
          </p:cNvPr>
          <p:cNvSpPr txBox="1"/>
          <p:nvPr/>
        </p:nvSpPr>
        <p:spPr>
          <a:xfrm>
            <a:off x="5968566" y="5517357"/>
            <a:ext cx="900000" cy="276999"/>
          </a:xfrm>
          <a:prstGeom prst="rect">
            <a:avLst/>
          </a:prstGeom>
          <a:solidFill>
            <a:srgbClr val="00518E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chemeClr val="bg1"/>
                </a:solidFill>
              </a:rPr>
              <a:t>Techniques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8BDE5-BDF7-4C30-B116-099B66C5F3E3}"/>
              </a:ext>
            </a:extLst>
          </p:cNvPr>
          <p:cNvSpPr txBox="1"/>
          <p:nvPr/>
        </p:nvSpPr>
        <p:spPr>
          <a:xfrm>
            <a:off x="7338475" y="452658"/>
            <a:ext cx="1049673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Decision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Tree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D008F4-336A-4724-9B59-EB0A136E8349}"/>
              </a:ext>
            </a:extLst>
          </p:cNvPr>
          <p:cNvSpPr txBox="1"/>
          <p:nvPr/>
        </p:nvSpPr>
        <p:spPr>
          <a:xfrm>
            <a:off x="7351018" y="824754"/>
            <a:ext cx="1296000" cy="276999"/>
          </a:xfrm>
          <a:prstGeom prst="rect">
            <a:avLst/>
          </a:prstGeom>
          <a:solidFill>
            <a:srgbClr val="0083E6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Linear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Regression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8C676-97A9-4814-A5B2-030BDBE69B6F}"/>
              </a:ext>
            </a:extLst>
          </p:cNvPr>
          <p:cNvSpPr txBox="1"/>
          <p:nvPr/>
        </p:nvSpPr>
        <p:spPr>
          <a:xfrm>
            <a:off x="7331975" y="1122893"/>
            <a:ext cx="792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SVR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97CE60-CC01-4A0E-AD83-4FF87A8A0D54}"/>
              </a:ext>
            </a:extLst>
          </p:cNvPr>
          <p:cNvSpPr txBox="1"/>
          <p:nvPr/>
        </p:nvSpPr>
        <p:spPr>
          <a:xfrm>
            <a:off x="7322750" y="1507017"/>
            <a:ext cx="115200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fr-MA" dirty="0"/>
              <a:t>Neural network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394F26-857C-4F90-BE27-3E32A25EF531}"/>
              </a:ext>
            </a:extLst>
          </p:cNvPr>
          <p:cNvSpPr txBox="1"/>
          <p:nvPr/>
        </p:nvSpPr>
        <p:spPr>
          <a:xfrm>
            <a:off x="6508575" y="2404746"/>
            <a:ext cx="1260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Decision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trees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12F0EA-1FFF-4EAD-BD08-205B022C709F}"/>
              </a:ext>
            </a:extLst>
          </p:cNvPr>
          <p:cNvSpPr txBox="1"/>
          <p:nvPr/>
        </p:nvSpPr>
        <p:spPr>
          <a:xfrm>
            <a:off x="7605870" y="2709903"/>
            <a:ext cx="1358290" cy="261610"/>
          </a:xfrm>
          <a:prstGeom prst="rect">
            <a:avLst/>
          </a:prstGeom>
          <a:solidFill>
            <a:srgbClr val="0083E6"/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r>
              <a:rPr lang="fr-MA" dirty="0" err="1"/>
              <a:t>Logistic</a:t>
            </a:r>
            <a:r>
              <a:rPr lang="fr-MA" dirty="0"/>
              <a:t> </a:t>
            </a:r>
            <a:r>
              <a:rPr lang="fr-MA" dirty="0" err="1"/>
              <a:t>Regression</a:t>
            </a:r>
            <a:endParaRPr lang="fr-MA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517C6F-1F9E-481D-8226-13E57A60C8FD}"/>
              </a:ext>
            </a:extLst>
          </p:cNvPr>
          <p:cNvSpPr txBox="1"/>
          <p:nvPr/>
        </p:nvSpPr>
        <p:spPr>
          <a:xfrm>
            <a:off x="7575387" y="3022750"/>
            <a:ext cx="1008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Naive</a:t>
            </a:r>
            <a:r>
              <a:rPr lang="fr-MA" sz="1200" dirty="0">
                <a:solidFill>
                  <a:schemeClr val="bg1"/>
                </a:solidFill>
              </a:rPr>
              <a:t> bayes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3C4D8B-A40F-478A-8113-336A7661BCCA}"/>
              </a:ext>
            </a:extLst>
          </p:cNvPr>
          <p:cNvSpPr txBox="1"/>
          <p:nvPr/>
        </p:nvSpPr>
        <p:spPr>
          <a:xfrm>
            <a:off x="7651583" y="3332574"/>
            <a:ext cx="1249684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Neural network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DF5F62-CB1A-4431-A7DC-5318D6F964B1}"/>
              </a:ext>
            </a:extLst>
          </p:cNvPr>
          <p:cNvSpPr txBox="1"/>
          <p:nvPr/>
        </p:nvSpPr>
        <p:spPr>
          <a:xfrm>
            <a:off x="7692963" y="5322648"/>
            <a:ext cx="79246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K-</a:t>
            </a:r>
            <a:r>
              <a:rPr lang="fr-MA" sz="1200" dirty="0" err="1">
                <a:solidFill>
                  <a:schemeClr val="bg1"/>
                </a:solidFill>
              </a:rPr>
              <a:t>means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13EE6B-C845-4499-B712-8C1F47164E68}"/>
              </a:ext>
            </a:extLst>
          </p:cNvPr>
          <p:cNvSpPr txBox="1"/>
          <p:nvPr/>
        </p:nvSpPr>
        <p:spPr>
          <a:xfrm>
            <a:off x="7696077" y="5683244"/>
            <a:ext cx="828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DBScan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3E60AB-A0F9-4295-9027-A55889A2B40B}"/>
              </a:ext>
            </a:extLst>
          </p:cNvPr>
          <p:cNvSpPr txBox="1"/>
          <p:nvPr/>
        </p:nvSpPr>
        <p:spPr>
          <a:xfrm>
            <a:off x="7723435" y="6010619"/>
            <a:ext cx="900000" cy="461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hierarchical</a:t>
            </a:r>
            <a:r>
              <a:rPr lang="fr-MA" sz="1200" dirty="0">
                <a:solidFill>
                  <a:schemeClr val="bg1"/>
                </a:solidFill>
              </a:rPr>
              <a:t> clustering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E82DFF-1463-469D-8851-09571CAFD5EE}"/>
              </a:ext>
            </a:extLst>
          </p:cNvPr>
          <p:cNvSpPr txBox="1"/>
          <p:nvPr/>
        </p:nvSpPr>
        <p:spPr>
          <a:xfrm>
            <a:off x="5912594" y="423003"/>
            <a:ext cx="900000" cy="276999"/>
          </a:xfrm>
          <a:prstGeom prst="rect">
            <a:avLst/>
          </a:prstGeom>
          <a:solidFill>
            <a:srgbClr val="00518E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chemeClr val="bg1"/>
                </a:solidFill>
              </a:rPr>
              <a:t>Techniques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2D3083-D484-4F50-90F8-F19D32F5BD78}"/>
              </a:ext>
            </a:extLst>
          </p:cNvPr>
          <p:cNvSpPr txBox="1"/>
          <p:nvPr/>
        </p:nvSpPr>
        <p:spPr>
          <a:xfrm>
            <a:off x="5345710" y="1149130"/>
            <a:ext cx="994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 err="1">
                <a:solidFill>
                  <a:srgbClr val="FF6565"/>
                </a:solidFill>
              </a:rPr>
              <a:t>Loss</a:t>
            </a:r>
            <a:endParaRPr lang="fr-MA" sz="1200" b="1" dirty="0">
              <a:solidFill>
                <a:srgbClr val="FF6565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4A4934-A319-49B7-9001-F084EE000C13}"/>
              </a:ext>
            </a:extLst>
          </p:cNvPr>
          <p:cNvSpPr txBox="1"/>
          <p:nvPr/>
        </p:nvSpPr>
        <p:spPr>
          <a:xfrm>
            <a:off x="9600800" y="5243892"/>
            <a:ext cx="199052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/>
              <a:t>How </a:t>
            </a:r>
            <a:r>
              <a:rPr lang="fr-MA" sz="1200" dirty="0" err="1"/>
              <a:t>it</a:t>
            </a:r>
            <a:r>
              <a:rPr lang="fr-MA" sz="1200" dirty="0"/>
              <a:t> </a:t>
            </a:r>
            <a:r>
              <a:rPr lang="fr-MA" sz="1200" dirty="0" err="1"/>
              <a:t>works</a:t>
            </a:r>
            <a:r>
              <a:rPr lang="fr-MA" sz="1200" dirty="0"/>
              <a:t>?</a:t>
            </a:r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Algorithmis</a:t>
            </a:r>
            <a:r>
              <a:rPr lang="fr-MA" sz="1200" dirty="0"/>
              <a:t>: </a:t>
            </a:r>
            <a:r>
              <a:rPr lang="fr-MA" sz="1200" dirty="0" err="1"/>
              <a:t>Optimizers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b="1" dirty="0">
                <a:solidFill>
                  <a:srgbClr val="FF6565"/>
                </a:solidFill>
              </a:rPr>
              <a:t>Math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2BA2B4F-D0F0-41F2-80B2-AE4A8339BFD1}"/>
              </a:ext>
            </a:extLst>
          </p:cNvPr>
          <p:cNvSpPr/>
          <p:nvPr/>
        </p:nvSpPr>
        <p:spPr>
          <a:xfrm>
            <a:off x="1227938" y="3767742"/>
            <a:ext cx="877111" cy="49181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6A43F6-157D-4CF3-9685-2AB772FBAA19}"/>
              </a:ext>
            </a:extLst>
          </p:cNvPr>
          <p:cNvSpPr txBox="1"/>
          <p:nvPr/>
        </p:nvSpPr>
        <p:spPr>
          <a:xfrm>
            <a:off x="1118314" y="3730649"/>
            <a:ext cx="1036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200" dirty="0" err="1"/>
              <a:t>Deep</a:t>
            </a:r>
            <a:r>
              <a:rPr lang="fr-MA" sz="1200" dirty="0"/>
              <a:t> Learning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797E59-A1F0-47D9-B9B3-6AF3C58A884E}"/>
              </a:ext>
            </a:extLst>
          </p:cNvPr>
          <p:cNvSpPr txBox="1"/>
          <p:nvPr/>
        </p:nvSpPr>
        <p:spPr>
          <a:xfrm>
            <a:off x="9355846" y="3064956"/>
            <a:ext cx="796314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400" b="1" dirty="0"/>
              <a:t>How to </a:t>
            </a:r>
            <a:r>
              <a:rPr lang="fr-MA" sz="1400" b="1" dirty="0" err="1"/>
              <a:t>Learn</a:t>
            </a:r>
            <a:r>
              <a:rPr lang="fr-MA" sz="1400" b="1" dirty="0"/>
              <a:t>?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64867949-0792-4191-A1BA-0512F7B27CA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621986" y="961087"/>
            <a:ext cx="175292" cy="188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FD4C5795-E1F3-4760-AEA1-0355D7783DA8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 flipV="1">
            <a:off x="5621986" y="561503"/>
            <a:ext cx="290608" cy="399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9E2510C-B7B9-4B52-9DEC-3E9592F02BF4}"/>
              </a:ext>
            </a:extLst>
          </p:cNvPr>
          <p:cNvCxnSpPr>
            <a:cxnSpLocks/>
            <a:stCxn id="17" idx="3"/>
            <a:endCxn id="628" idx="1"/>
          </p:cNvCxnSpPr>
          <p:nvPr/>
        </p:nvCxnSpPr>
        <p:spPr>
          <a:xfrm flipV="1">
            <a:off x="6812594" y="280808"/>
            <a:ext cx="492680" cy="28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8E554E2-E61F-4943-BAA1-9327993DD275}"/>
              </a:ext>
            </a:extLst>
          </p:cNvPr>
          <p:cNvCxnSpPr>
            <a:cxnSpLocks/>
            <a:stCxn id="17" idx="3"/>
            <a:endCxn id="13" idx="1"/>
          </p:cNvCxnSpPr>
          <p:nvPr/>
        </p:nvCxnSpPr>
        <p:spPr>
          <a:xfrm>
            <a:off x="6812594" y="561503"/>
            <a:ext cx="538424" cy="401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6CD3AF77-6812-47D6-A6FE-754C7460E148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>
            <a:off x="6812594" y="561503"/>
            <a:ext cx="519381" cy="699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D128DE53-A646-4D74-A1E0-7F0E92576FC1}"/>
              </a:ext>
            </a:extLst>
          </p:cNvPr>
          <p:cNvCxnSpPr>
            <a:stCxn id="17" idx="3"/>
            <a:endCxn id="15" idx="1"/>
          </p:cNvCxnSpPr>
          <p:nvPr/>
        </p:nvCxnSpPr>
        <p:spPr>
          <a:xfrm>
            <a:off x="6812594" y="561503"/>
            <a:ext cx="510156" cy="1084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2DCB05A3-9510-4D84-B90F-B9CF122BE912}"/>
              </a:ext>
            </a:extLst>
          </p:cNvPr>
          <p:cNvCxnSpPr>
            <a:cxnSpLocks/>
            <a:stCxn id="10" idx="3"/>
            <a:endCxn id="34" idx="1"/>
          </p:cNvCxnSpPr>
          <p:nvPr/>
        </p:nvCxnSpPr>
        <p:spPr>
          <a:xfrm flipV="1">
            <a:off x="6868566" y="5461148"/>
            <a:ext cx="824397" cy="194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D793BAE8-3FC4-43F2-B74D-99EF53A78595}"/>
              </a:ext>
            </a:extLst>
          </p:cNvPr>
          <p:cNvCxnSpPr>
            <a:cxnSpLocks/>
            <a:stCxn id="10" idx="3"/>
            <a:endCxn id="36" idx="1"/>
          </p:cNvCxnSpPr>
          <p:nvPr/>
        </p:nvCxnSpPr>
        <p:spPr>
          <a:xfrm>
            <a:off x="6868566" y="5655857"/>
            <a:ext cx="827511" cy="16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B2C0A453-D668-44CE-8615-52A7EB35BC8A}"/>
              </a:ext>
            </a:extLst>
          </p:cNvPr>
          <p:cNvCxnSpPr>
            <a:cxnSpLocks/>
            <a:stCxn id="10" idx="3"/>
            <a:endCxn id="38" idx="1"/>
          </p:cNvCxnSpPr>
          <p:nvPr/>
        </p:nvCxnSpPr>
        <p:spPr>
          <a:xfrm>
            <a:off x="6868566" y="5655857"/>
            <a:ext cx="854869" cy="585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: Elbow 220">
            <a:extLst>
              <a:ext uri="{FF2B5EF4-FFF2-40B4-BE49-F238E27FC236}">
                <a16:creationId xmlns:a16="http://schemas.microsoft.com/office/drawing/2014/main" id="{4D975351-301D-4B39-9A85-26DFEF279475}"/>
              </a:ext>
            </a:extLst>
          </p:cNvPr>
          <p:cNvCxnSpPr>
            <a:cxnSpLocks/>
            <a:stCxn id="3" idx="2"/>
            <a:endCxn id="246" idx="2"/>
          </p:cNvCxnSpPr>
          <p:nvPr/>
        </p:nvCxnSpPr>
        <p:spPr>
          <a:xfrm rot="16200000" flipH="1">
            <a:off x="3028250" y="4332661"/>
            <a:ext cx="1986501" cy="7648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D5B08F18-D8B8-4F27-A789-6D5C542B2C75}"/>
              </a:ext>
            </a:extLst>
          </p:cNvPr>
          <p:cNvCxnSpPr>
            <a:cxnSpLocks/>
            <a:stCxn id="9" idx="3"/>
            <a:endCxn id="16" idx="2"/>
          </p:cNvCxnSpPr>
          <p:nvPr/>
        </p:nvCxnSpPr>
        <p:spPr>
          <a:xfrm flipV="1">
            <a:off x="6812115" y="2681745"/>
            <a:ext cx="326460" cy="261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B1CDD4C-723E-47F0-9781-52358DD54C6C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 flipV="1">
            <a:off x="6812115" y="2840708"/>
            <a:ext cx="793755" cy="102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30A9A4E6-72B3-4962-A58F-E25C9D90D0DF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>
            <a:off x="6812115" y="2943016"/>
            <a:ext cx="763272" cy="21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8432E18D-C63B-45E4-B392-87275894ED26}"/>
              </a:ext>
            </a:extLst>
          </p:cNvPr>
          <p:cNvCxnSpPr>
            <a:cxnSpLocks/>
            <a:stCxn id="9" idx="3"/>
            <a:endCxn id="32" idx="1"/>
          </p:cNvCxnSpPr>
          <p:nvPr/>
        </p:nvCxnSpPr>
        <p:spPr>
          <a:xfrm>
            <a:off x="6812115" y="2943016"/>
            <a:ext cx="839468" cy="528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F65EE324-EF4D-4503-B5D3-5EE7CDCD5FB5}"/>
              </a:ext>
            </a:extLst>
          </p:cNvPr>
          <p:cNvSpPr txBox="1"/>
          <p:nvPr/>
        </p:nvSpPr>
        <p:spPr>
          <a:xfrm>
            <a:off x="4690528" y="3335278"/>
            <a:ext cx="100800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/>
              <a:t>Classification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8424C67-E1AD-41C2-A8CC-B65AE298AF5F}"/>
              </a:ext>
            </a:extLst>
          </p:cNvPr>
          <p:cNvSpPr txBox="1"/>
          <p:nvPr/>
        </p:nvSpPr>
        <p:spPr>
          <a:xfrm>
            <a:off x="5290465" y="3771800"/>
            <a:ext cx="10401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 err="1">
                <a:solidFill>
                  <a:srgbClr val="FF6565"/>
                </a:solidFill>
              </a:rPr>
              <a:t>Loss</a:t>
            </a:r>
            <a:endParaRPr lang="fr-MA" sz="1200" b="1" dirty="0">
              <a:solidFill>
                <a:srgbClr val="FF6565"/>
              </a:solidFill>
            </a:endParaRPr>
          </a:p>
        </p:txBody>
      </p: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AB4DF386-9991-4FEE-80EF-2E7391D773F2}"/>
              </a:ext>
            </a:extLst>
          </p:cNvPr>
          <p:cNvCxnSpPr>
            <a:cxnSpLocks/>
          </p:cNvCxnSpPr>
          <p:nvPr/>
        </p:nvCxnSpPr>
        <p:spPr>
          <a:xfrm>
            <a:off x="5514603" y="3574779"/>
            <a:ext cx="216807" cy="262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BC669000-A321-42F2-80BC-9D342F601FFD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483490" y="2943016"/>
            <a:ext cx="392625" cy="353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TextBox 308">
            <a:extLst>
              <a:ext uri="{FF2B5EF4-FFF2-40B4-BE49-F238E27FC236}">
                <a16:creationId xmlns:a16="http://schemas.microsoft.com/office/drawing/2014/main" id="{D08B262A-F3DB-47FD-B45C-D2D22AFA0D9A}"/>
              </a:ext>
            </a:extLst>
          </p:cNvPr>
          <p:cNvSpPr txBox="1"/>
          <p:nvPr/>
        </p:nvSpPr>
        <p:spPr>
          <a:xfrm>
            <a:off x="4631885" y="5581579"/>
            <a:ext cx="86400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/>
              <a:t>Clustering</a:t>
            </a:r>
          </a:p>
        </p:txBody>
      </p: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44E5C1E5-4BA9-4431-AA6B-9B1D47805A55}"/>
              </a:ext>
            </a:extLst>
          </p:cNvPr>
          <p:cNvCxnSpPr>
            <a:cxnSpLocks/>
            <a:stCxn id="309" idx="3"/>
            <a:endCxn id="10" idx="1"/>
          </p:cNvCxnSpPr>
          <p:nvPr/>
        </p:nvCxnSpPr>
        <p:spPr>
          <a:xfrm flipV="1">
            <a:off x="5495885" y="5655857"/>
            <a:ext cx="472681" cy="64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TextBox 322">
            <a:extLst>
              <a:ext uri="{FF2B5EF4-FFF2-40B4-BE49-F238E27FC236}">
                <a16:creationId xmlns:a16="http://schemas.microsoft.com/office/drawing/2014/main" id="{A665D8C0-08EE-4622-A353-40B9B25494AB}"/>
              </a:ext>
            </a:extLst>
          </p:cNvPr>
          <p:cNvSpPr txBox="1"/>
          <p:nvPr/>
        </p:nvSpPr>
        <p:spPr>
          <a:xfrm>
            <a:off x="4947342" y="6131325"/>
            <a:ext cx="1063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rgbClr val="7030A0"/>
                </a:solidFill>
              </a:rPr>
              <a:t>Performance</a:t>
            </a:r>
          </a:p>
        </p:txBody>
      </p: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0CC748EC-B76D-4F9F-880B-591EDE05678D}"/>
              </a:ext>
            </a:extLst>
          </p:cNvPr>
          <p:cNvCxnSpPr>
            <a:cxnSpLocks/>
            <a:stCxn id="309" idx="3"/>
            <a:endCxn id="323" idx="0"/>
          </p:cNvCxnSpPr>
          <p:nvPr/>
        </p:nvCxnSpPr>
        <p:spPr>
          <a:xfrm flipH="1">
            <a:off x="5479175" y="5720079"/>
            <a:ext cx="16710" cy="411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1" name="TextBox 590">
            <a:extLst>
              <a:ext uri="{FF2B5EF4-FFF2-40B4-BE49-F238E27FC236}">
                <a16:creationId xmlns:a16="http://schemas.microsoft.com/office/drawing/2014/main" id="{19155187-09AE-4FF8-9F81-CB218E6F861B}"/>
              </a:ext>
            </a:extLst>
          </p:cNvPr>
          <p:cNvSpPr txBox="1"/>
          <p:nvPr/>
        </p:nvSpPr>
        <p:spPr>
          <a:xfrm>
            <a:off x="9570320" y="4885848"/>
            <a:ext cx="2021874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bg1"/>
                </a:solidFill>
              </a:rPr>
              <a:t>From</a:t>
            </a:r>
            <a:r>
              <a:rPr lang="fr-MA" sz="1400" dirty="0">
                <a:solidFill>
                  <a:schemeClr val="bg1"/>
                </a:solidFill>
              </a:rPr>
              <a:t> scratch &amp; by hand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EDABA87D-27D7-42AA-932F-87B23F3FABEB}"/>
              </a:ext>
            </a:extLst>
          </p:cNvPr>
          <p:cNvSpPr txBox="1"/>
          <p:nvPr/>
        </p:nvSpPr>
        <p:spPr>
          <a:xfrm>
            <a:off x="6173760" y="910521"/>
            <a:ext cx="9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ME</a:t>
            </a:r>
          </a:p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MSE</a:t>
            </a:r>
          </a:p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RMSE</a:t>
            </a:r>
          </a:p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MAE</a:t>
            </a:r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AC65FC6C-398B-4267-89BD-46079F1AB423}"/>
              </a:ext>
            </a:extLst>
          </p:cNvPr>
          <p:cNvSpPr txBox="1"/>
          <p:nvPr/>
        </p:nvSpPr>
        <p:spPr>
          <a:xfrm>
            <a:off x="6080150" y="3701190"/>
            <a:ext cx="165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6000" indent="-36000">
              <a:buFont typeface="Calibri" panose="020F0502020204030204" pitchFamily="34" charset="0"/>
              <a:buChar char="—"/>
              <a:defRPr sz="1200">
                <a:solidFill>
                  <a:srgbClr val="FF6565"/>
                </a:solidFill>
              </a:defRPr>
            </a:lvl1pPr>
          </a:lstStyle>
          <a:p>
            <a:r>
              <a:rPr lang="fr-MA" sz="1100" dirty="0"/>
              <a:t>Cross </a:t>
            </a:r>
            <a:r>
              <a:rPr lang="fr-MA" sz="1100" dirty="0" err="1"/>
              <a:t>entropy</a:t>
            </a:r>
            <a:endParaRPr lang="fr-MA" sz="1100" dirty="0"/>
          </a:p>
          <a:p>
            <a:r>
              <a:rPr lang="fr-MA" sz="1100" dirty="0" err="1"/>
              <a:t>Logarithmic</a:t>
            </a:r>
            <a:r>
              <a:rPr lang="fr-MA" sz="1100" dirty="0"/>
              <a:t> </a:t>
            </a:r>
            <a:r>
              <a:rPr lang="fr-MA" sz="1100" dirty="0" err="1"/>
              <a:t>Loss</a:t>
            </a:r>
            <a:endParaRPr lang="fr-MA" sz="1100" dirty="0"/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6E3027C1-3E48-4542-9EEF-55A0DD15EE83}"/>
              </a:ext>
            </a:extLst>
          </p:cNvPr>
          <p:cNvSpPr txBox="1"/>
          <p:nvPr/>
        </p:nvSpPr>
        <p:spPr>
          <a:xfrm>
            <a:off x="5869295" y="6032548"/>
            <a:ext cx="172583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6000" indent="-36000">
              <a:buFont typeface="Calibri" panose="020F0502020204030204" pitchFamily="34" charset="0"/>
              <a:buChar char="—"/>
              <a:defRPr sz="1100">
                <a:solidFill>
                  <a:srgbClr val="FF6565"/>
                </a:solidFill>
              </a:defRPr>
            </a:lvl1pPr>
          </a:lstStyle>
          <a:p>
            <a:r>
              <a:rPr lang="fr-MA" dirty="0">
                <a:solidFill>
                  <a:srgbClr val="7030A0"/>
                </a:solidFill>
              </a:rPr>
              <a:t>Davies-</a:t>
            </a:r>
            <a:r>
              <a:rPr lang="fr-MA" dirty="0" err="1">
                <a:solidFill>
                  <a:srgbClr val="7030A0"/>
                </a:solidFill>
              </a:rPr>
              <a:t>Bouldin</a:t>
            </a:r>
            <a:r>
              <a:rPr lang="fr-MA" dirty="0">
                <a:solidFill>
                  <a:srgbClr val="7030A0"/>
                </a:solidFill>
              </a:rPr>
              <a:t> Index</a:t>
            </a:r>
          </a:p>
          <a:p>
            <a:r>
              <a:rPr lang="fr-MA" dirty="0">
                <a:solidFill>
                  <a:srgbClr val="7030A0"/>
                </a:solidFill>
              </a:rPr>
              <a:t>Dunn Index</a:t>
            </a:r>
          </a:p>
          <a:p>
            <a:r>
              <a:rPr lang="fr-MA" dirty="0">
                <a:solidFill>
                  <a:srgbClr val="7030A0"/>
                </a:solidFill>
              </a:rPr>
              <a:t>Silhouette Coefficient</a:t>
            </a: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3F961A39-B8B5-4EF7-91EB-35D0D8F82AFA}"/>
              </a:ext>
            </a:extLst>
          </p:cNvPr>
          <p:cNvSpPr txBox="1"/>
          <p:nvPr/>
        </p:nvSpPr>
        <p:spPr>
          <a:xfrm>
            <a:off x="7305274" y="142308"/>
            <a:ext cx="1172837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Random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forest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630" name="TextBox 629">
            <a:extLst>
              <a:ext uri="{FF2B5EF4-FFF2-40B4-BE49-F238E27FC236}">
                <a16:creationId xmlns:a16="http://schemas.microsoft.com/office/drawing/2014/main" id="{696519DD-17EA-44A5-B013-4E890B175CAF}"/>
              </a:ext>
            </a:extLst>
          </p:cNvPr>
          <p:cNvSpPr txBox="1"/>
          <p:nvPr/>
        </p:nvSpPr>
        <p:spPr>
          <a:xfrm>
            <a:off x="7694190" y="3638516"/>
            <a:ext cx="1214685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Random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forest</a:t>
            </a:r>
            <a:endParaRPr lang="fr-MA" sz="1200" dirty="0">
              <a:solidFill>
                <a:schemeClr val="bg1"/>
              </a:solidFill>
            </a:endParaRPr>
          </a:p>
        </p:txBody>
      </p:sp>
      <p:cxnSp>
        <p:nvCxnSpPr>
          <p:cNvPr id="632" name="Straight Arrow Connector 631">
            <a:extLst>
              <a:ext uri="{FF2B5EF4-FFF2-40B4-BE49-F238E27FC236}">
                <a16:creationId xmlns:a16="http://schemas.microsoft.com/office/drawing/2014/main" id="{8E05A1B4-0074-4FCF-BDF8-6D3A4B76D99B}"/>
              </a:ext>
            </a:extLst>
          </p:cNvPr>
          <p:cNvCxnSpPr>
            <a:cxnSpLocks/>
            <a:stCxn id="9" idx="3"/>
            <a:endCxn id="630" idx="1"/>
          </p:cNvCxnSpPr>
          <p:nvPr/>
        </p:nvCxnSpPr>
        <p:spPr>
          <a:xfrm>
            <a:off x="6812115" y="2943016"/>
            <a:ext cx="882075" cy="83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6D185DD7-B94E-411B-9227-9F7221657EEF}"/>
              </a:ext>
            </a:extLst>
          </p:cNvPr>
          <p:cNvCxnSpPr>
            <a:cxnSpLocks/>
            <a:stCxn id="17" idx="3"/>
            <a:endCxn id="11" idx="1"/>
          </p:cNvCxnSpPr>
          <p:nvPr/>
        </p:nvCxnSpPr>
        <p:spPr>
          <a:xfrm>
            <a:off x="6812594" y="561503"/>
            <a:ext cx="525881" cy="29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4" name="Right Brace 653">
            <a:extLst>
              <a:ext uri="{FF2B5EF4-FFF2-40B4-BE49-F238E27FC236}">
                <a16:creationId xmlns:a16="http://schemas.microsoft.com/office/drawing/2014/main" id="{25033683-0DEB-4BE7-B5E0-D4CB5187FF27}"/>
              </a:ext>
            </a:extLst>
          </p:cNvPr>
          <p:cNvSpPr/>
          <p:nvPr/>
        </p:nvSpPr>
        <p:spPr>
          <a:xfrm>
            <a:off x="8931138" y="233182"/>
            <a:ext cx="470702" cy="6383201"/>
          </a:xfrm>
          <a:prstGeom prst="rightBrace">
            <a:avLst>
              <a:gd name="adj1" fmla="val 8333"/>
              <a:gd name="adj2" fmla="val 49541"/>
            </a:avLst>
          </a:prstGeom>
          <a:ln w="31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369270B7-193B-416F-9A96-A2048632A540}"/>
              </a:ext>
            </a:extLst>
          </p:cNvPr>
          <p:cNvSpPr txBox="1"/>
          <p:nvPr/>
        </p:nvSpPr>
        <p:spPr>
          <a:xfrm>
            <a:off x="7694190" y="4445786"/>
            <a:ext cx="1214685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666" name="TextBox 665">
            <a:extLst>
              <a:ext uri="{FF2B5EF4-FFF2-40B4-BE49-F238E27FC236}">
                <a16:creationId xmlns:a16="http://schemas.microsoft.com/office/drawing/2014/main" id="{5220908D-5F10-452C-BE07-04D47DEFCCE8}"/>
              </a:ext>
            </a:extLst>
          </p:cNvPr>
          <p:cNvSpPr txBox="1"/>
          <p:nvPr/>
        </p:nvSpPr>
        <p:spPr>
          <a:xfrm>
            <a:off x="7723436" y="6507421"/>
            <a:ext cx="92736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668" name="Straight Arrow Connector 667">
            <a:extLst>
              <a:ext uri="{FF2B5EF4-FFF2-40B4-BE49-F238E27FC236}">
                <a16:creationId xmlns:a16="http://schemas.microsoft.com/office/drawing/2014/main" id="{84AA514B-328B-4C0A-ACFE-784030D548BC}"/>
              </a:ext>
            </a:extLst>
          </p:cNvPr>
          <p:cNvCxnSpPr>
            <a:cxnSpLocks/>
            <a:stCxn id="9" idx="3"/>
            <a:endCxn id="660" idx="1"/>
          </p:cNvCxnSpPr>
          <p:nvPr/>
        </p:nvCxnSpPr>
        <p:spPr>
          <a:xfrm>
            <a:off x="6812115" y="2943016"/>
            <a:ext cx="882075" cy="164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Arrow Connector 670">
            <a:extLst>
              <a:ext uri="{FF2B5EF4-FFF2-40B4-BE49-F238E27FC236}">
                <a16:creationId xmlns:a16="http://schemas.microsoft.com/office/drawing/2014/main" id="{B693401B-3557-4076-BE1C-9CCD93D480C0}"/>
              </a:ext>
            </a:extLst>
          </p:cNvPr>
          <p:cNvCxnSpPr>
            <a:cxnSpLocks/>
            <a:stCxn id="10" idx="3"/>
            <a:endCxn id="666" idx="1"/>
          </p:cNvCxnSpPr>
          <p:nvPr/>
        </p:nvCxnSpPr>
        <p:spPr>
          <a:xfrm>
            <a:off x="6868566" y="5655857"/>
            <a:ext cx="854870" cy="990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4" name="TextBox 683">
            <a:extLst>
              <a:ext uri="{FF2B5EF4-FFF2-40B4-BE49-F238E27FC236}">
                <a16:creationId xmlns:a16="http://schemas.microsoft.com/office/drawing/2014/main" id="{FC3F9EC9-6AD4-4A2E-BA8E-06D7CA3292A1}"/>
              </a:ext>
            </a:extLst>
          </p:cNvPr>
          <p:cNvSpPr txBox="1"/>
          <p:nvPr/>
        </p:nvSpPr>
        <p:spPr>
          <a:xfrm>
            <a:off x="7244755" y="1930080"/>
            <a:ext cx="115200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700" name="TextBox 699">
            <a:extLst>
              <a:ext uri="{FF2B5EF4-FFF2-40B4-BE49-F238E27FC236}">
                <a16:creationId xmlns:a16="http://schemas.microsoft.com/office/drawing/2014/main" id="{C9B30D16-D6D1-4BD5-B7E1-CB4B257A94AE}"/>
              </a:ext>
            </a:extLst>
          </p:cNvPr>
          <p:cNvSpPr txBox="1"/>
          <p:nvPr/>
        </p:nvSpPr>
        <p:spPr>
          <a:xfrm>
            <a:off x="7694190" y="3956018"/>
            <a:ext cx="1214685" cy="461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Support </a:t>
            </a:r>
            <a:r>
              <a:rPr lang="fr-MA" sz="1200" dirty="0" err="1">
                <a:solidFill>
                  <a:schemeClr val="bg1"/>
                </a:solidFill>
              </a:rPr>
              <a:t>Vector</a:t>
            </a:r>
            <a:r>
              <a:rPr lang="fr-MA" sz="1200" dirty="0">
                <a:solidFill>
                  <a:schemeClr val="bg1"/>
                </a:solidFill>
              </a:rPr>
              <a:t> Machine</a:t>
            </a:r>
          </a:p>
        </p:txBody>
      </p:sp>
      <p:cxnSp>
        <p:nvCxnSpPr>
          <p:cNvPr id="702" name="Straight Arrow Connector 701">
            <a:extLst>
              <a:ext uri="{FF2B5EF4-FFF2-40B4-BE49-F238E27FC236}">
                <a16:creationId xmlns:a16="http://schemas.microsoft.com/office/drawing/2014/main" id="{1F00CCD9-C1CE-4659-9632-D0F6A1C3B2AD}"/>
              </a:ext>
            </a:extLst>
          </p:cNvPr>
          <p:cNvCxnSpPr>
            <a:cxnSpLocks/>
            <a:stCxn id="9" idx="3"/>
            <a:endCxn id="700" idx="1"/>
          </p:cNvCxnSpPr>
          <p:nvPr/>
        </p:nvCxnSpPr>
        <p:spPr>
          <a:xfrm>
            <a:off x="6812115" y="2943016"/>
            <a:ext cx="882075" cy="1243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Arrow Connector 709">
            <a:extLst>
              <a:ext uri="{FF2B5EF4-FFF2-40B4-BE49-F238E27FC236}">
                <a16:creationId xmlns:a16="http://schemas.microsoft.com/office/drawing/2014/main" id="{1EA2C12F-8344-4B41-BFA0-1A2502576E17}"/>
              </a:ext>
            </a:extLst>
          </p:cNvPr>
          <p:cNvCxnSpPr>
            <a:cxnSpLocks/>
            <a:stCxn id="929" idx="7"/>
            <a:endCxn id="6" idx="1"/>
          </p:cNvCxnSpPr>
          <p:nvPr/>
        </p:nvCxnSpPr>
        <p:spPr>
          <a:xfrm flipV="1">
            <a:off x="1896200" y="3467547"/>
            <a:ext cx="1190987" cy="1825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Arrow Connector 849">
            <a:extLst>
              <a:ext uri="{FF2B5EF4-FFF2-40B4-BE49-F238E27FC236}">
                <a16:creationId xmlns:a16="http://schemas.microsoft.com/office/drawing/2014/main" id="{7DFA01AB-0A14-40CB-80FE-6C71806F573A}"/>
              </a:ext>
            </a:extLst>
          </p:cNvPr>
          <p:cNvCxnSpPr>
            <a:cxnSpLocks/>
            <a:stCxn id="17" idx="3"/>
            <a:endCxn id="684" idx="1"/>
          </p:cNvCxnSpPr>
          <p:nvPr/>
        </p:nvCxnSpPr>
        <p:spPr>
          <a:xfrm>
            <a:off x="6812594" y="561503"/>
            <a:ext cx="432161" cy="1507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7" name="Rectangle: Rounded Corners 876">
            <a:extLst>
              <a:ext uri="{FF2B5EF4-FFF2-40B4-BE49-F238E27FC236}">
                <a16:creationId xmlns:a16="http://schemas.microsoft.com/office/drawing/2014/main" id="{6E91ECCA-5082-4C3B-A1BD-69E8AD1983D5}"/>
              </a:ext>
            </a:extLst>
          </p:cNvPr>
          <p:cNvSpPr/>
          <p:nvPr/>
        </p:nvSpPr>
        <p:spPr>
          <a:xfrm>
            <a:off x="9659630" y="1587717"/>
            <a:ext cx="2376000" cy="1350390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879" name="TextBox 878">
            <a:extLst>
              <a:ext uri="{FF2B5EF4-FFF2-40B4-BE49-F238E27FC236}">
                <a16:creationId xmlns:a16="http://schemas.microsoft.com/office/drawing/2014/main" id="{A70F24AE-2F5F-4197-B3D7-AF36B3C6AB07}"/>
              </a:ext>
            </a:extLst>
          </p:cNvPr>
          <p:cNvSpPr txBox="1"/>
          <p:nvPr/>
        </p:nvSpPr>
        <p:spPr>
          <a:xfrm>
            <a:off x="9877301" y="1941106"/>
            <a:ext cx="1945732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72000" indent="-72000">
              <a:buFont typeface="Calibri" panose="020F0502020204030204" pitchFamily="34" charset="0"/>
              <a:buChar char="⁻"/>
              <a:defRPr sz="1200"/>
            </a:lvl1pPr>
          </a:lstStyle>
          <a:p>
            <a:pPr marL="0" indent="0">
              <a:buNone/>
            </a:pPr>
            <a:r>
              <a:rPr lang="fr-MA" b="1" dirty="0"/>
              <a:t>ML Librairies (Black Box) :</a:t>
            </a:r>
          </a:p>
          <a:p>
            <a:pPr marL="0" indent="0">
              <a:buNone/>
            </a:pPr>
            <a:r>
              <a:rPr lang="fr-MA" dirty="0" err="1"/>
              <a:t>sklearn</a:t>
            </a:r>
            <a:r>
              <a:rPr lang="fr-MA" dirty="0"/>
              <a:t>, </a:t>
            </a:r>
            <a:r>
              <a:rPr lang="fr-MA" dirty="0" err="1"/>
              <a:t>Keras</a:t>
            </a:r>
            <a:r>
              <a:rPr lang="fr-MA" dirty="0"/>
              <a:t>, </a:t>
            </a:r>
            <a:r>
              <a:rPr lang="fr-MA" dirty="0" err="1"/>
              <a:t>PyTorch</a:t>
            </a:r>
            <a:r>
              <a:rPr lang="fr-MA" dirty="0"/>
              <a:t> ..</a:t>
            </a:r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940C4F5E-C898-467A-BDAB-57D01C0CE8D2}"/>
              </a:ext>
            </a:extLst>
          </p:cNvPr>
          <p:cNvSpPr txBox="1"/>
          <p:nvPr/>
        </p:nvSpPr>
        <p:spPr>
          <a:xfrm>
            <a:off x="9860314" y="2454057"/>
            <a:ext cx="1993146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72000" indent="-72000">
              <a:buFont typeface="Calibri" panose="020F0502020204030204" pitchFamily="34" charset="0"/>
              <a:buChar char="⁻"/>
              <a:defRPr sz="1200"/>
            </a:lvl1pPr>
          </a:lstStyle>
          <a:p>
            <a:pPr marL="0" indent="0">
              <a:buNone/>
            </a:pPr>
            <a:r>
              <a:rPr lang="fr-MA" b="1" dirty="0"/>
              <a:t>Math </a:t>
            </a:r>
            <a:r>
              <a:rPr lang="fr-MA" b="1" dirty="0" err="1"/>
              <a:t>Librairires</a:t>
            </a:r>
            <a:r>
              <a:rPr lang="fr-MA" b="1" dirty="0"/>
              <a:t>:</a:t>
            </a:r>
          </a:p>
          <a:p>
            <a:pPr marL="0" indent="0">
              <a:buNone/>
            </a:pPr>
            <a:r>
              <a:rPr lang="fr-MA" dirty="0" err="1"/>
              <a:t>NumpY</a:t>
            </a:r>
            <a:r>
              <a:rPr lang="fr-MA" dirty="0"/>
              <a:t>, </a:t>
            </a:r>
            <a:r>
              <a:rPr lang="fr-MA" dirty="0" err="1"/>
              <a:t>SciPy</a:t>
            </a:r>
            <a:r>
              <a:rPr lang="fr-MA" dirty="0"/>
              <a:t>…</a:t>
            </a:r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6C0F9556-B4E6-4EC1-AE8F-CDD9B3F544D6}"/>
              </a:ext>
            </a:extLst>
          </p:cNvPr>
          <p:cNvSpPr txBox="1"/>
          <p:nvPr/>
        </p:nvSpPr>
        <p:spPr>
          <a:xfrm>
            <a:off x="9770621" y="1634933"/>
            <a:ext cx="2021874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bg1"/>
                </a:solidFill>
              </a:rPr>
              <a:t>Using</a:t>
            </a:r>
            <a:r>
              <a:rPr lang="fr-MA" sz="1400" dirty="0">
                <a:solidFill>
                  <a:schemeClr val="bg1"/>
                </a:solidFill>
              </a:rPr>
              <a:t> librairies</a:t>
            </a:r>
          </a:p>
        </p:txBody>
      </p:sp>
      <p:sp>
        <p:nvSpPr>
          <p:cNvPr id="885" name="TextBox 884">
            <a:extLst>
              <a:ext uri="{FF2B5EF4-FFF2-40B4-BE49-F238E27FC236}">
                <a16:creationId xmlns:a16="http://schemas.microsoft.com/office/drawing/2014/main" id="{E3FE516E-507C-4D87-8241-84FDA5F330C3}"/>
              </a:ext>
            </a:extLst>
          </p:cNvPr>
          <p:cNvSpPr txBox="1"/>
          <p:nvPr/>
        </p:nvSpPr>
        <p:spPr>
          <a:xfrm>
            <a:off x="9712803" y="129386"/>
            <a:ext cx="22320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200" dirty="0"/>
              <a:t>Don’t start </a:t>
            </a:r>
            <a:r>
              <a:rPr lang="fr-MA" sz="1200" dirty="0" err="1"/>
              <a:t>with</a:t>
            </a:r>
            <a:r>
              <a:rPr lang="fr-MA" sz="1200" dirty="0"/>
              <a:t> </a:t>
            </a:r>
            <a:r>
              <a:rPr lang="fr-MA" sz="1200" dirty="0" err="1"/>
              <a:t>theory</a:t>
            </a:r>
            <a:endParaRPr lang="fr-MA" sz="1200" dirty="0"/>
          </a:p>
        </p:txBody>
      </p:sp>
      <p:sp>
        <p:nvSpPr>
          <p:cNvPr id="887" name="TextBox 886">
            <a:extLst>
              <a:ext uri="{FF2B5EF4-FFF2-40B4-BE49-F238E27FC236}">
                <a16:creationId xmlns:a16="http://schemas.microsoft.com/office/drawing/2014/main" id="{CBD442B9-2C90-4C22-BAA1-7E16F9FC558A}"/>
              </a:ext>
            </a:extLst>
          </p:cNvPr>
          <p:cNvSpPr txBox="1"/>
          <p:nvPr/>
        </p:nvSpPr>
        <p:spPr>
          <a:xfrm>
            <a:off x="9724319" y="1152101"/>
            <a:ext cx="22320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200" dirty="0"/>
              <a:t>Use a simple </a:t>
            </a:r>
            <a:r>
              <a:rPr lang="fr-MA" sz="1200" dirty="0" err="1"/>
              <a:t>dataset</a:t>
            </a:r>
            <a:endParaRPr lang="fr-MA" sz="1200" dirty="0"/>
          </a:p>
        </p:txBody>
      </p:sp>
      <p:sp>
        <p:nvSpPr>
          <p:cNvPr id="889" name="TextBox 888">
            <a:extLst>
              <a:ext uri="{FF2B5EF4-FFF2-40B4-BE49-F238E27FC236}">
                <a16:creationId xmlns:a16="http://schemas.microsoft.com/office/drawing/2014/main" id="{F1B72E8A-48B3-4733-9D9F-5E6D9ABBD3C1}"/>
              </a:ext>
            </a:extLst>
          </p:cNvPr>
          <p:cNvSpPr txBox="1"/>
          <p:nvPr/>
        </p:nvSpPr>
        <p:spPr>
          <a:xfrm>
            <a:off x="9724319" y="482751"/>
            <a:ext cx="2232000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100" dirty="0"/>
              <a:t>Begin </a:t>
            </a:r>
            <a:r>
              <a:rPr lang="fr-MA" sz="1100" dirty="0" err="1"/>
              <a:t>with</a:t>
            </a:r>
            <a:r>
              <a:rPr lang="fr-MA" sz="1100" dirty="0"/>
              <a:t> a simple </a:t>
            </a:r>
            <a:r>
              <a:rPr lang="fr-MA" sz="1100" dirty="0" err="1"/>
              <a:t>problem</a:t>
            </a:r>
            <a:endParaRPr lang="fr-MA" sz="1100" dirty="0"/>
          </a:p>
        </p:txBody>
      </p:sp>
      <p:sp>
        <p:nvSpPr>
          <p:cNvPr id="891" name="Rectangle: Rounded Corners 890">
            <a:extLst>
              <a:ext uri="{FF2B5EF4-FFF2-40B4-BE49-F238E27FC236}">
                <a16:creationId xmlns:a16="http://schemas.microsoft.com/office/drawing/2014/main" id="{A9C8833E-DDFB-4EE2-9CA1-3B302C3FA24B}"/>
              </a:ext>
            </a:extLst>
          </p:cNvPr>
          <p:cNvSpPr/>
          <p:nvPr/>
        </p:nvSpPr>
        <p:spPr>
          <a:xfrm>
            <a:off x="9429377" y="4753210"/>
            <a:ext cx="2304000" cy="1247236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907" name="TextBox 906">
            <a:extLst>
              <a:ext uri="{FF2B5EF4-FFF2-40B4-BE49-F238E27FC236}">
                <a16:creationId xmlns:a16="http://schemas.microsoft.com/office/drawing/2014/main" id="{63C38629-4C85-46B5-9165-DB94409AA1AE}"/>
              </a:ext>
            </a:extLst>
          </p:cNvPr>
          <p:cNvSpPr txBox="1"/>
          <p:nvPr/>
        </p:nvSpPr>
        <p:spPr>
          <a:xfrm>
            <a:off x="9739702" y="793385"/>
            <a:ext cx="22320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200" dirty="0"/>
              <a:t>Begin </a:t>
            </a:r>
            <a:r>
              <a:rPr lang="fr-MA" sz="1200" dirty="0" err="1"/>
              <a:t>with</a:t>
            </a:r>
            <a:r>
              <a:rPr lang="fr-MA" sz="1200" dirty="0"/>
              <a:t> a simple technique</a:t>
            </a:r>
          </a:p>
        </p:txBody>
      </p:sp>
      <p:sp>
        <p:nvSpPr>
          <p:cNvPr id="929" name="Oval 928">
            <a:extLst>
              <a:ext uri="{FF2B5EF4-FFF2-40B4-BE49-F238E27FC236}">
                <a16:creationId xmlns:a16="http://schemas.microsoft.com/office/drawing/2014/main" id="{DB45062A-FB6E-49E6-A393-8978B11E22DE}"/>
              </a:ext>
            </a:extLst>
          </p:cNvPr>
          <p:cNvSpPr/>
          <p:nvPr/>
        </p:nvSpPr>
        <p:spPr>
          <a:xfrm>
            <a:off x="1742560" y="3448284"/>
            <a:ext cx="180000" cy="144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0094C8"/>
                </a:solidFill>
              </a:rPr>
              <a:t>-</a:t>
            </a:r>
          </a:p>
        </p:txBody>
      </p:sp>
      <p:cxnSp>
        <p:nvCxnSpPr>
          <p:cNvPr id="1013" name="Straight Arrow Connector 1012">
            <a:extLst>
              <a:ext uri="{FF2B5EF4-FFF2-40B4-BE49-F238E27FC236}">
                <a16:creationId xmlns:a16="http://schemas.microsoft.com/office/drawing/2014/main" id="{CA811067-8AFE-4982-BDA1-FB5F5504C87F}"/>
              </a:ext>
            </a:extLst>
          </p:cNvPr>
          <p:cNvCxnSpPr>
            <a:cxnSpLocks/>
            <a:stCxn id="65" idx="3"/>
            <a:endCxn id="877" idx="2"/>
          </p:cNvCxnSpPr>
          <p:nvPr/>
        </p:nvCxnSpPr>
        <p:spPr>
          <a:xfrm flipV="1">
            <a:off x="10152160" y="2938107"/>
            <a:ext cx="695470" cy="388459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Arrow Connector 1015">
            <a:extLst>
              <a:ext uri="{FF2B5EF4-FFF2-40B4-BE49-F238E27FC236}">
                <a16:creationId xmlns:a16="http://schemas.microsoft.com/office/drawing/2014/main" id="{623F6DBC-1B83-4E87-929A-D77419341DDD}"/>
              </a:ext>
            </a:extLst>
          </p:cNvPr>
          <p:cNvCxnSpPr>
            <a:cxnSpLocks/>
            <a:stCxn id="65" idx="3"/>
            <a:endCxn id="891" idx="0"/>
          </p:cNvCxnSpPr>
          <p:nvPr/>
        </p:nvCxnSpPr>
        <p:spPr>
          <a:xfrm>
            <a:off x="10152160" y="3326566"/>
            <a:ext cx="429217" cy="1426644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9" name="Straight Arrow Connector 1018">
            <a:extLst>
              <a:ext uri="{FF2B5EF4-FFF2-40B4-BE49-F238E27FC236}">
                <a16:creationId xmlns:a16="http://schemas.microsoft.com/office/drawing/2014/main" id="{9C0F6F02-2A23-4420-BF82-F0EB06AAEA9E}"/>
              </a:ext>
            </a:extLst>
          </p:cNvPr>
          <p:cNvCxnSpPr>
            <a:cxnSpLocks/>
            <a:stCxn id="65" idx="3"/>
            <a:endCxn id="1025" idx="1"/>
          </p:cNvCxnSpPr>
          <p:nvPr/>
        </p:nvCxnSpPr>
        <p:spPr>
          <a:xfrm>
            <a:off x="10152160" y="3326566"/>
            <a:ext cx="403088" cy="640955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3" name="Picture 1022">
            <a:extLst>
              <a:ext uri="{FF2B5EF4-FFF2-40B4-BE49-F238E27FC236}">
                <a16:creationId xmlns:a16="http://schemas.microsoft.com/office/drawing/2014/main" id="{010D42F7-AF30-404E-8704-4232AADD7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039" y="3619871"/>
            <a:ext cx="660600" cy="606085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EEC083E9-4EE0-4F0A-8B4A-07ADDF7E8B16}"/>
              </a:ext>
            </a:extLst>
          </p:cNvPr>
          <p:cNvSpPr txBox="1"/>
          <p:nvPr/>
        </p:nvSpPr>
        <p:spPr>
          <a:xfrm>
            <a:off x="10555248" y="3736688"/>
            <a:ext cx="818330" cy="46166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b="1" dirty="0" err="1">
                <a:solidFill>
                  <a:schemeClr val="bg1"/>
                </a:solidFill>
              </a:rPr>
              <a:t>who</a:t>
            </a:r>
            <a:r>
              <a:rPr lang="fr-MA" sz="1200" b="1" dirty="0">
                <a:solidFill>
                  <a:schemeClr val="bg1"/>
                </a:solidFill>
              </a:rPr>
              <a:t> are </a:t>
            </a:r>
            <a:r>
              <a:rPr lang="fr-MA" sz="1200" b="1" dirty="0" err="1">
                <a:solidFill>
                  <a:schemeClr val="bg1"/>
                </a:solidFill>
              </a:rPr>
              <a:t>you</a:t>
            </a:r>
            <a:r>
              <a:rPr lang="fr-MA" sz="12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034" name="Rectangle: Rounded Corners 1033">
            <a:extLst>
              <a:ext uri="{FF2B5EF4-FFF2-40B4-BE49-F238E27FC236}">
                <a16:creationId xmlns:a16="http://schemas.microsoft.com/office/drawing/2014/main" id="{F9A0469B-D291-4D46-B81E-2DDF9066F263}"/>
              </a:ext>
            </a:extLst>
          </p:cNvPr>
          <p:cNvSpPr/>
          <p:nvPr/>
        </p:nvSpPr>
        <p:spPr>
          <a:xfrm>
            <a:off x="9645882" y="67017"/>
            <a:ext cx="2376000" cy="1440000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045" name="Connector: Elbow 1044">
            <a:extLst>
              <a:ext uri="{FF2B5EF4-FFF2-40B4-BE49-F238E27FC236}">
                <a16:creationId xmlns:a16="http://schemas.microsoft.com/office/drawing/2014/main" id="{316D7476-199A-4C6F-B562-81B5564E4976}"/>
              </a:ext>
            </a:extLst>
          </p:cNvPr>
          <p:cNvCxnSpPr>
            <a:cxnSpLocks/>
            <a:endCxn id="1034" idx="1"/>
          </p:cNvCxnSpPr>
          <p:nvPr/>
        </p:nvCxnSpPr>
        <p:spPr>
          <a:xfrm rot="5400000" flipH="1" flipV="1">
            <a:off x="8437824" y="1805106"/>
            <a:ext cx="2226147" cy="189970"/>
          </a:xfrm>
          <a:prstGeom prst="bentConnector2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Left Brace 1053">
            <a:extLst>
              <a:ext uri="{FF2B5EF4-FFF2-40B4-BE49-F238E27FC236}">
                <a16:creationId xmlns:a16="http://schemas.microsoft.com/office/drawing/2014/main" id="{AD7E8A35-66C0-47AC-9288-E9C2D2370D60}"/>
              </a:ext>
            </a:extLst>
          </p:cNvPr>
          <p:cNvSpPr/>
          <p:nvPr/>
        </p:nvSpPr>
        <p:spPr>
          <a:xfrm>
            <a:off x="6032090" y="961823"/>
            <a:ext cx="224586" cy="688812"/>
          </a:xfrm>
          <a:prstGeom prst="leftBrace">
            <a:avLst/>
          </a:prstGeom>
          <a:ln>
            <a:solidFill>
              <a:srgbClr val="FF6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sp>
        <p:nvSpPr>
          <p:cNvPr id="1057" name="Left Brace 1056">
            <a:extLst>
              <a:ext uri="{FF2B5EF4-FFF2-40B4-BE49-F238E27FC236}">
                <a16:creationId xmlns:a16="http://schemas.microsoft.com/office/drawing/2014/main" id="{0D010DC3-9A5E-4CC1-9B8D-6922B291B63E}"/>
              </a:ext>
            </a:extLst>
          </p:cNvPr>
          <p:cNvSpPr/>
          <p:nvPr/>
        </p:nvSpPr>
        <p:spPr>
          <a:xfrm>
            <a:off x="5942893" y="3706433"/>
            <a:ext cx="244921" cy="411920"/>
          </a:xfrm>
          <a:prstGeom prst="leftBrace">
            <a:avLst/>
          </a:prstGeom>
          <a:ln>
            <a:solidFill>
              <a:srgbClr val="FF6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sp>
        <p:nvSpPr>
          <p:cNvPr id="1060" name="Left Brace 1059">
            <a:extLst>
              <a:ext uri="{FF2B5EF4-FFF2-40B4-BE49-F238E27FC236}">
                <a16:creationId xmlns:a16="http://schemas.microsoft.com/office/drawing/2014/main" id="{AA47477B-A9EE-4277-8427-947C8152224F}"/>
              </a:ext>
            </a:extLst>
          </p:cNvPr>
          <p:cNvSpPr/>
          <p:nvPr/>
        </p:nvSpPr>
        <p:spPr>
          <a:xfrm>
            <a:off x="5802881" y="6073039"/>
            <a:ext cx="254781" cy="576000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028F9E8-5D41-4571-8B64-7616B480175C}"/>
              </a:ext>
            </a:extLst>
          </p:cNvPr>
          <p:cNvSpPr txBox="1"/>
          <p:nvPr/>
        </p:nvSpPr>
        <p:spPr>
          <a:xfrm>
            <a:off x="5633991" y="3201504"/>
            <a:ext cx="1352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fr-MA" sz="800" b="0" i="0" dirty="0" err="1">
                <a:solidFill>
                  <a:srgbClr val="0081E2"/>
                </a:solidFill>
                <a:effectLst/>
                <a:latin typeface="Helvetica Neue"/>
              </a:rPr>
              <a:t>Binary</a:t>
            </a:r>
            <a:r>
              <a:rPr lang="fr-MA" sz="800" b="0" i="0" dirty="0">
                <a:solidFill>
                  <a:srgbClr val="0081E2"/>
                </a:solidFill>
                <a:effectLst/>
                <a:latin typeface="Helvetica Neue"/>
              </a:rPr>
              <a:t> Classification</a:t>
            </a:r>
          </a:p>
          <a:p>
            <a:pPr algn="l" fontAlgn="base"/>
            <a:r>
              <a:rPr lang="fr-MA" sz="800" b="0" i="0" dirty="0">
                <a:solidFill>
                  <a:srgbClr val="0081E2"/>
                </a:solidFill>
                <a:effectLst/>
                <a:latin typeface="Helvetica Neue"/>
              </a:rPr>
              <a:t>Multi-Class Classification</a:t>
            </a:r>
          </a:p>
          <a:p>
            <a:pPr algn="l" fontAlgn="base"/>
            <a:r>
              <a:rPr lang="fr-MA" sz="800" b="0" i="0" dirty="0">
                <a:solidFill>
                  <a:srgbClr val="0081E2"/>
                </a:solidFill>
                <a:effectLst/>
                <a:latin typeface="Helvetica Neue"/>
              </a:rPr>
              <a:t>Multi-Label Classification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251B706-7451-4039-8AF7-2590053D3867}"/>
              </a:ext>
            </a:extLst>
          </p:cNvPr>
          <p:cNvSpPr txBox="1"/>
          <p:nvPr/>
        </p:nvSpPr>
        <p:spPr>
          <a:xfrm>
            <a:off x="5281042" y="4348108"/>
            <a:ext cx="10401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rgbClr val="7030A0"/>
                </a:solidFill>
              </a:rPr>
              <a:t>performance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40DE88A-8FC9-42CB-A48C-C94C571C2406}"/>
              </a:ext>
            </a:extLst>
          </p:cNvPr>
          <p:cNvSpPr txBox="1"/>
          <p:nvPr/>
        </p:nvSpPr>
        <p:spPr>
          <a:xfrm>
            <a:off x="6283171" y="4146873"/>
            <a:ext cx="16560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6000" indent="-36000">
              <a:buFont typeface="Calibri" panose="020F0502020204030204" pitchFamily="34" charset="0"/>
              <a:buChar char="—"/>
              <a:defRPr sz="1200">
                <a:solidFill>
                  <a:srgbClr val="FF6565"/>
                </a:solidFill>
              </a:defRPr>
            </a:lvl1pPr>
          </a:lstStyle>
          <a:p>
            <a:r>
              <a:rPr lang="fr-MA" sz="1100" dirty="0">
                <a:solidFill>
                  <a:srgbClr val="7030A0"/>
                </a:solidFill>
              </a:rPr>
              <a:t>Confusion Matrix</a:t>
            </a:r>
          </a:p>
          <a:p>
            <a:r>
              <a:rPr lang="fr-MA" sz="1100" dirty="0" err="1">
                <a:solidFill>
                  <a:srgbClr val="7030A0"/>
                </a:solidFill>
              </a:rPr>
              <a:t>Accuracy</a:t>
            </a:r>
            <a:endParaRPr lang="fr-MA" sz="1100" dirty="0">
              <a:solidFill>
                <a:srgbClr val="7030A0"/>
              </a:solidFill>
            </a:endParaRPr>
          </a:p>
          <a:p>
            <a:r>
              <a:rPr lang="fr-MA" sz="1100" dirty="0" err="1">
                <a:solidFill>
                  <a:srgbClr val="7030A0"/>
                </a:solidFill>
              </a:rPr>
              <a:t>Precision</a:t>
            </a:r>
            <a:endParaRPr lang="fr-MA" sz="1100" dirty="0">
              <a:solidFill>
                <a:srgbClr val="7030A0"/>
              </a:solidFill>
            </a:endParaRPr>
          </a:p>
          <a:p>
            <a:r>
              <a:rPr lang="fr-MA" sz="1100" dirty="0" err="1">
                <a:solidFill>
                  <a:srgbClr val="7030A0"/>
                </a:solidFill>
              </a:rPr>
              <a:t>Recall</a:t>
            </a:r>
            <a:r>
              <a:rPr lang="fr-MA" sz="1100" dirty="0">
                <a:solidFill>
                  <a:srgbClr val="7030A0"/>
                </a:solidFill>
              </a:rPr>
              <a:t> &amp; </a:t>
            </a:r>
            <a:r>
              <a:rPr lang="fr-MA" sz="1100" dirty="0" err="1">
                <a:solidFill>
                  <a:srgbClr val="7030A0"/>
                </a:solidFill>
              </a:rPr>
              <a:t>Specificity</a:t>
            </a:r>
            <a:endParaRPr lang="fr-MA" sz="1100" dirty="0">
              <a:solidFill>
                <a:srgbClr val="7030A0"/>
              </a:solidFill>
            </a:endParaRPr>
          </a:p>
          <a:p>
            <a:r>
              <a:rPr lang="fr-MA" sz="1100" dirty="0">
                <a:solidFill>
                  <a:srgbClr val="7030A0"/>
                </a:solidFill>
              </a:rPr>
              <a:t>F1 Score</a:t>
            </a:r>
          </a:p>
        </p:txBody>
      </p:sp>
      <p:sp>
        <p:nvSpPr>
          <p:cNvPr id="157" name="Left Brace 156">
            <a:extLst>
              <a:ext uri="{FF2B5EF4-FFF2-40B4-BE49-F238E27FC236}">
                <a16:creationId xmlns:a16="http://schemas.microsoft.com/office/drawing/2014/main" id="{5E5EE262-6096-4001-9680-6125604823A8}"/>
              </a:ext>
            </a:extLst>
          </p:cNvPr>
          <p:cNvSpPr/>
          <p:nvPr/>
        </p:nvSpPr>
        <p:spPr>
          <a:xfrm>
            <a:off x="6094191" y="4248361"/>
            <a:ext cx="289684" cy="692878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82DEF63F-31E3-4F5E-9119-DFBFCFB12F78}"/>
              </a:ext>
            </a:extLst>
          </p:cNvPr>
          <p:cNvCxnSpPr>
            <a:cxnSpLocks/>
          </p:cNvCxnSpPr>
          <p:nvPr/>
        </p:nvCxnSpPr>
        <p:spPr>
          <a:xfrm>
            <a:off x="5507994" y="3588176"/>
            <a:ext cx="294035" cy="759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F2E94D28-FF19-460F-8525-17D1CBCF4B0C}"/>
              </a:ext>
            </a:extLst>
          </p:cNvPr>
          <p:cNvSpPr/>
          <p:nvPr/>
        </p:nvSpPr>
        <p:spPr>
          <a:xfrm>
            <a:off x="4445293" y="786589"/>
            <a:ext cx="316375" cy="3141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3BFC9212-7855-4CF2-AC9F-6BDA33397555}"/>
              </a:ext>
            </a:extLst>
          </p:cNvPr>
          <p:cNvSpPr/>
          <p:nvPr/>
        </p:nvSpPr>
        <p:spPr>
          <a:xfrm>
            <a:off x="4434464" y="3310743"/>
            <a:ext cx="316375" cy="3141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B4103518-5626-47D5-BD18-567F2F9D1871}"/>
              </a:ext>
            </a:extLst>
          </p:cNvPr>
          <p:cNvSpPr/>
          <p:nvPr/>
        </p:nvSpPr>
        <p:spPr>
          <a:xfrm>
            <a:off x="4403916" y="5551250"/>
            <a:ext cx="316375" cy="31415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FF3300"/>
                </a:solidFill>
              </a:rPr>
              <a:t>3</a:t>
            </a:r>
          </a:p>
        </p:txBody>
      </p:sp>
      <p:cxnSp>
        <p:nvCxnSpPr>
          <p:cNvPr id="254" name="Connector: Elbow 253">
            <a:extLst>
              <a:ext uri="{FF2B5EF4-FFF2-40B4-BE49-F238E27FC236}">
                <a16:creationId xmlns:a16="http://schemas.microsoft.com/office/drawing/2014/main" id="{84F55335-083F-4542-8181-DAB4CC1FDA79}"/>
              </a:ext>
            </a:extLst>
          </p:cNvPr>
          <p:cNvCxnSpPr>
            <a:cxnSpLocks/>
            <a:stCxn id="6" idx="0"/>
            <a:endCxn id="117" idx="2"/>
          </p:cNvCxnSpPr>
          <p:nvPr/>
        </p:nvCxnSpPr>
        <p:spPr>
          <a:xfrm rot="5400000" flipH="1" flipV="1">
            <a:off x="2887483" y="1678904"/>
            <a:ext cx="2293047" cy="8225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D5F719C-03EA-4448-B777-61EC5DCFB3AB}"/>
              </a:ext>
            </a:extLst>
          </p:cNvPr>
          <p:cNvSpPr txBox="1"/>
          <p:nvPr/>
        </p:nvSpPr>
        <p:spPr>
          <a:xfrm>
            <a:off x="4654830" y="1026019"/>
            <a:ext cx="105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Supervised</a:t>
            </a:r>
            <a:r>
              <a:rPr lang="fr-MA" sz="9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learning</a:t>
            </a:r>
            <a:endParaRPr lang="fr-MA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34DE90BB-F25D-4F28-B288-50374BDCC5C7}"/>
              </a:ext>
            </a:extLst>
          </p:cNvPr>
          <p:cNvSpPr txBox="1"/>
          <p:nvPr/>
        </p:nvSpPr>
        <p:spPr>
          <a:xfrm>
            <a:off x="4562103" y="3545052"/>
            <a:ext cx="105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Supervised</a:t>
            </a:r>
            <a:r>
              <a:rPr lang="fr-MA" sz="9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learning</a:t>
            </a:r>
            <a:endParaRPr lang="fr-MA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28CB617C-DF4E-4BB8-AE83-EB592D5C91F9}"/>
              </a:ext>
            </a:extLst>
          </p:cNvPr>
          <p:cNvSpPr txBox="1"/>
          <p:nvPr/>
        </p:nvSpPr>
        <p:spPr>
          <a:xfrm>
            <a:off x="4452533" y="5789342"/>
            <a:ext cx="1054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Unsupervised</a:t>
            </a:r>
            <a:r>
              <a:rPr lang="fr-MA" sz="9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MA" sz="900" dirty="0" err="1">
                <a:solidFill>
                  <a:schemeClr val="accent2">
                    <a:lumMod val="75000"/>
                  </a:schemeClr>
                </a:solidFill>
              </a:rPr>
              <a:t>learning</a:t>
            </a:r>
            <a:endParaRPr lang="fr-MA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40530BB4-4709-41F1-A7CC-5A1F4722618B}"/>
              </a:ext>
            </a:extLst>
          </p:cNvPr>
          <p:cNvSpPr/>
          <p:nvPr/>
        </p:nvSpPr>
        <p:spPr>
          <a:xfrm>
            <a:off x="4485457" y="73580"/>
            <a:ext cx="4423418" cy="214798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E5A12982-2906-4597-B7A6-5DA6AB1A7FE2}"/>
              </a:ext>
            </a:extLst>
          </p:cNvPr>
          <p:cNvSpPr/>
          <p:nvPr/>
        </p:nvSpPr>
        <p:spPr>
          <a:xfrm>
            <a:off x="4472912" y="2341544"/>
            <a:ext cx="4496175" cy="2787924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14" name="Rectangle: Rounded Corners 313">
            <a:extLst>
              <a:ext uri="{FF2B5EF4-FFF2-40B4-BE49-F238E27FC236}">
                <a16:creationId xmlns:a16="http://schemas.microsoft.com/office/drawing/2014/main" id="{5426A28B-5893-47A0-AE99-7030EE8EBA23}"/>
              </a:ext>
            </a:extLst>
          </p:cNvPr>
          <p:cNvSpPr/>
          <p:nvPr/>
        </p:nvSpPr>
        <p:spPr>
          <a:xfrm>
            <a:off x="4396298" y="5204551"/>
            <a:ext cx="4528198" cy="1584000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60F04FA3-53A9-4CB1-A652-06C0E6822D5B}"/>
              </a:ext>
            </a:extLst>
          </p:cNvPr>
          <p:cNvCxnSpPr>
            <a:cxnSpLocks/>
          </p:cNvCxnSpPr>
          <p:nvPr/>
        </p:nvCxnSpPr>
        <p:spPr>
          <a:xfrm>
            <a:off x="4143011" y="3467547"/>
            <a:ext cx="321933" cy="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6DF8E65-28C8-8944-2032-C8D233D9FB2B}"/>
              </a:ext>
            </a:extLst>
          </p:cNvPr>
          <p:cNvSpPr txBox="1"/>
          <p:nvPr/>
        </p:nvSpPr>
        <p:spPr>
          <a:xfrm>
            <a:off x="4491013" y="-2096"/>
            <a:ext cx="195700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Supervised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Learing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C8405E-0E3E-EDD1-1B67-8D4F38C7E828}"/>
              </a:ext>
            </a:extLst>
          </p:cNvPr>
          <p:cNvSpPr txBox="1"/>
          <p:nvPr/>
        </p:nvSpPr>
        <p:spPr>
          <a:xfrm>
            <a:off x="4474405" y="2315195"/>
            <a:ext cx="195700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Supervised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Learing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F2BA70-0FCF-65A4-F108-1ACFCEA161BE}"/>
              </a:ext>
            </a:extLst>
          </p:cNvPr>
          <p:cNvSpPr txBox="1"/>
          <p:nvPr/>
        </p:nvSpPr>
        <p:spPr>
          <a:xfrm>
            <a:off x="4368235" y="5088447"/>
            <a:ext cx="1957007" cy="3385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unsupervised</a:t>
            </a: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Learing</a:t>
            </a:r>
            <a:endParaRPr lang="fr-MA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45AC8E-E3BC-0668-DD01-C1955FA6318B}"/>
              </a:ext>
            </a:extLst>
          </p:cNvPr>
          <p:cNvSpPr txBox="1"/>
          <p:nvPr/>
        </p:nvSpPr>
        <p:spPr>
          <a:xfrm>
            <a:off x="10079107" y="5785386"/>
            <a:ext cx="1375918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Calculus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Linear</a:t>
            </a:r>
            <a:r>
              <a:rPr lang="fr-MA" sz="1200" dirty="0"/>
              <a:t> </a:t>
            </a:r>
            <a:r>
              <a:rPr lang="fr-MA" sz="1200" dirty="0" err="1"/>
              <a:t>Algebra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Statictics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probability</a:t>
            </a:r>
            <a:endParaRPr lang="fr-MA" sz="1200" dirty="0"/>
          </a:p>
        </p:txBody>
      </p:sp>
    </p:spTree>
    <p:extLst>
      <p:ext uri="{BB962C8B-B14F-4D97-AF65-F5344CB8AC3E}">
        <p14:creationId xmlns:p14="http://schemas.microsoft.com/office/powerpoint/2010/main" val="393540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20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17" grpId="0" animBg="1"/>
      <p:bldP spid="21" grpId="0"/>
      <p:bldP spid="23" grpId="0" animBg="1"/>
      <p:bldP spid="65" grpId="0" animBg="1"/>
      <p:bldP spid="266" grpId="0" animBg="1"/>
      <p:bldP spid="278" grpId="0"/>
      <p:bldP spid="309" grpId="0" animBg="1"/>
      <p:bldP spid="323" grpId="0"/>
      <p:bldP spid="591" grpId="0" animBg="1"/>
      <p:bldP spid="599" grpId="0"/>
      <p:bldP spid="605" grpId="0"/>
      <p:bldP spid="618" grpId="0"/>
      <p:bldP spid="628" grpId="0" animBg="1"/>
      <p:bldP spid="630" grpId="0" animBg="1"/>
      <p:bldP spid="654" grpId="0" animBg="1"/>
      <p:bldP spid="660" grpId="0" animBg="1"/>
      <p:bldP spid="666" grpId="0" animBg="1"/>
      <p:bldP spid="684" grpId="0" animBg="1"/>
      <p:bldP spid="700" grpId="0" animBg="1"/>
      <p:bldP spid="877" grpId="0" animBg="1"/>
      <p:bldP spid="879" grpId="0" animBg="1"/>
      <p:bldP spid="881" grpId="0" animBg="1"/>
      <p:bldP spid="883" grpId="0" animBg="1"/>
      <p:bldP spid="885" grpId="0" animBg="1"/>
      <p:bldP spid="887" grpId="0" animBg="1"/>
      <p:bldP spid="889" grpId="0" animBg="1"/>
      <p:bldP spid="891" grpId="0" animBg="1"/>
      <p:bldP spid="907" grpId="0" animBg="1"/>
      <p:bldP spid="929" grpId="0" animBg="1"/>
      <p:bldP spid="1025" grpId="0" animBg="1"/>
      <p:bldP spid="1034" grpId="0" animBg="1"/>
      <p:bldP spid="1054" grpId="0" animBg="1"/>
      <p:bldP spid="1057" grpId="0" animBg="1"/>
      <p:bldP spid="1060" grpId="0" animBg="1"/>
      <p:bldP spid="164" grpId="0"/>
      <p:bldP spid="154" grpId="0"/>
      <p:bldP spid="155" grpId="0"/>
      <p:bldP spid="157" grpId="0" animBg="1"/>
      <p:bldP spid="117" grpId="0" animBg="1"/>
      <p:bldP spid="245" grpId="0" animBg="1"/>
      <p:bldP spid="246" grpId="0" animBg="1"/>
      <p:bldP spid="138" grpId="0"/>
      <p:bldP spid="275" grpId="0"/>
      <p:bldP spid="276" grpId="0"/>
      <p:bldP spid="149" grpId="0" animBg="1"/>
      <p:bldP spid="303" grpId="0" animBg="1"/>
      <p:bldP spid="314" grpId="0" animBg="1"/>
      <p:bldP spid="19" grpId="0" animBg="1"/>
      <p:bldP spid="22" grpId="0" animBg="1"/>
      <p:bldP spid="45" grpId="0" animBg="1"/>
      <p:bldP spid="5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EB6231-F05C-3E63-F122-9B14A58AC4B3}"/>
              </a:ext>
            </a:extLst>
          </p:cNvPr>
          <p:cNvSpPr/>
          <p:nvPr/>
        </p:nvSpPr>
        <p:spPr>
          <a:xfrm>
            <a:off x="960120" y="2944237"/>
            <a:ext cx="2087880" cy="655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65F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4CFC5F-0C40-A867-D3F9-08F9249818D9}"/>
              </a:ext>
            </a:extLst>
          </p:cNvPr>
          <p:cNvSpPr/>
          <p:nvPr/>
        </p:nvSpPr>
        <p:spPr>
          <a:xfrm>
            <a:off x="960120" y="5349240"/>
            <a:ext cx="2087880" cy="655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E0CF6-2361-E8BD-AAED-218D113AF58D}"/>
              </a:ext>
            </a:extLst>
          </p:cNvPr>
          <p:cNvSpPr txBox="1"/>
          <p:nvPr/>
        </p:nvSpPr>
        <p:spPr>
          <a:xfrm>
            <a:off x="1508760" y="3087231"/>
            <a:ext cx="108204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b="1" dirty="0"/>
              <a:t>1.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92D60-0FC5-3945-0653-B3F8286CFCCC}"/>
              </a:ext>
            </a:extLst>
          </p:cNvPr>
          <p:cNvSpPr txBox="1"/>
          <p:nvPr/>
        </p:nvSpPr>
        <p:spPr>
          <a:xfrm>
            <a:off x="1508760" y="5492234"/>
            <a:ext cx="108204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b="1" dirty="0"/>
              <a:t>2.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0B3A60-9046-95E3-E9F2-2352E498D7D1}"/>
              </a:ext>
            </a:extLst>
          </p:cNvPr>
          <p:cNvSpPr/>
          <p:nvPr/>
        </p:nvSpPr>
        <p:spPr>
          <a:xfrm>
            <a:off x="4145280" y="4127501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33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497E4C-0AEE-51EE-814C-74DD5CC6F71C}"/>
              </a:ext>
            </a:extLst>
          </p:cNvPr>
          <p:cNvSpPr txBox="1"/>
          <p:nvPr/>
        </p:nvSpPr>
        <p:spPr>
          <a:xfrm>
            <a:off x="4160520" y="4157634"/>
            <a:ext cx="2667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2.1 </a:t>
            </a:r>
            <a:r>
              <a:rPr lang="fr-MA" dirty="0" err="1">
                <a:solidFill>
                  <a:srgbClr val="FF3300"/>
                </a:solidFill>
              </a:rPr>
              <a:t>Initialize</a:t>
            </a:r>
            <a:r>
              <a:rPr lang="fr-MA" dirty="0">
                <a:solidFill>
                  <a:srgbClr val="FF3300"/>
                </a:solidFill>
              </a:rPr>
              <a:t> the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09EAF4-9DF4-FC27-6636-9A96C479E439}"/>
              </a:ext>
            </a:extLst>
          </p:cNvPr>
          <p:cNvSpPr/>
          <p:nvPr/>
        </p:nvSpPr>
        <p:spPr>
          <a:xfrm>
            <a:off x="7597140" y="4099560"/>
            <a:ext cx="2849880" cy="432000"/>
          </a:xfrm>
          <a:prstGeom prst="rect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5FD4E3-6E4E-BF72-A35A-7E30B4C79C72}"/>
              </a:ext>
            </a:extLst>
          </p:cNvPr>
          <p:cNvSpPr txBox="1"/>
          <p:nvPr/>
        </p:nvSpPr>
        <p:spPr>
          <a:xfrm>
            <a:off x="7741920" y="4113490"/>
            <a:ext cx="1935480" cy="369332"/>
          </a:xfrm>
          <a:prstGeom prst="rect">
            <a:avLst/>
          </a:prstGeom>
          <a:solidFill>
            <a:srgbClr val="FF330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2.2.1 </a:t>
            </a:r>
            <a:r>
              <a:rPr lang="fr-MA" dirty="0" err="1">
                <a:solidFill>
                  <a:schemeClr val="bg1"/>
                </a:solidFill>
              </a:rPr>
              <a:t>Predict</a:t>
            </a:r>
            <a:endParaRPr lang="fr-MA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B326B-9620-C058-9979-95738E95BAAB}"/>
              </a:ext>
            </a:extLst>
          </p:cNvPr>
          <p:cNvSpPr/>
          <p:nvPr/>
        </p:nvSpPr>
        <p:spPr>
          <a:xfrm>
            <a:off x="4145280" y="4666120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33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DC64D0-89AF-28CC-517E-5333B5B26862}"/>
              </a:ext>
            </a:extLst>
          </p:cNvPr>
          <p:cNvSpPr/>
          <p:nvPr/>
        </p:nvSpPr>
        <p:spPr>
          <a:xfrm>
            <a:off x="4145280" y="5741791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5827E-F447-3856-8185-BC242882B1DA}"/>
              </a:ext>
            </a:extLst>
          </p:cNvPr>
          <p:cNvSpPr txBox="1"/>
          <p:nvPr/>
        </p:nvSpPr>
        <p:spPr>
          <a:xfrm>
            <a:off x="4175760" y="4713208"/>
            <a:ext cx="254898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2.2 Train the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D9BC81-2FBA-4D6E-2FCF-03A0D9CEFB1D}"/>
              </a:ext>
            </a:extLst>
          </p:cNvPr>
          <p:cNvSpPr txBox="1"/>
          <p:nvPr/>
        </p:nvSpPr>
        <p:spPr>
          <a:xfrm>
            <a:off x="4160520" y="5753100"/>
            <a:ext cx="24384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70C0"/>
                </a:solidFill>
              </a:rPr>
              <a:t>2.4 </a:t>
            </a:r>
            <a:r>
              <a:rPr lang="fr-MA" dirty="0" err="1">
                <a:solidFill>
                  <a:srgbClr val="0070C0"/>
                </a:solidFill>
              </a:rPr>
              <a:t>Evaluate</a:t>
            </a:r>
            <a:r>
              <a:rPr lang="fr-MA" dirty="0">
                <a:solidFill>
                  <a:srgbClr val="0070C0"/>
                </a:solidFill>
              </a:rPr>
              <a:t> the 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EF96A0-C8A1-3AC0-008D-C9416F69E929}"/>
              </a:ext>
            </a:extLst>
          </p:cNvPr>
          <p:cNvSpPr/>
          <p:nvPr/>
        </p:nvSpPr>
        <p:spPr>
          <a:xfrm>
            <a:off x="7597140" y="4652486"/>
            <a:ext cx="2849880" cy="432000"/>
          </a:xfrm>
          <a:prstGeom prst="rect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4A8600-2DBF-F94A-424C-94F5CB863A2D}"/>
              </a:ext>
            </a:extLst>
          </p:cNvPr>
          <p:cNvSpPr/>
          <p:nvPr/>
        </p:nvSpPr>
        <p:spPr>
          <a:xfrm>
            <a:off x="7597140" y="5205412"/>
            <a:ext cx="2849880" cy="369332"/>
          </a:xfrm>
          <a:prstGeom prst="rect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5AA1A9-B1D8-205E-E09D-8C679C243E49}"/>
              </a:ext>
            </a:extLst>
          </p:cNvPr>
          <p:cNvSpPr txBox="1"/>
          <p:nvPr/>
        </p:nvSpPr>
        <p:spPr>
          <a:xfrm>
            <a:off x="7726680" y="4700230"/>
            <a:ext cx="2423160" cy="369332"/>
          </a:xfrm>
          <a:prstGeom prst="rect">
            <a:avLst/>
          </a:prstGeom>
          <a:solidFill>
            <a:srgbClr val="FF330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2.2.2  </a:t>
            </a:r>
            <a:r>
              <a:rPr lang="fr-MA" dirty="0" err="1">
                <a:solidFill>
                  <a:schemeClr val="bg1"/>
                </a:solidFill>
              </a:rPr>
              <a:t>calculate</a:t>
            </a:r>
            <a:r>
              <a:rPr lang="fr-MA" dirty="0">
                <a:solidFill>
                  <a:schemeClr val="bg1"/>
                </a:solidFill>
              </a:rPr>
              <a:t> MSE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094A7F-5FF7-C685-176C-E879C614AC77}"/>
              </a:ext>
            </a:extLst>
          </p:cNvPr>
          <p:cNvSpPr txBox="1"/>
          <p:nvPr/>
        </p:nvSpPr>
        <p:spPr>
          <a:xfrm>
            <a:off x="7711440" y="5221962"/>
            <a:ext cx="2644140" cy="369332"/>
          </a:xfrm>
          <a:prstGeom prst="rect">
            <a:avLst/>
          </a:prstGeom>
          <a:solidFill>
            <a:srgbClr val="FF330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2.2.3 Update </a:t>
            </a:r>
            <a:r>
              <a:rPr lang="fr-MA" dirty="0" err="1">
                <a:solidFill>
                  <a:schemeClr val="bg1"/>
                </a:solidFill>
              </a:rPr>
              <a:t>parameters</a:t>
            </a:r>
            <a:endParaRPr lang="fr-MA" dirty="0">
              <a:solidFill>
                <a:schemeClr val="bg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45A1AB4-4B75-EB4F-87E0-3E7A5025E6E1}"/>
              </a:ext>
            </a:extLst>
          </p:cNvPr>
          <p:cNvCxnSpPr/>
          <p:nvPr/>
        </p:nvCxnSpPr>
        <p:spPr>
          <a:xfrm>
            <a:off x="2004060" y="3612356"/>
            <a:ext cx="0" cy="1764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CA2F0220-D565-6D05-1DF0-554DE4B52844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3048000" y="4342300"/>
            <a:ext cx="1112520" cy="13346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0D4EBE4-546E-716B-35A4-0C7905058A85}"/>
              </a:ext>
            </a:extLst>
          </p:cNvPr>
          <p:cNvCxnSpPr>
            <a:cxnSpLocks/>
            <a:stCxn id="3" idx="3"/>
            <a:endCxn id="18" idx="1"/>
          </p:cNvCxnSpPr>
          <p:nvPr/>
        </p:nvCxnSpPr>
        <p:spPr>
          <a:xfrm>
            <a:off x="3048000" y="5676900"/>
            <a:ext cx="1112520" cy="2608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8D59844F-D35F-22CD-AB74-5D1B521B7F49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 flipV="1">
            <a:off x="6888480" y="4315560"/>
            <a:ext cx="708660" cy="5688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C39E0668-D4EB-7560-47B0-58C1F16C60D9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6888480" y="4884421"/>
            <a:ext cx="708660" cy="5056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D6B378-55F6-4B27-FA37-EBC55901CA57}"/>
              </a:ext>
            </a:extLst>
          </p:cNvPr>
          <p:cNvCxnSpPr/>
          <p:nvPr/>
        </p:nvCxnSpPr>
        <p:spPr>
          <a:xfrm>
            <a:off x="6880860" y="4883726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9F9EF4F-A4B6-661D-22B3-A1F6F6E967A6}"/>
              </a:ext>
            </a:extLst>
          </p:cNvPr>
          <p:cNvSpPr/>
          <p:nvPr/>
        </p:nvSpPr>
        <p:spPr>
          <a:xfrm>
            <a:off x="4175760" y="6265427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33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C83042-2253-DBBB-9359-D0A3911BD204}"/>
              </a:ext>
            </a:extLst>
          </p:cNvPr>
          <p:cNvSpPr txBox="1"/>
          <p:nvPr/>
        </p:nvSpPr>
        <p:spPr>
          <a:xfrm>
            <a:off x="4191000" y="6276736"/>
            <a:ext cx="24384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2.5 Use the model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5B295C93-E65B-427D-B28A-02E0371F031A}"/>
              </a:ext>
            </a:extLst>
          </p:cNvPr>
          <p:cNvCxnSpPr>
            <a:cxnSpLocks/>
            <a:stCxn id="3" idx="3"/>
            <a:endCxn id="49" idx="1"/>
          </p:cNvCxnSpPr>
          <p:nvPr/>
        </p:nvCxnSpPr>
        <p:spPr>
          <a:xfrm>
            <a:off x="3048000" y="5676900"/>
            <a:ext cx="1127760" cy="8068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1C25264-0FCD-D47E-F228-6C11F9BE8B53}"/>
              </a:ext>
            </a:extLst>
          </p:cNvPr>
          <p:cNvSpPr/>
          <p:nvPr/>
        </p:nvSpPr>
        <p:spPr>
          <a:xfrm>
            <a:off x="4130040" y="2455804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33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B9678E-C4D1-40F1-299F-770943AB1FD2}"/>
              </a:ext>
            </a:extLst>
          </p:cNvPr>
          <p:cNvSpPr txBox="1"/>
          <p:nvPr/>
        </p:nvSpPr>
        <p:spPr>
          <a:xfrm>
            <a:off x="4145280" y="2485251"/>
            <a:ext cx="2667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1.1 </a:t>
            </a:r>
            <a:r>
              <a:rPr lang="fr-MA" dirty="0" err="1">
                <a:solidFill>
                  <a:srgbClr val="FF3300"/>
                </a:solidFill>
              </a:rPr>
              <a:t>Prepare</a:t>
            </a:r>
            <a:r>
              <a:rPr lang="fr-MA" dirty="0">
                <a:solidFill>
                  <a:srgbClr val="FF3300"/>
                </a:solidFill>
              </a:rPr>
              <a:t> Data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38EE6E4-7A97-B9BB-3313-14E95D76A390}"/>
              </a:ext>
            </a:extLst>
          </p:cNvPr>
          <p:cNvSpPr/>
          <p:nvPr/>
        </p:nvSpPr>
        <p:spPr>
          <a:xfrm>
            <a:off x="4130040" y="3490852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70C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0B769C-9B79-8807-182C-32B57F2FE729}"/>
              </a:ext>
            </a:extLst>
          </p:cNvPr>
          <p:cNvSpPr txBox="1"/>
          <p:nvPr/>
        </p:nvSpPr>
        <p:spPr>
          <a:xfrm>
            <a:off x="4145280" y="3520299"/>
            <a:ext cx="2667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70C0"/>
                </a:solidFill>
              </a:rPr>
              <a:t>1.3 Split Data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6F5BC54-111E-9DBA-DC02-3F72675119D0}"/>
              </a:ext>
            </a:extLst>
          </p:cNvPr>
          <p:cNvCxnSpPr>
            <a:cxnSpLocks/>
            <a:stCxn id="2" idx="3"/>
            <a:endCxn id="57" idx="1"/>
          </p:cNvCxnSpPr>
          <p:nvPr/>
        </p:nvCxnSpPr>
        <p:spPr>
          <a:xfrm flipV="1">
            <a:off x="3048000" y="2669917"/>
            <a:ext cx="1097280" cy="6019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D966F7FA-2720-6078-6DB8-0B2772DEC167}"/>
              </a:ext>
            </a:extLst>
          </p:cNvPr>
          <p:cNvCxnSpPr>
            <a:cxnSpLocks/>
            <a:stCxn id="2" idx="3"/>
            <a:endCxn id="58" idx="1"/>
          </p:cNvCxnSpPr>
          <p:nvPr/>
        </p:nvCxnSpPr>
        <p:spPr>
          <a:xfrm>
            <a:off x="3048000" y="3271897"/>
            <a:ext cx="1082040" cy="4372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0FB11F1A-DD07-1C5E-A168-F342C4A49892}"/>
              </a:ext>
            </a:extLst>
          </p:cNvPr>
          <p:cNvSpPr/>
          <p:nvPr/>
        </p:nvSpPr>
        <p:spPr>
          <a:xfrm>
            <a:off x="4130040" y="2972418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70C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CF2DC7E-B1DA-4832-00F6-895581854A46}"/>
              </a:ext>
            </a:extLst>
          </p:cNvPr>
          <p:cNvSpPr txBox="1"/>
          <p:nvPr/>
        </p:nvSpPr>
        <p:spPr>
          <a:xfrm>
            <a:off x="4145280" y="3001865"/>
            <a:ext cx="26670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70C0"/>
                </a:solidFill>
              </a:rPr>
              <a:t>1.2 </a:t>
            </a:r>
            <a:r>
              <a:rPr lang="fr-MA" dirty="0" err="1">
                <a:solidFill>
                  <a:srgbClr val="0070C0"/>
                </a:solidFill>
              </a:rPr>
              <a:t>Visualize</a:t>
            </a:r>
            <a:r>
              <a:rPr lang="fr-MA" dirty="0">
                <a:solidFill>
                  <a:srgbClr val="0070C0"/>
                </a:solidFill>
              </a:rPr>
              <a:t> Data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7779116-C488-56E5-5C46-728DD43A1FF3}"/>
              </a:ext>
            </a:extLst>
          </p:cNvPr>
          <p:cNvSpPr/>
          <p:nvPr/>
        </p:nvSpPr>
        <p:spPr>
          <a:xfrm>
            <a:off x="4160520" y="5240179"/>
            <a:ext cx="2743200" cy="4366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0070C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16DB19-88C3-45AC-CD3C-9C5E1C507B9F}"/>
              </a:ext>
            </a:extLst>
          </p:cNvPr>
          <p:cNvSpPr txBox="1"/>
          <p:nvPr/>
        </p:nvSpPr>
        <p:spPr>
          <a:xfrm>
            <a:off x="4175760" y="5251488"/>
            <a:ext cx="24384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70C0"/>
                </a:solidFill>
              </a:rPr>
              <a:t>2.3 </a:t>
            </a:r>
            <a:r>
              <a:rPr lang="fr-MA" dirty="0" err="1">
                <a:solidFill>
                  <a:srgbClr val="0070C0"/>
                </a:solidFill>
              </a:rPr>
              <a:t>Get</a:t>
            </a:r>
            <a:r>
              <a:rPr lang="fr-MA" dirty="0">
                <a:solidFill>
                  <a:srgbClr val="0070C0"/>
                </a:solidFill>
              </a:rPr>
              <a:t> </a:t>
            </a:r>
            <a:r>
              <a:rPr lang="fr-MA" dirty="0" err="1">
                <a:solidFill>
                  <a:srgbClr val="0070C0"/>
                </a:solidFill>
              </a:rPr>
              <a:t>detail</a:t>
            </a:r>
            <a:r>
              <a:rPr lang="fr-MA" dirty="0">
                <a:solidFill>
                  <a:srgbClr val="0070C0"/>
                </a:solidFill>
              </a:rPr>
              <a:t> model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BD0591FA-46A6-FC99-425F-57822936D211}"/>
              </a:ext>
            </a:extLst>
          </p:cNvPr>
          <p:cNvCxnSpPr>
            <a:cxnSpLocks/>
            <a:stCxn id="3" idx="3"/>
            <a:endCxn id="72" idx="1"/>
          </p:cNvCxnSpPr>
          <p:nvPr/>
        </p:nvCxnSpPr>
        <p:spPr>
          <a:xfrm flipV="1">
            <a:off x="3048000" y="5436154"/>
            <a:ext cx="1127760" cy="2407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C5EA075-6955-EAE1-D9DC-851E83B648F7}"/>
              </a:ext>
            </a:extLst>
          </p:cNvPr>
          <p:cNvCxnSpPr>
            <a:cxnSpLocks/>
            <a:stCxn id="3" idx="3"/>
            <a:endCxn id="17" idx="1"/>
          </p:cNvCxnSpPr>
          <p:nvPr/>
        </p:nvCxnSpPr>
        <p:spPr>
          <a:xfrm flipV="1">
            <a:off x="3048000" y="4897874"/>
            <a:ext cx="1127760" cy="7790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D850CEA6-8E76-F5D5-302F-19CCE862BE56}"/>
              </a:ext>
            </a:extLst>
          </p:cNvPr>
          <p:cNvCxnSpPr>
            <a:cxnSpLocks/>
            <a:stCxn id="2" idx="3"/>
            <a:endCxn id="69" idx="1"/>
          </p:cNvCxnSpPr>
          <p:nvPr/>
        </p:nvCxnSpPr>
        <p:spPr>
          <a:xfrm flipV="1">
            <a:off x="3048000" y="3186531"/>
            <a:ext cx="1097280" cy="853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59A9DDC-1DE2-3C90-262D-AC5D66AFFF20}"/>
              </a:ext>
            </a:extLst>
          </p:cNvPr>
          <p:cNvSpPr txBox="1"/>
          <p:nvPr/>
        </p:nvSpPr>
        <p:spPr>
          <a:xfrm>
            <a:off x="0" y="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Ce que c’est un modèle, </a:t>
            </a:r>
            <a:endParaRPr lang="fr-MA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DE5DA1-F8DC-CF7E-8322-8BCDB3096295}"/>
              </a:ext>
            </a:extLst>
          </p:cNvPr>
          <p:cNvSpPr/>
          <p:nvPr/>
        </p:nvSpPr>
        <p:spPr>
          <a:xfrm>
            <a:off x="1539240" y="750633"/>
            <a:ext cx="2103120" cy="12908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Model: H</a:t>
            </a:r>
            <a:endParaRPr lang="fr-MA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FF4327-2E7A-3D63-F6F4-7354C5BAF4EF}"/>
              </a:ext>
            </a:extLst>
          </p:cNvPr>
          <p:cNvCxnSpPr>
            <a:stCxn id="9" idx="3"/>
          </p:cNvCxnSpPr>
          <p:nvPr/>
        </p:nvCxnSpPr>
        <p:spPr>
          <a:xfrm>
            <a:off x="3642360" y="1396057"/>
            <a:ext cx="975360" cy="0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F5CA9C-3869-57BE-DF9B-946E1CE2E2CB}"/>
              </a:ext>
            </a:extLst>
          </p:cNvPr>
          <p:cNvCxnSpPr/>
          <p:nvPr/>
        </p:nvCxnSpPr>
        <p:spPr>
          <a:xfrm>
            <a:off x="563880" y="954097"/>
            <a:ext cx="975360" cy="0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9659AB-2CA0-B8D5-2C96-1A687F9407BB}"/>
              </a:ext>
            </a:extLst>
          </p:cNvPr>
          <p:cNvCxnSpPr/>
          <p:nvPr/>
        </p:nvCxnSpPr>
        <p:spPr>
          <a:xfrm>
            <a:off x="563880" y="1251694"/>
            <a:ext cx="975360" cy="0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F725125-3E7E-4813-6ED2-8A8BF1513D3A}"/>
              </a:ext>
            </a:extLst>
          </p:cNvPr>
          <p:cNvCxnSpPr/>
          <p:nvPr/>
        </p:nvCxnSpPr>
        <p:spPr>
          <a:xfrm>
            <a:off x="563880" y="1830814"/>
            <a:ext cx="975360" cy="0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CFB25C9-D124-D699-F9EF-729591CB2FDD}"/>
              </a:ext>
            </a:extLst>
          </p:cNvPr>
          <p:cNvSpPr txBox="1"/>
          <p:nvPr/>
        </p:nvSpPr>
        <p:spPr>
          <a:xfrm>
            <a:off x="731520" y="1396057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…</a:t>
            </a:r>
            <a:endParaRPr lang="fr-M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1BCD15-C39F-D0AD-390D-88FD34917434}"/>
              </a:ext>
            </a:extLst>
          </p:cNvPr>
          <p:cNvSpPr txBox="1"/>
          <p:nvPr/>
        </p:nvSpPr>
        <p:spPr>
          <a:xfrm>
            <a:off x="190500" y="790030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x1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8E60A3-ACEF-6928-5A72-0BFDB534620F}"/>
              </a:ext>
            </a:extLst>
          </p:cNvPr>
          <p:cNvSpPr txBox="1"/>
          <p:nvPr/>
        </p:nvSpPr>
        <p:spPr>
          <a:xfrm>
            <a:off x="220980" y="1064350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x2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3EB18F-2566-DE50-AB55-CE2E45292A4A}"/>
              </a:ext>
            </a:extLst>
          </p:cNvPr>
          <p:cNvSpPr txBox="1"/>
          <p:nvPr/>
        </p:nvSpPr>
        <p:spPr>
          <a:xfrm>
            <a:off x="251460" y="1612990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00B050"/>
                </a:solidFill>
              </a:rPr>
              <a:t>xn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1664E1-78B1-02B6-734B-BC7C878F2CE0}"/>
              </a:ext>
            </a:extLst>
          </p:cNvPr>
          <p:cNvSpPr txBox="1"/>
          <p:nvPr/>
        </p:nvSpPr>
        <p:spPr>
          <a:xfrm>
            <a:off x="4613910" y="1258187"/>
            <a:ext cx="61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00B050"/>
                </a:solidFill>
              </a:rPr>
              <a:t>yhat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E31EB7-6882-4D74-456C-8B3652D2BA2F}"/>
              </a:ext>
            </a:extLst>
          </p:cNvPr>
          <p:cNvSpPr txBox="1"/>
          <p:nvPr/>
        </p:nvSpPr>
        <p:spPr>
          <a:xfrm>
            <a:off x="3596640" y="984577"/>
            <a:ext cx="1188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prediction</a:t>
            </a:r>
            <a:endParaRPr lang="fr-MA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4C92EC-15FE-FDE8-DA59-A625D820656E}"/>
              </a:ext>
            </a:extLst>
          </p:cNvPr>
          <p:cNvSpPr txBox="1"/>
          <p:nvPr/>
        </p:nvSpPr>
        <p:spPr>
          <a:xfrm>
            <a:off x="-15240" y="411335"/>
            <a:ext cx="74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B050"/>
                </a:solidFill>
              </a:rPr>
              <a:t>input</a:t>
            </a:r>
            <a:endParaRPr lang="fr-MA" b="1" dirty="0">
              <a:solidFill>
                <a:srgbClr val="00B05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BC172A-B8DD-C268-3092-CA94CB67508F}"/>
              </a:ext>
            </a:extLst>
          </p:cNvPr>
          <p:cNvSpPr txBox="1"/>
          <p:nvPr/>
        </p:nvSpPr>
        <p:spPr>
          <a:xfrm>
            <a:off x="4503420" y="853564"/>
            <a:ext cx="99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rgbClr val="00B050"/>
                </a:solidFill>
              </a:rPr>
              <a:t>ouput</a:t>
            </a:r>
            <a:endParaRPr lang="fr-MA" b="1" dirty="0">
              <a:solidFill>
                <a:srgbClr val="00B05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C9D68D-8693-21BB-1D05-00CA482BDE5C}"/>
              </a:ext>
            </a:extLst>
          </p:cNvPr>
          <p:cNvSpPr txBox="1"/>
          <p:nvPr/>
        </p:nvSpPr>
        <p:spPr>
          <a:xfrm>
            <a:off x="5463540" y="724090"/>
            <a:ext cx="4267200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Pour la régression linéaire:</a:t>
            </a:r>
          </a:p>
          <a:p>
            <a:r>
              <a:rPr lang="fr-FR" dirty="0"/>
              <a:t>Le modèle a la forme: H(x1,x2,…</a:t>
            </a:r>
            <a:r>
              <a:rPr lang="fr-FR" dirty="0" err="1"/>
              <a:t>xn</a:t>
            </a:r>
            <a:r>
              <a:rPr lang="fr-FR" dirty="0"/>
              <a:t>)=bias+w1.x1+w2.x2+…+</a:t>
            </a:r>
            <a:r>
              <a:rPr lang="fr-FR" dirty="0" err="1"/>
              <a:t>wn.xn</a:t>
            </a:r>
            <a:endParaRPr lang="fr-FR" dirty="0"/>
          </a:p>
          <a:p>
            <a:r>
              <a:rPr lang="fr-FR" dirty="0"/>
              <a:t>Le modèle trouve la liaison entre l’entrée et la sortie</a:t>
            </a:r>
            <a:endParaRPr lang="fr-MA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B31C87-87A0-BB39-DD10-4081DA3E1C0B}"/>
              </a:ext>
            </a:extLst>
          </p:cNvPr>
          <p:cNvSpPr txBox="1"/>
          <p:nvPr/>
        </p:nvSpPr>
        <p:spPr>
          <a:xfrm>
            <a:off x="-15240" y="2086667"/>
            <a:ext cx="493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Les étapes/ éléments  pour trouver un modèle</a:t>
            </a:r>
            <a:endParaRPr lang="fr-MA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69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30906F-B329-6895-9DE0-608F35679B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39" y="4685979"/>
            <a:ext cx="1975214" cy="1518362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ABD64B0C-A58E-8A74-02D8-47A735CA964E}"/>
              </a:ext>
            </a:extLst>
          </p:cNvPr>
          <p:cNvSpPr/>
          <p:nvPr/>
        </p:nvSpPr>
        <p:spPr>
          <a:xfrm>
            <a:off x="5229582" y="629508"/>
            <a:ext cx="520698" cy="585351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804321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786916-FCB8-40D8-8754-FE8FF44B4BEB}"/>
              </a:ext>
            </a:extLst>
          </p:cNvPr>
          <p:cNvSpPr txBox="1"/>
          <p:nvPr/>
        </p:nvSpPr>
        <p:spPr>
          <a:xfrm>
            <a:off x="1128713" y="285737"/>
            <a:ext cx="8401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4000" b="1" dirty="0" err="1">
                <a:solidFill>
                  <a:srgbClr val="0070C0"/>
                </a:solidFill>
              </a:rPr>
              <a:t>Supervised</a:t>
            </a:r>
            <a:r>
              <a:rPr lang="fr-MA" sz="4000" b="1" dirty="0">
                <a:solidFill>
                  <a:srgbClr val="0070C0"/>
                </a:solidFill>
              </a:rPr>
              <a:t> </a:t>
            </a:r>
            <a:r>
              <a:rPr lang="fr-MA" sz="4000" b="1" dirty="0" err="1">
                <a:solidFill>
                  <a:srgbClr val="0070C0"/>
                </a:solidFill>
              </a:rPr>
              <a:t>learning</a:t>
            </a:r>
            <a:r>
              <a:rPr lang="fr-MA" sz="4000" b="1" dirty="0">
                <a:solidFill>
                  <a:srgbClr val="0070C0"/>
                </a:solidFill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AF67B1-CFFA-4BA4-93FE-A234AC2BD5B0}"/>
              </a:ext>
            </a:extLst>
          </p:cNvPr>
          <p:cNvSpPr txBox="1"/>
          <p:nvPr/>
        </p:nvSpPr>
        <p:spPr>
          <a:xfrm>
            <a:off x="2382" y="1408740"/>
            <a:ext cx="1218961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8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2200" b="1" dirty="0"/>
              <a:t>Les techniques de Machine Learning en supervisé analysent un certain nombre d'</a:t>
            </a:r>
            <a:r>
              <a:rPr lang="fr-MA" sz="2200" b="1" dirty="0">
                <a:solidFill>
                  <a:srgbClr val="FF3300"/>
                </a:solidFill>
              </a:rPr>
              <a:t>observations</a:t>
            </a:r>
          </a:p>
          <a:p>
            <a:pPr marL="742950" lvl="1" indent="-285750">
              <a:spcAft>
                <a:spcPts val="1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200" b="1" dirty="0"/>
              <a:t>Les observations contiennent deux parties:</a:t>
            </a:r>
          </a:p>
          <a:p>
            <a:pPr marL="1200150" lvl="2" indent="-285750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rgbClr val="FF0000"/>
                </a:solidFill>
              </a:rPr>
              <a:t>les</a:t>
            </a:r>
            <a:r>
              <a:rPr lang="fr-MA" b="1" dirty="0"/>
              <a:t> variables indépendantes: sont appelées aussi </a:t>
            </a:r>
            <a:r>
              <a:rPr lang="fr-MA" b="1" dirty="0" err="1"/>
              <a:t>features</a:t>
            </a:r>
            <a:r>
              <a:rPr lang="fr-MA" b="1" dirty="0"/>
              <a:t>, </a:t>
            </a:r>
            <a:r>
              <a:rPr lang="fr-MA" b="1" dirty="0" err="1"/>
              <a:t>predictors</a:t>
            </a:r>
            <a:r>
              <a:rPr lang="fr-MA" b="1" dirty="0"/>
              <a:t> et </a:t>
            </a:r>
            <a:r>
              <a:rPr lang="fr-MA" b="1" dirty="0" err="1"/>
              <a:t>souvant</a:t>
            </a:r>
            <a:r>
              <a:rPr lang="fr-MA" b="1" dirty="0"/>
              <a:t> noté </a:t>
            </a:r>
            <a:r>
              <a:rPr lang="fr-MA" b="1" dirty="0">
                <a:solidFill>
                  <a:srgbClr val="0070C0"/>
                </a:solidFill>
              </a:rPr>
              <a:t>X</a:t>
            </a:r>
          </a:p>
          <a:p>
            <a:pPr marL="1200150" lvl="2" indent="-285750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rgbClr val="FF0000"/>
                </a:solidFill>
              </a:rPr>
              <a:t>Une</a:t>
            </a:r>
            <a:r>
              <a:rPr lang="fr-MA" b="1" dirty="0"/>
              <a:t> variable dépendante: appelée aussi </a:t>
            </a:r>
            <a:r>
              <a:rPr lang="fr-MA" b="1" dirty="0" err="1"/>
              <a:t>target</a:t>
            </a:r>
            <a:endParaRPr lang="fr-MA" sz="2200" b="1" dirty="0"/>
          </a:p>
          <a:p>
            <a:pPr marL="457200" indent="-457200">
              <a:spcAft>
                <a:spcPts val="18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2200" b="1" dirty="0"/>
              <a:t>Et trouve un modèle mathématique qui montre la dépendance entre les entrées et les sorties.</a:t>
            </a:r>
          </a:p>
        </p:txBody>
      </p:sp>
    </p:spTree>
    <p:extLst>
      <p:ext uri="{BB962C8B-B14F-4D97-AF65-F5344CB8AC3E}">
        <p14:creationId xmlns:p14="http://schemas.microsoft.com/office/powerpoint/2010/main" val="2275769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786916-FCB8-40D8-8754-FE8FF44B4BEB}"/>
              </a:ext>
            </a:extLst>
          </p:cNvPr>
          <p:cNvSpPr txBox="1"/>
          <p:nvPr/>
        </p:nvSpPr>
        <p:spPr>
          <a:xfrm>
            <a:off x="0" y="2128841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/>
              <a:t>La </a:t>
            </a:r>
            <a:r>
              <a:rPr lang="fr-MA" sz="3600" b="1" dirty="0" err="1"/>
              <a:t>regression</a:t>
            </a:r>
            <a:r>
              <a:rPr lang="fr-MA" sz="3600" b="1" dirty="0"/>
              <a:t> et la classification appartiennent au type </a:t>
            </a:r>
            <a:br>
              <a:rPr lang="fr-MA" sz="3600" b="1" dirty="0"/>
            </a:br>
            <a:endParaRPr lang="fr-MA" sz="3600" b="1" dirty="0"/>
          </a:p>
          <a:p>
            <a:pPr algn="ctr"/>
            <a:r>
              <a:rPr lang="fr-MA" sz="4000" b="1" dirty="0" err="1"/>
              <a:t>Supervised</a:t>
            </a:r>
            <a:r>
              <a:rPr lang="fr-MA" sz="4000" b="1" dirty="0"/>
              <a:t> Learning </a:t>
            </a:r>
            <a:r>
              <a:rPr lang="fr-MA" sz="2400" b="1" dirty="0"/>
              <a:t>(apprentissage supervisé)</a:t>
            </a:r>
            <a:endParaRPr lang="fr-MA" sz="4000" b="1" dirty="0"/>
          </a:p>
        </p:txBody>
      </p:sp>
    </p:spTree>
    <p:extLst>
      <p:ext uri="{BB962C8B-B14F-4D97-AF65-F5344CB8AC3E}">
        <p14:creationId xmlns:p14="http://schemas.microsoft.com/office/powerpoint/2010/main" val="308203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786916-FCB8-40D8-8754-FE8FF44B4BEB}"/>
              </a:ext>
            </a:extLst>
          </p:cNvPr>
          <p:cNvSpPr txBox="1"/>
          <p:nvPr/>
        </p:nvSpPr>
        <p:spPr>
          <a:xfrm>
            <a:off x="1128713" y="2386020"/>
            <a:ext cx="8401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4000" b="1" dirty="0" err="1"/>
              <a:t>Regression</a:t>
            </a:r>
            <a:r>
              <a:rPr lang="fr-MA" sz="4000" b="1" dirty="0"/>
              <a:t> ou classification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307940-EC5F-43D1-9281-8F04FF907851}"/>
              </a:ext>
            </a:extLst>
          </p:cNvPr>
          <p:cNvSpPr txBox="1"/>
          <p:nvPr/>
        </p:nvSpPr>
        <p:spPr>
          <a:xfrm>
            <a:off x="295275" y="4493270"/>
            <a:ext cx="11791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285750" algn="just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400" b="1" dirty="0">
                <a:latin typeface="+mj-lt"/>
              </a:rPr>
              <a:t>La nature de la variable dépendante distingue entre la régression et la classification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DA5C1-480A-412A-9DC0-6FE22C7B7F70}"/>
              </a:ext>
            </a:extLst>
          </p:cNvPr>
          <p:cNvSpPr txBox="1"/>
          <p:nvPr/>
        </p:nvSpPr>
        <p:spPr>
          <a:xfrm>
            <a:off x="3043238" y="657225"/>
            <a:ext cx="5100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600" b="1" dirty="0" err="1"/>
              <a:t>Supervised</a:t>
            </a:r>
            <a:r>
              <a:rPr lang="fr-MA" sz="3600" b="1" dirty="0"/>
              <a:t> Learning</a:t>
            </a:r>
          </a:p>
        </p:txBody>
      </p:sp>
    </p:spTree>
    <p:extLst>
      <p:ext uri="{BB962C8B-B14F-4D97-AF65-F5344CB8AC3E}">
        <p14:creationId xmlns:p14="http://schemas.microsoft.com/office/powerpoint/2010/main" val="170728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EE323E-EF76-4AF8-9D9E-ADE22D55E9A3}"/>
              </a:ext>
            </a:extLst>
          </p:cNvPr>
          <p:cNvSpPr txBox="1"/>
          <p:nvPr/>
        </p:nvSpPr>
        <p:spPr>
          <a:xfrm>
            <a:off x="42864" y="800380"/>
            <a:ext cx="5443535" cy="448327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Prédire le chiffre d’affaire à réaliser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Intervalle d’infinité de valeurs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rgbClr val="FF0000"/>
                </a:solidFill>
                <a:latin typeface="+mj-lt"/>
              </a:rPr>
              <a:t>1K, 2K, 1M, 1.001M , 12.33M, 33.44 M… : </a:t>
            </a:r>
            <a:r>
              <a:rPr lang="fr-MA" sz="1600" b="1" dirty="0">
                <a:solidFill>
                  <a:srgbClr val="C00000"/>
                </a:solidFill>
                <a:latin typeface="+mj-lt"/>
              </a:rPr>
              <a:t>y in [0,ꚙ[</a:t>
            </a:r>
            <a:endParaRPr lang="fr-MA" b="1" dirty="0">
              <a:solidFill>
                <a:srgbClr val="C00000"/>
              </a:solidFill>
              <a:latin typeface="+mj-lt"/>
            </a:endParaRP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Prédire le montant d’un crédit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Intervalle d’infinité de valeurs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rgbClr val="FF0000"/>
                </a:solidFill>
                <a:latin typeface="+mj-lt"/>
              </a:rPr>
              <a:t>25K, 25.25K, 44.44M, …: </a:t>
            </a:r>
            <a:r>
              <a:rPr lang="fr-MA" sz="1800" b="1" dirty="0">
                <a:solidFill>
                  <a:srgbClr val="C00000"/>
                </a:solidFill>
                <a:latin typeface="+mj-lt"/>
              </a:rPr>
              <a:t>y in [0,ꚙ[</a:t>
            </a:r>
            <a:endParaRPr lang="fr-MA" dirty="0">
              <a:solidFill>
                <a:srgbClr val="FF0000"/>
              </a:solidFill>
              <a:latin typeface="+mj-lt"/>
            </a:endParaRP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Prédire la température de demain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Intervalle d’infinité de valeurs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rgbClr val="FF0000"/>
                </a:solidFill>
                <a:latin typeface="+mj-lt"/>
              </a:rPr>
              <a:t>18.1, 22.22, 33.3, 38.8…: </a:t>
            </a:r>
            <a:r>
              <a:rPr lang="fr-MA" sz="1600" b="1" dirty="0">
                <a:solidFill>
                  <a:srgbClr val="C00000"/>
                </a:solidFill>
                <a:latin typeface="+mj-lt"/>
              </a:rPr>
              <a:t>y in [0,100]</a:t>
            </a:r>
            <a:endParaRPr lang="fr-MA" sz="1600" dirty="0">
              <a:solidFill>
                <a:srgbClr val="FF0000"/>
              </a:solidFill>
              <a:latin typeface="+mj-lt"/>
            </a:endParaRP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EACC0-FCF7-4EA4-A685-92BE9AE319FF}"/>
              </a:ext>
            </a:extLst>
          </p:cNvPr>
          <p:cNvSpPr txBox="1"/>
          <p:nvPr/>
        </p:nvSpPr>
        <p:spPr>
          <a:xfrm>
            <a:off x="42864" y="416760"/>
            <a:ext cx="233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Régression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8BC87-9444-42EF-ACD0-3703E20799D6}"/>
              </a:ext>
            </a:extLst>
          </p:cNvPr>
          <p:cNvSpPr txBox="1"/>
          <p:nvPr/>
        </p:nvSpPr>
        <p:spPr>
          <a:xfrm>
            <a:off x="5710240" y="800378"/>
            <a:ext cx="5876924" cy="439094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Prédire si une transaction est frauduleuse ou non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Deux valeurs possibles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rgbClr val="FF0000"/>
                </a:solidFill>
                <a:latin typeface="+mj-lt"/>
              </a:rPr>
              <a:t>Oui ou non: </a:t>
            </a:r>
            <a:r>
              <a:rPr lang="fr-MA" sz="1600" b="1" dirty="0">
                <a:solidFill>
                  <a:srgbClr val="C00000"/>
                </a:solidFill>
                <a:latin typeface="+mj-lt"/>
              </a:rPr>
              <a:t>y in {0,1}</a:t>
            </a:r>
            <a:endParaRPr lang="fr-MA" b="1" dirty="0">
              <a:solidFill>
                <a:srgbClr val="C00000"/>
              </a:solidFill>
              <a:latin typeface="+mj-lt"/>
            </a:endParaRP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Prédire si un émail est spam ou non spam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Deux valeurs possibles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rgbClr val="FF0000"/>
                </a:solidFill>
                <a:latin typeface="+mj-lt"/>
              </a:rPr>
              <a:t>Oui ou non: </a:t>
            </a:r>
            <a:r>
              <a:rPr lang="fr-MA" sz="1600" b="1" dirty="0">
                <a:solidFill>
                  <a:srgbClr val="C00000"/>
                </a:solidFill>
                <a:latin typeface="+mj-lt"/>
              </a:rPr>
              <a:t>y in {0,1}</a:t>
            </a:r>
            <a:endParaRPr lang="fr-MA" b="1" dirty="0">
              <a:solidFill>
                <a:srgbClr val="C00000"/>
              </a:solidFill>
              <a:latin typeface="+mj-lt"/>
            </a:endParaRP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Prédire pour quel parti un citoyen US peut voter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Trois valeurs possibles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rgbClr val="FF0000"/>
                </a:solidFill>
                <a:latin typeface="+mj-lt"/>
              </a:rPr>
              <a:t>Republican, </a:t>
            </a:r>
            <a:r>
              <a:rPr lang="fr-MA" sz="1600" dirty="0" err="1">
                <a:solidFill>
                  <a:srgbClr val="FF0000"/>
                </a:solidFill>
                <a:latin typeface="+mj-lt"/>
              </a:rPr>
              <a:t>Democrate</a:t>
            </a:r>
            <a:r>
              <a:rPr lang="fr-MA" sz="1600" dirty="0">
                <a:solidFill>
                  <a:srgbClr val="FF0000"/>
                </a:solidFill>
                <a:latin typeface="+mj-lt"/>
              </a:rPr>
              <a:t>, </a:t>
            </a:r>
            <a:r>
              <a:rPr lang="fr-MA" sz="1600" dirty="0" err="1">
                <a:solidFill>
                  <a:srgbClr val="FF0000"/>
                </a:solidFill>
                <a:latin typeface="+mj-lt"/>
              </a:rPr>
              <a:t>Independant</a:t>
            </a:r>
            <a:r>
              <a:rPr lang="fr-MA" sz="1600" dirty="0">
                <a:solidFill>
                  <a:srgbClr val="FF0000"/>
                </a:solidFill>
                <a:latin typeface="+mj-lt"/>
              </a:rPr>
              <a:t>:</a:t>
            </a: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lang="fr-MA" sz="1600" b="1" dirty="0">
                <a:solidFill>
                  <a:srgbClr val="C00000"/>
                </a:solidFill>
                <a:latin typeface="+mj-lt"/>
              </a:rPr>
              <a:t>y in {1,2,3}</a:t>
            </a:r>
            <a:endParaRPr lang="fr-MA" sz="1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Prédire le club supporté par une personne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Une liste limitée de valeur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rgbClr val="FF0000"/>
                </a:solidFill>
                <a:latin typeface="+mj-lt"/>
              </a:rPr>
              <a:t>Real Madrid, FC Barcelona, Juventus, Liverpool: </a:t>
            </a:r>
            <a:r>
              <a:rPr lang="fr-MA" sz="1600" b="1" dirty="0">
                <a:solidFill>
                  <a:srgbClr val="C00000"/>
                </a:solidFill>
                <a:latin typeface="+mj-lt"/>
              </a:rPr>
              <a:t>y in {0,1..1000}</a:t>
            </a:r>
            <a:r>
              <a:rPr lang="fr-MA" sz="1600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83EB32-199D-4413-98C0-A20CAA96C9E0}"/>
              </a:ext>
            </a:extLst>
          </p:cNvPr>
          <p:cNvSpPr txBox="1"/>
          <p:nvPr/>
        </p:nvSpPr>
        <p:spPr>
          <a:xfrm>
            <a:off x="5710239" y="359610"/>
            <a:ext cx="233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Classification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149269-44BC-49C1-AB01-74D085FCC05A}"/>
              </a:ext>
            </a:extLst>
          </p:cNvPr>
          <p:cNvSpPr txBox="1"/>
          <p:nvPr/>
        </p:nvSpPr>
        <p:spPr>
          <a:xfrm>
            <a:off x="376236" y="4745300"/>
            <a:ext cx="444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La variable dépendante est continue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8042EA-F205-489D-8909-7B7B29A0090E}"/>
              </a:ext>
            </a:extLst>
          </p:cNvPr>
          <p:cNvSpPr txBox="1"/>
          <p:nvPr/>
        </p:nvSpPr>
        <p:spPr>
          <a:xfrm>
            <a:off x="5981700" y="4745300"/>
            <a:ext cx="4443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La variable dépendante est catégorielle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0C55C9-0DC4-402C-9E7B-4EA813A25BB8}"/>
              </a:ext>
            </a:extLst>
          </p:cNvPr>
          <p:cNvSpPr txBox="1"/>
          <p:nvPr/>
        </p:nvSpPr>
        <p:spPr>
          <a:xfrm>
            <a:off x="44244" y="5501161"/>
            <a:ext cx="54435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285750" algn="just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+mj-lt"/>
              </a:rPr>
              <a:t>Sur une variables continue, les opérations suivantes sont possibles: </a:t>
            </a:r>
            <a:r>
              <a:rPr lang="fr-FR" dirty="0"/>
              <a:t>somme, min, max, moyenne, variance… </a:t>
            </a:r>
            <a:endParaRPr lang="fr-FR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FA704-D450-47C8-944E-A47486C25D9F}"/>
              </a:ext>
            </a:extLst>
          </p:cNvPr>
          <p:cNvSpPr txBox="1"/>
          <p:nvPr/>
        </p:nvSpPr>
        <p:spPr>
          <a:xfrm>
            <a:off x="5586414" y="5501161"/>
            <a:ext cx="6000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285750" algn="just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dirty="0">
                <a:latin typeface="+mj-lt"/>
              </a:rPr>
              <a:t>Sur une variable catégorielle, les opérations suivantes </a:t>
            </a:r>
            <a:br>
              <a:rPr lang="fr-FR" dirty="0">
                <a:latin typeface="+mj-lt"/>
              </a:rPr>
            </a:br>
            <a:r>
              <a:rPr lang="fr-FR" b="1" dirty="0">
                <a:latin typeface="+mj-lt"/>
              </a:rPr>
              <a:t>n’ont pas de sens</a:t>
            </a:r>
            <a:r>
              <a:rPr lang="fr-FR" dirty="0">
                <a:latin typeface="+mj-lt"/>
              </a:rPr>
              <a:t>: somme, min, max, moyenne, variance… </a:t>
            </a:r>
          </a:p>
        </p:txBody>
      </p:sp>
    </p:spTree>
    <p:extLst>
      <p:ext uri="{BB962C8B-B14F-4D97-AF65-F5344CB8AC3E}">
        <p14:creationId xmlns:p14="http://schemas.microsoft.com/office/powerpoint/2010/main" val="135143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4E4FEA-6981-4F60-9CC1-15A6D0C7C21A}"/>
              </a:ext>
            </a:extLst>
          </p:cNvPr>
          <p:cNvSpPr txBox="1"/>
          <p:nvPr/>
        </p:nvSpPr>
        <p:spPr>
          <a:xfrm>
            <a:off x="0" y="1679803"/>
            <a:ext cx="58221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Prédire si une personne demande un crédit ou non?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Deux valeurs possibles</a:t>
            </a:r>
            <a:r>
              <a:rPr lang="fr-MA" sz="1600" dirty="0">
                <a:solidFill>
                  <a:srgbClr val="FF0000"/>
                </a:solidFill>
                <a:latin typeface="+mj-lt"/>
              </a:rPr>
              <a:t> {non, oui} ou </a:t>
            </a:r>
            <a:r>
              <a:rPr lang="fr-MA" sz="1600" b="1" dirty="0">
                <a:solidFill>
                  <a:srgbClr val="C00000"/>
                </a:solidFill>
                <a:latin typeface="+mj-lt"/>
              </a:rPr>
              <a:t>y in {0,1}</a:t>
            </a:r>
            <a:endParaRPr lang="fr-MA" sz="1600" dirty="0">
              <a:solidFill>
                <a:srgbClr val="FF0000"/>
              </a:solidFill>
              <a:latin typeface="+mj-lt"/>
            </a:endParaRP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Prédire si une photo est d’un animal domestique ou d’un animal sauvage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Deux valeurs possibles</a:t>
            </a:r>
            <a:r>
              <a:rPr lang="fr-MA" sz="1600" dirty="0">
                <a:solidFill>
                  <a:srgbClr val="FF0000"/>
                </a:solidFill>
                <a:latin typeface="+mj-lt"/>
              </a:rPr>
              <a:t> {non, oui} ou </a:t>
            </a:r>
            <a:r>
              <a:rPr lang="fr-MA" sz="1600" b="1" dirty="0">
                <a:solidFill>
                  <a:srgbClr val="C00000"/>
                </a:solidFill>
                <a:latin typeface="+mj-lt"/>
              </a:rPr>
              <a:t>y in {0,1}</a:t>
            </a:r>
            <a:endParaRPr lang="fr-MA" sz="16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9" name="Connecteur droit 3">
            <a:extLst>
              <a:ext uri="{FF2B5EF4-FFF2-40B4-BE49-F238E27FC236}">
                <a16:creationId xmlns:a16="http://schemas.microsoft.com/office/drawing/2014/main" id="{D4DB49F2-5354-4165-BEE2-21F5F7F78487}"/>
              </a:ext>
            </a:extLst>
          </p:cNvPr>
          <p:cNvCxnSpPr/>
          <p:nvPr/>
        </p:nvCxnSpPr>
        <p:spPr>
          <a:xfrm>
            <a:off x="0" y="708926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ZoneTexte 210">
            <a:extLst>
              <a:ext uri="{FF2B5EF4-FFF2-40B4-BE49-F238E27FC236}">
                <a16:creationId xmlns:a16="http://schemas.microsoft.com/office/drawing/2014/main" id="{3738708A-2819-4AA8-99A8-EED5D7A09488}"/>
              </a:ext>
            </a:extLst>
          </p:cNvPr>
          <p:cNvSpPr txBox="1"/>
          <p:nvPr/>
        </p:nvSpPr>
        <p:spPr>
          <a:xfrm>
            <a:off x="1255596" y="2805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Types de classification</a:t>
            </a: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D34E8D-841A-4268-9870-E7AA148A06C5}"/>
              </a:ext>
            </a:extLst>
          </p:cNvPr>
          <p:cNvSpPr txBox="1"/>
          <p:nvPr/>
        </p:nvSpPr>
        <p:spPr>
          <a:xfrm>
            <a:off x="6253163" y="1214376"/>
            <a:ext cx="593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Aft>
                <a:spcPts val="400"/>
              </a:spcAft>
              <a:buClr>
                <a:srgbClr val="FF3300"/>
              </a:buClr>
            </a:pP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Multiclass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Classification (Multinomial classification)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2D6B08-7C45-4AB3-9813-44CB9E1A90CE}"/>
              </a:ext>
            </a:extLst>
          </p:cNvPr>
          <p:cNvSpPr txBox="1"/>
          <p:nvPr/>
        </p:nvSpPr>
        <p:spPr>
          <a:xfrm>
            <a:off x="116683" y="1262424"/>
            <a:ext cx="5822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Aft>
                <a:spcPts val="400"/>
              </a:spcAft>
              <a:buClr>
                <a:srgbClr val="FF3300"/>
              </a:buClr>
            </a:pP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Binary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Classification (Binomial classification)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88E5C6-148C-4FA2-9A44-BEE6385B4735}"/>
              </a:ext>
            </a:extLst>
          </p:cNvPr>
          <p:cNvSpPr txBox="1"/>
          <p:nvPr/>
        </p:nvSpPr>
        <p:spPr>
          <a:xfrm>
            <a:off x="5822156" y="1631756"/>
            <a:ext cx="636984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Prédire pour quel poste un lauréat peut postuler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Trois valeurs possibles:</a:t>
            </a:r>
            <a:r>
              <a:rPr lang="fr-MA" sz="1600" dirty="0">
                <a:solidFill>
                  <a:srgbClr val="FF0000"/>
                </a:solidFill>
                <a:latin typeface="+mj-lt"/>
              </a:rPr>
              <a:t> {ML Learning </a:t>
            </a:r>
            <a:r>
              <a:rPr lang="fr-MA" sz="1600" dirty="0" err="1">
                <a:solidFill>
                  <a:srgbClr val="FF0000"/>
                </a:solidFill>
                <a:latin typeface="+mj-lt"/>
              </a:rPr>
              <a:t>Engineer</a:t>
            </a:r>
            <a:r>
              <a:rPr lang="fr-MA" sz="1600" dirty="0">
                <a:solidFill>
                  <a:srgbClr val="FF0000"/>
                </a:solidFill>
                <a:latin typeface="+mj-lt"/>
              </a:rPr>
              <a:t>, software </a:t>
            </a:r>
            <a:r>
              <a:rPr lang="fr-MA" sz="1600" dirty="0" err="1">
                <a:solidFill>
                  <a:srgbClr val="FF0000"/>
                </a:solidFill>
                <a:latin typeface="+mj-lt"/>
              </a:rPr>
              <a:t>engineer</a:t>
            </a:r>
            <a:r>
              <a:rPr lang="fr-MA" sz="1600" dirty="0">
                <a:solidFill>
                  <a:srgbClr val="FF0000"/>
                </a:solidFill>
                <a:latin typeface="+mj-lt"/>
              </a:rPr>
              <a:t>, software designer} ou </a:t>
            </a:r>
            <a:r>
              <a:rPr lang="fr-MA" sz="1600" b="1" dirty="0">
                <a:solidFill>
                  <a:srgbClr val="C00000"/>
                </a:solidFill>
                <a:latin typeface="+mj-lt"/>
              </a:rPr>
              <a:t>y in {1,2,3}</a:t>
            </a:r>
            <a:endParaRPr lang="fr-MA" sz="1600" dirty="0">
              <a:solidFill>
                <a:srgbClr val="FF0000"/>
              </a:solidFill>
              <a:latin typeface="+mj-lt"/>
            </a:endParaRPr>
          </a:p>
          <a:p>
            <a:pPr marL="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Prédire si une photo est d’un chien, d’un lapin, d’un chat, d’un écureuil</a:t>
            </a:r>
          </a:p>
          <a:p>
            <a:pPr marL="457200" lvl="2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rgbClr val="FF0000"/>
                </a:solidFill>
                <a:latin typeface="+mj-lt"/>
              </a:rPr>
              <a:t>Quatre valeurs possibles:  {lapin, chien, chat, écureuil} ou </a:t>
            </a:r>
            <a:r>
              <a:rPr lang="fr-MA" sz="1600" b="1" dirty="0">
                <a:solidFill>
                  <a:srgbClr val="C00000"/>
                </a:solidFill>
                <a:latin typeface="+mj-lt"/>
              </a:rPr>
              <a:t>y in {1,2,3,4}</a:t>
            </a:r>
            <a:endParaRPr lang="fr-MA" sz="1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82515EA-FB75-41EE-9D45-53C0BAFE2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927" y="5038994"/>
            <a:ext cx="1535904" cy="10539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4288A95-B172-4D9E-B314-905074267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655" y="5038994"/>
            <a:ext cx="1535904" cy="10684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9EEA7AB-9201-4D3B-AECB-B5FD12E8A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7758" y="5038994"/>
            <a:ext cx="1571625" cy="10438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E14F2AC-9E76-4501-9667-C7C0F8EAE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582" y="5024464"/>
            <a:ext cx="1628775" cy="106845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A4DDD33-1A93-42D3-88A0-08FD7F47E5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83" y="4739783"/>
            <a:ext cx="2133600" cy="13430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ECD17D0-D79A-4AAB-982A-1A7AEB9CEE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202" y="4739783"/>
            <a:ext cx="2200275" cy="136766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35A2743-61EE-431D-BC5F-64EC2190FFF1}"/>
              </a:ext>
            </a:extLst>
          </p:cNvPr>
          <p:cNvSpPr txBox="1"/>
          <p:nvPr/>
        </p:nvSpPr>
        <p:spPr>
          <a:xfrm>
            <a:off x="1350170" y="3943659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/>
              <a:t>output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B0A6388-A974-4FC2-8CAE-DAA907D81013}"/>
              </a:ext>
            </a:extLst>
          </p:cNvPr>
          <p:cNvCxnSpPr>
            <a:stCxn id="31" idx="2"/>
            <a:endCxn id="28" idx="0"/>
          </p:cNvCxnSpPr>
          <p:nvPr/>
        </p:nvCxnSpPr>
        <p:spPr>
          <a:xfrm flipH="1">
            <a:off x="1183483" y="4312991"/>
            <a:ext cx="1066800" cy="4267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5E6196-38D2-4285-9D37-8D5806B28EE5}"/>
              </a:ext>
            </a:extLst>
          </p:cNvPr>
          <p:cNvCxnSpPr>
            <a:cxnSpLocks/>
            <a:stCxn id="31" idx="2"/>
            <a:endCxn id="30" idx="0"/>
          </p:cNvCxnSpPr>
          <p:nvPr/>
        </p:nvCxnSpPr>
        <p:spPr>
          <a:xfrm>
            <a:off x="2250283" y="4312991"/>
            <a:ext cx="1212057" cy="4267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658EBEE-83F6-49CC-9907-D2ECEA97A324}"/>
              </a:ext>
            </a:extLst>
          </p:cNvPr>
          <p:cNvSpPr txBox="1"/>
          <p:nvPr/>
        </p:nvSpPr>
        <p:spPr>
          <a:xfrm>
            <a:off x="7417562" y="3943659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/>
              <a:t>output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2577338-00CD-4B15-A781-260A9E5F9B6C}"/>
              </a:ext>
            </a:extLst>
          </p:cNvPr>
          <p:cNvCxnSpPr>
            <a:cxnSpLocks/>
            <a:stCxn id="37" idx="2"/>
            <a:endCxn id="20" idx="0"/>
          </p:cNvCxnSpPr>
          <p:nvPr/>
        </p:nvCxnSpPr>
        <p:spPr>
          <a:xfrm flipH="1">
            <a:off x="6363879" y="4312991"/>
            <a:ext cx="1953796" cy="7260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5EDDB4E-388B-4F8C-A935-D8AE2208272C}"/>
              </a:ext>
            </a:extLst>
          </p:cNvPr>
          <p:cNvCxnSpPr>
            <a:cxnSpLocks/>
            <a:stCxn id="37" idx="2"/>
            <a:endCxn id="26" idx="0"/>
          </p:cNvCxnSpPr>
          <p:nvPr/>
        </p:nvCxnSpPr>
        <p:spPr>
          <a:xfrm>
            <a:off x="8317675" y="4312991"/>
            <a:ext cx="3012295" cy="7114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EC805A-1E68-4E66-8E2F-F86CF3E5C5B4}"/>
              </a:ext>
            </a:extLst>
          </p:cNvPr>
          <p:cNvCxnSpPr>
            <a:cxnSpLocks/>
            <a:stCxn id="37" idx="2"/>
            <a:endCxn id="22" idx="0"/>
          </p:cNvCxnSpPr>
          <p:nvPr/>
        </p:nvCxnSpPr>
        <p:spPr>
          <a:xfrm flipH="1">
            <a:off x="8023607" y="4312991"/>
            <a:ext cx="294068" cy="7260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F3F0DA3-3C1E-42F6-A3FB-605AC6D3AE1C}"/>
              </a:ext>
            </a:extLst>
          </p:cNvPr>
          <p:cNvCxnSpPr>
            <a:cxnSpLocks/>
            <a:stCxn id="37" idx="2"/>
            <a:endCxn id="24" idx="0"/>
          </p:cNvCxnSpPr>
          <p:nvPr/>
        </p:nvCxnSpPr>
        <p:spPr>
          <a:xfrm>
            <a:off x="8317675" y="4312991"/>
            <a:ext cx="1335896" cy="7260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A23F1C2-C9E4-4DCD-A5C6-F3841A42B5F5}"/>
              </a:ext>
            </a:extLst>
          </p:cNvPr>
          <p:cNvSpPr txBox="1"/>
          <p:nvPr/>
        </p:nvSpPr>
        <p:spPr>
          <a:xfrm>
            <a:off x="116683" y="6215059"/>
            <a:ext cx="444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Le chat est sauvage ou domestique?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28A598-6125-4969-88CE-54650A77FB36}"/>
              </a:ext>
            </a:extLst>
          </p:cNvPr>
          <p:cNvSpPr txBox="1"/>
          <p:nvPr/>
        </p:nvSpPr>
        <p:spPr>
          <a:xfrm>
            <a:off x="5595927" y="6135195"/>
            <a:ext cx="6548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L’animal est un écureuil, lapin, chien ou chat?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D1701B-599E-43FE-B508-F4E4BF6DB817}"/>
              </a:ext>
            </a:extLst>
          </p:cNvPr>
          <p:cNvSpPr txBox="1"/>
          <p:nvPr/>
        </p:nvSpPr>
        <p:spPr>
          <a:xfrm>
            <a:off x="3661172" y="6208859"/>
            <a:ext cx="739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C00000"/>
                </a:solidFill>
                <a:latin typeface="+mj-lt"/>
              </a:rPr>
              <a:t>{0,1}</a:t>
            </a:r>
            <a:endParaRPr lang="fr-MA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8803C0-4758-4C1B-8067-A70BA38D2846}"/>
              </a:ext>
            </a:extLst>
          </p:cNvPr>
          <p:cNvSpPr txBox="1"/>
          <p:nvPr/>
        </p:nvSpPr>
        <p:spPr>
          <a:xfrm>
            <a:off x="10090548" y="6134365"/>
            <a:ext cx="1382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just">
              <a:spcAft>
                <a:spcPts val="400"/>
              </a:spcAft>
              <a:buClr>
                <a:srgbClr val="FF3300"/>
              </a:buClr>
            </a:pPr>
            <a:r>
              <a:rPr lang="fr-MA" sz="1800" b="1" dirty="0">
                <a:solidFill>
                  <a:srgbClr val="C00000"/>
                </a:solidFill>
                <a:latin typeface="+mj-lt"/>
              </a:rPr>
              <a:t>{1,2,3,4}</a:t>
            </a:r>
            <a:endParaRPr lang="fr-MA" sz="18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90514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EE323E-EF76-4AF8-9D9E-ADE22D55E9A3}"/>
              </a:ext>
            </a:extLst>
          </p:cNvPr>
          <p:cNvSpPr txBox="1"/>
          <p:nvPr/>
        </p:nvSpPr>
        <p:spPr>
          <a:xfrm>
            <a:off x="42865" y="600348"/>
            <a:ext cx="4300538" cy="30264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b="1" dirty="0">
                <a:latin typeface="+mj-lt"/>
              </a:rPr>
              <a:t>Techniques pour faire la </a:t>
            </a:r>
            <a:r>
              <a:rPr lang="fr-MA" sz="2000" b="1" dirty="0" err="1">
                <a:latin typeface="+mj-lt"/>
              </a:rPr>
              <a:t>regression</a:t>
            </a:r>
            <a:r>
              <a:rPr lang="fr-MA" sz="2000" b="1" dirty="0">
                <a:latin typeface="+mj-lt"/>
              </a:rPr>
              <a:t>:</a:t>
            </a:r>
            <a:endParaRPr lang="fr-MA" b="1" dirty="0">
              <a:latin typeface="+mj-lt"/>
            </a:endParaRP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  <a:latin typeface="+mj-lt"/>
              </a:rPr>
              <a:t>Simple </a:t>
            </a:r>
            <a:r>
              <a:rPr lang="fr-MA" dirty="0" err="1">
                <a:solidFill>
                  <a:srgbClr val="FF3300"/>
                </a:solidFill>
                <a:latin typeface="+mj-lt"/>
              </a:rPr>
              <a:t>Linear</a:t>
            </a:r>
            <a:r>
              <a:rPr lang="fr-MA" dirty="0">
                <a:solidFill>
                  <a:srgbClr val="FF3300"/>
                </a:solidFill>
                <a:latin typeface="+mj-lt"/>
              </a:rPr>
              <a:t> </a:t>
            </a:r>
            <a:r>
              <a:rPr lang="fr-MA" dirty="0" err="1">
                <a:solidFill>
                  <a:srgbClr val="FF3300"/>
                </a:solidFill>
                <a:latin typeface="+mj-lt"/>
              </a:rPr>
              <a:t>regression</a:t>
            </a:r>
            <a:endParaRPr lang="fr-MA" dirty="0">
              <a:solidFill>
                <a:srgbClr val="FF3300"/>
              </a:solidFill>
              <a:latin typeface="+mj-lt"/>
            </a:endParaRP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  <a:latin typeface="+mj-lt"/>
              </a:rPr>
              <a:t>Multi variables </a:t>
            </a:r>
            <a:r>
              <a:rPr lang="fr-MA" dirty="0" err="1">
                <a:solidFill>
                  <a:srgbClr val="FF3300"/>
                </a:solidFill>
                <a:latin typeface="+mj-lt"/>
              </a:rPr>
              <a:t>regression</a:t>
            </a:r>
            <a:endParaRPr lang="fr-MA" dirty="0">
              <a:solidFill>
                <a:srgbClr val="FF3300"/>
              </a:solidFill>
              <a:latin typeface="+mj-lt"/>
            </a:endParaRP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  <a:latin typeface="+mj-lt"/>
              </a:rPr>
              <a:t>Neural Network </a:t>
            </a:r>
            <a:r>
              <a:rPr lang="fr-MA" dirty="0" err="1">
                <a:solidFill>
                  <a:srgbClr val="FF3300"/>
                </a:solidFill>
                <a:latin typeface="+mj-lt"/>
              </a:rPr>
              <a:t>Regression</a:t>
            </a:r>
            <a:endParaRPr lang="fr-MA" dirty="0">
              <a:solidFill>
                <a:srgbClr val="FF3300"/>
              </a:solidFill>
              <a:latin typeface="+mj-lt"/>
            </a:endParaRP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Support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Vector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Machine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Regression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Decision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Tree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Regression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Random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Forest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Regression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…</a:t>
            </a: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1A625B-76E2-4B28-8A6F-1D71B03AB268}"/>
              </a:ext>
            </a:extLst>
          </p:cNvPr>
          <p:cNvSpPr txBox="1"/>
          <p:nvPr/>
        </p:nvSpPr>
        <p:spPr>
          <a:xfrm>
            <a:off x="5167314" y="600348"/>
            <a:ext cx="5019673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b="1" dirty="0">
                <a:latin typeface="+mj-lt"/>
              </a:rPr>
              <a:t>Techniques pour faire la classification:</a:t>
            </a: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  <a:latin typeface="+mj-lt"/>
              </a:rPr>
              <a:t>Simple </a:t>
            </a:r>
            <a:r>
              <a:rPr lang="fr-MA" dirty="0" err="1">
                <a:solidFill>
                  <a:srgbClr val="FF3300"/>
                </a:solidFill>
                <a:latin typeface="+mj-lt"/>
              </a:rPr>
              <a:t>Logistic</a:t>
            </a:r>
            <a:r>
              <a:rPr lang="fr-MA" dirty="0">
                <a:solidFill>
                  <a:srgbClr val="FF3300"/>
                </a:solidFill>
                <a:latin typeface="+mj-lt"/>
              </a:rPr>
              <a:t> </a:t>
            </a:r>
            <a:r>
              <a:rPr lang="fr-MA" dirty="0" err="1">
                <a:solidFill>
                  <a:srgbClr val="FF3300"/>
                </a:solidFill>
                <a:latin typeface="+mj-lt"/>
              </a:rPr>
              <a:t>regression</a:t>
            </a:r>
            <a:endParaRPr lang="fr-MA" dirty="0">
              <a:solidFill>
                <a:srgbClr val="FF3300"/>
              </a:solidFill>
              <a:latin typeface="+mj-lt"/>
            </a:endParaRP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  <a:latin typeface="+mj-lt"/>
              </a:rPr>
              <a:t>Multiple </a:t>
            </a:r>
            <a:r>
              <a:rPr lang="fr-MA" dirty="0" err="1">
                <a:solidFill>
                  <a:srgbClr val="FF3300"/>
                </a:solidFill>
                <a:latin typeface="+mj-lt"/>
              </a:rPr>
              <a:t>logistic</a:t>
            </a:r>
            <a:r>
              <a:rPr lang="fr-MA" dirty="0">
                <a:solidFill>
                  <a:srgbClr val="FF3300"/>
                </a:solidFill>
                <a:latin typeface="+mj-lt"/>
              </a:rPr>
              <a:t> </a:t>
            </a:r>
            <a:r>
              <a:rPr lang="fr-MA" dirty="0" err="1">
                <a:solidFill>
                  <a:srgbClr val="FF3300"/>
                </a:solidFill>
                <a:latin typeface="+mj-lt"/>
              </a:rPr>
              <a:t>regression</a:t>
            </a:r>
            <a:endParaRPr lang="fr-MA" dirty="0">
              <a:solidFill>
                <a:srgbClr val="FF3300"/>
              </a:solidFill>
              <a:latin typeface="+mj-lt"/>
            </a:endParaRP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Multinomial </a:t>
            </a:r>
            <a:r>
              <a:rPr lang="fr-MA" dirty="0" err="1">
                <a:solidFill>
                  <a:srgbClr val="FF3300"/>
                </a:solidFill>
              </a:rPr>
              <a:t>logistic</a:t>
            </a:r>
            <a:r>
              <a:rPr lang="fr-MA" dirty="0">
                <a:solidFill>
                  <a:srgbClr val="FF3300"/>
                </a:solidFill>
              </a:rPr>
              <a:t> </a:t>
            </a:r>
            <a:r>
              <a:rPr lang="fr-MA" dirty="0" err="1">
                <a:solidFill>
                  <a:srgbClr val="FF3300"/>
                </a:solidFill>
              </a:rPr>
              <a:t>regression</a:t>
            </a:r>
            <a:endParaRPr lang="fr-MA" dirty="0">
              <a:solidFill>
                <a:srgbClr val="FF3300"/>
              </a:solidFill>
            </a:endParaRP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  <a:latin typeface="+mj-lt"/>
              </a:rPr>
              <a:t>Neural Network</a:t>
            </a: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latin typeface="+mj-lt"/>
              </a:rPr>
              <a:t>KNN</a:t>
            </a: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latin typeface="+mj-lt"/>
              </a:rPr>
              <a:t>Decision</a:t>
            </a:r>
            <a:r>
              <a:rPr lang="fr-MA" dirty="0">
                <a:latin typeface="+mj-lt"/>
              </a:rPr>
              <a:t> </a:t>
            </a:r>
            <a:r>
              <a:rPr lang="fr-MA" dirty="0" err="1">
                <a:latin typeface="+mj-lt"/>
              </a:rPr>
              <a:t>Tree</a:t>
            </a:r>
            <a:endParaRPr lang="fr-MA" dirty="0">
              <a:latin typeface="+mj-lt"/>
            </a:endParaRP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latin typeface="+mj-lt"/>
              </a:rPr>
              <a:t>Random</a:t>
            </a:r>
            <a:r>
              <a:rPr lang="fr-MA" dirty="0">
                <a:latin typeface="+mj-lt"/>
              </a:rPr>
              <a:t> Forest</a:t>
            </a: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latin typeface="+mj-lt"/>
              </a:rPr>
              <a:t>Support </a:t>
            </a:r>
            <a:r>
              <a:rPr lang="fr-MA" dirty="0" err="1">
                <a:latin typeface="+mj-lt"/>
              </a:rPr>
              <a:t>Vector</a:t>
            </a:r>
            <a:r>
              <a:rPr lang="fr-MA" dirty="0">
                <a:latin typeface="+mj-lt"/>
              </a:rPr>
              <a:t> Machine </a:t>
            </a:r>
            <a:r>
              <a:rPr lang="fr-MA" dirty="0" err="1">
                <a:latin typeface="+mj-lt"/>
              </a:rPr>
              <a:t>Regression</a:t>
            </a:r>
            <a:endParaRPr lang="fr-MA" dirty="0">
              <a:latin typeface="+mj-lt"/>
            </a:endParaRP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latin typeface="+mj-lt"/>
              </a:rPr>
              <a:t>…</a:t>
            </a:r>
          </a:p>
          <a:p>
            <a:pPr marL="540000" lvl="1" indent="-216000" algn="just"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0387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/>
          <p:cNvCxnSpPr/>
          <p:nvPr/>
        </p:nvCxnSpPr>
        <p:spPr>
          <a:xfrm>
            <a:off x="0" y="708926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1" name="ZoneTexte 210"/>
          <p:cNvSpPr txBox="1"/>
          <p:nvPr/>
        </p:nvSpPr>
        <p:spPr>
          <a:xfrm>
            <a:off x="1255596" y="2805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Logistic</a:t>
            </a:r>
            <a:r>
              <a:rPr lang="fr-FR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FR" sz="3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Regression</a:t>
            </a: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1CAE46-DDC0-49D8-A4B5-4AB4ED69A613}"/>
              </a:ext>
            </a:extLst>
          </p:cNvPr>
          <p:cNvSpPr txBox="1"/>
          <p:nvPr/>
        </p:nvSpPr>
        <p:spPr>
          <a:xfrm>
            <a:off x="0" y="741002"/>
            <a:ext cx="121920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b="1" dirty="0" err="1">
                <a:latin typeface="+mj-lt"/>
              </a:rPr>
              <a:t>Logistic</a:t>
            </a:r>
            <a:r>
              <a:rPr lang="fr-MA" sz="2000" b="1" dirty="0">
                <a:latin typeface="+mj-lt"/>
              </a:rPr>
              <a:t> </a:t>
            </a:r>
            <a:r>
              <a:rPr lang="fr-MA" sz="2000" b="1" dirty="0" err="1">
                <a:latin typeface="+mj-lt"/>
              </a:rPr>
              <a:t>Regression</a:t>
            </a:r>
            <a:r>
              <a:rPr lang="fr-MA" sz="2000" b="1" dirty="0">
                <a:latin typeface="+mj-lt"/>
              </a:rPr>
              <a:t> </a:t>
            </a:r>
            <a:r>
              <a:rPr lang="fr-MA" sz="2000" b="1" dirty="0">
                <a:solidFill>
                  <a:srgbClr val="0070C0"/>
                </a:solidFill>
                <a:latin typeface="+mj-lt"/>
              </a:rPr>
              <a:t>est l’une des techniques de classification</a:t>
            </a:r>
          </a:p>
          <a:p>
            <a:pPr marL="285750" indent="-285750" algn="just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b="1" dirty="0">
                <a:latin typeface="+mj-lt"/>
              </a:rPr>
              <a:t>Elle appartient à la catégorie de l’apprentissage supervisé</a:t>
            </a:r>
          </a:p>
          <a:p>
            <a:pPr marL="285750" indent="-285750" algn="just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b="1" dirty="0">
                <a:latin typeface="+mj-lt"/>
              </a:rPr>
              <a:t>Approche prédictive</a:t>
            </a:r>
            <a:r>
              <a:rPr lang="fr-MA" sz="2000" dirty="0">
                <a:latin typeface="+mj-lt"/>
              </a:rPr>
              <a:t> </a:t>
            </a:r>
          </a:p>
          <a:p>
            <a:pPr algn="just">
              <a:spcAft>
                <a:spcPts val="1200"/>
              </a:spcAft>
              <a:buClr>
                <a:srgbClr val="FF3300"/>
              </a:buClr>
            </a:pPr>
            <a:r>
              <a:rPr lang="fr-MA" sz="2000" dirty="0">
                <a:latin typeface="+mj-lt"/>
              </a:rPr>
              <a:t>pour modéliser la relation entre une variable dépendante (</a:t>
            </a:r>
            <a:r>
              <a:rPr lang="fr-MA" sz="2000" b="1" dirty="0">
                <a:solidFill>
                  <a:srgbClr val="FF0000"/>
                </a:solidFill>
                <a:latin typeface="+mj-lt"/>
              </a:rPr>
              <a:t>y</a:t>
            </a:r>
            <a:r>
              <a:rPr lang="fr-MA" sz="2000" dirty="0">
                <a:latin typeface="+mj-lt"/>
              </a:rPr>
              <a:t>) et des variables indépendantes (</a:t>
            </a:r>
            <a:r>
              <a:rPr lang="fr-MA" sz="2000" dirty="0">
                <a:solidFill>
                  <a:srgbClr val="0070C0"/>
                </a:solidFill>
                <a:latin typeface="+mj-lt"/>
              </a:rPr>
              <a:t>X</a:t>
            </a:r>
            <a:r>
              <a:rPr lang="fr-MA" sz="2000" baseline="-25000" dirty="0">
                <a:solidFill>
                  <a:srgbClr val="0070C0"/>
                </a:solidFill>
                <a:latin typeface="+mj-lt"/>
              </a:rPr>
              <a:t>i</a:t>
            </a:r>
            <a:r>
              <a:rPr lang="fr-MA" sz="2000" dirty="0">
                <a:latin typeface="+mj-lt"/>
              </a:rPr>
              <a:t>)</a:t>
            </a:r>
          </a:p>
          <a:p>
            <a:pPr marL="742950" lvl="1" indent="-285750" algn="just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latin typeface="+mj-lt"/>
              </a:rPr>
              <a:t>pour i=1..m, ou m est le nombre de variables indépendantes</a:t>
            </a:r>
          </a:p>
          <a:p>
            <a:pPr marL="742950" lvl="1" indent="-285750" algn="just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latin typeface="+mj-lt"/>
              </a:rPr>
              <a:t>Les variables indépendantes sont appelées aussi </a:t>
            </a:r>
            <a:r>
              <a:rPr lang="fr-MA" sz="2000" dirty="0" err="1">
                <a:latin typeface="+mj-lt"/>
              </a:rPr>
              <a:t>features</a:t>
            </a:r>
            <a:r>
              <a:rPr lang="fr-MA" sz="2000" dirty="0">
                <a:latin typeface="+mj-lt"/>
              </a:rPr>
              <a:t>, </a:t>
            </a:r>
            <a:r>
              <a:rPr lang="fr-MA" sz="2000" dirty="0" err="1">
                <a:latin typeface="+mj-lt"/>
              </a:rPr>
              <a:t>predictors</a:t>
            </a:r>
            <a:r>
              <a:rPr lang="fr-MA" sz="2000" dirty="0">
                <a:latin typeface="+mj-lt"/>
              </a:rPr>
              <a:t> ou inputs</a:t>
            </a:r>
          </a:p>
          <a:p>
            <a:pPr marL="742950" lvl="1" indent="-285750" algn="just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latin typeface="+mj-lt"/>
              </a:rPr>
              <a:t>La variable dépendante est aussi appelée output ou </a:t>
            </a:r>
            <a:r>
              <a:rPr lang="fr-MA" sz="2000" dirty="0" err="1">
                <a:latin typeface="+mj-lt"/>
              </a:rPr>
              <a:t>response</a:t>
            </a:r>
            <a:endParaRPr lang="fr-MA" sz="2000" dirty="0">
              <a:latin typeface="+mj-lt"/>
            </a:endParaRPr>
          </a:p>
          <a:p>
            <a:pPr marL="285750" indent="-285750" algn="just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000" dirty="0">
                <a:latin typeface="+mj-lt"/>
              </a:rPr>
              <a:t>Un </a:t>
            </a:r>
            <a:r>
              <a:rPr lang="fr-FR" sz="2000" b="1" dirty="0">
                <a:solidFill>
                  <a:srgbClr val="FF3300"/>
                </a:solidFill>
                <a:latin typeface="+mj-lt"/>
              </a:rPr>
              <a:t>modèle</a:t>
            </a:r>
            <a:r>
              <a:rPr lang="fr-FR" sz="2000" dirty="0">
                <a:latin typeface="+mj-lt"/>
              </a:rPr>
              <a:t> de régression est utilisé pour prédire </a:t>
            </a:r>
            <a:r>
              <a:rPr lang="fr-FR" sz="2000" b="1" dirty="0">
                <a:solidFill>
                  <a:srgbClr val="FF0000"/>
                </a:solidFill>
                <a:latin typeface="+mj-lt"/>
              </a:rPr>
              <a:t>une probabilité d’une variable catégorielle</a:t>
            </a:r>
          </a:p>
        </p:txBody>
      </p:sp>
    </p:spTree>
    <p:extLst>
      <p:ext uri="{BB962C8B-B14F-4D97-AF65-F5344CB8AC3E}">
        <p14:creationId xmlns:p14="http://schemas.microsoft.com/office/powerpoint/2010/main" val="1249166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CC1148-0493-4183-8E4E-CBE66B47433F}"/>
              </a:ext>
            </a:extLst>
          </p:cNvPr>
          <p:cNvSpPr txBox="1"/>
          <p:nvPr/>
        </p:nvSpPr>
        <p:spPr>
          <a:xfrm>
            <a:off x="0" y="14285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/>
              <a:t>Représentation mathématique du modèle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F254D3-E1AC-4504-90A9-A797E92C2744}"/>
                  </a:ext>
                </a:extLst>
              </p:cNvPr>
              <p:cNvSpPr txBox="1"/>
              <p:nvPr/>
            </p:nvSpPr>
            <p:spPr>
              <a:xfrm>
                <a:off x="1723999" y="1164024"/>
                <a:ext cx="4191026" cy="96430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6565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3600" b="1" dirty="0">
                    <a:solidFill>
                      <a:srgbClr val="FF0000"/>
                    </a:solidFill>
                    <a:latin typeface="Helvetica Neue"/>
                  </a:rPr>
                  <a:t>p(x) </a:t>
                </a:r>
                <a:r>
                  <a:rPr lang="fr-FR" sz="36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sz="36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F254D3-E1AC-4504-90A9-A797E92C2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999" y="1164024"/>
                <a:ext cx="4191026" cy="964303"/>
              </a:xfrm>
              <a:prstGeom prst="rect">
                <a:avLst/>
              </a:prstGeom>
              <a:blipFill>
                <a:blip r:embed="rId2"/>
                <a:stretch>
                  <a:fillRect l="-4354" b="-1875"/>
                </a:stretch>
              </a:blipFill>
              <a:ln>
                <a:solidFill>
                  <a:srgbClr val="FF6565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392D46-7296-4B22-B995-B72885F092E6}"/>
                  </a:ext>
                </a:extLst>
              </p:cNvPr>
              <p:cNvSpPr txBox="1"/>
              <p:nvPr/>
            </p:nvSpPr>
            <p:spPr>
              <a:xfrm>
                <a:off x="1723998" y="3230053"/>
                <a:ext cx="9405966" cy="573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fr-MA" sz="3200" b="1" i="1" smtClean="0">
                              <a:solidFill>
                                <a:srgbClr val="0083E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sz="3200" b="1" i="1" smtClean="0">
                              <a:solidFill>
                                <a:srgbClr val="0083E6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𝒃𝒊𝒂𝒔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MA" sz="3200" b="1" i="1" baseline="-25000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fr-MA" sz="3200" b="1" i="1" baseline="-25000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MA" sz="3200" b="1" i="1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3200" b="1" i="1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MA" sz="3200" b="1" i="1" baseline="-25000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MA" sz="3200" b="1" i="1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3200" b="1" i="1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fr-MA" sz="3200" b="1" i="1" baseline="-25000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MA" sz="3200" b="1" i="1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…+</m:t>
                      </m:r>
                      <m:r>
                        <a:rPr lang="fr-MA" sz="3200" b="1" i="1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MA" sz="3200" b="1" i="1" baseline="-25000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fr-MA" sz="3200" b="1" i="1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3200" b="1" i="1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𝑿𝒎</m:t>
                      </m:r>
                    </m:oMath>
                  </m:oMathPara>
                </a14:m>
                <a:endParaRPr lang="fr-MA" sz="3200" baseline="-25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392D46-7296-4B22-B995-B72885F09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998" y="3230053"/>
                <a:ext cx="9405966" cy="5734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BF04A996-D602-4CB6-99AA-6543EECFDAF8}"/>
              </a:ext>
            </a:extLst>
          </p:cNvPr>
          <p:cNvSpPr/>
          <p:nvPr/>
        </p:nvSpPr>
        <p:spPr>
          <a:xfrm>
            <a:off x="185724" y="1300163"/>
            <a:ext cx="857250" cy="628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AB2B1E-34B1-45C9-BABD-6AD1F38E9D4F}"/>
              </a:ext>
            </a:extLst>
          </p:cNvPr>
          <p:cNvSpPr/>
          <p:nvPr/>
        </p:nvSpPr>
        <p:spPr>
          <a:xfrm>
            <a:off x="185724" y="3189290"/>
            <a:ext cx="857250" cy="628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8993C8-5C00-463A-88E4-C5DB6200C503}"/>
              </a:ext>
            </a:extLst>
          </p:cNvPr>
          <p:cNvSpPr txBox="1"/>
          <p:nvPr/>
        </p:nvSpPr>
        <p:spPr>
          <a:xfrm>
            <a:off x="400050" y="4829175"/>
            <a:ext cx="10972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>
                <a:solidFill>
                  <a:srgbClr val="FF3300"/>
                </a:solidFill>
              </a:rPr>
              <a:t>NOTE:</a:t>
            </a:r>
          </a:p>
          <a:p>
            <a:pPr marL="342900" indent="-3429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400" b="1" dirty="0"/>
              <a:t>f(x) est similaire au modèle de la régression linéaire</a:t>
            </a:r>
          </a:p>
          <a:p>
            <a:pPr marL="342900" indent="-3429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400" b="1" dirty="0"/>
              <a:t>Elle est appelée </a:t>
            </a:r>
            <a:r>
              <a:rPr lang="fr-MA" sz="2400" b="1" dirty="0" err="1"/>
              <a:t>logit</a:t>
            </a:r>
            <a:r>
              <a:rPr lang="fr-MA" sz="2400" b="1" dirty="0"/>
              <a:t> </a:t>
            </a:r>
            <a:r>
              <a:rPr lang="fr-MA" sz="2400" b="1" dirty="0" err="1"/>
              <a:t>function</a:t>
            </a:r>
            <a:endParaRPr lang="fr-MA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FA1E9C-9A7B-4B5C-86B5-EDA3F8970653}"/>
              </a:ext>
            </a:extLst>
          </p:cNvPr>
          <p:cNvSpPr txBox="1"/>
          <p:nvPr/>
        </p:nvSpPr>
        <p:spPr>
          <a:xfrm>
            <a:off x="6096001" y="915465"/>
            <a:ext cx="609599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Fonction </a:t>
            </a:r>
            <a:r>
              <a:rPr lang="fr-MA" dirty="0" err="1">
                <a:solidFill>
                  <a:srgbClr val="FF3300"/>
                </a:solidFill>
              </a:rPr>
              <a:t>sigmoid</a:t>
            </a:r>
            <a:r>
              <a:rPr lang="fr-MA" dirty="0">
                <a:solidFill>
                  <a:srgbClr val="FF3300"/>
                </a:solidFill>
              </a:rPr>
              <a:t> dont les valeurs sont entre 0 et 1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Donc pratique pour la classification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Appelé aussi fonction logistique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FF3300"/>
                </a:solidFill>
              </a:rPr>
              <a:t>p(x) est une probabilité</a:t>
            </a:r>
          </a:p>
        </p:txBody>
      </p:sp>
    </p:spTree>
    <p:extLst>
      <p:ext uri="{BB962C8B-B14F-4D97-AF65-F5344CB8AC3E}">
        <p14:creationId xmlns:p14="http://schemas.microsoft.com/office/powerpoint/2010/main" val="92116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693B51-54A6-447D-93DB-6107AF6B80A1}"/>
              </a:ext>
            </a:extLst>
          </p:cNvPr>
          <p:cNvSpPr txBox="1"/>
          <p:nvPr/>
        </p:nvSpPr>
        <p:spPr>
          <a:xfrm>
            <a:off x="0" y="14285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Simple </a:t>
            </a:r>
            <a:r>
              <a:rPr lang="fr-MA" sz="3200" b="1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logistic</a:t>
            </a:r>
            <a:r>
              <a:rPr lang="fr-MA" sz="32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fr-MA" sz="3200" b="1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regression</a:t>
            </a:r>
            <a:endParaRPr lang="fr-MA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D3D4BB-6106-4BCC-BF00-7B79430197AF}"/>
                  </a:ext>
                </a:extLst>
              </p:cNvPr>
              <p:cNvSpPr txBox="1"/>
              <p:nvPr/>
            </p:nvSpPr>
            <p:spPr>
              <a:xfrm>
                <a:off x="1723999" y="1164024"/>
                <a:ext cx="3633814" cy="96430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6565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3600" b="1" dirty="0">
                    <a:solidFill>
                      <a:srgbClr val="FF0000"/>
                    </a:solidFill>
                    <a:latin typeface="Helvetica Neue"/>
                  </a:rPr>
                  <a:t>p(x) </a:t>
                </a:r>
                <a:r>
                  <a:rPr lang="fr-FR" sz="36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sz="36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D3D4BB-6106-4BCC-BF00-7B7943019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999" y="1164024"/>
                <a:ext cx="3633814" cy="964303"/>
              </a:xfrm>
              <a:prstGeom prst="rect">
                <a:avLst/>
              </a:prstGeom>
              <a:blipFill>
                <a:blip r:embed="rId2"/>
                <a:stretch>
                  <a:fillRect l="-5017" b="-1875"/>
                </a:stretch>
              </a:blipFill>
              <a:ln>
                <a:solidFill>
                  <a:srgbClr val="FF6565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0AE1AD-22D3-4385-9B94-C6799C8E8895}"/>
                  </a:ext>
                </a:extLst>
              </p:cNvPr>
              <p:cNvSpPr txBox="1"/>
              <p:nvPr/>
            </p:nvSpPr>
            <p:spPr>
              <a:xfrm>
                <a:off x="1723998" y="3230053"/>
                <a:ext cx="4191026" cy="573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fr-MA" sz="3200" b="1" i="1" smtClean="0">
                              <a:solidFill>
                                <a:srgbClr val="0083E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sz="3200" b="1" i="1" smtClean="0">
                              <a:solidFill>
                                <a:srgbClr val="0083E6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𝒃𝒊𝒂𝒔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MA" sz="3200" b="1" i="1" baseline="-25000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fr-MA" sz="3200" baseline="-25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0AE1AD-22D3-4385-9B94-C6799C8E8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998" y="3230053"/>
                <a:ext cx="4191026" cy="5734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1F9A3454-85D3-48E7-B082-8ED4EE911F24}"/>
              </a:ext>
            </a:extLst>
          </p:cNvPr>
          <p:cNvSpPr/>
          <p:nvPr/>
        </p:nvSpPr>
        <p:spPr>
          <a:xfrm>
            <a:off x="185724" y="1300163"/>
            <a:ext cx="857250" cy="628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9029AF8-74E6-44DB-BFA8-5F931BB7F9C6}"/>
              </a:ext>
            </a:extLst>
          </p:cNvPr>
          <p:cNvSpPr/>
          <p:nvPr/>
        </p:nvSpPr>
        <p:spPr>
          <a:xfrm>
            <a:off x="185724" y="3189290"/>
            <a:ext cx="857250" cy="628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B29DE0-1554-40A7-B9DD-5C9BDA9A07F2}"/>
              </a:ext>
            </a:extLst>
          </p:cNvPr>
          <p:cNvSpPr txBox="1"/>
          <p:nvPr/>
        </p:nvSpPr>
        <p:spPr>
          <a:xfrm>
            <a:off x="7586663" y="3385079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Nombre de </a:t>
            </a:r>
            <a:r>
              <a:rPr lang="fr-MA" b="1" dirty="0" err="1"/>
              <a:t>features</a:t>
            </a:r>
            <a:r>
              <a:rPr lang="fr-MA" b="1" dirty="0"/>
              <a:t>, m=1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8E8561-3416-4B1F-A703-A45DE8708FF1}"/>
                  </a:ext>
                </a:extLst>
              </p:cNvPr>
              <p:cNvSpPr txBox="1"/>
              <p:nvPr/>
            </p:nvSpPr>
            <p:spPr>
              <a:xfrm>
                <a:off x="2024037" y="4905206"/>
                <a:ext cx="4191026" cy="96430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6565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3600" b="1" dirty="0">
                    <a:solidFill>
                      <a:srgbClr val="FF0000"/>
                    </a:solidFill>
                    <a:latin typeface="Helvetica Neue"/>
                  </a:rPr>
                  <a:t>p(x) </a:t>
                </a:r>
                <a:r>
                  <a:rPr lang="fr-FR" sz="36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𝒃𝒊𝒂𝒔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p>
                        </m:sSup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sz="36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8E8561-3416-4B1F-A703-A45DE8708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037" y="4905206"/>
                <a:ext cx="4191026" cy="964303"/>
              </a:xfrm>
              <a:prstGeom prst="rect">
                <a:avLst/>
              </a:prstGeom>
              <a:blipFill>
                <a:blip r:embed="rId4"/>
                <a:stretch>
                  <a:fillRect l="-4203" b="-1875"/>
                </a:stretch>
              </a:blipFill>
              <a:ln>
                <a:solidFill>
                  <a:srgbClr val="FF6565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06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0DCC55-8214-4F94-B96F-35649F6387F0}"/>
              </a:ext>
            </a:extLst>
          </p:cNvPr>
          <p:cNvSpPr txBox="1"/>
          <p:nvPr/>
        </p:nvSpPr>
        <p:spPr>
          <a:xfrm>
            <a:off x="275034" y="1024243"/>
            <a:ext cx="5682202" cy="1477328"/>
          </a:xfrm>
          <a:prstGeom prst="rect">
            <a:avLst/>
          </a:prstGeom>
          <a:solidFill>
            <a:srgbClr val="FFFFCC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dirty="0">
                <a:solidFill>
                  <a:srgbClr val="00B050"/>
                </a:solidFill>
              </a:rPr>
              <a:t>#1. définir la fonction</a:t>
            </a:r>
          </a:p>
          <a:p>
            <a:r>
              <a:rPr lang="fr-MA" dirty="0"/>
              <a:t>import </a:t>
            </a:r>
            <a:r>
              <a:rPr lang="fr-MA" dirty="0" err="1"/>
              <a:t>numpy</a:t>
            </a:r>
            <a:r>
              <a:rPr lang="fr-MA" dirty="0"/>
              <a:t> as </a:t>
            </a:r>
            <a:r>
              <a:rPr lang="fr-MA" dirty="0" err="1"/>
              <a:t>np</a:t>
            </a:r>
            <a:endParaRPr lang="fr-MA" dirty="0"/>
          </a:p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segmoid</a:t>
            </a:r>
            <a:r>
              <a:rPr lang="fr-MA" dirty="0"/>
              <a:t>(X):</a:t>
            </a:r>
          </a:p>
          <a:p>
            <a:r>
              <a:rPr lang="fr-MA" dirty="0"/>
              <a:t>    return 1/(1 + </a:t>
            </a:r>
            <a:r>
              <a:rPr lang="fr-MA" dirty="0" err="1"/>
              <a:t>np.exp</a:t>
            </a:r>
            <a:r>
              <a:rPr lang="fr-MA" dirty="0"/>
              <a:t>(-x))</a:t>
            </a:r>
          </a:p>
          <a:p>
            <a:r>
              <a:rPr lang="fr-MA" dirty="0">
                <a:solidFill>
                  <a:srgbClr val="FF0000"/>
                </a:solidFill>
              </a:rPr>
              <a:t>#si X est un vecteur de taille n, retourner n probabilité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0D988-EF85-4F89-9C9D-C4C4113AB953}"/>
              </a:ext>
            </a:extLst>
          </p:cNvPr>
          <p:cNvSpPr txBox="1"/>
          <p:nvPr/>
        </p:nvSpPr>
        <p:spPr>
          <a:xfrm>
            <a:off x="275034" y="2734371"/>
            <a:ext cx="5682201" cy="1200329"/>
          </a:xfrm>
          <a:prstGeom prst="rect">
            <a:avLst/>
          </a:prstGeom>
          <a:solidFill>
            <a:srgbClr val="FFFFCC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>
            <a:defPPr>
              <a:defRPr lang="fr-FR"/>
            </a:defPPr>
          </a:lstStyle>
          <a:p>
            <a:r>
              <a:rPr lang="fr-MA" dirty="0">
                <a:solidFill>
                  <a:srgbClr val="00B050"/>
                </a:solidFill>
              </a:rPr>
              <a:t>#2. créer des points</a:t>
            </a:r>
            <a:endParaRPr lang="fr-MA" dirty="0"/>
          </a:p>
          <a:p>
            <a:r>
              <a:rPr lang="fr-MA" dirty="0"/>
              <a:t>x=</a:t>
            </a:r>
            <a:r>
              <a:rPr lang="fr-MA" dirty="0" err="1"/>
              <a:t>np.linspace</a:t>
            </a:r>
            <a:r>
              <a:rPr lang="fr-MA" dirty="0"/>
              <a:t>(-10, 10, 50) </a:t>
            </a:r>
          </a:p>
          <a:p>
            <a:r>
              <a:rPr lang="fr-MA" dirty="0"/>
              <a:t>y=</a:t>
            </a:r>
            <a:r>
              <a:rPr lang="fr-MA" dirty="0" err="1"/>
              <a:t>segmoid</a:t>
            </a:r>
            <a:r>
              <a:rPr lang="fr-MA" dirty="0"/>
              <a:t>(x)</a:t>
            </a:r>
          </a:p>
          <a:p>
            <a:r>
              <a:rPr lang="fr-MA" dirty="0">
                <a:solidFill>
                  <a:srgbClr val="FF0000"/>
                </a:solidFill>
              </a:rPr>
              <a:t>#y est un vecteur avec 50 valeurs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564F3-2F7F-48BD-A5D9-C85B1EEBF3BA}"/>
              </a:ext>
            </a:extLst>
          </p:cNvPr>
          <p:cNvSpPr txBox="1"/>
          <p:nvPr/>
        </p:nvSpPr>
        <p:spPr>
          <a:xfrm>
            <a:off x="275035" y="4188443"/>
            <a:ext cx="5682199" cy="923330"/>
          </a:xfrm>
          <a:prstGeom prst="rect">
            <a:avLst/>
          </a:prstGeom>
          <a:solidFill>
            <a:srgbClr val="FFFFCC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dirty="0">
                <a:solidFill>
                  <a:srgbClr val="00B050"/>
                </a:solidFill>
              </a:rPr>
              <a:t>#3. plot points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matplotlib.pyplot</a:t>
            </a:r>
            <a:r>
              <a:rPr lang="fr-MA" dirty="0"/>
              <a:t> as </a:t>
            </a:r>
            <a:r>
              <a:rPr lang="fr-MA" dirty="0" err="1"/>
              <a:t>plt</a:t>
            </a:r>
            <a:endParaRPr lang="fr-MA" dirty="0"/>
          </a:p>
          <a:p>
            <a:r>
              <a:rPr lang="fr-MA" dirty="0" err="1"/>
              <a:t>plt.plot</a:t>
            </a:r>
            <a:r>
              <a:rPr lang="fr-MA" dirty="0"/>
              <a:t>(</a:t>
            </a:r>
            <a:r>
              <a:rPr lang="fr-MA" dirty="0" err="1"/>
              <a:t>x,y</a:t>
            </a:r>
            <a:r>
              <a:rPr lang="fr-MA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4D59EA-0A5C-4654-BBB6-B7103ADF6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127" y="985821"/>
            <a:ext cx="5457826" cy="360477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FC57B8-3EE0-4B6A-AEFD-0D16BAB565C9}"/>
              </a:ext>
            </a:extLst>
          </p:cNvPr>
          <p:cNvCxnSpPr>
            <a:cxnSpLocks/>
          </p:cNvCxnSpPr>
          <p:nvPr/>
        </p:nvCxnSpPr>
        <p:spPr>
          <a:xfrm>
            <a:off x="7074565" y="2673902"/>
            <a:ext cx="4860000" cy="0"/>
          </a:xfrm>
          <a:prstGeom prst="line">
            <a:avLst/>
          </a:prstGeom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4D310F-6365-4DF3-803B-6CDC3E718BFD}"/>
              </a:ext>
            </a:extLst>
          </p:cNvPr>
          <p:cNvCxnSpPr>
            <a:cxnSpLocks/>
          </p:cNvCxnSpPr>
          <p:nvPr/>
        </p:nvCxnSpPr>
        <p:spPr>
          <a:xfrm flipV="1">
            <a:off x="9490277" y="1121328"/>
            <a:ext cx="0" cy="3168000"/>
          </a:xfrm>
          <a:prstGeom prst="line">
            <a:avLst/>
          </a:prstGeom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6F7E486-A501-4E60-9AF5-9B1CDA1E6DD3}"/>
              </a:ext>
            </a:extLst>
          </p:cNvPr>
          <p:cNvSpPr txBox="1"/>
          <p:nvPr/>
        </p:nvSpPr>
        <p:spPr>
          <a:xfrm>
            <a:off x="0" y="14285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/>
              <a:t>Représentation graphique de la fonction </a:t>
            </a:r>
            <a:r>
              <a:rPr lang="fr-MA" sz="3200" b="1" dirty="0" err="1"/>
              <a:t>sigmoid</a:t>
            </a:r>
            <a:endParaRPr lang="fr-MA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BAAE4-1A37-40FD-A155-27474D8BAC54}"/>
              </a:ext>
            </a:extLst>
          </p:cNvPr>
          <p:cNvSpPr txBox="1"/>
          <p:nvPr/>
        </p:nvSpPr>
        <p:spPr>
          <a:xfrm>
            <a:off x="6622127" y="2506373"/>
            <a:ext cx="60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0.5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D5CADA-4E08-4188-AE4E-F537F2A969DD}"/>
              </a:ext>
            </a:extLst>
          </p:cNvPr>
          <p:cNvSpPr/>
          <p:nvPr/>
        </p:nvSpPr>
        <p:spPr>
          <a:xfrm>
            <a:off x="9258062" y="4200522"/>
            <a:ext cx="121568" cy="142875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D229E0A-53A3-46E4-BDB7-66AF008865FB}"/>
              </a:ext>
            </a:extLst>
          </p:cNvPr>
          <p:cNvSpPr/>
          <p:nvPr/>
        </p:nvSpPr>
        <p:spPr>
          <a:xfrm>
            <a:off x="10155169" y="4191933"/>
            <a:ext cx="121568" cy="142875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C3E27E-B1CB-40D3-82E4-8DA1ED9BAD06}"/>
              </a:ext>
            </a:extLst>
          </p:cNvPr>
          <p:cNvSpPr txBox="1"/>
          <p:nvPr/>
        </p:nvSpPr>
        <p:spPr>
          <a:xfrm>
            <a:off x="9091500" y="4448562"/>
            <a:ext cx="57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FEA0AC-18B5-4A00-9704-BDA11C7D1B72}"/>
              </a:ext>
            </a:extLst>
          </p:cNvPr>
          <p:cNvSpPr txBox="1"/>
          <p:nvPr/>
        </p:nvSpPr>
        <p:spPr>
          <a:xfrm>
            <a:off x="10083302" y="4472924"/>
            <a:ext cx="396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39891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DC310F-8BFB-4460-90C3-FBA6666550BD}"/>
              </a:ext>
            </a:extLst>
          </p:cNvPr>
          <p:cNvSpPr txBox="1"/>
          <p:nvPr/>
        </p:nvSpPr>
        <p:spPr>
          <a:xfrm>
            <a:off x="0" y="2351782"/>
            <a:ext cx="12191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/>
              <a:t>Comment exploiter cette fonction </a:t>
            </a:r>
            <a:br>
              <a:rPr lang="fr-MA" sz="3200" b="1" dirty="0"/>
            </a:br>
            <a:r>
              <a:rPr lang="fr-MA" sz="3200" b="1" dirty="0"/>
              <a:t>pour faire la prédiction?</a:t>
            </a:r>
          </a:p>
        </p:txBody>
      </p:sp>
    </p:spTree>
    <p:extLst>
      <p:ext uri="{BB962C8B-B14F-4D97-AF65-F5344CB8AC3E}">
        <p14:creationId xmlns:p14="http://schemas.microsoft.com/office/powerpoint/2010/main" val="2826386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693B51-54A6-447D-93DB-6107AF6B80A1}"/>
              </a:ext>
            </a:extLst>
          </p:cNvPr>
          <p:cNvSpPr txBox="1"/>
          <p:nvPr/>
        </p:nvSpPr>
        <p:spPr>
          <a:xfrm>
            <a:off x="0" y="14285"/>
            <a:ext cx="12191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Simple </a:t>
            </a:r>
            <a:r>
              <a:rPr lang="fr-MA" sz="3200" b="1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logistic</a:t>
            </a:r>
            <a:r>
              <a:rPr lang="fr-MA" sz="32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fr-MA" sz="3200" b="1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regression</a:t>
            </a:r>
            <a:endParaRPr lang="fr-MA" sz="3200" b="1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ctr"/>
            <a:r>
              <a:rPr lang="fr-MA" sz="3200" b="1" dirty="0">
                <a:solidFill>
                  <a:srgbClr val="0070C0"/>
                </a:solidFill>
                <a:latin typeface="source sans pro" panose="020B0503030403020204" pitchFamily="34" charset="0"/>
              </a:rPr>
              <a:t>Rappel</a:t>
            </a:r>
            <a:endParaRPr lang="fr-MA" sz="32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D3D4BB-6106-4BCC-BF00-7B79430197AF}"/>
                  </a:ext>
                </a:extLst>
              </p:cNvPr>
              <p:cNvSpPr txBox="1"/>
              <p:nvPr/>
            </p:nvSpPr>
            <p:spPr>
              <a:xfrm>
                <a:off x="1723999" y="1435492"/>
                <a:ext cx="4191026" cy="96430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6565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3600" b="1" dirty="0">
                    <a:solidFill>
                      <a:srgbClr val="FF0000"/>
                    </a:solidFill>
                    <a:latin typeface="Helvetica Neue"/>
                  </a:rPr>
                  <a:t>p(x) </a:t>
                </a:r>
                <a:r>
                  <a:rPr lang="fr-FR" sz="36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sz="36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D3D4BB-6106-4BCC-BF00-7B7943019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999" y="1435492"/>
                <a:ext cx="4191026" cy="964303"/>
              </a:xfrm>
              <a:prstGeom prst="rect">
                <a:avLst/>
              </a:prstGeom>
              <a:blipFill>
                <a:blip r:embed="rId2"/>
                <a:stretch>
                  <a:fillRect l="-4354" b="-1242"/>
                </a:stretch>
              </a:blipFill>
              <a:ln>
                <a:solidFill>
                  <a:srgbClr val="FF6565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0AE1AD-22D3-4385-9B94-C6799C8E8895}"/>
                  </a:ext>
                </a:extLst>
              </p:cNvPr>
              <p:cNvSpPr txBox="1"/>
              <p:nvPr/>
            </p:nvSpPr>
            <p:spPr>
              <a:xfrm>
                <a:off x="1723998" y="3501521"/>
                <a:ext cx="9405966" cy="573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fr-MA" sz="3200" b="1" i="1" smtClean="0">
                              <a:solidFill>
                                <a:srgbClr val="0083E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sz="3200" b="1" i="1" smtClean="0">
                              <a:solidFill>
                                <a:srgbClr val="0083E6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𝒃𝒊𝒂𝒔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fr-MA" sz="3200" b="1" i="1" baseline="-25000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3200" b="1" i="1" smtClean="0">
                          <a:solidFill>
                            <a:srgbClr val="0083E6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fr-MA" sz="3200" baseline="-25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0AE1AD-22D3-4385-9B94-C6799C8E8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998" y="3501521"/>
                <a:ext cx="9405966" cy="5734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1F9A3454-85D3-48E7-B082-8ED4EE911F24}"/>
              </a:ext>
            </a:extLst>
          </p:cNvPr>
          <p:cNvSpPr/>
          <p:nvPr/>
        </p:nvSpPr>
        <p:spPr>
          <a:xfrm>
            <a:off x="185724" y="1571631"/>
            <a:ext cx="857250" cy="628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9029AF8-74E6-44DB-BFA8-5F931BB7F9C6}"/>
              </a:ext>
            </a:extLst>
          </p:cNvPr>
          <p:cNvSpPr/>
          <p:nvPr/>
        </p:nvSpPr>
        <p:spPr>
          <a:xfrm>
            <a:off x="185724" y="3460758"/>
            <a:ext cx="857250" cy="628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B29DE0-1554-40A7-B9DD-5C9BDA9A07F2}"/>
              </a:ext>
            </a:extLst>
          </p:cNvPr>
          <p:cNvSpPr txBox="1"/>
          <p:nvPr/>
        </p:nvSpPr>
        <p:spPr>
          <a:xfrm>
            <a:off x="7586663" y="3656547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Nombre de </a:t>
            </a:r>
            <a:r>
              <a:rPr lang="fr-MA" b="1" dirty="0" err="1"/>
              <a:t>features</a:t>
            </a:r>
            <a:r>
              <a:rPr lang="fr-MA" b="1" dirty="0"/>
              <a:t>, m=1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8E8561-3416-4B1F-A703-A45DE8708FF1}"/>
                  </a:ext>
                </a:extLst>
              </p:cNvPr>
              <p:cNvSpPr txBox="1"/>
              <p:nvPr/>
            </p:nvSpPr>
            <p:spPr>
              <a:xfrm>
                <a:off x="2024037" y="5176674"/>
                <a:ext cx="4191026" cy="96430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6565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3600" b="1" dirty="0">
                    <a:solidFill>
                      <a:srgbClr val="FF0000"/>
                    </a:solidFill>
                    <a:latin typeface="Helvetica Neue"/>
                  </a:rPr>
                  <a:t>p(x) </a:t>
                </a:r>
                <a:r>
                  <a:rPr lang="fr-FR" sz="36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𝒃𝒊𝒂𝒔</m:t>
                            </m:r>
                            <m:r>
                              <a:rPr lang="fr-MA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fr-MA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p>
                        </m:sSup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sz="36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8E8561-3416-4B1F-A703-A45DE8708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037" y="5176674"/>
                <a:ext cx="4191026" cy="964303"/>
              </a:xfrm>
              <a:prstGeom prst="rect">
                <a:avLst/>
              </a:prstGeom>
              <a:blipFill>
                <a:blip r:embed="rId4"/>
                <a:stretch>
                  <a:fillRect l="-4203" b="-1875"/>
                </a:stretch>
              </a:blipFill>
              <a:ln>
                <a:solidFill>
                  <a:srgbClr val="FF6565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54D59EA-0A5C-4654-BBB6-B7103ADF6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38" y="1400152"/>
            <a:ext cx="5457826" cy="360477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FC57B8-3EE0-4B6A-AEFD-0D16BAB565C9}"/>
              </a:ext>
            </a:extLst>
          </p:cNvPr>
          <p:cNvCxnSpPr>
            <a:cxnSpLocks/>
          </p:cNvCxnSpPr>
          <p:nvPr/>
        </p:nvCxnSpPr>
        <p:spPr>
          <a:xfrm>
            <a:off x="3381376" y="3088233"/>
            <a:ext cx="4860000" cy="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4D310F-6365-4DF3-803B-6CDC3E718BFD}"/>
              </a:ext>
            </a:extLst>
          </p:cNvPr>
          <p:cNvCxnSpPr>
            <a:cxnSpLocks/>
          </p:cNvCxnSpPr>
          <p:nvPr/>
        </p:nvCxnSpPr>
        <p:spPr>
          <a:xfrm flipV="1">
            <a:off x="5797088" y="1535659"/>
            <a:ext cx="0" cy="316800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6F7E486-A501-4E60-9AF5-9B1CDA1E6DD3}"/>
              </a:ext>
            </a:extLst>
          </p:cNvPr>
          <p:cNvSpPr txBox="1"/>
          <p:nvPr/>
        </p:nvSpPr>
        <p:spPr>
          <a:xfrm>
            <a:off x="0" y="14285"/>
            <a:ext cx="12191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/>
              <a:t>Comment exploiter cette fonction </a:t>
            </a:r>
            <a:br>
              <a:rPr lang="fr-MA" sz="3200" b="1" dirty="0"/>
            </a:br>
            <a:r>
              <a:rPr lang="fr-MA" sz="3200" b="1" dirty="0"/>
              <a:t>pour faire la prédication?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BAAE4-1A37-40FD-A155-27474D8BAC54}"/>
              </a:ext>
            </a:extLst>
          </p:cNvPr>
          <p:cNvSpPr txBox="1"/>
          <p:nvPr/>
        </p:nvSpPr>
        <p:spPr>
          <a:xfrm>
            <a:off x="2957521" y="2920705"/>
            <a:ext cx="57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0.5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D5CADA-4E08-4188-AE4E-F537F2A969DD}"/>
              </a:ext>
            </a:extLst>
          </p:cNvPr>
          <p:cNvSpPr/>
          <p:nvPr/>
        </p:nvSpPr>
        <p:spPr>
          <a:xfrm>
            <a:off x="5564873" y="4614853"/>
            <a:ext cx="121568" cy="142875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FE538E-F4CE-4F1A-86DE-CC830E09C560}"/>
              </a:ext>
            </a:extLst>
          </p:cNvPr>
          <p:cNvCxnSpPr/>
          <p:nvPr/>
        </p:nvCxnSpPr>
        <p:spPr>
          <a:xfrm>
            <a:off x="5615002" y="3700457"/>
            <a:ext cx="0" cy="972000"/>
          </a:xfrm>
          <a:prstGeom prst="line">
            <a:avLst/>
          </a:prstGeom>
          <a:ln w="28575">
            <a:solidFill>
              <a:srgbClr val="FF6565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3DA4D6-5DF7-4585-B385-7E2A5ACC2574}"/>
              </a:ext>
            </a:extLst>
          </p:cNvPr>
          <p:cNvCxnSpPr>
            <a:cxnSpLocks/>
          </p:cNvCxnSpPr>
          <p:nvPr/>
        </p:nvCxnSpPr>
        <p:spPr>
          <a:xfrm flipV="1">
            <a:off x="3381375" y="3720043"/>
            <a:ext cx="2208562" cy="4620"/>
          </a:xfrm>
          <a:prstGeom prst="line">
            <a:avLst/>
          </a:prstGeom>
          <a:ln w="28575">
            <a:solidFill>
              <a:srgbClr val="FF6565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D229E0A-53A3-46E4-BDB7-66AF008865FB}"/>
              </a:ext>
            </a:extLst>
          </p:cNvPr>
          <p:cNvSpPr/>
          <p:nvPr/>
        </p:nvSpPr>
        <p:spPr>
          <a:xfrm>
            <a:off x="6461980" y="4563400"/>
            <a:ext cx="121568" cy="142875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881CF-A47B-4CDC-854D-98C25E5CB376}"/>
              </a:ext>
            </a:extLst>
          </p:cNvPr>
          <p:cNvCxnSpPr/>
          <p:nvPr/>
        </p:nvCxnSpPr>
        <p:spPr>
          <a:xfrm>
            <a:off x="6522764" y="1754837"/>
            <a:ext cx="0" cy="2880000"/>
          </a:xfrm>
          <a:prstGeom prst="line">
            <a:avLst/>
          </a:prstGeom>
          <a:ln w="28575">
            <a:solidFill>
              <a:srgbClr val="FF6565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573D874-987B-4EAC-B24C-46780862FD6C}"/>
              </a:ext>
            </a:extLst>
          </p:cNvPr>
          <p:cNvCxnSpPr>
            <a:cxnSpLocks/>
          </p:cNvCxnSpPr>
          <p:nvPr/>
        </p:nvCxnSpPr>
        <p:spPr>
          <a:xfrm flipV="1">
            <a:off x="3356311" y="1802365"/>
            <a:ext cx="3168000" cy="4620"/>
          </a:xfrm>
          <a:prstGeom prst="line">
            <a:avLst/>
          </a:prstGeom>
          <a:ln w="28575">
            <a:solidFill>
              <a:srgbClr val="FF6565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0C3E27E-B1CB-40D3-82E4-8DA1ED9BAD06}"/>
              </a:ext>
            </a:extLst>
          </p:cNvPr>
          <p:cNvSpPr txBox="1"/>
          <p:nvPr/>
        </p:nvSpPr>
        <p:spPr>
          <a:xfrm>
            <a:off x="5398311" y="4862893"/>
            <a:ext cx="57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FEA0AC-18B5-4A00-9704-BDA11C7D1B72}"/>
              </a:ext>
            </a:extLst>
          </p:cNvPr>
          <p:cNvSpPr txBox="1"/>
          <p:nvPr/>
        </p:nvSpPr>
        <p:spPr>
          <a:xfrm>
            <a:off x="6390113" y="4887255"/>
            <a:ext cx="396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C8BD7E-9B2F-4957-B629-9C458CBC9AFA}"/>
              </a:ext>
            </a:extLst>
          </p:cNvPr>
          <p:cNvSpPr txBox="1"/>
          <p:nvPr/>
        </p:nvSpPr>
        <p:spPr>
          <a:xfrm>
            <a:off x="1564435" y="2138747"/>
            <a:ext cx="976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00FF"/>
                </a:solidFill>
              </a:rPr>
              <a:t>Class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08B0D2-A8B3-4F9A-961A-D3BB6DDEEDE7}"/>
              </a:ext>
            </a:extLst>
          </p:cNvPr>
          <p:cNvSpPr txBox="1"/>
          <p:nvPr/>
        </p:nvSpPr>
        <p:spPr>
          <a:xfrm>
            <a:off x="1546272" y="3720043"/>
            <a:ext cx="976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00FF"/>
                </a:solidFill>
              </a:rPr>
              <a:t>Class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72C512-30C4-4334-A259-7BB815C9B31D}"/>
                  </a:ext>
                </a:extLst>
              </p:cNvPr>
              <p:cNvSpPr txBox="1"/>
              <p:nvPr/>
            </p:nvSpPr>
            <p:spPr>
              <a:xfrm>
                <a:off x="8554562" y="1272685"/>
                <a:ext cx="3347413" cy="96430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6565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3600" b="1" dirty="0">
                    <a:solidFill>
                      <a:srgbClr val="FF0000"/>
                    </a:solidFill>
                    <a:latin typeface="Helvetica Neue"/>
                  </a:rPr>
                  <a:t>p(x) </a:t>
                </a:r>
                <a:r>
                  <a:rPr lang="fr-FR" sz="36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MA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fr-MA" sz="36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fr-MA" sz="36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sz="36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72C512-30C4-4334-A259-7BB815C9B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4562" y="1272685"/>
                <a:ext cx="3347413" cy="964303"/>
              </a:xfrm>
              <a:prstGeom prst="rect">
                <a:avLst/>
              </a:prstGeom>
              <a:blipFill>
                <a:blip r:embed="rId3"/>
                <a:stretch>
                  <a:fillRect l="-5263" b="-1875"/>
                </a:stretch>
              </a:blipFill>
              <a:ln>
                <a:solidFill>
                  <a:srgbClr val="FF6565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4E1249C-B4FD-4F49-A2D4-A565F4A37BC3}"/>
                  </a:ext>
                </a:extLst>
              </p:cNvPr>
              <p:cNvSpPr txBox="1"/>
              <p:nvPr/>
            </p:nvSpPr>
            <p:spPr>
              <a:xfrm>
                <a:off x="8387619" y="2606081"/>
                <a:ext cx="3713894" cy="86748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6565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3200" b="1" dirty="0">
                    <a:solidFill>
                      <a:srgbClr val="FF0000"/>
                    </a:solidFill>
                    <a:latin typeface="Helvetica Neue"/>
                  </a:rPr>
                  <a:t>p(x) </a:t>
                </a:r>
                <a:r>
                  <a:rPr lang="fr-FR" sz="32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MA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MA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MA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MA" sz="3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MA" sz="32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MA" sz="3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32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𝒃𝒊𝒂𝒔</m:t>
                            </m:r>
                            <m:r>
                              <a:rPr lang="fr-MA" sz="32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32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fr-MA" sz="32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fr-MA" sz="32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fr-MA" sz="32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p>
                        </m:sSup>
                        <m:r>
                          <a:rPr lang="fr-MA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sz="32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4E1249C-B4FD-4F49-A2D4-A565F4A37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619" y="2606081"/>
                <a:ext cx="3713894" cy="867482"/>
              </a:xfrm>
              <a:prstGeom prst="rect">
                <a:avLst/>
              </a:prstGeom>
              <a:blipFill>
                <a:blip r:embed="rId4"/>
                <a:stretch>
                  <a:fillRect l="-4092" b="-1389"/>
                </a:stretch>
              </a:blipFill>
              <a:ln>
                <a:solidFill>
                  <a:srgbClr val="FF6565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C7272E9-122B-45FA-991A-4A0BBFCC244A}"/>
              </a:ext>
            </a:extLst>
          </p:cNvPr>
          <p:cNvSpPr txBox="1"/>
          <p:nvPr/>
        </p:nvSpPr>
        <p:spPr>
          <a:xfrm>
            <a:off x="214313" y="5452671"/>
            <a:ext cx="576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b="1" dirty="0"/>
              <a:t>Pour simplifier, on considère que w0=0 et w1=1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E665C8-BDBC-4B19-AB7D-C78F6DC8EFFD}"/>
                  </a:ext>
                </a:extLst>
              </p:cNvPr>
              <p:cNvSpPr txBox="1"/>
              <p:nvPr/>
            </p:nvSpPr>
            <p:spPr>
              <a:xfrm>
                <a:off x="8371321" y="3783816"/>
                <a:ext cx="3713894" cy="86748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6565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3200" b="1" dirty="0">
                    <a:solidFill>
                      <a:srgbClr val="FF0000"/>
                    </a:solidFill>
                    <a:latin typeface="Helvetica Neue"/>
                  </a:rPr>
                  <a:t>p(x) </a:t>
                </a:r>
                <a:r>
                  <a:rPr lang="fr-FR" sz="32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MA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MA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MA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MA" sz="3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MA" sz="32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MA" sz="32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32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p>
                        </m:sSup>
                        <m:r>
                          <a:rPr lang="fr-MA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sz="32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E665C8-BDBC-4B19-AB7D-C78F6DC8E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321" y="3783816"/>
                <a:ext cx="3713894" cy="867482"/>
              </a:xfrm>
              <a:prstGeom prst="rect">
                <a:avLst/>
              </a:prstGeom>
              <a:blipFill>
                <a:blip r:embed="rId5"/>
                <a:stretch>
                  <a:fillRect l="-3928" b="-1389"/>
                </a:stretch>
              </a:blipFill>
              <a:ln>
                <a:solidFill>
                  <a:srgbClr val="FF6565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4277CAE-E0D2-402F-A86B-CAD61AC8E9AE}"/>
                  </a:ext>
                </a:extLst>
              </p:cNvPr>
              <p:cNvSpPr txBox="1"/>
              <p:nvPr/>
            </p:nvSpPr>
            <p:spPr>
              <a:xfrm>
                <a:off x="8371321" y="5068865"/>
                <a:ext cx="3713894" cy="576825"/>
              </a:xfrm>
              <a:prstGeom prst="rect">
                <a:avLst/>
              </a:prstGeom>
              <a:noFill/>
              <a:ln>
                <a:solidFill>
                  <a:srgbClr val="FF6565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2000" b="1" dirty="0">
                    <a:solidFill>
                      <a:srgbClr val="FF0000"/>
                    </a:solidFill>
                    <a:latin typeface="Helvetica Neue"/>
                  </a:rPr>
                  <a:t>p(-1) </a:t>
                </a:r>
                <a:r>
                  <a:rPr lang="fr-FR" sz="20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MA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MA" sz="20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MA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fr-MA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MA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MA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fr-MA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𝟐𝟔</m:t>
                    </m:r>
                  </m:oMath>
                </a14:m>
                <a:endParaRPr lang="fr-FR" sz="20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4277CAE-E0D2-402F-A86B-CAD61AC8E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321" y="5068865"/>
                <a:ext cx="3713894" cy="576825"/>
              </a:xfrm>
              <a:prstGeom prst="rect">
                <a:avLst/>
              </a:prstGeom>
              <a:blipFill>
                <a:blip r:embed="rId6"/>
                <a:stretch>
                  <a:fillRect l="-1473"/>
                </a:stretch>
              </a:blipFill>
              <a:ln>
                <a:solidFill>
                  <a:srgbClr val="FF6565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458FE5-9989-4722-8764-F7987F559CD8}"/>
                  </a:ext>
                </a:extLst>
              </p:cNvPr>
              <p:cNvSpPr txBox="1"/>
              <p:nvPr/>
            </p:nvSpPr>
            <p:spPr>
              <a:xfrm>
                <a:off x="8371321" y="5877463"/>
                <a:ext cx="3713894" cy="576825"/>
              </a:xfrm>
              <a:prstGeom prst="rect">
                <a:avLst/>
              </a:prstGeom>
              <a:noFill/>
              <a:ln>
                <a:solidFill>
                  <a:srgbClr val="FF6565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2000" b="1" dirty="0">
                    <a:solidFill>
                      <a:srgbClr val="FF0000"/>
                    </a:solidFill>
                    <a:latin typeface="Helvetica Neue"/>
                  </a:rPr>
                  <a:t>p(3) </a:t>
                </a:r>
                <a:r>
                  <a:rPr lang="fr-FR" sz="20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MA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MA" sz="20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MA" sz="2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20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fr-MA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MA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MA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fr-MA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𝟗𝟓</m:t>
                    </m:r>
                  </m:oMath>
                </a14:m>
                <a:endParaRPr lang="fr-FR" sz="20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458FE5-9989-4722-8764-F7987F559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321" y="5877463"/>
                <a:ext cx="3713894" cy="576825"/>
              </a:xfrm>
              <a:prstGeom prst="rect">
                <a:avLst/>
              </a:prstGeom>
              <a:blipFill>
                <a:blip r:embed="rId7"/>
                <a:stretch>
                  <a:fillRect l="-1473"/>
                </a:stretch>
              </a:blipFill>
              <a:ln>
                <a:solidFill>
                  <a:srgbClr val="FF6565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312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  <p:bldP spid="16" grpId="0"/>
      <p:bldP spid="22" grpId="0"/>
      <p:bldP spid="23" grpId="0"/>
      <p:bldP spid="25" grpId="0"/>
      <p:bldP spid="26" grpId="0" animBg="1"/>
      <p:bldP spid="18" grpId="0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54D59EA-0A5C-4654-BBB6-B7103ADF6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4" y="1400152"/>
            <a:ext cx="5457826" cy="360477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FC57B8-3EE0-4B6A-AEFD-0D16BAB565C9}"/>
              </a:ext>
            </a:extLst>
          </p:cNvPr>
          <p:cNvCxnSpPr>
            <a:cxnSpLocks/>
          </p:cNvCxnSpPr>
          <p:nvPr/>
        </p:nvCxnSpPr>
        <p:spPr>
          <a:xfrm>
            <a:off x="1895472" y="3088233"/>
            <a:ext cx="4860000" cy="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4D310F-6365-4DF3-803B-6CDC3E718BFD}"/>
              </a:ext>
            </a:extLst>
          </p:cNvPr>
          <p:cNvCxnSpPr>
            <a:cxnSpLocks/>
          </p:cNvCxnSpPr>
          <p:nvPr/>
        </p:nvCxnSpPr>
        <p:spPr>
          <a:xfrm flipV="1">
            <a:off x="4311184" y="1535659"/>
            <a:ext cx="0" cy="316800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6F7E486-A501-4E60-9AF5-9B1CDA1E6DD3}"/>
              </a:ext>
            </a:extLst>
          </p:cNvPr>
          <p:cNvSpPr txBox="1"/>
          <p:nvPr/>
        </p:nvSpPr>
        <p:spPr>
          <a:xfrm>
            <a:off x="0" y="14285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/>
              <a:t>Interprétation des résultats obtenus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BAAE4-1A37-40FD-A155-27474D8BAC54}"/>
              </a:ext>
            </a:extLst>
          </p:cNvPr>
          <p:cNvSpPr txBox="1"/>
          <p:nvPr/>
        </p:nvSpPr>
        <p:spPr>
          <a:xfrm>
            <a:off x="1471617" y="2920705"/>
            <a:ext cx="57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0.5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D5CADA-4E08-4188-AE4E-F537F2A969DD}"/>
              </a:ext>
            </a:extLst>
          </p:cNvPr>
          <p:cNvSpPr/>
          <p:nvPr/>
        </p:nvSpPr>
        <p:spPr>
          <a:xfrm>
            <a:off x="4078969" y="4614853"/>
            <a:ext cx="121568" cy="142875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FE538E-F4CE-4F1A-86DE-CC830E09C560}"/>
              </a:ext>
            </a:extLst>
          </p:cNvPr>
          <p:cNvCxnSpPr/>
          <p:nvPr/>
        </p:nvCxnSpPr>
        <p:spPr>
          <a:xfrm>
            <a:off x="4129098" y="3700457"/>
            <a:ext cx="0" cy="972000"/>
          </a:xfrm>
          <a:prstGeom prst="line">
            <a:avLst/>
          </a:prstGeom>
          <a:ln w="28575">
            <a:solidFill>
              <a:srgbClr val="FF6565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3DA4D6-5DF7-4585-B385-7E2A5ACC2574}"/>
              </a:ext>
            </a:extLst>
          </p:cNvPr>
          <p:cNvCxnSpPr>
            <a:cxnSpLocks/>
          </p:cNvCxnSpPr>
          <p:nvPr/>
        </p:nvCxnSpPr>
        <p:spPr>
          <a:xfrm flipV="1">
            <a:off x="1895471" y="3720043"/>
            <a:ext cx="2208562" cy="4620"/>
          </a:xfrm>
          <a:prstGeom prst="line">
            <a:avLst/>
          </a:prstGeom>
          <a:ln w="28575">
            <a:solidFill>
              <a:srgbClr val="FF6565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D229E0A-53A3-46E4-BDB7-66AF008865FB}"/>
              </a:ext>
            </a:extLst>
          </p:cNvPr>
          <p:cNvSpPr/>
          <p:nvPr/>
        </p:nvSpPr>
        <p:spPr>
          <a:xfrm>
            <a:off x="4976076" y="4563400"/>
            <a:ext cx="121568" cy="142875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881CF-A47B-4CDC-854D-98C25E5CB376}"/>
              </a:ext>
            </a:extLst>
          </p:cNvPr>
          <p:cNvCxnSpPr/>
          <p:nvPr/>
        </p:nvCxnSpPr>
        <p:spPr>
          <a:xfrm>
            <a:off x="5036860" y="1754837"/>
            <a:ext cx="0" cy="2880000"/>
          </a:xfrm>
          <a:prstGeom prst="line">
            <a:avLst/>
          </a:prstGeom>
          <a:ln w="28575">
            <a:solidFill>
              <a:srgbClr val="FF6565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573D874-987B-4EAC-B24C-46780862FD6C}"/>
              </a:ext>
            </a:extLst>
          </p:cNvPr>
          <p:cNvCxnSpPr>
            <a:cxnSpLocks/>
          </p:cNvCxnSpPr>
          <p:nvPr/>
        </p:nvCxnSpPr>
        <p:spPr>
          <a:xfrm flipV="1">
            <a:off x="1870407" y="1802365"/>
            <a:ext cx="3168000" cy="4620"/>
          </a:xfrm>
          <a:prstGeom prst="line">
            <a:avLst/>
          </a:prstGeom>
          <a:ln w="28575">
            <a:solidFill>
              <a:srgbClr val="FF6565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0C3E27E-B1CB-40D3-82E4-8DA1ED9BAD06}"/>
              </a:ext>
            </a:extLst>
          </p:cNvPr>
          <p:cNvSpPr txBox="1"/>
          <p:nvPr/>
        </p:nvSpPr>
        <p:spPr>
          <a:xfrm>
            <a:off x="3912407" y="4862893"/>
            <a:ext cx="576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FEA0AC-18B5-4A00-9704-BDA11C7D1B72}"/>
              </a:ext>
            </a:extLst>
          </p:cNvPr>
          <p:cNvSpPr txBox="1"/>
          <p:nvPr/>
        </p:nvSpPr>
        <p:spPr>
          <a:xfrm>
            <a:off x="4904209" y="4887255"/>
            <a:ext cx="396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C8BD7E-9B2F-4957-B629-9C458CBC9AFA}"/>
              </a:ext>
            </a:extLst>
          </p:cNvPr>
          <p:cNvSpPr txBox="1"/>
          <p:nvPr/>
        </p:nvSpPr>
        <p:spPr>
          <a:xfrm>
            <a:off x="792919" y="2138747"/>
            <a:ext cx="976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00FF"/>
                </a:solidFill>
              </a:rPr>
              <a:t>Class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08B0D2-A8B3-4F9A-961A-D3BB6DDEEDE7}"/>
              </a:ext>
            </a:extLst>
          </p:cNvPr>
          <p:cNvSpPr txBox="1"/>
          <p:nvPr/>
        </p:nvSpPr>
        <p:spPr>
          <a:xfrm>
            <a:off x="774756" y="3720043"/>
            <a:ext cx="976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00FF"/>
                </a:solidFill>
              </a:rPr>
              <a:t>Class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7272E9-122B-45FA-991A-4A0BBFCC244A}"/>
              </a:ext>
            </a:extLst>
          </p:cNvPr>
          <p:cNvSpPr txBox="1"/>
          <p:nvPr/>
        </p:nvSpPr>
        <p:spPr>
          <a:xfrm>
            <a:off x="214313" y="5417969"/>
            <a:ext cx="576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MA" b="1" dirty="0"/>
              <a:t>Pour simplifier, on considère que w0=0 et w1=1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4277CAE-E0D2-402F-A86B-CAD61AC8E9AE}"/>
                  </a:ext>
                </a:extLst>
              </p:cNvPr>
              <p:cNvSpPr txBox="1"/>
              <p:nvPr/>
            </p:nvSpPr>
            <p:spPr>
              <a:xfrm>
                <a:off x="7685187" y="1202282"/>
                <a:ext cx="3713894" cy="400110"/>
              </a:xfrm>
              <a:prstGeom prst="rect">
                <a:avLst/>
              </a:prstGeom>
              <a:noFill/>
              <a:ln>
                <a:solidFill>
                  <a:srgbClr val="FF6565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2000" b="1" dirty="0">
                    <a:solidFill>
                      <a:srgbClr val="FF0000"/>
                    </a:solidFill>
                    <a:latin typeface="Helvetica Neue"/>
                  </a:rPr>
                  <a:t>p(-1) </a:t>
                </a:r>
                <a:r>
                  <a:rPr lang="fr-FR" sz="20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r>
                      <a:rPr lang="fr-MA" sz="2000" b="1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MA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MA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fr-MA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𝟐𝟔</m:t>
                    </m:r>
                  </m:oMath>
                </a14:m>
                <a:endParaRPr lang="fr-FR" sz="20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4277CAE-E0D2-402F-A86B-CAD61AC8E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187" y="1202282"/>
                <a:ext cx="3713894" cy="400110"/>
              </a:xfrm>
              <a:prstGeom prst="rect">
                <a:avLst/>
              </a:prstGeom>
              <a:blipFill>
                <a:blip r:embed="rId3"/>
                <a:stretch>
                  <a:fillRect l="-1637" t="-4412" b="-25000"/>
                </a:stretch>
              </a:blipFill>
              <a:ln>
                <a:solidFill>
                  <a:srgbClr val="FF6565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458FE5-9989-4722-8764-F7987F559CD8}"/>
                  </a:ext>
                </a:extLst>
              </p:cNvPr>
              <p:cNvSpPr txBox="1"/>
              <p:nvPr/>
            </p:nvSpPr>
            <p:spPr>
              <a:xfrm>
                <a:off x="7799487" y="4030699"/>
                <a:ext cx="3713894" cy="400110"/>
              </a:xfrm>
              <a:prstGeom prst="rect">
                <a:avLst/>
              </a:prstGeom>
              <a:noFill/>
              <a:ln>
                <a:solidFill>
                  <a:srgbClr val="FF6565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2000" b="1" dirty="0">
                    <a:solidFill>
                      <a:srgbClr val="FF0000"/>
                    </a:solidFill>
                    <a:latin typeface="Helvetica Neue"/>
                  </a:rPr>
                  <a:t>p(3) </a:t>
                </a:r>
                <a:r>
                  <a:rPr lang="fr-FR" sz="20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r>
                      <a:rPr lang="fr-MA" sz="2000" b="1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MA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MA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fr-MA" sz="20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𝟗𝟓</m:t>
                    </m:r>
                  </m:oMath>
                </a14:m>
                <a:endParaRPr lang="fr-FR" sz="20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458FE5-9989-4722-8764-F7987F559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487" y="4030699"/>
                <a:ext cx="3713894" cy="400110"/>
              </a:xfrm>
              <a:prstGeom prst="rect">
                <a:avLst/>
              </a:prstGeom>
              <a:blipFill>
                <a:blip r:embed="rId4"/>
                <a:stretch>
                  <a:fillRect l="-1471" t="-4412" b="-25000"/>
                </a:stretch>
              </a:blipFill>
              <a:ln>
                <a:solidFill>
                  <a:srgbClr val="FF6565"/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F88D99E-A1B3-419C-98CE-1C0509BB2524}"/>
              </a:ext>
            </a:extLst>
          </p:cNvPr>
          <p:cNvSpPr txBox="1"/>
          <p:nvPr/>
        </p:nvSpPr>
        <p:spPr>
          <a:xfrm>
            <a:off x="6852531" y="2071680"/>
            <a:ext cx="5148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rgbClr val="FF3300"/>
                </a:solidFill>
              </a:rPr>
              <a:t>-1</a:t>
            </a:r>
            <a:r>
              <a:rPr lang="fr-MA" dirty="0"/>
              <a:t> appartient à </a:t>
            </a:r>
            <a:r>
              <a:rPr lang="fr-MA" b="1" dirty="0">
                <a:solidFill>
                  <a:srgbClr val="00B050"/>
                </a:solidFill>
              </a:rPr>
              <a:t>class1</a:t>
            </a:r>
            <a:r>
              <a:rPr lang="fr-MA" dirty="0"/>
              <a:t> avec la probabilité </a:t>
            </a:r>
            <a:r>
              <a:rPr lang="fr-MA" b="1" dirty="0">
                <a:solidFill>
                  <a:srgbClr val="0000FF"/>
                </a:solidFill>
              </a:rPr>
              <a:t>0.26</a:t>
            </a:r>
          </a:p>
          <a:p>
            <a:pPr marL="285750" indent="-285750"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/>
              <a:t>Et appartient à class0 avec la probabilité </a:t>
            </a:r>
            <a:r>
              <a:rPr lang="fr-MA" b="1" dirty="0">
                <a:solidFill>
                  <a:srgbClr val="0000FF"/>
                </a:solidFill>
              </a:rPr>
              <a:t>(1-0.26)</a:t>
            </a:r>
          </a:p>
          <a:p>
            <a:pPr marL="285750" indent="-285750"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/>
              <a:t>Donc on le classe dans la classe </a:t>
            </a:r>
            <a:r>
              <a:rPr lang="fr-MA" b="1" dirty="0">
                <a:solidFill>
                  <a:srgbClr val="0000FF"/>
                </a:solidFill>
              </a:rPr>
              <a:t>Class0</a:t>
            </a:r>
            <a:r>
              <a:rPr lang="fr-MA" dirty="0"/>
              <a:t> avec une probabilité de </a:t>
            </a:r>
            <a:r>
              <a:rPr lang="fr-MA" b="1" dirty="0">
                <a:solidFill>
                  <a:srgbClr val="0000FF"/>
                </a:solidFill>
              </a:rPr>
              <a:t>0.74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CDECD-822D-4C22-AA02-F1259C812032}"/>
              </a:ext>
            </a:extLst>
          </p:cNvPr>
          <p:cNvSpPr txBox="1"/>
          <p:nvPr/>
        </p:nvSpPr>
        <p:spPr>
          <a:xfrm>
            <a:off x="6891339" y="4911239"/>
            <a:ext cx="5148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rgbClr val="FF3300"/>
                </a:solidFill>
              </a:rPr>
              <a:t>3</a:t>
            </a:r>
            <a:r>
              <a:rPr lang="fr-MA" dirty="0"/>
              <a:t> appartient à </a:t>
            </a:r>
            <a:r>
              <a:rPr lang="fr-MA" b="1" dirty="0">
                <a:solidFill>
                  <a:srgbClr val="00B050"/>
                </a:solidFill>
              </a:rPr>
              <a:t>class1</a:t>
            </a:r>
            <a:r>
              <a:rPr lang="fr-MA" dirty="0"/>
              <a:t> avec la probabilité </a:t>
            </a:r>
            <a:r>
              <a:rPr lang="fr-MA" b="1" dirty="0">
                <a:solidFill>
                  <a:srgbClr val="0000FF"/>
                </a:solidFill>
              </a:rPr>
              <a:t>0.95</a:t>
            </a:r>
          </a:p>
          <a:p>
            <a:pPr marL="285750" indent="-285750"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/>
              <a:t>Et appartient à class0 avec la probabilité </a:t>
            </a:r>
            <a:r>
              <a:rPr lang="fr-MA" b="1" dirty="0">
                <a:solidFill>
                  <a:srgbClr val="0000FF"/>
                </a:solidFill>
              </a:rPr>
              <a:t>(1-0.95)</a:t>
            </a:r>
          </a:p>
          <a:p>
            <a:pPr marL="285750" indent="-285750"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/>
              <a:t>Donc on le classe dans la classe </a:t>
            </a:r>
            <a:r>
              <a:rPr lang="fr-MA" b="1" dirty="0">
                <a:solidFill>
                  <a:srgbClr val="0000FF"/>
                </a:solidFill>
              </a:rPr>
              <a:t>Class1</a:t>
            </a:r>
            <a:r>
              <a:rPr lang="fr-MA" dirty="0"/>
              <a:t> avec une probabilité de </a:t>
            </a:r>
            <a:r>
              <a:rPr lang="fr-MA" b="1" dirty="0">
                <a:solidFill>
                  <a:srgbClr val="0000FF"/>
                </a:solidFill>
              </a:rPr>
              <a:t>0.95</a:t>
            </a:r>
          </a:p>
        </p:txBody>
      </p:sp>
    </p:spTree>
    <p:extLst>
      <p:ext uri="{BB962C8B-B14F-4D97-AF65-F5344CB8AC3E}">
        <p14:creationId xmlns:p14="http://schemas.microsoft.com/office/powerpoint/2010/main" val="319046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FD0F90-26EE-42EB-9427-6F5E43845DF1}"/>
              </a:ext>
            </a:extLst>
          </p:cNvPr>
          <p:cNvSpPr txBox="1"/>
          <p:nvPr/>
        </p:nvSpPr>
        <p:spPr>
          <a:xfrm>
            <a:off x="0" y="795069"/>
            <a:ext cx="12192000" cy="2754600"/>
          </a:xfrm>
          <a:prstGeom prst="rect">
            <a:avLst/>
          </a:prstGeom>
          <a:solidFill>
            <a:srgbClr val="FEFAF8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fr-MA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Etape 1: Utiliser </a:t>
            </a:r>
            <a:r>
              <a:rPr lang="fr-MA" sz="2000" b="1" dirty="0" err="1"/>
              <a:t>LogisticRegression</a:t>
            </a:r>
            <a:r>
              <a:rPr lang="fr-MA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</a:t>
            </a:r>
            <a:r>
              <a:rPr lang="fr-MA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sklearn.linear_model</a:t>
            </a:r>
            <a:endParaRPr lang="fr-MA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>
              <a:spcAft>
                <a:spcPts val="900"/>
              </a:spcAft>
              <a:buClr>
                <a:srgbClr val="FF3300"/>
              </a:buClr>
            </a:pPr>
            <a:r>
              <a:rPr lang="fr-MA" dirty="0">
                <a:solidFill>
                  <a:srgbClr val="FF3300"/>
                </a:solidFill>
              </a:rPr>
              <a:t>Objectifs: </a:t>
            </a:r>
          </a:p>
          <a:p>
            <a:pPr marL="800100" lvl="1" indent="-342900">
              <a:spcAft>
                <a:spcPts val="9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Découvrir les éléments de </a:t>
            </a:r>
            <a:r>
              <a:rPr lang="fr-MA" sz="1800" dirty="0" err="1"/>
              <a:t>LogisticRegression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00100" lvl="1" indent="-342900">
              <a:spcAft>
                <a:spcPts val="9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Montrer comment créer un modèle</a:t>
            </a:r>
          </a:p>
          <a:p>
            <a:pPr marL="800100" lvl="1" indent="-342900">
              <a:spcAft>
                <a:spcPts val="9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Montrer comment faire de l’apprentissage pour trouver le modèle:</a:t>
            </a:r>
            <a:endParaRPr lang="fr-MA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00100" lvl="1" indent="-342900">
              <a:spcAft>
                <a:spcPts val="9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Montrer comment faire la prédiction</a:t>
            </a:r>
          </a:p>
          <a:p>
            <a:pPr marL="800100" lvl="1" indent="-342900">
              <a:spcAft>
                <a:spcPts val="9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Montrer comment évaluer la performance du modèle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17E9DB-9E52-421A-AD8B-6188889A6150}"/>
              </a:ext>
            </a:extLst>
          </p:cNvPr>
          <p:cNvSpPr txBox="1"/>
          <p:nvPr/>
        </p:nvSpPr>
        <p:spPr>
          <a:xfrm>
            <a:off x="0" y="1429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800" b="1" dirty="0" err="1"/>
              <a:t>Logistic</a:t>
            </a:r>
            <a:r>
              <a:rPr lang="fr-MA" sz="2800" b="1" dirty="0"/>
              <a:t> </a:t>
            </a:r>
            <a:r>
              <a:rPr lang="fr-MA" sz="2800" b="1" dirty="0" err="1"/>
              <a:t>Regression</a:t>
            </a:r>
            <a:r>
              <a:rPr lang="fr-MA" sz="2800" b="1" dirty="0"/>
              <a:t>: </a:t>
            </a:r>
            <a:r>
              <a:rPr lang="fr-MA" sz="2800" b="1" dirty="0" err="1">
                <a:solidFill>
                  <a:srgbClr val="FF3300"/>
                </a:solidFill>
              </a:rPr>
              <a:t>Implementation</a:t>
            </a:r>
            <a:endParaRPr lang="fr-FR" sz="2000" b="1" dirty="0">
              <a:solidFill>
                <a:srgbClr val="FF3300"/>
              </a:solidFill>
            </a:endParaRPr>
          </a:p>
        </p:txBody>
      </p:sp>
      <p:cxnSp>
        <p:nvCxnSpPr>
          <p:cNvPr id="7" name="Connecteur droit 3">
            <a:extLst>
              <a:ext uri="{FF2B5EF4-FFF2-40B4-BE49-F238E27FC236}">
                <a16:creationId xmlns:a16="http://schemas.microsoft.com/office/drawing/2014/main" id="{0C1D50CD-74CE-4802-B638-D6E0E0333F7E}"/>
              </a:ext>
            </a:extLst>
          </p:cNvPr>
          <p:cNvCxnSpPr/>
          <p:nvPr/>
        </p:nvCxnSpPr>
        <p:spPr>
          <a:xfrm>
            <a:off x="0" y="708926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F1CD3BA-28F1-401B-A4D4-BB2DCA2ACB66}"/>
              </a:ext>
            </a:extLst>
          </p:cNvPr>
          <p:cNvSpPr txBox="1"/>
          <p:nvPr/>
        </p:nvSpPr>
        <p:spPr>
          <a:xfrm>
            <a:off x="-14286" y="4205024"/>
            <a:ext cx="12192000" cy="2362185"/>
          </a:xfrm>
          <a:prstGeom prst="rect">
            <a:avLst/>
          </a:prstGeom>
          <a:solidFill>
            <a:srgbClr val="FEFAF8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fr-MA" sz="2000" b="1" dirty="0" err="1"/>
              <a:t>Etpae</a:t>
            </a:r>
            <a:r>
              <a:rPr lang="fr-MA" sz="2000" b="1" dirty="0"/>
              <a:t> 2: </a:t>
            </a:r>
            <a:r>
              <a:rPr lang="fr-MA" sz="2000" b="1" dirty="0" err="1"/>
              <a:t>Implementation</a:t>
            </a:r>
            <a:r>
              <a:rPr lang="fr-MA" sz="2000" b="1" dirty="0"/>
              <a:t> </a:t>
            </a:r>
            <a:r>
              <a:rPr lang="fr-MA" sz="2000" b="1" dirty="0" err="1"/>
              <a:t>from</a:t>
            </a:r>
            <a:r>
              <a:rPr lang="fr-MA" sz="2000" b="1" dirty="0"/>
              <a:t> scratch and by hand</a:t>
            </a:r>
            <a:endParaRPr lang="fr-MA" sz="2000" b="1" dirty="0">
              <a:solidFill>
                <a:srgbClr val="0070C0"/>
              </a:solidFill>
            </a:endParaRPr>
          </a:p>
          <a:p>
            <a:pPr lvl="1">
              <a:spcAft>
                <a:spcPts val="900"/>
              </a:spcAft>
              <a:buClr>
                <a:srgbClr val="FF3300"/>
              </a:buClr>
            </a:pPr>
            <a:r>
              <a:rPr lang="fr-MA" dirty="0">
                <a:solidFill>
                  <a:srgbClr val="FF3300"/>
                </a:solidFill>
              </a:rPr>
              <a:t>Objectifs: </a:t>
            </a:r>
          </a:p>
          <a:p>
            <a:pPr marL="800100" lvl="1" indent="-342900">
              <a:spcAft>
                <a:spcPts val="9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Découvrir la partie mathématique de </a:t>
            </a:r>
            <a:r>
              <a:rPr lang="fr-MA" sz="1800" dirty="0" err="1"/>
              <a:t>LogisticRegression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00100" lvl="1" indent="-342900">
              <a:spcAft>
                <a:spcPts val="9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Montrer comment créer un modèle:</a:t>
            </a:r>
            <a:endParaRPr lang="fr-MA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257300" lvl="2" indent="-342900">
              <a:spcAft>
                <a:spcPts val="9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Savoir implémenter et mettre en œuvre l’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optimizer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Gradient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Descent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257300" lvl="2" indent="-342900">
              <a:spcAft>
                <a:spcPts val="9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Utiliser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cost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FR" sz="1800" b="1" dirty="0">
                <a:solidFill>
                  <a:srgbClr val="FF3300"/>
                </a:solidFill>
              </a:rPr>
              <a:t>Cross-</a:t>
            </a:r>
            <a:r>
              <a:rPr lang="fr-FR" sz="1800" b="1" dirty="0" err="1">
                <a:solidFill>
                  <a:srgbClr val="FF3300"/>
                </a:solidFill>
              </a:rPr>
              <a:t>entropy</a:t>
            </a:r>
            <a:r>
              <a:rPr lang="fr-FR" sz="1800" b="1" dirty="0">
                <a:solidFill>
                  <a:srgbClr val="FF3300"/>
                </a:solidFill>
              </a:rPr>
              <a:t>-</a:t>
            </a:r>
            <a:r>
              <a:rPr lang="fr-FR" sz="1800" b="1" dirty="0" err="1">
                <a:solidFill>
                  <a:srgbClr val="FF3300"/>
                </a:solidFill>
              </a:rPr>
              <a:t>loss</a:t>
            </a:r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pour optimiser les paramètres du mod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èle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D47EBE-0BBE-4614-BEF6-F8DE67409873}"/>
                  </a:ext>
                </a:extLst>
              </p:cNvPr>
              <p:cNvSpPr txBox="1"/>
              <p:nvPr/>
            </p:nvSpPr>
            <p:spPr>
              <a:xfrm>
                <a:off x="7216667" y="2261097"/>
                <a:ext cx="4191026" cy="576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2000" b="1" dirty="0">
                    <a:solidFill>
                      <a:srgbClr val="FF0000"/>
                    </a:solidFill>
                    <a:latin typeface="Helvetica Neue"/>
                  </a:rPr>
                  <a:t>H(x) </a:t>
                </a:r>
                <a:r>
                  <a:rPr lang="fr-FR" sz="20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MA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MA" sz="20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MA" sz="2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𝒃𝒊𝒂𝒔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…..−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𝑿𝒏</m:t>
                            </m:r>
                          </m:sup>
                        </m:sSup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sz="20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D47EBE-0BBE-4614-BEF6-F8DE67409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667" y="2261097"/>
                <a:ext cx="4191026" cy="576825"/>
              </a:xfrm>
              <a:prstGeom prst="rect">
                <a:avLst/>
              </a:prstGeom>
              <a:blipFill>
                <a:blip r:embed="rId2"/>
                <a:stretch>
                  <a:fillRect l="-16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A63DCF-1D32-4387-BDCD-80E85A8F9E67}"/>
                  </a:ext>
                </a:extLst>
              </p:cNvPr>
              <p:cNvSpPr txBox="1"/>
              <p:nvPr/>
            </p:nvSpPr>
            <p:spPr>
              <a:xfrm>
                <a:off x="4946709" y="5274166"/>
                <a:ext cx="4191026" cy="576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500"/>
                  </a:spcAft>
                  <a:buClr>
                    <a:srgbClr val="FF3300"/>
                  </a:buClr>
                </a:pPr>
                <a:r>
                  <a:rPr lang="fr-FR" sz="2000" b="1" dirty="0">
                    <a:solidFill>
                      <a:srgbClr val="FF0000"/>
                    </a:solidFill>
                    <a:latin typeface="Helvetica Neue"/>
                  </a:rPr>
                  <a:t>H(x) </a:t>
                </a:r>
                <a:r>
                  <a:rPr lang="fr-FR" sz="2000" b="1" dirty="0">
                    <a:latin typeface="Helvetica Neue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fr-MA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MA" sz="20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MA" sz="2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𝒃𝒊𝒂𝒔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…..−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fr-MA" sz="2000" b="1" i="1" smtClean="0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fr-MA" sz="2000" b="1" i="1">
                                <a:solidFill>
                                  <a:srgbClr val="0083E6"/>
                                </a:solidFill>
                                <a:latin typeface="Cambria Math" panose="02040503050406030204" pitchFamily="18" charset="0"/>
                              </a:rPr>
                              <m:t>𝑿𝒏</m:t>
                            </m:r>
                          </m:sup>
                        </m:sSup>
                        <m:r>
                          <a:rPr lang="fr-MA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sz="2000" dirty="0">
                  <a:solidFill>
                    <a:srgbClr val="FF0000"/>
                  </a:solidFill>
                  <a:latin typeface="Helvetica Neue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A63DCF-1D32-4387-BDCD-80E85A8F9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09" y="5274166"/>
                <a:ext cx="4191026" cy="576825"/>
              </a:xfrm>
              <a:prstGeom prst="rect">
                <a:avLst/>
              </a:prstGeom>
              <a:blipFill>
                <a:blip r:embed="rId3"/>
                <a:stretch>
                  <a:fillRect l="-14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975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32FB0A-E12C-44F2-B8D3-5D3F50793EC8}"/>
              </a:ext>
            </a:extLst>
          </p:cNvPr>
          <p:cNvSpPr txBox="1"/>
          <p:nvPr/>
        </p:nvSpPr>
        <p:spPr>
          <a:xfrm>
            <a:off x="0" y="232760"/>
            <a:ext cx="121920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fr-MA" sz="4000" b="1" dirty="0"/>
              <a:t>Simple Binomial </a:t>
            </a:r>
            <a:r>
              <a:rPr lang="fr-MA" sz="4000" b="1" dirty="0" err="1"/>
              <a:t>Logistic</a:t>
            </a:r>
            <a:r>
              <a:rPr lang="fr-MA" sz="4000" b="1" dirty="0"/>
              <a:t> </a:t>
            </a:r>
            <a:r>
              <a:rPr lang="fr-MA" sz="4000" b="1" dirty="0" err="1"/>
              <a:t>Regression</a:t>
            </a:r>
            <a:r>
              <a:rPr lang="fr-MA" sz="4000" b="1" dirty="0"/>
              <a:t> </a:t>
            </a:r>
          </a:p>
          <a:p>
            <a:pPr algn="ctr">
              <a:spcAft>
                <a:spcPts val="1200"/>
              </a:spcAft>
            </a:pPr>
            <a:r>
              <a:rPr lang="fr-MA" sz="3200" b="1" dirty="0" err="1">
                <a:solidFill>
                  <a:srgbClr val="008AF2"/>
                </a:solidFill>
              </a:rPr>
              <a:t>Sklearn</a:t>
            </a:r>
            <a:r>
              <a:rPr lang="fr-MA" sz="3200" b="1" dirty="0">
                <a:solidFill>
                  <a:srgbClr val="008AF2"/>
                </a:solidFill>
              </a:rPr>
              <a:t> </a:t>
            </a:r>
            <a:r>
              <a:rPr lang="fr-MA" sz="3200" b="1" dirty="0" err="1">
                <a:solidFill>
                  <a:srgbClr val="008AF2"/>
                </a:solidFill>
              </a:rPr>
              <a:t>Implementation</a:t>
            </a:r>
            <a:r>
              <a:rPr lang="fr-MA" sz="3200" b="1" dirty="0">
                <a:solidFill>
                  <a:srgbClr val="008AF2"/>
                </a:solidFill>
              </a:rPr>
              <a:t> </a:t>
            </a:r>
            <a:r>
              <a:rPr lang="fr-MA" sz="3200" b="1" dirty="0" err="1">
                <a:solidFill>
                  <a:srgbClr val="008AF2"/>
                </a:solidFill>
              </a:rPr>
              <a:t>steps</a:t>
            </a:r>
            <a:endParaRPr lang="fr-MA" sz="3200" b="1" dirty="0">
              <a:solidFill>
                <a:srgbClr val="008AF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7FA3E-330C-4F0C-918C-2DC51B894BE4}"/>
              </a:ext>
            </a:extLst>
          </p:cNvPr>
          <p:cNvSpPr txBox="1"/>
          <p:nvPr/>
        </p:nvSpPr>
        <p:spPr>
          <a:xfrm>
            <a:off x="511324" y="1586977"/>
            <a:ext cx="8244878" cy="2708434"/>
          </a:xfrm>
          <a:prstGeom prst="rect">
            <a:avLst/>
          </a:prstGeom>
          <a:solidFill>
            <a:srgbClr val="FEFAF8"/>
          </a:solidFill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DataSet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: </a:t>
            </a: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features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, </a:t>
            </a: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target</a:t>
            </a:r>
            <a:endParaRPr lang="fr-FR" sz="2000" i="0" u="none" strike="noStrike" baseline="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457200" indent="-457200" algn="just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Model et ses paramètres</a:t>
            </a:r>
            <a:endParaRPr lang="fr-FR" sz="2000" i="0" u="none" strike="noStrike" baseline="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457200" indent="-457200" algn="just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Learning </a:t>
            </a: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Algorithm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, training: fit </a:t>
            </a:r>
            <a:endParaRPr lang="fr-FR" sz="20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457200" indent="-457200" algn="just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Prediction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: </a:t>
            </a: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predict</a:t>
            </a:r>
            <a:endParaRPr lang="fr-FR" sz="20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457200" indent="-457200" algn="just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Performance du modèle: </a:t>
            </a: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metrics</a:t>
            </a:r>
            <a:endParaRPr lang="fr-FR" sz="20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914400" lvl="1" indent="-457200" algn="just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Pour 100 données de test (</a:t>
            </a: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features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, </a:t>
            </a:r>
            <a:r>
              <a:rPr lang="fr-FR" sz="2000" b="1" dirty="0">
                <a:solidFill>
                  <a:srgbClr val="FF0000"/>
                </a:solidFill>
                <a:latin typeface="+mj-lt"/>
              </a:rPr>
              <a:t>y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), </a:t>
            </a: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predict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(</a:t>
            </a: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features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, </a:t>
            </a:r>
            <a:r>
              <a:rPr lang="fr-FR" sz="2000" dirty="0">
                <a:solidFill>
                  <a:srgbClr val="0000FF"/>
                </a:solidFill>
                <a:latin typeface="+mj-lt"/>
              </a:rPr>
              <a:t>^y</a:t>
            </a:r>
          </a:p>
          <a:p>
            <a:pPr marL="457200" indent="-457200" algn="just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Cost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function</a:t>
            </a:r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fr-FR" sz="2000" dirty="0">
                <a:solidFill>
                  <a:srgbClr val="FF3300"/>
                </a:solidFill>
              </a:rPr>
              <a:t>pour l’implémentation </a:t>
            </a:r>
            <a:r>
              <a:rPr lang="fr-FR" sz="2000" dirty="0" err="1">
                <a:solidFill>
                  <a:srgbClr val="FF3300"/>
                </a:solidFill>
              </a:rPr>
              <a:t>from</a:t>
            </a:r>
            <a:r>
              <a:rPr lang="fr-FR" sz="2000" dirty="0">
                <a:solidFill>
                  <a:srgbClr val="FF3300"/>
                </a:solidFill>
              </a:rPr>
              <a:t> scratch</a:t>
            </a:r>
          </a:p>
        </p:txBody>
      </p:sp>
    </p:spTree>
    <p:extLst>
      <p:ext uri="{BB962C8B-B14F-4D97-AF65-F5344CB8AC3E}">
        <p14:creationId xmlns:p14="http://schemas.microsoft.com/office/powerpoint/2010/main" val="4183752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C9D79F-C77B-4B9C-DD62-F0C1943BF31F}"/>
              </a:ext>
            </a:extLst>
          </p:cNvPr>
          <p:cNvSpPr txBox="1"/>
          <p:nvPr/>
        </p:nvSpPr>
        <p:spPr>
          <a:xfrm>
            <a:off x="106680" y="117455"/>
            <a:ext cx="3962400" cy="923330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import </a:t>
            </a:r>
            <a:r>
              <a:rPr lang="fr-MA" dirty="0" err="1"/>
              <a:t>matplotlib.pyplot</a:t>
            </a:r>
            <a:r>
              <a:rPr lang="fr-MA" dirty="0"/>
              <a:t> as </a:t>
            </a:r>
            <a:r>
              <a:rPr lang="fr-MA" dirty="0" err="1"/>
              <a:t>plt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numpy</a:t>
            </a:r>
            <a:r>
              <a:rPr lang="fr-MA" dirty="0"/>
              <a:t> as </a:t>
            </a:r>
            <a:r>
              <a:rPr lang="fr-MA" dirty="0" err="1"/>
              <a:t>np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matplotlib.colors</a:t>
            </a:r>
            <a:r>
              <a:rPr lang="fr-MA" dirty="0"/>
              <a:t> as </a:t>
            </a:r>
            <a:r>
              <a:rPr lang="fr-MA" dirty="0" err="1"/>
              <a:t>clr</a:t>
            </a:r>
            <a:endParaRPr lang="fr-M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16023-0D6C-8257-C791-FB3218A11305}"/>
              </a:ext>
            </a:extLst>
          </p:cNvPr>
          <p:cNvSpPr txBox="1"/>
          <p:nvPr/>
        </p:nvSpPr>
        <p:spPr>
          <a:xfrm>
            <a:off x="106680" y="1040785"/>
            <a:ext cx="396240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f(x):</a:t>
            </a:r>
          </a:p>
          <a:p>
            <a:r>
              <a:rPr lang="fr-MA" dirty="0"/>
              <a:t>    return -x+5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22647-8FC0-5F88-49E6-0B7D3D557CA8}"/>
              </a:ext>
            </a:extLst>
          </p:cNvPr>
          <p:cNvSpPr txBox="1"/>
          <p:nvPr/>
        </p:nvSpPr>
        <p:spPr>
          <a:xfrm>
            <a:off x="106680" y="1734264"/>
            <a:ext cx="3962400" cy="483209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>
                <a:solidFill>
                  <a:srgbClr val="0066FF"/>
                </a:solidFill>
              </a:rPr>
              <a:t># </a:t>
            </a:r>
            <a:r>
              <a:rPr lang="fr-MA" sz="1400" dirty="0" err="1">
                <a:solidFill>
                  <a:srgbClr val="0066FF"/>
                </a:solidFill>
              </a:rPr>
              <a:t>generate</a:t>
            </a:r>
            <a:r>
              <a:rPr lang="fr-MA" sz="1400" dirty="0">
                <a:solidFill>
                  <a:srgbClr val="0066FF"/>
                </a:solidFill>
              </a:rPr>
              <a:t> </a:t>
            </a:r>
            <a:r>
              <a:rPr lang="fr-MA" sz="1400" dirty="0" err="1">
                <a:solidFill>
                  <a:srgbClr val="0066FF"/>
                </a:solidFill>
              </a:rPr>
              <a:t>random</a:t>
            </a:r>
            <a:r>
              <a:rPr lang="fr-MA" sz="1400" dirty="0">
                <a:solidFill>
                  <a:srgbClr val="0066FF"/>
                </a:solidFill>
              </a:rPr>
              <a:t> </a:t>
            </a:r>
            <a:r>
              <a:rPr lang="fr-MA" sz="1400" dirty="0" err="1">
                <a:solidFill>
                  <a:srgbClr val="0066FF"/>
                </a:solidFill>
              </a:rPr>
              <a:t>floating</a:t>
            </a:r>
            <a:r>
              <a:rPr lang="fr-MA" sz="1400" dirty="0">
                <a:solidFill>
                  <a:srgbClr val="0066FF"/>
                </a:solidFill>
              </a:rPr>
              <a:t> point values</a:t>
            </a:r>
          </a:p>
          <a:p>
            <a:r>
              <a:rPr lang="fr-MA" sz="1400" dirty="0" err="1"/>
              <a:t>from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import </a:t>
            </a:r>
            <a:r>
              <a:rPr lang="fr-MA" sz="1400" dirty="0" err="1"/>
              <a:t>seed</a:t>
            </a:r>
            <a:endParaRPr lang="fr-MA" sz="1400" dirty="0"/>
          </a:p>
          <a:p>
            <a:r>
              <a:rPr lang="fr-MA" sz="1400" dirty="0" err="1"/>
              <a:t>from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import </a:t>
            </a:r>
            <a:r>
              <a:rPr lang="fr-MA" sz="1400" dirty="0" err="1"/>
              <a:t>random</a:t>
            </a:r>
            <a:endParaRPr lang="fr-MA" sz="1400" dirty="0"/>
          </a:p>
          <a:p>
            <a:r>
              <a:rPr lang="fr-MA" sz="1400" dirty="0"/>
              <a:t># </a:t>
            </a:r>
            <a:r>
              <a:rPr lang="fr-MA" sz="1400" dirty="0" err="1"/>
              <a:t>seed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number</a:t>
            </a:r>
            <a:r>
              <a:rPr lang="fr-MA" sz="1400" dirty="0"/>
              <a:t> </a:t>
            </a:r>
            <a:r>
              <a:rPr lang="fr-MA" sz="1400" dirty="0" err="1"/>
              <a:t>generator</a:t>
            </a:r>
            <a:endParaRPr lang="fr-MA" sz="1400" dirty="0"/>
          </a:p>
          <a:p>
            <a:r>
              <a:rPr lang="fr-MA" sz="1400" dirty="0" err="1"/>
              <a:t>def</a:t>
            </a:r>
            <a:r>
              <a:rPr lang="fr-MA" sz="1400" dirty="0"/>
              <a:t> </a:t>
            </a:r>
            <a:r>
              <a:rPr lang="fr-MA" sz="1400" dirty="0" err="1"/>
              <a:t>generateData</a:t>
            </a:r>
            <a:r>
              <a:rPr lang="fr-MA" sz="1400" dirty="0"/>
              <a:t>(n):    </a:t>
            </a:r>
          </a:p>
          <a:p>
            <a:r>
              <a:rPr lang="fr-MA" sz="1400" dirty="0"/>
              <a:t>    </a:t>
            </a:r>
            <a:r>
              <a:rPr lang="fr-MA" sz="1400" dirty="0" err="1"/>
              <a:t>seed</a:t>
            </a:r>
            <a:r>
              <a:rPr lang="fr-MA" sz="1400" dirty="0"/>
              <a:t>(1)</a:t>
            </a:r>
          </a:p>
          <a:p>
            <a:r>
              <a:rPr lang="fr-MA" sz="1400" dirty="0"/>
              <a:t>    min=0</a:t>
            </a:r>
          </a:p>
          <a:p>
            <a:r>
              <a:rPr lang="fr-MA" sz="1400" dirty="0"/>
              <a:t>    max=5</a:t>
            </a:r>
          </a:p>
          <a:p>
            <a:r>
              <a:rPr lang="fr-MA" sz="1400" dirty="0"/>
              <a:t>    L=[]</a:t>
            </a:r>
          </a:p>
          <a:p>
            <a:r>
              <a:rPr lang="fr-MA" sz="1400" dirty="0"/>
              <a:t>    for _ in range(n):</a:t>
            </a:r>
          </a:p>
          <a:p>
            <a:r>
              <a:rPr lang="fr-MA" sz="1400" dirty="0"/>
              <a:t>       </a:t>
            </a:r>
            <a:r>
              <a:rPr lang="fr-MA" sz="1400" dirty="0">
                <a:solidFill>
                  <a:srgbClr val="C00000"/>
                </a:solidFill>
              </a:rPr>
              <a:t> </a:t>
            </a:r>
            <a:r>
              <a:rPr lang="fr-MA" sz="1400" b="1" dirty="0" err="1">
                <a:solidFill>
                  <a:srgbClr val="C00000"/>
                </a:solidFill>
              </a:rPr>
              <a:t>valueX</a:t>
            </a:r>
            <a:r>
              <a:rPr lang="fr-MA" sz="1400" b="1" dirty="0">
                <a:solidFill>
                  <a:srgbClr val="C00000"/>
                </a:solidFill>
              </a:rPr>
              <a:t> = </a:t>
            </a:r>
            <a:r>
              <a:rPr lang="fr-MA" sz="1400" b="1" dirty="0" err="1">
                <a:solidFill>
                  <a:srgbClr val="C00000"/>
                </a:solidFill>
              </a:rPr>
              <a:t>random</a:t>
            </a:r>
            <a:r>
              <a:rPr lang="fr-MA" sz="1400" b="1" dirty="0">
                <a:solidFill>
                  <a:srgbClr val="C00000"/>
                </a:solidFill>
              </a:rPr>
              <a:t>()</a:t>
            </a:r>
          </a:p>
          <a:p>
            <a:r>
              <a:rPr lang="fr-MA" sz="1400" b="1" dirty="0">
                <a:solidFill>
                  <a:srgbClr val="C00000"/>
                </a:solidFill>
              </a:rPr>
              <a:t>        </a:t>
            </a:r>
            <a:r>
              <a:rPr lang="fr-MA" sz="1400" b="1" dirty="0" err="1">
                <a:solidFill>
                  <a:srgbClr val="C00000"/>
                </a:solidFill>
              </a:rPr>
              <a:t>scaledvalueX</a:t>
            </a:r>
            <a:r>
              <a:rPr lang="fr-MA" sz="1400" b="1" dirty="0">
                <a:solidFill>
                  <a:srgbClr val="C00000"/>
                </a:solidFill>
              </a:rPr>
              <a:t> = min + (</a:t>
            </a:r>
            <a:r>
              <a:rPr lang="fr-MA" sz="1400" b="1" dirty="0" err="1">
                <a:solidFill>
                  <a:srgbClr val="C00000"/>
                </a:solidFill>
              </a:rPr>
              <a:t>valueX</a:t>
            </a:r>
            <a:r>
              <a:rPr lang="fr-MA" sz="1400" b="1" dirty="0">
                <a:solidFill>
                  <a:srgbClr val="C00000"/>
                </a:solidFill>
              </a:rPr>
              <a:t> * (max - min))</a:t>
            </a:r>
          </a:p>
          <a:p>
            <a:r>
              <a:rPr lang="fr-MA" sz="1400" b="1" dirty="0">
                <a:solidFill>
                  <a:srgbClr val="C00000"/>
                </a:solidFill>
              </a:rPr>
              <a:t>        x=round(scaledvalueX,1)</a:t>
            </a:r>
          </a:p>
          <a:p>
            <a:r>
              <a:rPr lang="fr-MA" sz="1400" b="1" dirty="0"/>
              <a:t>      </a:t>
            </a:r>
            <a:r>
              <a:rPr lang="fr-MA" sz="1400" b="1" dirty="0">
                <a:solidFill>
                  <a:srgbClr val="00B050"/>
                </a:solidFill>
              </a:rPr>
              <a:t>  </a:t>
            </a:r>
            <a:r>
              <a:rPr lang="fr-MA" sz="1400" b="1" dirty="0" err="1">
                <a:solidFill>
                  <a:srgbClr val="00B050"/>
                </a:solidFill>
              </a:rPr>
              <a:t>valueY</a:t>
            </a:r>
            <a:r>
              <a:rPr lang="fr-MA" sz="1400" b="1" dirty="0">
                <a:solidFill>
                  <a:srgbClr val="00B050"/>
                </a:solidFill>
              </a:rPr>
              <a:t> = </a:t>
            </a:r>
            <a:r>
              <a:rPr lang="fr-MA" sz="1400" b="1" dirty="0" err="1">
                <a:solidFill>
                  <a:srgbClr val="00B050"/>
                </a:solidFill>
              </a:rPr>
              <a:t>random</a:t>
            </a:r>
            <a:r>
              <a:rPr lang="fr-MA" sz="1400" b="1" dirty="0">
                <a:solidFill>
                  <a:srgbClr val="00B050"/>
                </a:solidFill>
              </a:rPr>
              <a:t>()</a:t>
            </a:r>
          </a:p>
          <a:p>
            <a:r>
              <a:rPr lang="fr-MA" sz="1400" b="1" dirty="0">
                <a:solidFill>
                  <a:srgbClr val="00B050"/>
                </a:solidFill>
              </a:rPr>
              <a:t>        </a:t>
            </a:r>
            <a:r>
              <a:rPr lang="fr-MA" sz="1400" b="1" dirty="0" err="1">
                <a:solidFill>
                  <a:srgbClr val="00B050"/>
                </a:solidFill>
              </a:rPr>
              <a:t>scaledvalueY</a:t>
            </a:r>
            <a:r>
              <a:rPr lang="fr-MA" sz="1400" b="1" dirty="0">
                <a:solidFill>
                  <a:srgbClr val="00B050"/>
                </a:solidFill>
              </a:rPr>
              <a:t> = min + (</a:t>
            </a:r>
            <a:r>
              <a:rPr lang="fr-MA" sz="1400" b="1" dirty="0" err="1">
                <a:solidFill>
                  <a:srgbClr val="00B050"/>
                </a:solidFill>
              </a:rPr>
              <a:t>valueY</a:t>
            </a:r>
            <a:r>
              <a:rPr lang="fr-MA" sz="1400" b="1" dirty="0">
                <a:solidFill>
                  <a:srgbClr val="00B050"/>
                </a:solidFill>
              </a:rPr>
              <a:t> * (max - min))</a:t>
            </a:r>
          </a:p>
          <a:p>
            <a:r>
              <a:rPr lang="fr-MA" sz="1400" b="1" dirty="0">
                <a:solidFill>
                  <a:srgbClr val="00B050"/>
                </a:solidFill>
              </a:rPr>
              <a:t>        y=round(scaledvalueY,1)</a:t>
            </a:r>
          </a:p>
          <a:p>
            <a:r>
              <a:rPr lang="fr-MA" sz="1400" b="1" dirty="0"/>
              <a:t>     </a:t>
            </a:r>
            <a:r>
              <a:rPr lang="fr-MA" sz="1400" b="1" dirty="0">
                <a:solidFill>
                  <a:srgbClr val="7030A0"/>
                </a:solidFill>
              </a:rPr>
              <a:t>   y0=f(x)</a:t>
            </a:r>
          </a:p>
          <a:p>
            <a:r>
              <a:rPr lang="fr-MA" sz="1400" b="1" dirty="0">
                <a:solidFill>
                  <a:srgbClr val="7030A0"/>
                </a:solidFill>
              </a:rPr>
              <a:t>        cl=0</a:t>
            </a:r>
          </a:p>
          <a:p>
            <a:r>
              <a:rPr lang="fr-MA" sz="1400" b="1" dirty="0">
                <a:solidFill>
                  <a:srgbClr val="7030A0"/>
                </a:solidFill>
              </a:rPr>
              <a:t>        if(y&gt;y0):</a:t>
            </a:r>
          </a:p>
          <a:p>
            <a:r>
              <a:rPr lang="fr-MA" sz="1400" b="1" dirty="0">
                <a:solidFill>
                  <a:srgbClr val="7030A0"/>
                </a:solidFill>
              </a:rPr>
              <a:t>            cl=1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L.append</a:t>
            </a:r>
            <a:r>
              <a:rPr lang="fr-MA" sz="1400" dirty="0"/>
              <a:t>(</a:t>
            </a:r>
            <a:r>
              <a:rPr lang="fr-MA" sz="1400" b="1" dirty="0">
                <a:solidFill>
                  <a:srgbClr val="C00000"/>
                </a:solidFill>
              </a:rPr>
              <a:t>[</a:t>
            </a:r>
            <a:r>
              <a:rPr lang="fr-MA" sz="1400" b="1" dirty="0" err="1">
                <a:solidFill>
                  <a:srgbClr val="C00000"/>
                </a:solidFill>
              </a:rPr>
              <a:t>x,y,cl</a:t>
            </a:r>
            <a:r>
              <a:rPr lang="fr-MA" sz="1400" b="1" dirty="0">
                <a:solidFill>
                  <a:srgbClr val="C00000"/>
                </a:solidFill>
              </a:rPr>
              <a:t>]</a:t>
            </a:r>
            <a:r>
              <a:rPr lang="fr-MA" sz="1400" dirty="0"/>
              <a:t>)</a:t>
            </a:r>
          </a:p>
          <a:p>
            <a:r>
              <a:rPr lang="fr-MA" sz="1400" dirty="0"/>
              <a:t>    return 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527B5-BCEC-4BC6-174B-3F422B347F39}"/>
              </a:ext>
            </a:extLst>
          </p:cNvPr>
          <p:cNvSpPr txBox="1"/>
          <p:nvPr/>
        </p:nvSpPr>
        <p:spPr>
          <a:xfrm>
            <a:off x="4389120" y="1336655"/>
            <a:ext cx="2225040" cy="1354217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/>
              <a:t>data=</a:t>
            </a:r>
            <a:r>
              <a:rPr lang="fr-MA" sz="1600" dirty="0" err="1"/>
              <a:t>generateData</a:t>
            </a:r>
            <a:r>
              <a:rPr lang="fr-MA" sz="1600" dirty="0"/>
              <a:t>(100)</a:t>
            </a:r>
          </a:p>
          <a:p>
            <a:r>
              <a:rPr lang="fr-MA" sz="1600" dirty="0"/>
              <a:t>data=</a:t>
            </a:r>
            <a:r>
              <a:rPr lang="fr-MA" sz="1600" dirty="0" err="1"/>
              <a:t>np.array</a:t>
            </a:r>
            <a:r>
              <a:rPr lang="fr-MA" sz="1600" dirty="0"/>
              <a:t>(L)</a:t>
            </a:r>
          </a:p>
          <a:p>
            <a:r>
              <a:rPr lang="es-ES" sz="1600" dirty="0"/>
              <a:t>X1=data[:,0]</a:t>
            </a:r>
          </a:p>
          <a:p>
            <a:r>
              <a:rPr lang="es-ES" sz="1600" dirty="0"/>
              <a:t>X2=data[:,1]</a:t>
            </a:r>
          </a:p>
          <a:p>
            <a:r>
              <a:rPr lang="es-ES" sz="1600" dirty="0"/>
              <a:t>C=data[:,2]</a:t>
            </a:r>
            <a:endParaRPr lang="fr-MA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CED7E9-FAC6-62B9-B4A5-37BECDA50D61}"/>
              </a:ext>
            </a:extLst>
          </p:cNvPr>
          <p:cNvSpPr txBox="1"/>
          <p:nvPr/>
        </p:nvSpPr>
        <p:spPr>
          <a:xfrm>
            <a:off x="4389120" y="2690872"/>
            <a:ext cx="6553200" cy="584775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colors</a:t>
            </a:r>
            <a:r>
              <a:rPr lang="fr-MA" sz="1600" dirty="0"/>
              <a:t> = ['</a:t>
            </a:r>
            <a:r>
              <a:rPr lang="fr-MA" sz="1600" dirty="0" err="1"/>
              <a:t>red</a:t>
            </a:r>
            <a:r>
              <a:rPr lang="fr-MA" sz="1600" dirty="0"/>
              <a:t>','</a:t>
            </a:r>
            <a:r>
              <a:rPr lang="fr-MA" sz="1600" dirty="0" err="1"/>
              <a:t>blue</a:t>
            </a:r>
            <a:r>
              <a:rPr lang="fr-MA" sz="1600" dirty="0"/>
              <a:t>']</a:t>
            </a:r>
          </a:p>
          <a:p>
            <a:r>
              <a:rPr lang="fr-MA" sz="1600" dirty="0" err="1"/>
              <a:t>plt.scatter</a:t>
            </a:r>
            <a:r>
              <a:rPr lang="fr-MA" sz="1600" dirty="0"/>
              <a:t>(X1,X2,c=</a:t>
            </a:r>
            <a:r>
              <a:rPr lang="fr-MA" sz="1600" dirty="0" err="1"/>
              <a:t>C,cmap</a:t>
            </a:r>
            <a:r>
              <a:rPr lang="fr-MA" sz="1600" dirty="0"/>
              <a:t>=</a:t>
            </a:r>
            <a:r>
              <a:rPr lang="fr-MA" sz="1600" dirty="0" err="1"/>
              <a:t>clr.ListedColormap</a:t>
            </a:r>
            <a:r>
              <a:rPr lang="fr-MA" sz="1600" dirty="0"/>
              <a:t>(</a:t>
            </a:r>
            <a:r>
              <a:rPr lang="fr-MA" sz="1600" dirty="0" err="1"/>
              <a:t>colors</a:t>
            </a:r>
            <a:r>
              <a:rPr lang="fr-MA" sz="1600" dirty="0"/>
              <a:t>))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190084-94B5-2FD1-4A67-2159355FD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482310"/>
            <a:ext cx="4329113" cy="32728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624B6A-51CF-2BA4-6A4E-94DDEBEDDC7E}"/>
              </a:ext>
            </a:extLst>
          </p:cNvPr>
          <p:cNvSpPr txBox="1"/>
          <p:nvPr/>
        </p:nvSpPr>
        <p:spPr>
          <a:xfrm>
            <a:off x="7637779" y="625286"/>
            <a:ext cx="38277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 err="1">
                <a:solidFill>
                  <a:srgbClr val="0066FF"/>
                </a:solidFill>
              </a:rPr>
              <a:t>Génerer</a:t>
            </a:r>
            <a:r>
              <a:rPr lang="fr-MA" sz="2400" b="1" dirty="0">
                <a:solidFill>
                  <a:srgbClr val="0066FF"/>
                </a:solidFill>
              </a:rPr>
              <a:t> le </a:t>
            </a:r>
            <a:r>
              <a:rPr lang="fr-MA" sz="2400" b="1" dirty="0" err="1">
                <a:solidFill>
                  <a:srgbClr val="0066FF"/>
                </a:solidFill>
              </a:rPr>
              <a:t>dataset</a:t>
            </a:r>
            <a:endParaRPr lang="fr-MA" sz="24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969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71F316-87F9-A79B-4D75-732746AD551F}"/>
              </a:ext>
            </a:extLst>
          </p:cNvPr>
          <p:cNvSpPr txBox="1"/>
          <p:nvPr/>
        </p:nvSpPr>
        <p:spPr>
          <a:xfrm>
            <a:off x="4922520" y="746674"/>
            <a:ext cx="4450080" cy="4801314"/>
          </a:xfrm>
          <a:prstGeom prst="rect">
            <a:avLst/>
          </a:prstGeom>
          <a:solidFill>
            <a:srgbClr val="FFFFCC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lr</a:t>
            </a:r>
            <a:r>
              <a:rPr lang="fr-MA" dirty="0"/>
              <a:t>=0.01</a:t>
            </a:r>
          </a:p>
          <a:p>
            <a:r>
              <a:rPr lang="fr-MA" dirty="0" err="1"/>
              <a:t>def</a:t>
            </a:r>
            <a:r>
              <a:rPr lang="fr-MA" dirty="0"/>
              <a:t> fit(X1,X2,y):</a:t>
            </a:r>
          </a:p>
          <a:p>
            <a:r>
              <a:rPr lang="fr-MA" dirty="0"/>
              <a:t>    n=</a:t>
            </a:r>
            <a:r>
              <a:rPr lang="fr-MA" dirty="0" err="1"/>
              <a:t>len</a:t>
            </a:r>
            <a:r>
              <a:rPr lang="fr-MA" dirty="0"/>
              <a:t>(y)</a:t>
            </a:r>
          </a:p>
          <a:p>
            <a:r>
              <a:rPr lang="fr-MA" dirty="0"/>
              <a:t> </a:t>
            </a:r>
            <a:r>
              <a:rPr lang="fr-MA" b="1" dirty="0">
                <a:solidFill>
                  <a:srgbClr val="C00000"/>
                </a:solidFill>
              </a:rPr>
              <a:t>   w1=0.1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w2=0.1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=0.1</a:t>
            </a:r>
          </a:p>
          <a:p>
            <a:r>
              <a:rPr lang="fr-MA" dirty="0"/>
              <a:t>    for k in range(10000):</a:t>
            </a:r>
          </a:p>
          <a:p>
            <a:r>
              <a:rPr lang="fr-MA" dirty="0"/>
              <a:t>      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=bias+w1*X1+w2*X2</a:t>
            </a:r>
          </a:p>
          <a:p>
            <a:r>
              <a:rPr lang="fr-MA" b="1" dirty="0">
                <a:solidFill>
                  <a:srgbClr val="0066FF"/>
                </a:solidFill>
              </a:rPr>
              <a:t>    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</a:t>
            </a:r>
            <a:r>
              <a:rPr lang="fr-MA" b="1" dirty="0" err="1">
                <a:solidFill>
                  <a:srgbClr val="0066FF"/>
                </a:solidFill>
              </a:rPr>
              <a:t>sigmoid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)</a:t>
            </a:r>
          </a:p>
          <a:p>
            <a:r>
              <a:rPr lang="fr-MA" b="1" dirty="0">
                <a:solidFill>
                  <a:srgbClr val="0066FF"/>
                </a:solidFill>
              </a:rPr>
              <a:t>      </a:t>
            </a:r>
          </a:p>
          <a:p>
            <a:r>
              <a:rPr lang="fr-MA" dirty="0"/>
              <a:t>     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>
                <a:solidFill>
                  <a:srgbClr val="7030A0"/>
                </a:solidFill>
              </a:rPr>
              <a:t>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=-(2/n)*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dw1=-(2/n)*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(X1*(y-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dw2=-(2/n)*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(X2*(y-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  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w1=w1-dw1*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w2=w2-dw2*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dirty="0"/>
              <a:t>    return bias,w1,w2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78DD5-8491-E8A2-089D-AC1E55E617E1}"/>
              </a:ext>
            </a:extLst>
          </p:cNvPr>
          <p:cNvSpPr txBox="1"/>
          <p:nvPr/>
        </p:nvSpPr>
        <p:spPr>
          <a:xfrm>
            <a:off x="6995161" y="1773913"/>
            <a:ext cx="23774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9635C-3B84-6999-DF4B-967229BFC849}"/>
              </a:ext>
            </a:extLst>
          </p:cNvPr>
          <p:cNvSpPr txBox="1"/>
          <p:nvPr/>
        </p:nvSpPr>
        <p:spPr>
          <a:xfrm>
            <a:off x="7412129" y="2433158"/>
            <a:ext cx="1960471" cy="307777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sz="1400" dirty="0" err="1">
                <a:solidFill>
                  <a:schemeClr val="bg1"/>
                </a:solidFill>
              </a:rPr>
              <a:t>Predict</a:t>
            </a:r>
            <a:r>
              <a:rPr lang="fr-MA" sz="1400" dirty="0">
                <a:solidFill>
                  <a:schemeClr val="bg1"/>
                </a:solidFill>
              </a:rPr>
              <a:t> </a:t>
            </a:r>
            <a:r>
              <a:rPr lang="fr-MA" sz="1400" dirty="0" err="1">
                <a:solidFill>
                  <a:schemeClr val="bg1"/>
                </a:solidFill>
              </a:rPr>
              <a:t>using</a:t>
            </a:r>
            <a:r>
              <a:rPr lang="fr-MA" sz="1400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18B76-18AF-0C9B-472E-93871E6FC99C}"/>
              </a:ext>
            </a:extLst>
          </p:cNvPr>
          <p:cNvSpPr txBox="1"/>
          <p:nvPr/>
        </p:nvSpPr>
        <p:spPr>
          <a:xfrm>
            <a:off x="7412129" y="3200963"/>
            <a:ext cx="1960471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0E446F-4041-A810-9EBD-4684131D022A}"/>
              </a:ext>
            </a:extLst>
          </p:cNvPr>
          <p:cNvSpPr txBox="1"/>
          <p:nvPr/>
        </p:nvSpPr>
        <p:spPr>
          <a:xfrm>
            <a:off x="9509652" y="4251045"/>
            <a:ext cx="119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5000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1FCDF-E750-327E-948B-5120607BCE6D}"/>
              </a:ext>
            </a:extLst>
          </p:cNvPr>
          <p:cNvSpPr txBox="1"/>
          <p:nvPr/>
        </p:nvSpPr>
        <p:spPr>
          <a:xfrm>
            <a:off x="9357360" y="103541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E330F7-61B4-00B9-E4A3-81DF8619D5D6}"/>
              </a:ext>
            </a:extLst>
          </p:cNvPr>
          <p:cNvSpPr txBox="1"/>
          <p:nvPr/>
        </p:nvSpPr>
        <p:spPr>
          <a:xfrm>
            <a:off x="9502086" y="202263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400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7AD8A-03DC-10B9-2004-C85C8C453156}"/>
              </a:ext>
            </a:extLst>
          </p:cNvPr>
          <p:cNvSpPr txBox="1"/>
          <p:nvPr/>
        </p:nvSpPr>
        <p:spPr>
          <a:xfrm>
            <a:off x="30478" y="11340"/>
            <a:ext cx="6461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0065FA"/>
                </a:solidFill>
              </a:rPr>
              <a:t>Classification </a:t>
            </a:r>
            <a:r>
              <a:rPr lang="fr-MA" sz="2000" b="1" dirty="0" err="1">
                <a:solidFill>
                  <a:srgbClr val="0065FA"/>
                </a:solidFill>
              </a:rPr>
              <a:t>Problem</a:t>
            </a:r>
            <a:r>
              <a:rPr lang="fr-MA" sz="2000" b="1" dirty="0">
                <a:solidFill>
                  <a:srgbClr val="0065FA"/>
                </a:solidFill>
              </a:rPr>
              <a:t> by </a:t>
            </a:r>
            <a:r>
              <a:rPr lang="fr-MA" sz="2000" b="1" dirty="0" err="1">
                <a:solidFill>
                  <a:srgbClr val="0065FA"/>
                </a:solidFill>
              </a:rPr>
              <a:t>using</a:t>
            </a:r>
            <a:r>
              <a:rPr lang="fr-MA" sz="2000" b="1" dirty="0">
                <a:solidFill>
                  <a:srgbClr val="0065FA"/>
                </a:solidFill>
              </a:rPr>
              <a:t> </a:t>
            </a:r>
            <a:r>
              <a:rPr lang="fr-MA" sz="2000" b="1" dirty="0" err="1">
                <a:solidFill>
                  <a:srgbClr val="0065FA"/>
                </a:solidFill>
              </a:rPr>
              <a:t>Logistic</a:t>
            </a:r>
            <a:r>
              <a:rPr lang="fr-MA" sz="2000" b="1" dirty="0">
                <a:solidFill>
                  <a:srgbClr val="0065FA"/>
                </a:solidFill>
              </a:rPr>
              <a:t> </a:t>
            </a:r>
            <a:r>
              <a:rPr lang="fr-MA" sz="2000" b="1" dirty="0" err="1">
                <a:solidFill>
                  <a:srgbClr val="0065FA"/>
                </a:solidFill>
              </a:rPr>
              <a:t>Regression</a:t>
            </a:r>
            <a:endParaRPr lang="fr-MA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endParaRPr lang="fr-MA" sz="2000" b="1" dirty="0">
              <a:solidFill>
                <a:srgbClr val="0066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AF9D54-1091-BB52-121C-0F4BE7F1D5C9}"/>
              </a:ext>
            </a:extLst>
          </p:cNvPr>
          <p:cNvSpPr txBox="1"/>
          <p:nvPr/>
        </p:nvSpPr>
        <p:spPr>
          <a:xfrm>
            <a:off x="56847" y="4078499"/>
            <a:ext cx="3606662" cy="7232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b="1" dirty="0" err="1">
                <a:solidFill>
                  <a:srgbClr val="FF3300"/>
                </a:solidFill>
              </a:rPr>
              <a:t>def</a:t>
            </a:r>
            <a:r>
              <a:rPr lang="fr-MA" b="1" dirty="0">
                <a:solidFill>
                  <a:srgbClr val="FF3300"/>
                </a:solidFill>
              </a:rPr>
              <a:t> </a:t>
            </a:r>
            <a:r>
              <a:rPr lang="fr-MA" b="1" dirty="0" err="1">
                <a:solidFill>
                  <a:srgbClr val="FF3300"/>
                </a:solidFill>
              </a:rPr>
              <a:t>sigmoid</a:t>
            </a:r>
            <a:r>
              <a:rPr lang="fr-MA" b="1" dirty="0">
                <a:solidFill>
                  <a:srgbClr val="FF3300"/>
                </a:solidFill>
              </a:rPr>
              <a:t>(Z):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FF3300"/>
                </a:solidFill>
              </a:rPr>
              <a:t>    return 1/(1+np.exp(-Z))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005F7F-E3EA-F696-082F-77DB9D46133E}"/>
              </a:ext>
            </a:extLst>
          </p:cNvPr>
          <p:cNvSpPr txBox="1"/>
          <p:nvPr/>
        </p:nvSpPr>
        <p:spPr>
          <a:xfrm>
            <a:off x="96930" y="4893434"/>
            <a:ext cx="3606661" cy="1431161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b="1" dirty="0" err="1">
                <a:solidFill>
                  <a:srgbClr val="0066FF"/>
                </a:solidFill>
              </a:rPr>
              <a:t>def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predict</a:t>
            </a:r>
            <a:r>
              <a:rPr lang="fr-MA" b="1" dirty="0">
                <a:solidFill>
                  <a:srgbClr val="0066FF"/>
                </a:solidFill>
              </a:rPr>
              <a:t>(X):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=bias+np.dot(X,W)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</a:t>
            </a:r>
            <a:r>
              <a:rPr lang="fr-MA" b="1" dirty="0" err="1">
                <a:solidFill>
                  <a:srgbClr val="FF3300"/>
                </a:solidFill>
              </a:rPr>
              <a:t>sigmoid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 return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endParaRPr lang="fr-MA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020001B-E262-7263-10E1-56E1D9C75540}"/>
                  </a:ext>
                </a:extLst>
              </p:cNvPr>
              <p:cNvSpPr txBox="1"/>
              <p:nvPr/>
            </p:nvSpPr>
            <p:spPr>
              <a:xfrm>
                <a:off x="18150" y="834346"/>
                <a:ext cx="5132969" cy="5286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𝒔𝒊𝒈𝒎𝒐𝒊𝒅</m:t>
                      </m:r>
                      <m:d>
                        <m:dPr>
                          <m:ctrlPr>
                            <a:rPr lang="fr-MA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fr-FR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fr-FR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fr-MA" b="1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MA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MA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MA" b="1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MA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MA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fr-MA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𝒃𝒊𝒂𝒔</m:t>
                              </m:r>
                              <m:r>
                                <a:rPr lang="fr-FR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fr-FR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fr-FR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fr-FR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FR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fr-FR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fr-FR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fr-FR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fr-FR" b="1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MA" b="1" dirty="0">
                  <a:solidFill>
                    <a:srgbClr val="FF3300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020001B-E262-7263-10E1-56E1D9C75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0" y="834346"/>
                <a:ext cx="5132969" cy="5286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8BC132F2-57E2-F55F-6B15-B9532F797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231" y="506492"/>
            <a:ext cx="2377440" cy="161456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AD95B39-3519-5B84-263D-1E8E0FE46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652" y="2406372"/>
            <a:ext cx="2627924" cy="183546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8500CBA-134B-2E69-1776-F7478F802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652" y="4620377"/>
            <a:ext cx="2627924" cy="183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30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71F316-87F9-A79B-4D75-732746AD551F}"/>
              </a:ext>
            </a:extLst>
          </p:cNvPr>
          <p:cNvSpPr txBox="1"/>
          <p:nvPr/>
        </p:nvSpPr>
        <p:spPr>
          <a:xfrm>
            <a:off x="4531770" y="746674"/>
            <a:ext cx="4840830" cy="4801314"/>
          </a:xfrm>
          <a:prstGeom prst="rect">
            <a:avLst/>
          </a:prstGeom>
          <a:solidFill>
            <a:srgbClr val="FFFFCC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lr</a:t>
            </a:r>
            <a:r>
              <a:rPr lang="fr-MA" dirty="0"/>
              <a:t>=0.01</a:t>
            </a:r>
          </a:p>
          <a:p>
            <a:r>
              <a:rPr lang="fr-MA" dirty="0" err="1"/>
              <a:t>def</a:t>
            </a:r>
            <a:r>
              <a:rPr lang="fr-MA" dirty="0"/>
              <a:t> fit(X1,X2,y):</a:t>
            </a:r>
          </a:p>
          <a:p>
            <a:r>
              <a:rPr lang="fr-MA" dirty="0"/>
              <a:t>    n=</a:t>
            </a:r>
            <a:r>
              <a:rPr lang="fr-MA" dirty="0" err="1"/>
              <a:t>len</a:t>
            </a:r>
            <a:r>
              <a:rPr lang="fr-MA" dirty="0"/>
              <a:t>(y)</a:t>
            </a:r>
          </a:p>
          <a:p>
            <a:r>
              <a:rPr lang="fr-MA" dirty="0"/>
              <a:t> </a:t>
            </a:r>
            <a:r>
              <a:rPr lang="fr-MA" b="1" dirty="0">
                <a:solidFill>
                  <a:srgbClr val="C00000"/>
                </a:solidFill>
              </a:rPr>
              <a:t>   w1=0.1</a:t>
            </a:r>
          </a:p>
          <a:p>
            <a:r>
              <a:rPr lang="fr-MA" b="1" dirty="0">
                <a:solidFill>
                  <a:srgbClr val="C00000"/>
                </a:solidFill>
              </a:rPr>
              <a:t>    w2=0.1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=0.1</a:t>
            </a:r>
          </a:p>
          <a:p>
            <a:r>
              <a:rPr lang="fr-MA" dirty="0"/>
              <a:t>    for k in range(10000):</a:t>
            </a:r>
          </a:p>
          <a:p>
            <a:r>
              <a:rPr lang="fr-MA" dirty="0"/>
              <a:t>      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=bias+w1*X1+w2*X2</a:t>
            </a:r>
          </a:p>
          <a:p>
            <a:r>
              <a:rPr lang="fr-MA" b="1" dirty="0">
                <a:solidFill>
                  <a:srgbClr val="0066FF"/>
                </a:solidFill>
              </a:rPr>
              <a:t>    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</a:t>
            </a:r>
            <a:r>
              <a:rPr lang="fr-MA" b="1" dirty="0" err="1">
                <a:solidFill>
                  <a:srgbClr val="0066FF"/>
                </a:solidFill>
              </a:rPr>
              <a:t>sigmoid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)</a:t>
            </a:r>
          </a:p>
          <a:p>
            <a:r>
              <a:rPr lang="fr-MA" b="1" dirty="0">
                <a:solidFill>
                  <a:srgbClr val="0066FF"/>
                </a:solidFill>
              </a:rPr>
              <a:t>      </a:t>
            </a:r>
          </a:p>
          <a:p>
            <a:r>
              <a:rPr lang="fr-MA" dirty="0"/>
              <a:t>     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>
                <a:solidFill>
                  <a:srgbClr val="7030A0"/>
                </a:solidFill>
              </a:rPr>
              <a:t>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=-(2/n)*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dw1=-(2/n)*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(X1*(y-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dw2=-(2/n)*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(X2*(y-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  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w1=w1-dw1*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w2=w2-dw2*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dirty="0"/>
              <a:t>    return bias,w1,w2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78DD5-8491-E8A2-089D-AC1E55E617E1}"/>
              </a:ext>
            </a:extLst>
          </p:cNvPr>
          <p:cNvSpPr txBox="1"/>
          <p:nvPr/>
        </p:nvSpPr>
        <p:spPr>
          <a:xfrm>
            <a:off x="6995161" y="1773913"/>
            <a:ext cx="23774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9635C-3B84-6999-DF4B-967229BFC849}"/>
              </a:ext>
            </a:extLst>
          </p:cNvPr>
          <p:cNvSpPr txBox="1"/>
          <p:nvPr/>
        </p:nvSpPr>
        <p:spPr>
          <a:xfrm>
            <a:off x="7412129" y="2722718"/>
            <a:ext cx="1960471" cy="307777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sz="1400" dirty="0" err="1">
                <a:solidFill>
                  <a:schemeClr val="bg1"/>
                </a:solidFill>
              </a:rPr>
              <a:t>Predict</a:t>
            </a:r>
            <a:r>
              <a:rPr lang="fr-MA" sz="1400" dirty="0">
                <a:solidFill>
                  <a:schemeClr val="bg1"/>
                </a:solidFill>
              </a:rPr>
              <a:t> </a:t>
            </a:r>
            <a:r>
              <a:rPr lang="fr-MA" sz="1400" dirty="0" err="1">
                <a:solidFill>
                  <a:schemeClr val="bg1"/>
                </a:solidFill>
              </a:rPr>
              <a:t>using</a:t>
            </a:r>
            <a:r>
              <a:rPr lang="fr-MA" sz="1400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18B76-18AF-0C9B-472E-93871E6FC99C}"/>
              </a:ext>
            </a:extLst>
          </p:cNvPr>
          <p:cNvSpPr txBox="1"/>
          <p:nvPr/>
        </p:nvSpPr>
        <p:spPr>
          <a:xfrm>
            <a:off x="7412129" y="3200963"/>
            <a:ext cx="1960471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7AD8A-03DC-10B9-2004-C85C8C453156}"/>
              </a:ext>
            </a:extLst>
          </p:cNvPr>
          <p:cNvSpPr txBox="1"/>
          <p:nvPr/>
        </p:nvSpPr>
        <p:spPr>
          <a:xfrm>
            <a:off x="30478" y="11340"/>
            <a:ext cx="6461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0065FA"/>
                </a:solidFill>
              </a:rPr>
              <a:t>Classification </a:t>
            </a:r>
            <a:r>
              <a:rPr lang="fr-MA" sz="2000" b="1" dirty="0" err="1">
                <a:solidFill>
                  <a:srgbClr val="0065FA"/>
                </a:solidFill>
              </a:rPr>
              <a:t>Problem</a:t>
            </a:r>
            <a:r>
              <a:rPr lang="fr-MA" sz="2000" b="1" dirty="0">
                <a:solidFill>
                  <a:srgbClr val="0065FA"/>
                </a:solidFill>
              </a:rPr>
              <a:t> by </a:t>
            </a:r>
            <a:r>
              <a:rPr lang="fr-MA" sz="2000" b="1" dirty="0" err="1">
                <a:solidFill>
                  <a:srgbClr val="0065FA"/>
                </a:solidFill>
              </a:rPr>
              <a:t>using</a:t>
            </a:r>
            <a:r>
              <a:rPr lang="fr-MA" sz="2000" b="1" dirty="0">
                <a:solidFill>
                  <a:srgbClr val="0065FA"/>
                </a:solidFill>
              </a:rPr>
              <a:t> neural network (1 neurone)</a:t>
            </a:r>
            <a:endParaRPr lang="fr-MA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endParaRPr lang="fr-MA" sz="2000" b="1" dirty="0">
              <a:solidFill>
                <a:srgbClr val="0066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003926-C4F5-5691-F1A1-7BDC1A25BA6B}"/>
              </a:ext>
            </a:extLst>
          </p:cNvPr>
          <p:cNvSpPr/>
          <p:nvPr/>
        </p:nvSpPr>
        <p:spPr>
          <a:xfrm>
            <a:off x="70179" y="777650"/>
            <a:ext cx="2632488" cy="22528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0794EC-6D70-1FE8-0BE2-56C845B5279B}"/>
              </a:ext>
            </a:extLst>
          </p:cNvPr>
          <p:cNvSpPr/>
          <p:nvPr/>
        </p:nvSpPr>
        <p:spPr>
          <a:xfrm>
            <a:off x="1350440" y="1513323"/>
            <a:ext cx="863993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A85A98-9C56-97E7-F55D-DFE782A009A6}"/>
              </a:ext>
            </a:extLst>
          </p:cNvPr>
          <p:cNvCxnSpPr>
            <a:cxnSpLocks/>
          </p:cNvCxnSpPr>
          <p:nvPr/>
        </p:nvCxnSpPr>
        <p:spPr>
          <a:xfrm>
            <a:off x="440917" y="1419825"/>
            <a:ext cx="931956" cy="472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FCDD7C4-4B43-57F2-A114-FAAA3BB6408A}"/>
              </a:ext>
            </a:extLst>
          </p:cNvPr>
          <p:cNvSpPr txBox="1"/>
          <p:nvPr/>
        </p:nvSpPr>
        <p:spPr>
          <a:xfrm>
            <a:off x="76965" y="1231799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15EEB0-8D49-BB26-0FFF-35E7FAA9FFE6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462937" y="1892537"/>
            <a:ext cx="887503" cy="472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A177E97-9129-4077-1441-9ED18ECA2A00}"/>
              </a:ext>
            </a:extLst>
          </p:cNvPr>
          <p:cNvSpPr txBox="1"/>
          <p:nvPr/>
        </p:nvSpPr>
        <p:spPr>
          <a:xfrm>
            <a:off x="56847" y="2170993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700CFA-4A58-6624-C970-5F484FCEB4D6}"/>
              </a:ext>
            </a:extLst>
          </p:cNvPr>
          <p:cNvSpPr txBox="1"/>
          <p:nvPr/>
        </p:nvSpPr>
        <p:spPr>
          <a:xfrm>
            <a:off x="511895" y="119839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A77CF12-23ED-92C5-FB6E-FF4766D7015A}"/>
              </a:ext>
            </a:extLst>
          </p:cNvPr>
          <p:cNvCxnSpPr>
            <a:stCxn id="15" idx="0"/>
            <a:endCxn id="15" idx="4"/>
          </p:cNvCxnSpPr>
          <p:nvPr/>
        </p:nvCxnSpPr>
        <p:spPr>
          <a:xfrm>
            <a:off x="1782437" y="1513323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8682DD-9FFD-9870-4CA9-68F032364FD0}"/>
              </a:ext>
            </a:extLst>
          </p:cNvPr>
          <p:cNvSpPr txBox="1"/>
          <p:nvPr/>
        </p:nvSpPr>
        <p:spPr>
          <a:xfrm>
            <a:off x="1372873" y="1707871"/>
            <a:ext cx="45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C5F483-E3D9-53B1-E2A5-1585ED83A0C8}"/>
              </a:ext>
            </a:extLst>
          </p:cNvPr>
          <p:cNvSpPr txBox="1"/>
          <p:nvPr/>
        </p:nvSpPr>
        <p:spPr>
          <a:xfrm>
            <a:off x="1735101" y="1722888"/>
            <a:ext cx="57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f(</a:t>
            </a:r>
            <a:r>
              <a:rPr lang="fr-MA" dirty="0">
                <a:solidFill>
                  <a:srgbClr val="FF33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B0784F-A087-DDE1-2C39-CC0861BCD0FC}"/>
              </a:ext>
            </a:extLst>
          </p:cNvPr>
          <p:cNvSpPr txBox="1"/>
          <p:nvPr/>
        </p:nvSpPr>
        <p:spPr>
          <a:xfrm>
            <a:off x="1201066" y="862051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5DD5173-F735-DC15-E112-4444F261051B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1328925" y="1216691"/>
            <a:ext cx="21515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60FF26B-AD0A-F325-5DA1-7DA442A98BAB}"/>
              </a:ext>
            </a:extLst>
          </p:cNvPr>
          <p:cNvSpPr txBox="1"/>
          <p:nvPr/>
        </p:nvSpPr>
        <p:spPr>
          <a:xfrm>
            <a:off x="390011" y="202031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AF9D54-1091-BB52-121C-0F4BE7F1D5C9}"/>
              </a:ext>
            </a:extLst>
          </p:cNvPr>
          <p:cNvSpPr txBox="1"/>
          <p:nvPr/>
        </p:nvSpPr>
        <p:spPr>
          <a:xfrm>
            <a:off x="56847" y="4078499"/>
            <a:ext cx="3606662" cy="7232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b="1" dirty="0" err="1">
                <a:solidFill>
                  <a:srgbClr val="FF3300"/>
                </a:solidFill>
              </a:rPr>
              <a:t>def</a:t>
            </a:r>
            <a:r>
              <a:rPr lang="fr-MA" b="1" dirty="0">
                <a:solidFill>
                  <a:srgbClr val="FF3300"/>
                </a:solidFill>
              </a:rPr>
              <a:t> </a:t>
            </a:r>
            <a:r>
              <a:rPr lang="fr-MA" b="1" dirty="0" err="1">
                <a:solidFill>
                  <a:srgbClr val="FF3300"/>
                </a:solidFill>
              </a:rPr>
              <a:t>sigmoid</a:t>
            </a:r>
            <a:r>
              <a:rPr lang="fr-MA" b="1" dirty="0">
                <a:solidFill>
                  <a:srgbClr val="FF3300"/>
                </a:solidFill>
              </a:rPr>
              <a:t>(Z):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FF3300"/>
                </a:solidFill>
              </a:rPr>
              <a:t>    return 1/(1+np.exp(-Z))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D6DB89-EB30-D5F0-8AD9-8EF0936FD73F}"/>
              </a:ext>
            </a:extLst>
          </p:cNvPr>
          <p:cNvSpPr txBox="1"/>
          <p:nvPr/>
        </p:nvSpPr>
        <p:spPr>
          <a:xfrm>
            <a:off x="28528" y="3520440"/>
            <a:ext cx="4448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Activation: Identity or </a:t>
            </a:r>
            <a:r>
              <a:rPr lang="fr-MA" dirty="0" err="1">
                <a:solidFill>
                  <a:srgbClr val="FF3300"/>
                </a:solidFill>
              </a:rPr>
              <a:t>linear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005F7F-E3EA-F696-082F-77DB9D46133E}"/>
              </a:ext>
            </a:extLst>
          </p:cNvPr>
          <p:cNvSpPr txBox="1"/>
          <p:nvPr/>
        </p:nvSpPr>
        <p:spPr>
          <a:xfrm>
            <a:off x="96930" y="4893434"/>
            <a:ext cx="3606661" cy="1431161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b="1" dirty="0" err="1">
                <a:solidFill>
                  <a:srgbClr val="0066FF"/>
                </a:solidFill>
              </a:rPr>
              <a:t>def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predict</a:t>
            </a:r>
            <a:r>
              <a:rPr lang="fr-MA" b="1" dirty="0">
                <a:solidFill>
                  <a:srgbClr val="0066FF"/>
                </a:solidFill>
              </a:rPr>
              <a:t>(X):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=bias+np.dot(X,W)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r>
              <a:rPr lang="fr-MA" b="1" dirty="0">
                <a:solidFill>
                  <a:srgbClr val="0066FF"/>
                </a:solidFill>
              </a:rPr>
              <a:t>=</a:t>
            </a:r>
            <a:r>
              <a:rPr lang="fr-MA" b="1" dirty="0" err="1">
                <a:solidFill>
                  <a:srgbClr val="FF3300"/>
                </a:solidFill>
              </a:rPr>
              <a:t>sigmoid</a:t>
            </a:r>
            <a:r>
              <a:rPr lang="fr-MA" b="1" dirty="0">
                <a:solidFill>
                  <a:srgbClr val="0066FF"/>
                </a:solidFill>
              </a:rPr>
              <a:t>(</a:t>
            </a:r>
            <a:r>
              <a:rPr lang="fr-MA" b="1" dirty="0" err="1">
                <a:solidFill>
                  <a:srgbClr val="0066FF"/>
                </a:solidFill>
              </a:rPr>
              <a:t>ws</a:t>
            </a:r>
            <a:r>
              <a:rPr lang="fr-MA" b="1" dirty="0">
                <a:solidFill>
                  <a:srgbClr val="0066FF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0066FF"/>
                </a:solidFill>
              </a:rPr>
              <a:t>     return </a:t>
            </a:r>
            <a:r>
              <a:rPr lang="fr-MA" b="1" dirty="0" err="1">
                <a:solidFill>
                  <a:srgbClr val="0066FF"/>
                </a:solidFill>
              </a:rPr>
              <a:t>yhat</a:t>
            </a:r>
            <a:endParaRPr lang="fr-MA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9750230-AD80-26A8-C270-F60A0D5B5399}"/>
                  </a:ext>
                </a:extLst>
              </p:cNvPr>
              <p:cNvSpPr txBox="1"/>
              <p:nvPr/>
            </p:nvSpPr>
            <p:spPr>
              <a:xfrm>
                <a:off x="62467" y="3184427"/>
                <a:ext cx="4448086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1+…+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𝑋𝑚</m:t>
                      </m:r>
                    </m:oMath>
                  </m:oMathPara>
                </a14:m>
                <a:endParaRPr lang="fr-MA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9750230-AD80-26A8-C270-F60A0D5B5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7" y="3184427"/>
                <a:ext cx="4448086" cy="246221"/>
              </a:xfrm>
              <a:prstGeom prst="rect">
                <a:avLst/>
              </a:prstGeom>
              <a:blipFill>
                <a:blip r:embed="rId5"/>
                <a:stretch>
                  <a:fillRect l="-2055" b="-31707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020001B-E262-7263-10E1-56E1D9C75540}"/>
                  </a:ext>
                </a:extLst>
              </p:cNvPr>
              <p:cNvSpPr txBox="1"/>
              <p:nvPr/>
            </p:nvSpPr>
            <p:spPr>
              <a:xfrm>
                <a:off x="930257" y="2406598"/>
                <a:ext cx="1538113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MA" dirty="0">
                  <a:solidFill>
                    <a:srgbClr val="FF33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020001B-E262-7263-10E1-56E1D9C75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57" y="2406598"/>
                <a:ext cx="1538113" cy="525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6E30BC5-BDE4-ECF2-6445-99F50D7C9284}"/>
              </a:ext>
            </a:extLst>
          </p:cNvPr>
          <p:cNvSpPr txBox="1"/>
          <p:nvPr/>
        </p:nvSpPr>
        <p:spPr>
          <a:xfrm>
            <a:off x="9540132" y="4251045"/>
            <a:ext cx="119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5000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D9B2F7-0843-63B5-0E64-45EC6C2051A3}"/>
              </a:ext>
            </a:extLst>
          </p:cNvPr>
          <p:cNvSpPr txBox="1"/>
          <p:nvPr/>
        </p:nvSpPr>
        <p:spPr>
          <a:xfrm>
            <a:off x="9387840" y="103541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5CDB24-97A5-2B8B-FBCD-9A3A088D55ED}"/>
              </a:ext>
            </a:extLst>
          </p:cNvPr>
          <p:cNvSpPr txBox="1"/>
          <p:nvPr/>
        </p:nvSpPr>
        <p:spPr>
          <a:xfrm>
            <a:off x="9532566" y="202263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400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9A7AEB7-60DB-399C-A03E-DB2861E557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4711" y="506492"/>
            <a:ext cx="2377440" cy="161456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0E0F2E0-5C7D-6594-7CD6-AB103540A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0132" y="2406372"/>
            <a:ext cx="2627924" cy="183546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5636034-3E4C-74E5-3394-CD53BA9F76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0132" y="4620377"/>
            <a:ext cx="2627924" cy="183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52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7F69E4D-B1F2-54BD-62FD-B23D73579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846" y="4843376"/>
            <a:ext cx="2644194" cy="20146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B05B10-2509-59CA-BA1D-7C6F8ED3CB48}"/>
              </a:ext>
            </a:extLst>
          </p:cNvPr>
          <p:cNvSpPr txBox="1"/>
          <p:nvPr/>
        </p:nvSpPr>
        <p:spPr>
          <a:xfrm>
            <a:off x="4480558" y="808153"/>
            <a:ext cx="4572002" cy="4247317"/>
          </a:xfrm>
          <a:prstGeom prst="rect">
            <a:avLst/>
          </a:prstGeom>
          <a:solidFill>
            <a:srgbClr val="FFFFCC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fr-MA" b="1" dirty="0" err="1"/>
              <a:t>lr</a:t>
            </a:r>
            <a:r>
              <a:rPr lang="fr-MA" b="1" dirty="0"/>
              <a:t>=0.01</a:t>
            </a:r>
          </a:p>
          <a:p>
            <a:r>
              <a:rPr lang="fr-MA" b="1" dirty="0" err="1"/>
              <a:t>def</a:t>
            </a:r>
            <a:r>
              <a:rPr lang="fr-MA" b="1" dirty="0"/>
              <a:t> fit(</a:t>
            </a:r>
            <a:r>
              <a:rPr lang="fr-MA" b="1" dirty="0" err="1"/>
              <a:t>X,y</a:t>
            </a:r>
            <a:r>
              <a:rPr lang="fr-MA" b="1" dirty="0"/>
              <a:t>):</a:t>
            </a:r>
          </a:p>
          <a:p>
            <a:r>
              <a:rPr lang="fr-MA" b="1" dirty="0"/>
              <a:t>   </a:t>
            </a:r>
            <a:r>
              <a:rPr lang="fr-MA" dirty="0"/>
              <a:t> </a:t>
            </a:r>
            <a:r>
              <a:rPr lang="fr-MA" b="1" dirty="0">
                <a:solidFill>
                  <a:srgbClr val="00B0F0"/>
                </a:solidFill>
              </a:rPr>
              <a:t>n=</a:t>
            </a:r>
            <a:r>
              <a:rPr lang="fr-MA" b="1" dirty="0" err="1">
                <a:solidFill>
                  <a:srgbClr val="00B0F0"/>
                </a:solidFill>
              </a:rPr>
              <a:t>len</a:t>
            </a:r>
            <a:r>
              <a:rPr lang="fr-MA" b="1" dirty="0">
                <a:solidFill>
                  <a:srgbClr val="00B0F0"/>
                </a:solidFill>
              </a:rPr>
              <a:t>(y)</a:t>
            </a:r>
            <a:endParaRPr lang="fr-MA" b="1" dirty="0"/>
          </a:p>
          <a:p>
            <a:r>
              <a:rPr lang="fr-MA" dirty="0"/>
              <a:t>   </a:t>
            </a:r>
            <a:r>
              <a:rPr lang="fr-MA" b="1" dirty="0">
                <a:solidFill>
                  <a:srgbClr val="C00000"/>
                </a:solidFill>
              </a:rPr>
              <a:t> W=</a:t>
            </a:r>
            <a:r>
              <a:rPr lang="fr-MA" b="1" dirty="0" err="1">
                <a:solidFill>
                  <a:srgbClr val="C00000"/>
                </a:solidFill>
              </a:rPr>
              <a:t>np.array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np.zeros</a:t>
            </a:r>
            <a:r>
              <a:rPr lang="fr-MA" b="1" dirty="0">
                <a:solidFill>
                  <a:srgbClr val="C00000"/>
                </a:solidFill>
              </a:rPr>
              <a:t>(</a:t>
            </a:r>
            <a:r>
              <a:rPr lang="fr-MA" b="1" dirty="0" err="1">
                <a:solidFill>
                  <a:srgbClr val="C00000"/>
                </a:solidFill>
              </a:rPr>
              <a:t>X.shape</a:t>
            </a:r>
            <a:r>
              <a:rPr lang="fr-MA" b="1" dirty="0">
                <a:solidFill>
                  <a:srgbClr val="C00000"/>
                </a:solidFill>
              </a:rPr>
              <a:t>[1]))</a:t>
            </a:r>
          </a:p>
          <a:p>
            <a:r>
              <a:rPr lang="fr-MA" b="1" dirty="0">
                <a:solidFill>
                  <a:srgbClr val="C00000"/>
                </a:solidFill>
              </a:rPr>
              <a:t>    </a:t>
            </a:r>
            <a:r>
              <a:rPr lang="fr-MA" b="1" dirty="0" err="1">
                <a:solidFill>
                  <a:srgbClr val="C00000"/>
                </a:solidFill>
              </a:rPr>
              <a:t>bias</a:t>
            </a:r>
            <a:r>
              <a:rPr lang="fr-MA" b="1" dirty="0">
                <a:solidFill>
                  <a:srgbClr val="C00000"/>
                </a:solidFill>
              </a:rPr>
              <a:t>=0</a:t>
            </a:r>
          </a:p>
          <a:p>
            <a:r>
              <a:rPr lang="fr-MA" dirty="0"/>
              <a:t>  </a:t>
            </a:r>
            <a:r>
              <a:rPr lang="fr-MA" b="1" dirty="0"/>
              <a:t>  for k in range(10000):</a:t>
            </a:r>
          </a:p>
          <a:p>
            <a:r>
              <a:rPr lang="fr-MA" dirty="0"/>
              <a:t>      </a:t>
            </a:r>
            <a:r>
              <a:rPr lang="fr-MA" b="1" dirty="0">
                <a:solidFill>
                  <a:srgbClr val="0065FA"/>
                </a:solidFill>
              </a:rPr>
              <a:t>  </a:t>
            </a:r>
            <a:r>
              <a:rPr lang="fr-MA" b="1" dirty="0" err="1">
                <a:solidFill>
                  <a:srgbClr val="0065FA"/>
                </a:solidFill>
              </a:rPr>
              <a:t>ws</a:t>
            </a:r>
            <a:r>
              <a:rPr lang="fr-MA" b="1" dirty="0">
                <a:solidFill>
                  <a:srgbClr val="0065FA"/>
                </a:solidFill>
              </a:rPr>
              <a:t>=bias+np.dot(X,W)</a:t>
            </a:r>
          </a:p>
          <a:p>
            <a:r>
              <a:rPr lang="fr-MA" b="1" dirty="0">
                <a:solidFill>
                  <a:srgbClr val="0065FA"/>
                </a:solidFill>
              </a:rPr>
              <a:t>        </a:t>
            </a:r>
            <a:r>
              <a:rPr lang="fr-MA" b="1" dirty="0" err="1">
                <a:solidFill>
                  <a:srgbClr val="0065FA"/>
                </a:solidFill>
              </a:rPr>
              <a:t>yhat</a:t>
            </a:r>
            <a:r>
              <a:rPr lang="fr-MA" b="1" dirty="0">
                <a:solidFill>
                  <a:srgbClr val="0065FA"/>
                </a:solidFill>
              </a:rPr>
              <a:t>=</a:t>
            </a:r>
            <a:r>
              <a:rPr lang="fr-MA" b="1" dirty="0" err="1">
                <a:solidFill>
                  <a:srgbClr val="0065FA"/>
                </a:solidFill>
              </a:rPr>
              <a:t>sigmoid</a:t>
            </a:r>
            <a:r>
              <a:rPr lang="fr-MA" b="1" dirty="0">
                <a:solidFill>
                  <a:srgbClr val="0065FA"/>
                </a:solidFill>
              </a:rPr>
              <a:t>(</a:t>
            </a:r>
            <a:r>
              <a:rPr lang="fr-MA" b="1" dirty="0" err="1">
                <a:solidFill>
                  <a:srgbClr val="0065FA"/>
                </a:solidFill>
              </a:rPr>
              <a:t>ws</a:t>
            </a:r>
            <a:r>
              <a:rPr lang="fr-MA" b="1" dirty="0">
                <a:solidFill>
                  <a:srgbClr val="0065FA"/>
                </a:solidFill>
              </a:rPr>
              <a:t>)</a:t>
            </a:r>
          </a:p>
          <a:p>
            <a:endParaRPr lang="fr-MA" b="1" dirty="0">
              <a:solidFill>
                <a:srgbClr val="0065FA"/>
              </a:solidFill>
            </a:endParaRPr>
          </a:p>
          <a:p>
            <a:r>
              <a:rPr lang="fr-MA" dirty="0"/>
              <a:t>       </a:t>
            </a:r>
            <a:r>
              <a:rPr lang="fr-MA" b="1" dirty="0">
                <a:solidFill>
                  <a:srgbClr val="7030A0"/>
                </a:solidFill>
              </a:rPr>
              <a:t> </a:t>
            </a:r>
            <a:r>
              <a:rPr lang="fr-MA" b="1" dirty="0" err="1">
                <a:solidFill>
                  <a:srgbClr val="7030A0"/>
                </a:solidFill>
              </a:rPr>
              <a:t>dbias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</a:t>
            </a:r>
            <a:r>
              <a:rPr lang="fr-MA" b="1" dirty="0" err="1">
                <a:solidFill>
                  <a:srgbClr val="7030A0"/>
                </a:solidFill>
              </a:rPr>
              <a:t>np.sum</a:t>
            </a:r>
            <a:r>
              <a:rPr lang="fr-MA" b="1" dirty="0">
                <a:solidFill>
                  <a:srgbClr val="7030A0"/>
                </a:solidFill>
              </a:rPr>
              <a:t>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=-(2/</a:t>
            </a:r>
            <a:r>
              <a:rPr lang="fr-MA" b="1" dirty="0">
                <a:solidFill>
                  <a:srgbClr val="00B0F0"/>
                </a:solidFill>
              </a:rPr>
              <a:t>n</a:t>
            </a:r>
            <a:r>
              <a:rPr lang="fr-MA" b="1" dirty="0">
                <a:solidFill>
                  <a:srgbClr val="7030A0"/>
                </a:solidFill>
              </a:rPr>
              <a:t>)* np.dot(X.T,(y-</a:t>
            </a:r>
            <a:r>
              <a:rPr lang="fr-MA" b="1" dirty="0" err="1">
                <a:solidFill>
                  <a:srgbClr val="7030A0"/>
                </a:solidFill>
              </a:rPr>
              <a:t>yhat</a:t>
            </a:r>
            <a:r>
              <a:rPr lang="fr-MA" b="1" dirty="0">
                <a:solidFill>
                  <a:srgbClr val="7030A0"/>
                </a:solidFill>
              </a:rPr>
              <a:t>))</a:t>
            </a:r>
          </a:p>
          <a:p>
            <a:r>
              <a:rPr lang="fr-MA" b="1" dirty="0">
                <a:solidFill>
                  <a:srgbClr val="7030A0"/>
                </a:solidFill>
              </a:rPr>
              <a:t>        </a:t>
            </a:r>
            <a:r>
              <a:rPr lang="fr-MA" b="1" dirty="0" err="1">
                <a:solidFill>
                  <a:srgbClr val="7030A0"/>
                </a:solidFill>
              </a:rPr>
              <a:t>bias</a:t>
            </a:r>
            <a:r>
              <a:rPr lang="fr-MA" b="1" dirty="0">
                <a:solidFill>
                  <a:srgbClr val="7030A0"/>
                </a:solidFill>
              </a:rPr>
              <a:t>=</a:t>
            </a:r>
            <a:r>
              <a:rPr lang="fr-MA" b="1" dirty="0" err="1">
                <a:solidFill>
                  <a:srgbClr val="7030A0"/>
                </a:solidFill>
              </a:rPr>
              <a:t>bias-dbias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b="1" dirty="0">
                <a:solidFill>
                  <a:srgbClr val="7030A0"/>
                </a:solidFill>
              </a:rPr>
              <a:t>        W=W-</a:t>
            </a:r>
            <a:r>
              <a:rPr lang="fr-MA" b="1" dirty="0" err="1">
                <a:solidFill>
                  <a:srgbClr val="7030A0"/>
                </a:solidFill>
              </a:rPr>
              <a:t>dW</a:t>
            </a:r>
            <a:r>
              <a:rPr lang="fr-MA" b="1" dirty="0">
                <a:solidFill>
                  <a:srgbClr val="7030A0"/>
                </a:solidFill>
              </a:rPr>
              <a:t>*</a:t>
            </a:r>
            <a:r>
              <a:rPr lang="fr-MA" b="1" dirty="0" err="1">
                <a:solidFill>
                  <a:srgbClr val="7030A0"/>
                </a:solidFill>
              </a:rPr>
              <a:t>lr</a:t>
            </a:r>
            <a:endParaRPr lang="fr-MA" b="1" dirty="0">
              <a:solidFill>
                <a:srgbClr val="7030A0"/>
              </a:solidFill>
            </a:endParaRPr>
          </a:p>
          <a:p>
            <a:r>
              <a:rPr lang="fr-MA" dirty="0"/>
              <a:t>         </a:t>
            </a:r>
          </a:p>
          <a:p>
            <a:r>
              <a:rPr lang="fr-MA" dirty="0"/>
              <a:t>    </a:t>
            </a:r>
            <a:r>
              <a:rPr lang="fr-MA" b="1" dirty="0"/>
              <a:t>return </a:t>
            </a:r>
            <a:r>
              <a:rPr lang="fr-MA" b="1" dirty="0" err="1"/>
              <a:t>bias,W</a:t>
            </a:r>
            <a:endParaRPr lang="fr-MA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77DBE-20E4-13C3-F786-1CFBB8503651}"/>
              </a:ext>
            </a:extLst>
          </p:cNvPr>
          <p:cNvSpPr txBox="1"/>
          <p:nvPr/>
        </p:nvSpPr>
        <p:spPr>
          <a:xfrm>
            <a:off x="9585959" y="4431896"/>
            <a:ext cx="119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10000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725C45-8A26-B2DB-0832-425D79E1B75D}"/>
              </a:ext>
            </a:extLst>
          </p:cNvPr>
          <p:cNvSpPr txBox="1"/>
          <p:nvPr/>
        </p:nvSpPr>
        <p:spPr>
          <a:xfrm>
            <a:off x="9585960" y="425367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250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026D39-11B3-801C-F7EE-5F4F4566E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846" y="808153"/>
            <a:ext cx="2519363" cy="145256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59B7EF-2283-5988-C3E8-5AAAA634E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499" y="2693193"/>
            <a:ext cx="2528888" cy="1471613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AABC9AA-D5BA-294E-A3B6-D3D8961D3F14}"/>
              </a:ext>
            </a:extLst>
          </p:cNvPr>
          <p:cNvSpPr txBox="1"/>
          <p:nvPr/>
        </p:nvSpPr>
        <p:spPr>
          <a:xfrm>
            <a:off x="9585960" y="228171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C00000"/>
                </a:solidFill>
              </a:rPr>
              <a:t>Iter</a:t>
            </a:r>
            <a:r>
              <a:rPr lang="fr-MA" b="1" dirty="0">
                <a:solidFill>
                  <a:srgbClr val="C00000"/>
                </a:solidFill>
              </a:rPr>
              <a:t> 750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6F67E3-E6CD-BEAF-A68D-DA9DB22EEE57}"/>
              </a:ext>
            </a:extLst>
          </p:cNvPr>
          <p:cNvSpPr txBox="1"/>
          <p:nvPr/>
        </p:nvSpPr>
        <p:spPr>
          <a:xfrm>
            <a:off x="6522719" y="1349768"/>
            <a:ext cx="2072641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chemeClr val="bg1"/>
                </a:solidFill>
              </a:rPr>
              <a:t>initialize</a:t>
            </a:r>
            <a:r>
              <a:rPr lang="fr-MA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904EA1-8B65-8998-0E70-5B6368B49AB0}"/>
              </a:ext>
            </a:extLst>
          </p:cNvPr>
          <p:cNvSpPr txBox="1"/>
          <p:nvPr/>
        </p:nvSpPr>
        <p:spPr>
          <a:xfrm>
            <a:off x="7101839" y="2370027"/>
            <a:ext cx="1752601" cy="276999"/>
          </a:xfrm>
          <a:prstGeom prst="rect">
            <a:avLst/>
          </a:prstGeom>
          <a:solidFill>
            <a:srgbClr val="0066FF"/>
          </a:solidFill>
        </p:spPr>
        <p:txBody>
          <a:bodyPr wrap="square" rtlCol="0">
            <a:spAutoFit/>
          </a:bodyPr>
          <a:lstStyle/>
          <a:p>
            <a:r>
              <a:rPr lang="fr-MA" sz="1200" dirty="0" err="1">
                <a:solidFill>
                  <a:schemeClr val="bg1"/>
                </a:solidFill>
              </a:rPr>
              <a:t>Predict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using</a:t>
            </a:r>
            <a:r>
              <a:rPr lang="fr-MA" sz="1200" dirty="0">
                <a:solidFill>
                  <a:schemeClr val="bg1"/>
                </a:solidFill>
              </a:rPr>
              <a:t> the model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5A298A-D528-A401-7180-4230C8692D13}"/>
              </a:ext>
            </a:extLst>
          </p:cNvPr>
          <p:cNvSpPr txBox="1"/>
          <p:nvPr/>
        </p:nvSpPr>
        <p:spPr>
          <a:xfrm>
            <a:off x="7101839" y="2993867"/>
            <a:ext cx="1752601" cy="338554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MA" sz="1600" dirty="0">
                <a:solidFill>
                  <a:schemeClr val="bg1"/>
                </a:solidFill>
              </a:rPr>
              <a:t>Update the 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B934E5-6DA2-3E7C-3B29-27E0ABA552F1}"/>
              </a:ext>
            </a:extLst>
          </p:cNvPr>
          <p:cNvSpPr txBox="1"/>
          <p:nvPr/>
        </p:nvSpPr>
        <p:spPr>
          <a:xfrm>
            <a:off x="30478" y="11340"/>
            <a:ext cx="6461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rgbClr val="0065FA"/>
                </a:solidFill>
              </a:rPr>
              <a:t>Classification </a:t>
            </a:r>
            <a:r>
              <a:rPr lang="fr-MA" sz="2000" b="1" dirty="0" err="1">
                <a:solidFill>
                  <a:srgbClr val="0065FA"/>
                </a:solidFill>
              </a:rPr>
              <a:t>Problem</a:t>
            </a:r>
            <a:r>
              <a:rPr lang="fr-MA" sz="2000" b="1" dirty="0">
                <a:solidFill>
                  <a:srgbClr val="0065FA"/>
                </a:solidFill>
              </a:rPr>
              <a:t> by </a:t>
            </a:r>
            <a:r>
              <a:rPr lang="fr-MA" sz="2000" b="1" dirty="0" err="1">
                <a:solidFill>
                  <a:srgbClr val="0065FA"/>
                </a:solidFill>
              </a:rPr>
              <a:t>using</a:t>
            </a:r>
            <a:r>
              <a:rPr lang="fr-MA" sz="2000" b="1" dirty="0">
                <a:solidFill>
                  <a:srgbClr val="0065FA"/>
                </a:solidFill>
              </a:rPr>
              <a:t> neural network (1 neurone)</a:t>
            </a:r>
            <a:endParaRPr lang="fr-MA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 </a:t>
            </a:r>
            <a:r>
              <a:rPr lang="fr-MA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features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le modèle est:</a:t>
            </a:r>
            <a:endParaRPr lang="fr-MA" sz="2000" b="1" dirty="0">
              <a:solidFill>
                <a:srgbClr val="0066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FB0CD8-711F-7303-74FC-250BFD2CC42B}"/>
              </a:ext>
            </a:extLst>
          </p:cNvPr>
          <p:cNvSpPr/>
          <p:nvPr/>
        </p:nvSpPr>
        <p:spPr>
          <a:xfrm>
            <a:off x="76966" y="776764"/>
            <a:ext cx="2632488" cy="2835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B19D4E9-83A3-2BED-ADB7-6FB290B2CA89}"/>
              </a:ext>
            </a:extLst>
          </p:cNvPr>
          <p:cNvSpPr/>
          <p:nvPr/>
        </p:nvSpPr>
        <p:spPr>
          <a:xfrm>
            <a:off x="1350440" y="1513323"/>
            <a:ext cx="863993" cy="7584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ACD0B5-9C09-CDE4-3A32-0B42137A9393}"/>
              </a:ext>
            </a:extLst>
          </p:cNvPr>
          <p:cNvCxnSpPr>
            <a:cxnSpLocks/>
          </p:cNvCxnSpPr>
          <p:nvPr/>
        </p:nvCxnSpPr>
        <p:spPr>
          <a:xfrm>
            <a:off x="440917" y="1419825"/>
            <a:ext cx="931956" cy="472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A08A479-B40C-DA2B-A206-C3383A5E8833}"/>
              </a:ext>
            </a:extLst>
          </p:cNvPr>
          <p:cNvSpPr txBox="1"/>
          <p:nvPr/>
        </p:nvSpPr>
        <p:spPr>
          <a:xfrm>
            <a:off x="76965" y="1231799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20B32B8-7EBE-8B31-6573-92B6E23F9520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462937" y="1892537"/>
            <a:ext cx="887503" cy="472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F1A721-3574-1DCC-EF34-39570659B9C3}"/>
              </a:ext>
            </a:extLst>
          </p:cNvPr>
          <p:cNvSpPr txBox="1"/>
          <p:nvPr/>
        </p:nvSpPr>
        <p:spPr>
          <a:xfrm>
            <a:off x="56847" y="2170993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F08C90-8FE3-7DC2-653C-43E842262953}"/>
              </a:ext>
            </a:extLst>
          </p:cNvPr>
          <p:cNvSpPr txBox="1"/>
          <p:nvPr/>
        </p:nvSpPr>
        <p:spPr>
          <a:xfrm>
            <a:off x="511895" y="1198397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BE34F9-39D6-02ED-AE56-56C7ED8ED623}"/>
              </a:ext>
            </a:extLst>
          </p:cNvPr>
          <p:cNvSpPr txBox="1"/>
          <p:nvPr/>
        </p:nvSpPr>
        <p:spPr>
          <a:xfrm>
            <a:off x="386405" y="1579846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w2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C112E81-3679-4BDC-5EAC-9032CF514D10}"/>
              </a:ext>
            </a:extLst>
          </p:cNvPr>
          <p:cNvCxnSpPr>
            <a:stCxn id="23" idx="0"/>
            <a:endCxn id="23" idx="4"/>
          </p:cNvCxnSpPr>
          <p:nvPr/>
        </p:nvCxnSpPr>
        <p:spPr>
          <a:xfrm>
            <a:off x="1782437" y="1513323"/>
            <a:ext cx="0" cy="758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937D9E5-9373-F96C-F614-31BE5BDF883E}"/>
              </a:ext>
            </a:extLst>
          </p:cNvPr>
          <p:cNvSpPr txBox="1"/>
          <p:nvPr/>
        </p:nvSpPr>
        <p:spPr>
          <a:xfrm>
            <a:off x="1372873" y="1707871"/>
            <a:ext cx="458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lang="fr-MA" dirty="0">
              <a:solidFill>
                <a:srgbClr val="C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F874E2-A1F9-A3E1-A366-4077E0D3B80E}"/>
              </a:ext>
            </a:extLst>
          </p:cNvPr>
          <p:cNvSpPr txBox="1"/>
          <p:nvPr/>
        </p:nvSpPr>
        <p:spPr>
          <a:xfrm>
            <a:off x="1735101" y="1722888"/>
            <a:ext cx="57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f(</a:t>
            </a:r>
            <a:r>
              <a:rPr lang="fr-MA" dirty="0">
                <a:solidFill>
                  <a:srgbClr val="FF33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s)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BCCF4B-97CF-A9CD-9308-EEB35CE98D18}"/>
              </a:ext>
            </a:extLst>
          </p:cNvPr>
          <p:cNvSpPr txBox="1"/>
          <p:nvPr/>
        </p:nvSpPr>
        <p:spPr>
          <a:xfrm>
            <a:off x="1201066" y="862051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bias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F637D78-5305-87FD-6913-95C40D1EBC1A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1328925" y="1216691"/>
            <a:ext cx="21515" cy="675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FE3F6EF-DCAF-3964-5B55-774EDCC176AD}"/>
              </a:ext>
            </a:extLst>
          </p:cNvPr>
          <p:cNvSpPr txBox="1"/>
          <p:nvPr/>
        </p:nvSpPr>
        <p:spPr>
          <a:xfrm>
            <a:off x="57880" y="1664857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FCD11A0-C799-C0DF-B960-94216283B098}"/>
              </a:ext>
            </a:extLst>
          </p:cNvPr>
          <p:cNvCxnSpPr>
            <a:cxnSpLocks/>
          </p:cNvCxnSpPr>
          <p:nvPr/>
        </p:nvCxnSpPr>
        <p:spPr>
          <a:xfrm>
            <a:off x="386405" y="1849523"/>
            <a:ext cx="942520" cy="39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5A34FDF-66D0-0630-7B02-BD50DA92190F}"/>
              </a:ext>
            </a:extLst>
          </p:cNvPr>
          <p:cNvSpPr txBox="1"/>
          <p:nvPr/>
        </p:nvSpPr>
        <p:spPr>
          <a:xfrm>
            <a:off x="390011" y="202031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w3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8D4D90-D0A9-9035-9F23-D808D181BB7D}"/>
              </a:ext>
            </a:extLst>
          </p:cNvPr>
          <p:cNvSpPr txBox="1"/>
          <p:nvPr/>
        </p:nvSpPr>
        <p:spPr>
          <a:xfrm>
            <a:off x="104728" y="4564383"/>
            <a:ext cx="3606662" cy="7232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b="1" dirty="0" err="1">
                <a:solidFill>
                  <a:srgbClr val="FF3300"/>
                </a:solidFill>
              </a:rPr>
              <a:t>def</a:t>
            </a:r>
            <a:r>
              <a:rPr lang="fr-MA" b="1" dirty="0">
                <a:solidFill>
                  <a:srgbClr val="FF3300"/>
                </a:solidFill>
              </a:rPr>
              <a:t> </a:t>
            </a:r>
            <a:r>
              <a:rPr lang="fr-MA" b="1" dirty="0" err="1">
                <a:solidFill>
                  <a:srgbClr val="FF3300"/>
                </a:solidFill>
              </a:rPr>
              <a:t>sigmoid</a:t>
            </a:r>
            <a:r>
              <a:rPr lang="fr-MA" b="1" dirty="0">
                <a:solidFill>
                  <a:srgbClr val="FF3300"/>
                </a:solidFill>
              </a:rPr>
              <a:t>(Z):</a:t>
            </a:r>
          </a:p>
          <a:p>
            <a:pPr>
              <a:spcAft>
                <a:spcPts val="600"/>
              </a:spcAft>
            </a:pPr>
            <a:r>
              <a:rPr lang="fr-MA" b="1" dirty="0">
                <a:solidFill>
                  <a:srgbClr val="FF3300"/>
                </a:solidFill>
              </a:rPr>
              <a:t>    return 1/(1+np.exp(-Z))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99C392-99DC-D312-3E35-041B8C0E1FF6}"/>
                  </a:ext>
                </a:extLst>
              </p:cNvPr>
              <p:cNvSpPr txBox="1"/>
              <p:nvPr/>
            </p:nvSpPr>
            <p:spPr>
              <a:xfrm>
                <a:off x="62466" y="3702587"/>
                <a:ext cx="560291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𝑏𝑖𝑎𝑠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1∗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MA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1+…+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fr-MA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MA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𝑋𝑚</m:t>
                      </m:r>
                    </m:oMath>
                  </m:oMathPara>
                </a14:m>
                <a:endParaRPr lang="fr-MA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99C392-99DC-D312-3E35-041B8C0E1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6" y="3702587"/>
                <a:ext cx="5602915" cy="246221"/>
              </a:xfrm>
              <a:prstGeom prst="rect">
                <a:avLst/>
              </a:prstGeom>
              <a:blipFill>
                <a:blip r:embed="rId5"/>
                <a:stretch>
                  <a:fillRect l="-1632" b="-31707"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64D30876-E961-1C1B-F25E-73877BAB027D}"/>
              </a:ext>
            </a:extLst>
          </p:cNvPr>
          <p:cNvSpPr txBox="1"/>
          <p:nvPr/>
        </p:nvSpPr>
        <p:spPr>
          <a:xfrm>
            <a:off x="28528" y="4038600"/>
            <a:ext cx="4448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Activation: Identity or </a:t>
            </a:r>
            <a:r>
              <a:rPr lang="fr-MA" dirty="0" err="1">
                <a:solidFill>
                  <a:srgbClr val="FF3300"/>
                </a:solidFill>
              </a:rPr>
              <a:t>linear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B583EA-988F-ECB8-2007-064499654A49}"/>
              </a:ext>
            </a:extLst>
          </p:cNvPr>
          <p:cNvSpPr txBox="1"/>
          <p:nvPr/>
        </p:nvSpPr>
        <p:spPr>
          <a:xfrm>
            <a:off x="72532" y="3054492"/>
            <a:ext cx="612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/>
              <a:t>Xm</a:t>
            </a:r>
            <a:endParaRPr lang="fr-MA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E558C6-5018-5970-FA3D-74A754F70124}"/>
              </a:ext>
            </a:extLst>
          </p:cNvPr>
          <p:cNvSpPr txBox="1"/>
          <p:nvPr/>
        </p:nvSpPr>
        <p:spPr>
          <a:xfrm>
            <a:off x="768970" y="2690933"/>
            <a:ext cx="64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wm</a:t>
            </a:r>
            <a:endParaRPr lang="fr-MA" dirty="0">
              <a:solidFill>
                <a:srgbClr val="0066FF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1EACD6B-8928-5DA6-400A-A654ABD2FDE6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511895" y="1892537"/>
            <a:ext cx="860978" cy="132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F91D8DA-4FAB-35A2-8CE6-ABD440D42884}"/>
              </a:ext>
            </a:extLst>
          </p:cNvPr>
          <p:cNvSpPr txBox="1"/>
          <p:nvPr/>
        </p:nvSpPr>
        <p:spPr>
          <a:xfrm>
            <a:off x="84595" y="2627792"/>
            <a:ext cx="4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4431EBE-7994-7538-E386-B7B5B91AD6F7}"/>
                  </a:ext>
                </a:extLst>
              </p:cNvPr>
              <p:cNvSpPr txBox="1"/>
              <p:nvPr/>
            </p:nvSpPr>
            <p:spPr>
              <a:xfrm>
                <a:off x="1038745" y="3016398"/>
                <a:ext cx="1538113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MA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MA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MA" b="0" i="1" smtClean="0">
                                  <a:solidFill>
                                    <a:srgbClr val="FF33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MA" dirty="0">
                  <a:solidFill>
                    <a:srgbClr val="FF33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4431EBE-7994-7538-E386-B7B5B91AD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45" y="3016398"/>
                <a:ext cx="1538113" cy="525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21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B9C1835-08FB-D38B-9C89-1EA0EB0DC297}"/>
              </a:ext>
            </a:extLst>
          </p:cNvPr>
          <p:cNvSpPr/>
          <p:nvPr/>
        </p:nvSpPr>
        <p:spPr>
          <a:xfrm>
            <a:off x="7609214" y="887661"/>
            <a:ext cx="549724" cy="606187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351404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52468</TotalTime>
  <Words>2490</Words>
  <Application>Microsoft Office PowerPoint</Application>
  <PresentationFormat>Widescreen</PresentationFormat>
  <Paragraphs>517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Helvetica Neue</vt:lpstr>
      <vt:lpstr>source sans pro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</dc:creator>
  <cp:lastModifiedBy>abdelwahab naji</cp:lastModifiedBy>
  <cp:revision>1434</cp:revision>
  <dcterms:created xsi:type="dcterms:W3CDTF">2019-09-13T15:50:46Z</dcterms:created>
  <dcterms:modified xsi:type="dcterms:W3CDTF">2023-06-24T12:43:49Z</dcterms:modified>
</cp:coreProperties>
</file>