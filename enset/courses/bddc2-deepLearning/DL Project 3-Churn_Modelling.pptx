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318" r:id="rId2"/>
    <p:sldId id="748" r:id="rId3"/>
    <p:sldId id="557" r:id="rId4"/>
    <p:sldId id="849" r:id="rId5"/>
    <p:sldId id="827" r:id="rId6"/>
    <p:sldId id="853" r:id="rId7"/>
    <p:sldId id="850" r:id="rId8"/>
    <p:sldId id="851" r:id="rId9"/>
    <p:sldId id="852" r:id="rId10"/>
    <p:sldId id="854" r:id="rId11"/>
    <p:sldId id="856" r:id="rId12"/>
    <p:sldId id="855" r:id="rId13"/>
    <p:sldId id="857" r:id="rId14"/>
    <p:sldId id="858" r:id="rId15"/>
    <p:sldId id="859" r:id="rId16"/>
    <p:sldId id="860" r:id="rId17"/>
    <p:sldId id="861" r:id="rId18"/>
    <p:sldId id="862" r:id="rId19"/>
    <p:sldId id="863" r:id="rId20"/>
    <p:sldId id="866" r:id="rId21"/>
    <p:sldId id="864" r:id="rId22"/>
    <p:sldId id="865" r:id="rId23"/>
    <p:sldId id="867" r:id="rId2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180FF"/>
    <a:srgbClr val="FFFF99"/>
    <a:srgbClr val="28659C"/>
    <a:srgbClr val="0065FA"/>
    <a:srgbClr val="0066FF"/>
    <a:srgbClr val="FDF3ED"/>
    <a:srgbClr val="FFEFE7"/>
    <a:srgbClr val="FEF6F0"/>
    <a:srgbClr val="9BE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57" autoAdjust="0"/>
    <p:restoredTop sz="94660"/>
  </p:normalViewPr>
  <p:slideViewPr>
    <p:cSldViewPr snapToGrid="0">
      <p:cViewPr varScale="1">
        <p:scale>
          <a:sx n="61" d="100"/>
          <a:sy n="61" d="100"/>
        </p:scale>
        <p:origin x="6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78D8B6-39EC-464E-B17C-3DA96064FB65}" type="datetimeFigureOut">
              <a:rPr lang="fr-FR" smtClean="0"/>
              <a:t>26/11/2023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6CD67-02C7-4679-B4C4-DD1E33AF693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5913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26/11/2023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4196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26/11/2023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4607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26/11/2023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2561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26/11/2023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2175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26/11/2023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1912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26/11/2023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6244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26/11/2023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3229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26/11/2023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3085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26/11/2023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1464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26/11/2023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5695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26/11/2023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82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3102C-BDDD-4D12-A779-AA842E1C06C6}" type="datetimeFigureOut">
              <a:rPr lang="fr-FR" smtClean="0"/>
              <a:t>26/11/2023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898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c/AbdelwahabNaji" TargetMode="External"/><Relationship Id="rId2" Type="http://schemas.openxmlformats.org/officeDocument/2006/relationships/hyperlink" Target="mailto:Abdelwahab.naji@gmail.com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5007980"/>
            <a:ext cx="12192000" cy="1200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lvl="7"/>
            <a:r>
              <a:rPr lang="fr-FR" sz="2000" b="1" dirty="0" err="1"/>
              <a:t>Abdelwahab</a:t>
            </a:r>
            <a:r>
              <a:rPr lang="fr-FR" sz="2000" b="1" dirty="0"/>
              <a:t> Naji - </a:t>
            </a:r>
            <a:r>
              <a:rPr lang="fr-FR" sz="1600" b="1" dirty="0"/>
              <a:t>Enseignant chercheur</a:t>
            </a:r>
            <a:r>
              <a:rPr lang="fr-FR" sz="2000" b="1" dirty="0"/>
              <a:t> </a:t>
            </a:r>
            <a:endParaRPr lang="fr-FR" sz="2400" b="1" dirty="0"/>
          </a:p>
          <a:p>
            <a:pPr marL="0" lvl="7"/>
            <a:r>
              <a:rPr lang="fr-FR" sz="2000" dirty="0">
                <a:hlinkClick r:id="rId2"/>
              </a:rPr>
              <a:t>Abdelwahab.naji@gmail.com</a:t>
            </a:r>
            <a:r>
              <a:rPr lang="fr-FR" sz="2000" dirty="0"/>
              <a:t> </a:t>
            </a:r>
            <a:endParaRPr lang="fr-FR" sz="1600" dirty="0"/>
          </a:p>
          <a:p>
            <a:pPr marL="0" lvl="7"/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ENSAO, Université Mohamed premier - Oujda</a:t>
            </a:r>
          </a:p>
          <a:p>
            <a:pPr marL="0" lvl="7"/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  <a:hlinkClick r:id="rId3"/>
              </a:rPr>
              <a:t>https://www.youtube.com/c/AbdelwahabNaji</a:t>
            </a:r>
            <a:endParaRPr lang="fr-F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Connecteur droit 4"/>
          <p:cNvCxnSpPr/>
          <p:nvPr/>
        </p:nvCxnSpPr>
        <p:spPr>
          <a:xfrm>
            <a:off x="0" y="5007980"/>
            <a:ext cx="12204000" cy="0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069565" y="613388"/>
            <a:ext cx="23894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Année universitaire 2023/2024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508" y="105415"/>
            <a:ext cx="3112898" cy="23002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5A7D36-36E7-8F3B-2DE2-6809CBC22DE0}"/>
              </a:ext>
            </a:extLst>
          </p:cNvPr>
          <p:cNvSpPr txBox="1"/>
          <p:nvPr/>
        </p:nvSpPr>
        <p:spPr>
          <a:xfrm>
            <a:off x="1371600" y="2937894"/>
            <a:ext cx="89045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Deep Learning</a:t>
            </a:r>
          </a:p>
          <a:p>
            <a:pPr algn="ctr"/>
            <a:r>
              <a:rPr lang="fr-MA" sz="2800" b="1" dirty="0" err="1">
                <a:solidFill>
                  <a:srgbClr val="0065FA"/>
                </a:solidFill>
              </a:rPr>
              <a:t>Churn_Modelling</a:t>
            </a:r>
            <a:r>
              <a:rPr lang="fr-MA" sz="2800" b="1" dirty="0">
                <a:solidFill>
                  <a:srgbClr val="0065FA"/>
                </a:solidFill>
              </a:rPr>
              <a:t>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DF75F6-6B06-12AA-26EA-49E2E9A479A8}"/>
              </a:ext>
            </a:extLst>
          </p:cNvPr>
          <p:cNvSpPr txBox="1"/>
          <p:nvPr/>
        </p:nvSpPr>
        <p:spPr>
          <a:xfrm>
            <a:off x="6299508" y="0"/>
            <a:ext cx="58924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chemeClr val="bg1">
                    <a:lumMod val="50000"/>
                  </a:schemeClr>
                </a:solidFill>
              </a:rPr>
              <a:t>ENSA Oujda- Cycle </a:t>
            </a:r>
            <a:r>
              <a:rPr lang="fr-MA" b="1" dirty="0" err="1">
                <a:solidFill>
                  <a:schemeClr val="bg1">
                    <a:lumMod val="50000"/>
                  </a:schemeClr>
                </a:solidFill>
              </a:rPr>
              <a:t>Ingéneur</a:t>
            </a:r>
            <a:endParaRPr lang="fr-MA" b="1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fr-MA" b="1" dirty="0">
                <a:solidFill>
                  <a:srgbClr val="FF0000"/>
                </a:solidFill>
              </a:rPr>
              <a:t>I</a:t>
            </a:r>
            <a:r>
              <a:rPr lang="fr-MA" b="1" dirty="0"/>
              <a:t>ngénierie </a:t>
            </a:r>
            <a:r>
              <a:rPr lang="fr-MA" b="1" dirty="0">
                <a:solidFill>
                  <a:srgbClr val="FF0000"/>
                </a:solidFill>
              </a:rPr>
              <a:t>D</a:t>
            </a:r>
            <a:r>
              <a:rPr lang="fr-MA" b="1" dirty="0"/>
              <a:t>ata </a:t>
            </a:r>
            <a:r>
              <a:rPr lang="fr-MA" b="1" dirty="0">
                <a:solidFill>
                  <a:srgbClr val="FF0000"/>
                </a:solidFill>
              </a:rPr>
              <a:t>S</a:t>
            </a:r>
            <a:r>
              <a:rPr lang="fr-MA" b="1" dirty="0"/>
              <a:t>ciences et </a:t>
            </a:r>
            <a:r>
              <a:rPr lang="fr-MA" b="1" dirty="0">
                <a:solidFill>
                  <a:srgbClr val="FF0000"/>
                </a:solidFill>
              </a:rPr>
              <a:t>C</a:t>
            </a:r>
            <a:r>
              <a:rPr lang="fr-MA" b="1" dirty="0"/>
              <a:t>loud </a:t>
            </a:r>
            <a:r>
              <a:rPr lang="fr-MA" b="1" dirty="0" err="1">
                <a:solidFill>
                  <a:srgbClr val="FF0000"/>
                </a:solidFill>
              </a:rPr>
              <a:t>C</a:t>
            </a:r>
            <a:r>
              <a:rPr lang="fr-MA" b="1" dirty="0" err="1"/>
              <a:t>omputing</a:t>
            </a:r>
            <a:endParaRPr lang="fr-MA" b="1" dirty="0"/>
          </a:p>
        </p:txBody>
      </p:sp>
    </p:spTree>
    <p:extLst>
      <p:ext uri="{BB962C8B-B14F-4D97-AF65-F5344CB8AC3E}">
        <p14:creationId xmlns:p14="http://schemas.microsoft.com/office/powerpoint/2010/main" val="2129280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36">
            <a:extLst>
              <a:ext uri="{FF2B5EF4-FFF2-40B4-BE49-F238E27FC236}">
                <a16:creationId xmlns:a16="http://schemas.microsoft.com/office/drawing/2014/main" id="{AED963F4-8D59-4011-63A9-7E5D7B9CC1B1}"/>
              </a:ext>
            </a:extLst>
          </p:cNvPr>
          <p:cNvSpPr txBox="1"/>
          <p:nvPr/>
        </p:nvSpPr>
        <p:spPr>
          <a:xfrm>
            <a:off x="-45720" y="175526"/>
            <a:ext cx="12237720" cy="3190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buClr>
                <a:srgbClr val="FF3300"/>
              </a:buClr>
            </a:pPr>
            <a:r>
              <a:rPr lang="en-US" sz="2800" b="1" i="0" dirty="0">
                <a:solidFill>
                  <a:srgbClr val="0180FF"/>
                </a:solidFill>
                <a:effectLst/>
                <a:latin typeface="+mj-lt"/>
              </a:rPr>
              <a:t>how to learn machine learning well</a:t>
            </a:r>
            <a:endParaRPr lang="fr-FR" sz="2800" b="1" i="0" dirty="0">
              <a:solidFill>
                <a:srgbClr val="0180FF"/>
              </a:solidFill>
              <a:effectLst/>
              <a:latin typeface="+mj-lt"/>
            </a:endParaRPr>
          </a:p>
          <a:p>
            <a:pPr>
              <a:spcAft>
                <a:spcPts val="800"/>
              </a:spcAft>
              <a:buClr>
                <a:srgbClr val="FF3300"/>
              </a:buClr>
            </a:pPr>
            <a:endParaRPr lang="fr-FR" sz="280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+mj-lt"/>
            </a:endParaRPr>
          </a:p>
          <a:p>
            <a:pPr>
              <a:spcAft>
                <a:spcPts val="800"/>
              </a:spcAft>
              <a:buClr>
                <a:srgbClr val="FF3300"/>
              </a:buClr>
            </a:pPr>
            <a:r>
              <a:rPr lang="fr-FR" sz="28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If </a:t>
            </a:r>
            <a:r>
              <a:rPr lang="fr-FR" sz="28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you</a:t>
            </a:r>
            <a:r>
              <a:rPr lang="fr-FR" sz="28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 </a:t>
            </a:r>
            <a:r>
              <a:rPr lang="fr-FR" sz="28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can’t</a:t>
            </a:r>
            <a:r>
              <a:rPr lang="fr-FR" sz="28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 </a:t>
            </a:r>
            <a:r>
              <a:rPr lang="fr-FR" sz="28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implement</a:t>
            </a:r>
            <a:r>
              <a:rPr lang="fr-FR" sz="28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 </a:t>
            </a:r>
            <a:r>
              <a:rPr lang="fr-FR" sz="28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it</a:t>
            </a:r>
            <a:r>
              <a:rPr lang="fr-FR" sz="28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, </a:t>
            </a:r>
            <a:r>
              <a:rPr lang="fr-FR" sz="28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then</a:t>
            </a:r>
            <a:r>
              <a:rPr lang="fr-FR" sz="28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 </a:t>
            </a:r>
            <a:r>
              <a:rPr lang="fr-FR" sz="28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you</a:t>
            </a:r>
            <a:r>
              <a:rPr lang="fr-FR" sz="28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 </a:t>
            </a:r>
            <a:r>
              <a:rPr lang="fr-FR" sz="28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don’t</a:t>
            </a:r>
            <a:r>
              <a:rPr lang="fr-FR" sz="28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 </a:t>
            </a:r>
            <a:r>
              <a:rPr lang="fr-FR" sz="28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understand</a:t>
            </a:r>
            <a:r>
              <a:rPr lang="fr-FR" sz="28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 </a:t>
            </a:r>
            <a:r>
              <a:rPr lang="fr-FR" sz="28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it</a:t>
            </a:r>
            <a:endParaRPr lang="fr-FR" sz="280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+mj-lt"/>
            </a:endParaRPr>
          </a:p>
          <a:p>
            <a:pPr>
              <a:spcAft>
                <a:spcPts val="800"/>
              </a:spcAft>
              <a:buClr>
                <a:srgbClr val="FF3300"/>
              </a:buClr>
            </a:pPr>
            <a:r>
              <a:rPr lang="fr-FR" sz="28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How to practice</a:t>
            </a:r>
          </a:p>
          <a:p>
            <a:pPr marL="457200" indent="-457200">
              <a:spcAft>
                <a:spcPts val="8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FR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Recall</a:t>
            </a:r>
            <a:r>
              <a:rPr lang="fr-FR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: </a:t>
            </a:r>
            <a:r>
              <a:rPr lang="fr-FR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this</a:t>
            </a:r>
            <a:r>
              <a:rPr lang="fr-FR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</a:t>
            </a:r>
            <a:r>
              <a:rPr lang="fr-FR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is</a:t>
            </a:r>
            <a:r>
              <a:rPr lang="fr-FR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a hands-on course</a:t>
            </a:r>
          </a:p>
          <a:p>
            <a:pPr marL="457200" indent="-457200">
              <a:spcAft>
                <a:spcPts val="8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FR" sz="28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Get</a:t>
            </a:r>
            <a:r>
              <a:rPr lang="fr-FR" sz="28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 </a:t>
            </a:r>
            <a:r>
              <a:rPr lang="fr-FR" sz="28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your</a:t>
            </a:r>
            <a:r>
              <a:rPr lang="fr-FR" sz="28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 hands </a:t>
            </a:r>
            <a:r>
              <a:rPr lang="fr-FR" sz="28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dirty</a:t>
            </a:r>
            <a:r>
              <a:rPr lang="fr-FR" sz="28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lt"/>
              </a:rPr>
              <a:t>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F1202A-4FD5-7F20-7A16-E28A72860AB1}"/>
              </a:ext>
            </a:extLst>
          </p:cNvPr>
          <p:cNvSpPr/>
          <p:nvPr/>
        </p:nvSpPr>
        <p:spPr>
          <a:xfrm>
            <a:off x="702092" y="3976594"/>
            <a:ext cx="201168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Concepts</a:t>
            </a:r>
            <a:endParaRPr lang="fr-M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0131D8-0D37-5299-B353-42D42AF52717}"/>
              </a:ext>
            </a:extLst>
          </p:cNvPr>
          <p:cNvSpPr/>
          <p:nvPr/>
        </p:nvSpPr>
        <p:spPr>
          <a:xfrm>
            <a:off x="4665565" y="3986579"/>
            <a:ext cx="201168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Code</a:t>
            </a:r>
            <a:endParaRPr lang="fr-MA" dirty="0"/>
          </a:p>
        </p:txBody>
      </p:sp>
      <p:sp>
        <p:nvSpPr>
          <p:cNvPr id="6" name="Arrow: Striped Right 5">
            <a:extLst>
              <a:ext uri="{FF2B5EF4-FFF2-40B4-BE49-F238E27FC236}">
                <a16:creationId xmlns:a16="http://schemas.microsoft.com/office/drawing/2014/main" id="{EF228739-DB1B-3EEF-3660-A5AD38F05649}"/>
              </a:ext>
            </a:extLst>
          </p:cNvPr>
          <p:cNvSpPr/>
          <p:nvPr/>
        </p:nvSpPr>
        <p:spPr>
          <a:xfrm>
            <a:off x="2850932" y="4113754"/>
            <a:ext cx="1447800" cy="777240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C4F4B0-D2D7-F96D-B6F5-B111BF647750}"/>
              </a:ext>
            </a:extLst>
          </p:cNvPr>
          <p:cNvSpPr txBox="1"/>
          <p:nvPr/>
        </p:nvSpPr>
        <p:spPr>
          <a:xfrm>
            <a:off x="31532" y="5346408"/>
            <a:ext cx="90494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8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FR" sz="2400" b="1" i="0" dirty="0" err="1">
                <a:solidFill>
                  <a:srgbClr val="FF3300"/>
                </a:solidFill>
                <a:effectLst/>
                <a:latin typeface="+mj-lt"/>
              </a:rPr>
              <a:t>Remember</a:t>
            </a:r>
            <a:r>
              <a:rPr lang="fr-FR" sz="2400" b="1" dirty="0">
                <a:solidFill>
                  <a:srgbClr val="FF3300"/>
                </a:solidFill>
                <a:latin typeface="+mj-lt"/>
              </a:rPr>
              <a:t>: a real job / </a:t>
            </a:r>
            <a:r>
              <a:rPr lang="fr-FR" sz="2400" b="1" dirty="0" err="1">
                <a:solidFill>
                  <a:srgbClr val="FF3300"/>
                </a:solidFill>
                <a:latin typeface="+mj-lt"/>
              </a:rPr>
              <a:t>project</a:t>
            </a:r>
            <a:r>
              <a:rPr lang="fr-FR" sz="2400" b="1" dirty="0">
                <a:solidFill>
                  <a:srgbClr val="FF3300"/>
                </a:solidFill>
                <a:latin typeface="+mj-lt"/>
              </a:rPr>
              <a:t> </a:t>
            </a:r>
            <a:r>
              <a:rPr lang="fr-FR" sz="2400" b="1" dirty="0" err="1">
                <a:solidFill>
                  <a:srgbClr val="FF3300"/>
                </a:solidFill>
                <a:latin typeface="+mj-lt"/>
              </a:rPr>
              <a:t>involves</a:t>
            </a:r>
            <a:r>
              <a:rPr lang="fr-FR" sz="2400" b="1" dirty="0">
                <a:solidFill>
                  <a:srgbClr val="FF3300"/>
                </a:solidFill>
                <a:latin typeface="+mj-lt"/>
              </a:rPr>
              <a:t> </a:t>
            </a:r>
            <a:r>
              <a:rPr lang="fr-FR" sz="2400" b="1" dirty="0" err="1">
                <a:solidFill>
                  <a:srgbClr val="FF3300"/>
                </a:solidFill>
                <a:latin typeface="+mj-lt"/>
              </a:rPr>
              <a:t>actually</a:t>
            </a:r>
            <a:r>
              <a:rPr lang="fr-FR" sz="2400" b="1" dirty="0">
                <a:solidFill>
                  <a:srgbClr val="FF3300"/>
                </a:solidFill>
                <a:latin typeface="+mj-lt"/>
              </a:rPr>
              <a:t> </a:t>
            </a:r>
            <a:r>
              <a:rPr lang="fr-FR" sz="2400" b="1" dirty="0" err="1">
                <a:solidFill>
                  <a:srgbClr val="FF3300"/>
                </a:solidFill>
                <a:latin typeface="+mj-lt"/>
              </a:rPr>
              <a:t>writing</a:t>
            </a:r>
            <a:r>
              <a:rPr lang="fr-FR" sz="2400" b="1" dirty="0">
                <a:solidFill>
                  <a:srgbClr val="FF3300"/>
                </a:solidFill>
                <a:latin typeface="+mj-lt"/>
              </a:rPr>
              <a:t> code</a:t>
            </a:r>
            <a:endParaRPr lang="fr-FR" sz="2400" b="1" i="0" dirty="0">
              <a:solidFill>
                <a:srgbClr val="FF3300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80544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3">
            <a:extLst>
              <a:ext uri="{FF2B5EF4-FFF2-40B4-BE49-F238E27FC236}">
                <a16:creationId xmlns:a16="http://schemas.microsoft.com/office/drawing/2014/main" id="{0F141BF6-CE28-417B-85E9-6D17E155ED9A}"/>
              </a:ext>
            </a:extLst>
          </p:cNvPr>
          <p:cNvCxnSpPr/>
          <p:nvPr/>
        </p:nvCxnSpPr>
        <p:spPr>
          <a:xfrm>
            <a:off x="3837226" y="708926"/>
            <a:ext cx="8316000" cy="0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543F62F-14CB-4D3F-A108-963BF50127BC}"/>
              </a:ext>
            </a:extLst>
          </p:cNvPr>
          <p:cNvSpPr txBox="1"/>
          <p:nvPr/>
        </p:nvSpPr>
        <p:spPr>
          <a:xfrm>
            <a:off x="3837223" y="26518"/>
            <a:ext cx="83547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2800" b="1" dirty="0" err="1">
                <a:solidFill>
                  <a:srgbClr val="0065FA"/>
                </a:solidFill>
              </a:rPr>
              <a:t>Churn_Modelling</a:t>
            </a:r>
            <a:r>
              <a:rPr lang="fr-MA" sz="2800" b="1" dirty="0">
                <a:solidFill>
                  <a:srgbClr val="0065FA"/>
                </a:solidFill>
              </a:rPr>
              <a:t> Project</a:t>
            </a:r>
          </a:p>
        </p:txBody>
      </p:sp>
      <p:sp>
        <p:nvSpPr>
          <p:cNvPr id="4" name="ZoneTexte 36">
            <a:extLst>
              <a:ext uri="{FF2B5EF4-FFF2-40B4-BE49-F238E27FC236}">
                <a16:creationId xmlns:a16="http://schemas.microsoft.com/office/drawing/2014/main" id="{D9AA0647-917C-4E29-9301-1802027861E8}"/>
              </a:ext>
            </a:extLst>
          </p:cNvPr>
          <p:cNvSpPr txBox="1"/>
          <p:nvPr/>
        </p:nvSpPr>
        <p:spPr>
          <a:xfrm>
            <a:off x="3837226" y="708926"/>
            <a:ext cx="8354774" cy="2451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Data </a:t>
            </a:r>
            <a:r>
              <a:rPr lang="fr-FR" sz="2000" i="0" dirty="0" err="1">
                <a:solidFill>
                  <a:srgbClr val="0070C0"/>
                </a:solidFill>
                <a:effectLst/>
                <a:latin typeface="+mj-lt"/>
              </a:rPr>
              <a:t>Preparation</a:t>
            </a:r>
            <a:endParaRPr lang="fr-FR" sz="2000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Model 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dirty="0" err="1">
                <a:solidFill>
                  <a:srgbClr val="0070C0"/>
                </a:solidFill>
                <a:latin typeface="+mj-lt"/>
              </a:rPr>
              <a:t>Prediction</a:t>
            </a:r>
            <a:endParaRPr lang="fr-FR" sz="2000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dirty="0">
                <a:solidFill>
                  <a:srgbClr val="0070C0"/>
                </a:solidFill>
                <a:latin typeface="+mj-lt"/>
              </a:rPr>
              <a:t>Evaluation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i="0" dirty="0" err="1">
                <a:solidFill>
                  <a:srgbClr val="0070C0"/>
                </a:solidFill>
                <a:effectLst/>
                <a:latin typeface="+mj-lt"/>
              </a:rPr>
              <a:t>Improve</a:t>
            </a: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 Performance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endParaRPr lang="fr-FR" sz="2000" i="0" dirty="0">
              <a:solidFill>
                <a:srgbClr val="0070C0"/>
              </a:solidFill>
              <a:effectLst/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0954BC-F423-4695-B0AF-166DC309DBE6}"/>
              </a:ext>
            </a:extLst>
          </p:cNvPr>
          <p:cNvSpPr/>
          <p:nvPr/>
        </p:nvSpPr>
        <p:spPr>
          <a:xfrm>
            <a:off x="0" y="0"/>
            <a:ext cx="3837226" cy="68579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4286261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B17E0B-8207-2933-4498-D909D9F2DA16}"/>
              </a:ext>
            </a:extLst>
          </p:cNvPr>
          <p:cNvSpPr txBox="1"/>
          <p:nvPr/>
        </p:nvSpPr>
        <p:spPr>
          <a:xfrm>
            <a:off x="15774" y="643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rgbClr val="0180FF"/>
                </a:solidFill>
              </a:rPr>
              <a:t>1. Data </a:t>
            </a:r>
            <a:r>
              <a:rPr lang="fr-FR" sz="3600" dirty="0" err="1">
                <a:solidFill>
                  <a:srgbClr val="0180FF"/>
                </a:solidFill>
              </a:rPr>
              <a:t>Preparation</a:t>
            </a:r>
            <a:endParaRPr lang="fr-MA" sz="3600" dirty="0">
              <a:solidFill>
                <a:srgbClr val="0180FF"/>
              </a:solidFill>
            </a:endParaRPr>
          </a:p>
        </p:txBody>
      </p:sp>
      <p:sp>
        <p:nvSpPr>
          <p:cNvPr id="8" name="ZoneTexte 36">
            <a:extLst>
              <a:ext uri="{FF2B5EF4-FFF2-40B4-BE49-F238E27FC236}">
                <a16:creationId xmlns:a16="http://schemas.microsoft.com/office/drawing/2014/main" id="{1341BC2F-5648-E36B-1C49-2F8C089E6587}"/>
              </a:ext>
            </a:extLst>
          </p:cNvPr>
          <p:cNvSpPr txBox="1"/>
          <p:nvPr/>
        </p:nvSpPr>
        <p:spPr>
          <a:xfrm>
            <a:off x="68308" y="784955"/>
            <a:ext cx="6647801" cy="4914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i="0" dirty="0" err="1">
                <a:solidFill>
                  <a:srgbClr val="0070C0"/>
                </a:solidFill>
                <a:effectLst/>
                <a:latin typeface="+mj-lt"/>
              </a:rPr>
              <a:t>Load</a:t>
            </a: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 Data set in a </a:t>
            </a:r>
            <a:r>
              <a:rPr lang="fr-FR" sz="2000" i="0" dirty="0" err="1">
                <a:solidFill>
                  <a:srgbClr val="0070C0"/>
                </a:solidFill>
                <a:effectLst/>
                <a:latin typeface="+mj-lt"/>
              </a:rPr>
              <a:t>Dataframe</a:t>
            </a:r>
            <a:endParaRPr lang="fr-FR" sz="2000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i="0" dirty="0" err="1">
                <a:solidFill>
                  <a:srgbClr val="0070C0"/>
                </a:solidFill>
                <a:effectLst/>
                <a:latin typeface="+mj-lt"/>
              </a:rPr>
              <a:t>Visualize</a:t>
            </a: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 Data </a:t>
            </a:r>
            <a:r>
              <a:rPr lang="fr-FR" sz="2000" i="0" dirty="0" err="1">
                <a:solidFill>
                  <a:srgbClr val="0070C0"/>
                </a:solidFill>
                <a:effectLst/>
                <a:latin typeface="+mj-lt"/>
              </a:rPr>
              <a:t>with</a:t>
            </a: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 </a:t>
            </a:r>
            <a:r>
              <a:rPr lang="fr-FR" sz="2000" i="0" dirty="0" err="1">
                <a:solidFill>
                  <a:srgbClr val="0070C0"/>
                </a:solidFill>
                <a:effectLst/>
                <a:latin typeface="+mj-lt"/>
              </a:rPr>
              <a:t>DataFrame</a:t>
            </a:r>
            <a:endParaRPr lang="fr-FR" sz="2000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dirty="0" err="1">
                <a:solidFill>
                  <a:srgbClr val="0070C0"/>
                </a:solidFill>
                <a:latin typeface="+mj-lt"/>
              </a:rPr>
              <a:t>Identify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the type of 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problem</a:t>
            </a:r>
            <a:endParaRPr lang="fr-FR" sz="2000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dirty="0" err="1">
                <a:solidFill>
                  <a:srgbClr val="0070C0"/>
                </a:solidFill>
                <a:latin typeface="+mj-lt"/>
              </a:rPr>
              <a:t>identify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non-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predictive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features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without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any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analysis</a:t>
            </a:r>
            <a:endParaRPr lang="fr-FR" sz="2000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dirty="0" err="1">
                <a:solidFill>
                  <a:srgbClr val="0070C0"/>
                </a:solidFill>
                <a:latin typeface="+mj-lt"/>
              </a:rPr>
              <a:t>Identfiy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features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type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dirty="0" err="1">
                <a:solidFill>
                  <a:srgbClr val="0070C0"/>
                </a:solidFill>
                <a:latin typeface="+mj-lt"/>
              </a:rPr>
              <a:t>Extract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columns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, 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lines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from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a 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DataFrame</a:t>
            </a:r>
            <a:endParaRPr lang="fr-FR" sz="2000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Encode </a:t>
            </a:r>
            <a:r>
              <a:rPr lang="fr-FR" sz="2000" i="0" dirty="0" err="1">
                <a:solidFill>
                  <a:srgbClr val="0070C0"/>
                </a:solidFill>
                <a:effectLst/>
                <a:latin typeface="+mj-lt"/>
              </a:rPr>
              <a:t>categorical</a:t>
            </a: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 variables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Encode </a:t>
            </a:r>
            <a:r>
              <a:rPr lang="fr-FR" sz="2000" i="0" dirty="0" err="1">
                <a:solidFill>
                  <a:srgbClr val="0070C0"/>
                </a:solidFill>
                <a:effectLst/>
                <a:latin typeface="+mj-lt"/>
              </a:rPr>
              <a:t>binary</a:t>
            </a: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 variable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dirty="0">
                <a:solidFill>
                  <a:srgbClr val="0070C0"/>
                </a:solidFill>
                <a:latin typeface="+mj-lt"/>
              </a:rPr>
              <a:t>Encode ordinal variables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dirty="0" err="1">
                <a:solidFill>
                  <a:srgbClr val="28659C"/>
                </a:solidFill>
                <a:latin typeface="+mj-lt"/>
              </a:rPr>
              <a:t>Separate</a:t>
            </a:r>
            <a:r>
              <a:rPr lang="fr-FR" sz="2000" dirty="0">
                <a:solidFill>
                  <a:srgbClr val="28659C"/>
                </a:solidFill>
                <a:latin typeface="+mj-lt"/>
              </a:rPr>
              <a:t> </a:t>
            </a:r>
            <a:r>
              <a:rPr lang="fr-FR" sz="2000" dirty="0" err="1">
                <a:solidFill>
                  <a:srgbClr val="28659C"/>
                </a:solidFill>
                <a:latin typeface="+mj-lt"/>
              </a:rPr>
              <a:t>features</a:t>
            </a:r>
            <a:r>
              <a:rPr lang="fr-FR" sz="2000" dirty="0">
                <a:solidFill>
                  <a:srgbClr val="28659C"/>
                </a:solidFill>
                <a:latin typeface="+mj-lt"/>
              </a:rPr>
              <a:t> &amp; </a:t>
            </a:r>
            <a:r>
              <a:rPr lang="fr-FR" sz="2000" dirty="0" err="1">
                <a:solidFill>
                  <a:srgbClr val="28659C"/>
                </a:solidFill>
                <a:latin typeface="+mj-lt"/>
              </a:rPr>
              <a:t>target</a:t>
            </a:r>
            <a:endParaRPr lang="fr-FR" sz="2000" i="0" dirty="0">
              <a:solidFill>
                <a:srgbClr val="28659C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Split data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dirty="0" err="1">
                <a:solidFill>
                  <a:srgbClr val="0070C0"/>
                </a:solidFill>
                <a:latin typeface="+mj-lt"/>
              </a:rPr>
              <a:t>Rescale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22258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B17E0B-8207-2933-4498-D909D9F2DA16}"/>
              </a:ext>
            </a:extLst>
          </p:cNvPr>
          <p:cNvSpPr txBox="1"/>
          <p:nvPr/>
        </p:nvSpPr>
        <p:spPr>
          <a:xfrm>
            <a:off x="15774" y="643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rgbClr val="0180FF"/>
                </a:solidFill>
              </a:rPr>
              <a:t>1. Data </a:t>
            </a:r>
            <a:r>
              <a:rPr lang="fr-FR" sz="3600" dirty="0" err="1">
                <a:solidFill>
                  <a:srgbClr val="0180FF"/>
                </a:solidFill>
              </a:rPr>
              <a:t>Preparation</a:t>
            </a:r>
            <a:endParaRPr lang="fr-MA" sz="3600" dirty="0">
              <a:solidFill>
                <a:srgbClr val="0180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A2176A-B405-F969-1F1D-AFE20EB603C7}"/>
              </a:ext>
            </a:extLst>
          </p:cNvPr>
          <p:cNvSpPr txBox="1"/>
          <p:nvPr/>
        </p:nvSpPr>
        <p:spPr>
          <a:xfrm>
            <a:off x="7157561" y="510394"/>
            <a:ext cx="4792709" cy="33547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dirty="0"/>
              <a:t>import </a:t>
            </a:r>
            <a:r>
              <a:rPr lang="fr-MA" dirty="0" err="1"/>
              <a:t>numpy</a:t>
            </a:r>
            <a:r>
              <a:rPr lang="fr-MA" dirty="0"/>
              <a:t> as </a:t>
            </a:r>
            <a:r>
              <a:rPr lang="fr-MA" dirty="0" err="1"/>
              <a:t>np</a:t>
            </a:r>
            <a:endParaRPr lang="fr-MA" dirty="0"/>
          </a:p>
          <a:p>
            <a:pPr>
              <a:spcAft>
                <a:spcPts val="1200"/>
              </a:spcAft>
            </a:pPr>
            <a:r>
              <a:rPr lang="fr-MA" dirty="0"/>
              <a:t>import </a:t>
            </a:r>
            <a:r>
              <a:rPr lang="fr-MA" dirty="0" err="1"/>
              <a:t>matplotlib.pyplot</a:t>
            </a:r>
            <a:r>
              <a:rPr lang="fr-MA" dirty="0"/>
              <a:t> as </a:t>
            </a:r>
            <a:r>
              <a:rPr lang="fr-MA" dirty="0" err="1"/>
              <a:t>plt</a:t>
            </a:r>
            <a:endParaRPr lang="fr-MA" dirty="0"/>
          </a:p>
          <a:p>
            <a:pPr>
              <a:spcAft>
                <a:spcPts val="1200"/>
              </a:spcAft>
            </a:pPr>
            <a:r>
              <a:rPr lang="fr-MA" dirty="0"/>
              <a:t>import pandas as </a:t>
            </a:r>
            <a:r>
              <a:rPr lang="fr-MA" dirty="0" err="1"/>
              <a:t>pnd</a:t>
            </a:r>
            <a:endParaRPr lang="fr-MA" dirty="0"/>
          </a:p>
          <a:p>
            <a:pPr>
              <a:spcAft>
                <a:spcPts val="1200"/>
              </a:spcAft>
            </a:pPr>
            <a:r>
              <a:rPr lang="fr-MA" dirty="0" err="1"/>
              <a:t>from</a:t>
            </a:r>
            <a:r>
              <a:rPr lang="fr-MA" dirty="0"/>
              <a:t> </a:t>
            </a:r>
            <a:r>
              <a:rPr lang="fr-MA" dirty="0" err="1"/>
              <a:t>sklearn.model_selection</a:t>
            </a:r>
            <a:r>
              <a:rPr lang="fr-MA" dirty="0"/>
              <a:t> import </a:t>
            </a:r>
            <a:r>
              <a:rPr lang="fr-MA" dirty="0" err="1"/>
              <a:t>train_test_split</a:t>
            </a:r>
            <a:endParaRPr lang="fr-MA" dirty="0"/>
          </a:p>
          <a:p>
            <a:pPr>
              <a:spcAft>
                <a:spcPts val="1200"/>
              </a:spcAft>
            </a:pPr>
            <a:r>
              <a:rPr lang="fr-MA" dirty="0" err="1"/>
              <a:t>from</a:t>
            </a:r>
            <a:r>
              <a:rPr lang="fr-MA" dirty="0"/>
              <a:t> </a:t>
            </a:r>
            <a:r>
              <a:rPr lang="fr-MA" dirty="0" err="1"/>
              <a:t>sklearn.preprocessing</a:t>
            </a:r>
            <a:r>
              <a:rPr lang="fr-MA" dirty="0"/>
              <a:t> import </a:t>
            </a:r>
            <a:r>
              <a:rPr lang="fr-MA" dirty="0" err="1"/>
              <a:t>LabelEncoder</a:t>
            </a:r>
            <a:r>
              <a:rPr lang="fr-MA" dirty="0"/>
              <a:t>, </a:t>
            </a:r>
            <a:r>
              <a:rPr lang="fr-MA" dirty="0" err="1"/>
              <a:t>OneHotEncoder</a:t>
            </a:r>
            <a:endParaRPr lang="fr-MA" dirty="0"/>
          </a:p>
          <a:p>
            <a:pPr>
              <a:spcAft>
                <a:spcPts val="1200"/>
              </a:spcAft>
            </a:pPr>
            <a:r>
              <a:rPr lang="fr-MA" dirty="0" err="1"/>
              <a:t>from</a:t>
            </a:r>
            <a:r>
              <a:rPr lang="fr-MA" dirty="0"/>
              <a:t> </a:t>
            </a:r>
            <a:r>
              <a:rPr lang="fr-MA" dirty="0" err="1"/>
              <a:t>sklearn.preprocessing</a:t>
            </a:r>
            <a:r>
              <a:rPr lang="fr-MA" dirty="0"/>
              <a:t> import </a:t>
            </a:r>
            <a:r>
              <a:rPr lang="fr-MA" dirty="0" err="1"/>
              <a:t>StandardScaler</a:t>
            </a:r>
            <a:endParaRPr lang="fr-M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B5128F-4E47-F29D-03D7-B547D3285B35}"/>
              </a:ext>
            </a:extLst>
          </p:cNvPr>
          <p:cNvSpPr txBox="1"/>
          <p:nvPr/>
        </p:nvSpPr>
        <p:spPr>
          <a:xfrm>
            <a:off x="7141787" y="4029257"/>
            <a:ext cx="479270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dataset</a:t>
            </a:r>
            <a:r>
              <a:rPr lang="fr-MA" dirty="0"/>
              <a:t>=</a:t>
            </a:r>
            <a:r>
              <a:rPr lang="fr-MA" dirty="0" err="1"/>
              <a:t>pnd.read_csv</a:t>
            </a:r>
            <a:r>
              <a:rPr lang="fr-MA" dirty="0"/>
              <a:t>("Churn_Modelling.csv")</a:t>
            </a:r>
          </a:p>
        </p:txBody>
      </p:sp>
      <p:sp>
        <p:nvSpPr>
          <p:cNvPr id="8" name="ZoneTexte 36">
            <a:extLst>
              <a:ext uri="{FF2B5EF4-FFF2-40B4-BE49-F238E27FC236}">
                <a16:creationId xmlns:a16="http://schemas.microsoft.com/office/drawing/2014/main" id="{1341BC2F-5648-E36B-1C49-2F8C089E6587}"/>
              </a:ext>
            </a:extLst>
          </p:cNvPr>
          <p:cNvSpPr txBox="1"/>
          <p:nvPr/>
        </p:nvSpPr>
        <p:spPr>
          <a:xfrm>
            <a:off x="68308" y="911084"/>
            <a:ext cx="6647801" cy="2451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Load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Data set in a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Dataframe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i="0" dirty="0" err="1">
                <a:solidFill>
                  <a:srgbClr val="0070C0"/>
                </a:solidFill>
                <a:effectLst/>
                <a:latin typeface="+mj-lt"/>
              </a:rPr>
              <a:t>Visualize</a:t>
            </a: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 Data </a:t>
            </a:r>
            <a:r>
              <a:rPr lang="fr-FR" sz="2000" i="0" dirty="0" err="1">
                <a:solidFill>
                  <a:srgbClr val="0070C0"/>
                </a:solidFill>
                <a:effectLst/>
                <a:latin typeface="+mj-lt"/>
              </a:rPr>
              <a:t>with</a:t>
            </a: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 </a:t>
            </a:r>
            <a:r>
              <a:rPr lang="fr-FR" sz="2000" i="0" dirty="0" err="1">
                <a:solidFill>
                  <a:srgbClr val="0070C0"/>
                </a:solidFill>
                <a:effectLst/>
                <a:latin typeface="+mj-lt"/>
              </a:rPr>
              <a:t>DataFrame</a:t>
            </a: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: </a:t>
            </a:r>
            <a:r>
              <a:rPr lang="fr-FR" sz="2000" i="0" dirty="0" err="1">
                <a:solidFill>
                  <a:srgbClr val="0070C0"/>
                </a:solidFill>
                <a:effectLst/>
                <a:latin typeface="+mj-lt"/>
              </a:rPr>
              <a:t>head</a:t>
            </a: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, </a:t>
            </a:r>
            <a:r>
              <a:rPr lang="fr-FR" sz="2000" i="0" dirty="0" err="1">
                <a:solidFill>
                  <a:srgbClr val="0070C0"/>
                </a:solidFill>
                <a:effectLst/>
                <a:latin typeface="+mj-lt"/>
              </a:rPr>
              <a:t>tail</a:t>
            </a: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, </a:t>
            </a:r>
            <a:r>
              <a:rPr lang="fr-FR" sz="2000" i="0" dirty="0" err="1">
                <a:solidFill>
                  <a:srgbClr val="0070C0"/>
                </a:solidFill>
                <a:effectLst/>
                <a:latin typeface="+mj-lt"/>
              </a:rPr>
              <a:t>describe</a:t>
            </a:r>
            <a:endParaRPr lang="fr-FR" sz="2000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dirty="0" err="1">
                <a:solidFill>
                  <a:srgbClr val="0070C0"/>
                </a:solidFill>
                <a:latin typeface="+mj-lt"/>
              </a:rPr>
              <a:t>Identify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the type of 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problem</a:t>
            </a:r>
            <a:endParaRPr lang="fr-FR" sz="2000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dirty="0" err="1">
                <a:solidFill>
                  <a:srgbClr val="0070C0"/>
                </a:solidFill>
                <a:latin typeface="+mj-lt"/>
              </a:rPr>
              <a:t>identify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non-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predictive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features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without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any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analysis</a:t>
            </a:r>
            <a:endParaRPr lang="fr-FR" sz="2000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dirty="0" err="1">
                <a:solidFill>
                  <a:srgbClr val="0070C0"/>
                </a:solidFill>
                <a:latin typeface="+mj-lt"/>
              </a:rPr>
              <a:t>Extract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data 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from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the 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dataframe</a:t>
            </a:r>
            <a:endParaRPr lang="fr-FR" sz="2000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endParaRPr lang="fr-FR" sz="2000" i="0" dirty="0">
              <a:solidFill>
                <a:srgbClr val="0070C0"/>
              </a:solidFill>
              <a:effectLst/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2677D35-F7E1-4018-3225-52756C8BE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53" y="4637024"/>
            <a:ext cx="8859486" cy="19338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1D4DB68-A293-84C5-3E81-16DAA6629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52" y="3988319"/>
            <a:ext cx="1234599" cy="58098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5831347-0B5B-A4CC-27E8-6537728E28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8375" y="4648026"/>
            <a:ext cx="1543265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469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B17E0B-8207-2933-4498-D909D9F2DA16}"/>
              </a:ext>
            </a:extLst>
          </p:cNvPr>
          <p:cNvSpPr txBox="1"/>
          <p:nvPr/>
        </p:nvSpPr>
        <p:spPr>
          <a:xfrm>
            <a:off x="15774" y="643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rgbClr val="0180FF"/>
                </a:solidFill>
              </a:rPr>
              <a:t>1. Data </a:t>
            </a:r>
            <a:r>
              <a:rPr lang="fr-FR" sz="3600" dirty="0" err="1">
                <a:solidFill>
                  <a:srgbClr val="0180FF"/>
                </a:solidFill>
              </a:rPr>
              <a:t>Preparation</a:t>
            </a:r>
            <a:endParaRPr lang="fr-MA" sz="3600" dirty="0">
              <a:solidFill>
                <a:srgbClr val="0180FF"/>
              </a:solidFill>
            </a:endParaRPr>
          </a:p>
        </p:txBody>
      </p:sp>
      <p:sp>
        <p:nvSpPr>
          <p:cNvPr id="8" name="ZoneTexte 36">
            <a:extLst>
              <a:ext uri="{FF2B5EF4-FFF2-40B4-BE49-F238E27FC236}">
                <a16:creationId xmlns:a16="http://schemas.microsoft.com/office/drawing/2014/main" id="{1341BC2F-5648-E36B-1C49-2F8C089E6587}"/>
              </a:ext>
            </a:extLst>
          </p:cNvPr>
          <p:cNvSpPr txBox="1"/>
          <p:nvPr/>
        </p:nvSpPr>
        <p:spPr>
          <a:xfrm>
            <a:off x="68308" y="911084"/>
            <a:ext cx="6647801" cy="2451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Load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Data set in a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Dataframe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Visualize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Data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with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DataFrame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: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head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,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tail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,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describe</a:t>
            </a:r>
            <a:endParaRPr lang="fr-FR" sz="2000" b="1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b="1" dirty="0" err="1">
                <a:solidFill>
                  <a:srgbClr val="0070C0"/>
                </a:solidFill>
              </a:rPr>
              <a:t>Identify</a:t>
            </a:r>
            <a:r>
              <a:rPr lang="fr-FR" sz="2000" b="1" dirty="0">
                <a:solidFill>
                  <a:srgbClr val="0070C0"/>
                </a:solidFill>
              </a:rPr>
              <a:t> the type of </a:t>
            </a:r>
            <a:r>
              <a:rPr lang="fr-FR" sz="2000" b="1" dirty="0" err="1">
                <a:solidFill>
                  <a:srgbClr val="0070C0"/>
                </a:solidFill>
              </a:rPr>
              <a:t>problem</a:t>
            </a:r>
            <a:endParaRPr lang="fr-FR" sz="2000" b="1" dirty="0">
              <a:solidFill>
                <a:srgbClr val="0070C0"/>
              </a:solidFill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dirty="0" err="1">
                <a:solidFill>
                  <a:srgbClr val="0070C0"/>
                </a:solidFill>
                <a:latin typeface="+mj-lt"/>
              </a:rPr>
              <a:t>identify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non-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predictive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features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without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any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analysis</a:t>
            </a:r>
            <a:endParaRPr lang="fr-FR" sz="2000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dirty="0" err="1">
                <a:solidFill>
                  <a:srgbClr val="0070C0"/>
                </a:solidFill>
                <a:latin typeface="+mj-lt"/>
              </a:rPr>
              <a:t>Extract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data 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from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the 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dataframe</a:t>
            </a:r>
            <a:endParaRPr lang="fr-FR" sz="2000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endParaRPr lang="fr-FR" sz="2000" i="0" dirty="0">
              <a:solidFill>
                <a:srgbClr val="0070C0"/>
              </a:solidFill>
              <a:effectLst/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47FE10-3571-C415-66B3-4C26C54C1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53" y="3596495"/>
            <a:ext cx="8859486" cy="19338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C70447C-9A51-6AE2-9443-B16A03432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8375" y="3607497"/>
            <a:ext cx="1543265" cy="194337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BB1199A-64FF-C83E-B0D7-F52B2E01A7D6}"/>
              </a:ext>
            </a:extLst>
          </p:cNvPr>
          <p:cNvSpPr/>
          <p:nvPr/>
        </p:nvSpPr>
        <p:spPr>
          <a:xfrm>
            <a:off x="10169120" y="3466980"/>
            <a:ext cx="512520" cy="2211720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BA642F-3B9C-3E73-6F4F-D901C9A722EE}"/>
              </a:ext>
            </a:extLst>
          </p:cNvPr>
          <p:cNvSpPr txBox="1"/>
          <p:nvPr/>
        </p:nvSpPr>
        <p:spPr>
          <a:xfrm>
            <a:off x="9401504" y="5703232"/>
            <a:ext cx="2790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FF3300"/>
                </a:solidFill>
              </a:rPr>
              <a:t>Binary</a:t>
            </a:r>
            <a:r>
              <a:rPr lang="fr-MA" dirty="0">
                <a:solidFill>
                  <a:srgbClr val="FF3300"/>
                </a:solidFill>
              </a:rPr>
              <a:t> type: </a:t>
            </a:r>
            <a:r>
              <a:rPr lang="fr-MA" dirty="0" err="1">
                <a:solidFill>
                  <a:srgbClr val="FF3300"/>
                </a:solidFill>
              </a:rPr>
              <a:t>Binary</a:t>
            </a:r>
            <a:r>
              <a:rPr lang="fr-MA" dirty="0">
                <a:solidFill>
                  <a:srgbClr val="FF3300"/>
                </a:solidFill>
              </a:rPr>
              <a:t> classification </a:t>
            </a:r>
            <a:r>
              <a:rPr lang="fr-MA" dirty="0" err="1">
                <a:solidFill>
                  <a:srgbClr val="FF3300"/>
                </a:solidFill>
              </a:rPr>
              <a:t>problem</a:t>
            </a:r>
            <a:endParaRPr lang="fr-MA" dirty="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8056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B17E0B-8207-2933-4498-D909D9F2DA16}"/>
              </a:ext>
            </a:extLst>
          </p:cNvPr>
          <p:cNvSpPr txBox="1"/>
          <p:nvPr/>
        </p:nvSpPr>
        <p:spPr>
          <a:xfrm>
            <a:off x="15774" y="643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rgbClr val="0180FF"/>
                </a:solidFill>
              </a:rPr>
              <a:t>1. Data </a:t>
            </a:r>
            <a:r>
              <a:rPr lang="fr-FR" sz="3600" dirty="0" err="1">
                <a:solidFill>
                  <a:srgbClr val="0180FF"/>
                </a:solidFill>
              </a:rPr>
              <a:t>Preparation</a:t>
            </a:r>
            <a:endParaRPr lang="fr-MA" sz="3600" dirty="0">
              <a:solidFill>
                <a:srgbClr val="0180FF"/>
              </a:solidFill>
            </a:endParaRPr>
          </a:p>
        </p:txBody>
      </p:sp>
      <p:sp>
        <p:nvSpPr>
          <p:cNvPr id="8" name="ZoneTexte 36">
            <a:extLst>
              <a:ext uri="{FF2B5EF4-FFF2-40B4-BE49-F238E27FC236}">
                <a16:creationId xmlns:a16="http://schemas.microsoft.com/office/drawing/2014/main" id="{1341BC2F-5648-E36B-1C49-2F8C089E6587}"/>
              </a:ext>
            </a:extLst>
          </p:cNvPr>
          <p:cNvSpPr txBox="1"/>
          <p:nvPr/>
        </p:nvSpPr>
        <p:spPr>
          <a:xfrm>
            <a:off x="68308" y="911084"/>
            <a:ext cx="6647801" cy="2451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Load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Data set in a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Dataframe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Visualize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Data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with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DataFrame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: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head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,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tail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,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describe</a:t>
            </a:r>
            <a:endParaRPr lang="fr-FR" sz="2000" b="1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b="1" dirty="0" err="1">
                <a:solidFill>
                  <a:srgbClr val="0070C0"/>
                </a:solidFill>
              </a:rPr>
              <a:t>Identify</a:t>
            </a:r>
            <a:r>
              <a:rPr lang="fr-FR" sz="2000" b="1" dirty="0">
                <a:solidFill>
                  <a:srgbClr val="0070C0"/>
                </a:solidFill>
              </a:rPr>
              <a:t> the type of </a:t>
            </a:r>
            <a:r>
              <a:rPr lang="fr-FR" sz="2000" b="1" dirty="0" err="1">
                <a:solidFill>
                  <a:srgbClr val="0070C0"/>
                </a:solidFill>
              </a:rPr>
              <a:t>problem</a:t>
            </a:r>
            <a:endParaRPr lang="fr-FR" sz="2000" b="1" dirty="0">
              <a:solidFill>
                <a:srgbClr val="0070C0"/>
              </a:solidFill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dirty="0" err="1">
                <a:solidFill>
                  <a:srgbClr val="0070C0"/>
                </a:solidFill>
                <a:latin typeface="+mj-lt"/>
              </a:rPr>
              <a:t>identify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non-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predictive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features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without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any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analysis</a:t>
            </a:r>
            <a:endParaRPr lang="fr-FR" sz="2000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dirty="0" err="1">
                <a:solidFill>
                  <a:srgbClr val="0070C0"/>
                </a:solidFill>
                <a:latin typeface="+mj-lt"/>
              </a:rPr>
              <a:t>Extract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data 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from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the 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dataframe</a:t>
            </a:r>
            <a:endParaRPr lang="fr-FR" sz="2000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endParaRPr lang="fr-FR" sz="2000" i="0" dirty="0">
              <a:solidFill>
                <a:srgbClr val="0070C0"/>
              </a:solidFill>
              <a:effectLst/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47FE10-3571-C415-66B3-4C26C54C1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53" y="3596495"/>
            <a:ext cx="8859486" cy="19338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C70447C-9A51-6AE2-9443-B16A03432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8375" y="3607497"/>
            <a:ext cx="1543265" cy="194337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BB1199A-64FF-C83E-B0D7-F52B2E01A7D6}"/>
              </a:ext>
            </a:extLst>
          </p:cNvPr>
          <p:cNvSpPr/>
          <p:nvPr/>
        </p:nvSpPr>
        <p:spPr>
          <a:xfrm>
            <a:off x="757107" y="3479632"/>
            <a:ext cx="2207172" cy="2211720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BA642F-3B9C-3E73-6F4F-D901C9A722EE}"/>
              </a:ext>
            </a:extLst>
          </p:cNvPr>
          <p:cNvSpPr txBox="1"/>
          <p:nvPr/>
        </p:nvSpPr>
        <p:spPr>
          <a:xfrm>
            <a:off x="614850" y="3042749"/>
            <a:ext cx="2790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FF3300"/>
                </a:solidFill>
              </a:rPr>
              <a:t>Non </a:t>
            </a:r>
            <a:r>
              <a:rPr lang="fr-MA" dirty="0" err="1">
                <a:solidFill>
                  <a:srgbClr val="FF3300"/>
                </a:solidFill>
              </a:rPr>
              <a:t>predictive</a:t>
            </a:r>
            <a:r>
              <a:rPr lang="fr-MA" dirty="0">
                <a:solidFill>
                  <a:srgbClr val="FF3300"/>
                </a:solidFill>
              </a:rPr>
              <a:t> </a:t>
            </a:r>
            <a:r>
              <a:rPr lang="fr-MA" dirty="0" err="1">
                <a:solidFill>
                  <a:srgbClr val="FF3300"/>
                </a:solidFill>
              </a:rPr>
              <a:t>features</a:t>
            </a:r>
            <a:endParaRPr lang="fr-MA" dirty="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7295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B17E0B-8207-2933-4498-D909D9F2DA16}"/>
              </a:ext>
            </a:extLst>
          </p:cNvPr>
          <p:cNvSpPr txBox="1"/>
          <p:nvPr/>
        </p:nvSpPr>
        <p:spPr>
          <a:xfrm>
            <a:off x="15774" y="643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rgbClr val="0180FF"/>
                </a:solidFill>
              </a:rPr>
              <a:t>1. Data </a:t>
            </a:r>
            <a:r>
              <a:rPr lang="fr-FR" sz="3600" dirty="0" err="1">
                <a:solidFill>
                  <a:srgbClr val="0180FF"/>
                </a:solidFill>
              </a:rPr>
              <a:t>Preparation</a:t>
            </a:r>
            <a:endParaRPr lang="fr-MA" sz="3600" dirty="0">
              <a:solidFill>
                <a:srgbClr val="0180FF"/>
              </a:solidFill>
            </a:endParaRPr>
          </a:p>
        </p:txBody>
      </p:sp>
      <p:sp>
        <p:nvSpPr>
          <p:cNvPr id="8" name="ZoneTexte 36">
            <a:extLst>
              <a:ext uri="{FF2B5EF4-FFF2-40B4-BE49-F238E27FC236}">
                <a16:creationId xmlns:a16="http://schemas.microsoft.com/office/drawing/2014/main" id="{1341BC2F-5648-E36B-1C49-2F8C089E6587}"/>
              </a:ext>
            </a:extLst>
          </p:cNvPr>
          <p:cNvSpPr txBox="1"/>
          <p:nvPr/>
        </p:nvSpPr>
        <p:spPr>
          <a:xfrm>
            <a:off x="68308" y="911084"/>
            <a:ext cx="6647801" cy="2451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Load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Data set in a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Dataframe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Visualize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Data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with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DataFrame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: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head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,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tail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,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describe</a:t>
            </a:r>
            <a:endParaRPr lang="fr-FR" sz="2000" b="1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b="1" dirty="0" err="1">
                <a:solidFill>
                  <a:srgbClr val="0070C0"/>
                </a:solidFill>
              </a:rPr>
              <a:t>Identify</a:t>
            </a:r>
            <a:r>
              <a:rPr lang="fr-FR" sz="2000" b="1" dirty="0">
                <a:solidFill>
                  <a:srgbClr val="0070C0"/>
                </a:solidFill>
              </a:rPr>
              <a:t> the type of </a:t>
            </a:r>
            <a:r>
              <a:rPr lang="fr-FR" sz="2000" b="1" dirty="0" err="1">
                <a:solidFill>
                  <a:srgbClr val="0070C0"/>
                </a:solidFill>
              </a:rPr>
              <a:t>problem</a:t>
            </a:r>
            <a:endParaRPr lang="fr-FR" sz="2000" b="1" dirty="0">
              <a:solidFill>
                <a:srgbClr val="0070C0"/>
              </a:solidFill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identify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non-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predictive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features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without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any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analysis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Extract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data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from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the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dataframe</a:t>
            </a:r>
            <a:endParaRPr lang="fr-FR" sz="2000" b="1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endParaRPr lang="fr-FR" sz="2000" i="0" dirty="0">
              <a:solidFill>
                <a:srgbClr val="0070C0"/>
              </a:solidFill>
              <a:effectLst/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73932C-7966-BE57-CC2A-C09A1A91F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8" y="4163022"/>
            <a:ext cx="8173591" cy="24958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B9A6BE9-76AE-F168-8FE8-FC32AB99D63A}"/>
              </a:ext>
            </a:extLst>
          </p:cNvPr>
          <p:cNvSpPr txBox="1"/>
          <p:nvPr/>
        </p:nvSpPr>
        <p:spPr>
          <a:xfrm>
            <a:off x="7141787" y="2529787"/>
            <a:ext cx="4808483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/>
              <a:t>dataset1=</a:t>
            </a:r>
            <a:r>
              <a:rPr lang="fr-MA" dirty="0" err="1"/>
              <a:t>dataset.iloc</a:t>
            </a:r>
            <a:r>
              <a:rPr lang="fr-MA" dirty="0"/>
              <a:t>[:,3:14]</a:t>
            </a:r>
          </a:p>
        </p:txBody>
      </p:sp>
    </p:spTree>
    <p:extLst>
      <p:ext uri="{BB962C8B-B14F-4D97-AF65-F5344CB8AC3E}">
        <p14:creationId xmlns:p14="http://schemas.microsoft.com/office/powerpoint/2010/main" val="3758854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B17E0B-8207-2933-4498-D909D9F2DA16}"/>
              </a:ext>
            </a:extLst>
          </p:cNvPr>
          <p:cNvSpPr txBox="1"/>
          <p:nvPr/>
        </p:nvSpPr>
        <p:spPr>
          <a:xfrm>
            <a:off x="15774" y="643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rgbClr val="0180FF"/>
                </a:solidFill>
              </a:rPr>
              <a:t>1. Data </a:t>
            </a:r>
            <a:r>
              <a:rPr lang="fr-FR" sz="3600" dirty="0" err="1">
                <a:solidFill>
                  <a:srgbClr val="0180FF"/>
                </a:solidFill>
              </a:rPr>
              <a:t>Preparation</a:t>
            </a:r>
            <a:endParaRPr lang="fr-MA" sz="3600" dirty="0">
              <a:solidFill>
                <a:srgbClr val="0180FF"/>
              </a:solidFill>
            </a:endParaRPr>
          </a:p>
        </p:txBody>
      </p:sp>
      <p:sp>
        <p:nvSpPr>
          <p:cNvPr id="8" name="ZoneTexte 36">
            <a:extLst>
              <a:ext uri="{FF2B5EF4-FFF2-40B4-BE49-F238E27FC236}">
                <a16:creationId xmlns:a16="http://schemas.microsoft.com/office/drawing/2014/main" id="{1341BC2F-5648-E36B-1C49-2F8C089E6587}"/>
              </a:ext>
            </a:extLst>
          </p:cNvPr>
          <p:cNvSpPr txBox="1"/>
          <p:nvPr/>
        </p:nvSpPr>
        <p:spPr>
          <a:xfrm>
            <a:off x="68308" y="784955"/>
            <a:ext cx="6647801" cy="4503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Load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Data set in a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Dataframe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Visualize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Data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with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DataFrame</a:t>
            </a:r>
            <a:endParaRPr lang="fr-FR" sz="2000" b="1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b="1" dirty="0" err="1">
                <a:solidFill>
                  <a:srgbClr val="0070C0"/>
                </a:solidFill>
              </a:rPr>
              <a:t>Identify</a:t>
            </a:r>
            <a:r>
              <a:rPr lang="fr-FR" sz="2000" b="1" dirty="0">
                <a:solidFill>
                  <a:srgbClr val="0070C0"/>
                </a:solidFill>
              </a:rPr>
              <a:t> the type of </a:t>
            </a:r>
            <a:r>
              <a:rPr lang="fr-FR" sz="2000" b="1" dirty="0" err="1">
                <a:solidFill>
                  <a:srgbClr val="0070C0"/>
                </a:solidFill>
              </a:rPr>
              <a:t>problem</a:t>
            </a:r>
            <a:endParaRPr lang="fr-FR" sz="2000" b="1" dirty="0">
              <a:solidFill>
                <a:srgbClr val="0070C0"/>
              </a:solidFill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identify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non-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predictive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features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without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any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analysis</a:t>
            </a:r>
            <a:endParaRPr lang="fr-FR" sz="2000" b="1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Extract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columns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,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lines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from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a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DataFrame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dirty="0" err="1">
                <a:solidFill>
                  <a:srgbClr val="FF3300"/>
                </a:solidFill>
                <a:latin typeface="+mj-lt"/>
              </a:rPr>
              <a:t>Identfiy</a:t>
            </a:r>
            <a:r>
              <a:rPr lang="fr-FR" sz="2000" b="1" dirty="0">
                <a:solidFill>
                  <a:srgbClr val="FF330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FF3300"/>
                </a:solidFill>
                <a:latin typeface="+mj-lt"/>
              </a:rPr>
              <a:t>features</a:t>
            </a:r>
            <a:r>
              <a:rPr lang="fr-FR" sz="2000" b="1" dirty="0">
                <a:solidFill>
                  <a:srgbClr val="FF3300"/>
                </a:solidFill>
                <a:latin typeface="+mj-lt"/>
              </a:rPr>
              <a:t> type: </a:t>
            </a:r>
            <a:r>
              <a:rPr lang="fr-FR" sz="2000" b="1" dirty="0" err="1">
                <a:solidFill>
                  <a:srgbClr val="FF3300"/>
                </a:solidFill>
                <a:latin typeface="+mj-lt"/>
              </a:rPr>
              <a:t>binary</a:t>
            </a:r>
            <a:r>
              <a:rPr lang="fr-FR" sz="2000" b="1" dirty="0">
                <a:solidFill>
                  <a:srgbClr val="FF3300"/>
                </a:solidFill>
                <a:latin typeface="+mj-lt"/>
              </a:rPr>
              <a:t>, </a:t>
            </a:r>
            <a:r>
              <a:rPr lang="fr-FR" sz="2000" b="1" dirty="0" err="1">
                <a:solidFill>
                  <a:srgbClr val="FF3300"/>
                </a:solidFill>
                <a:latin typeface="+mj-lt"/>
              </a:rPr>
              <a:t>categorical</a:t>
            </a:r>
            <a:endParaRPr lang="fr-FR" sz="2000" b="1" dirty="0">
              <a:solidFill>
                <a:srgbClr val="FF330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Encode </a:t>
            </a:r>
            <a:r>
              <a:rPr lang="fr-FR" sz="2000" i="0" dirty="0" err="1">
                <a:solidFill>
                  <a:srgbClr val="0070C0"/>
                </a:solidFill>
                <a:effectLst/>
                <a:latin typeface="+mj-lt"/>
              </a:rPr>
              <a:t>categorical</a:t>
            </a: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 variables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Encode </a:t>
            </a:r>
            <a:r>
              <a:rPr lang="fr-FR" sz="2000" i="0" dirty="0" err="1">
                <a:solidFill>
                  <a:srgbClr val="0070C0"/>
                </a:solidFill>
                <a:effectLst/>
                <a:latin typeface="+mj-lt"/>
              </a:rPr>
              <a:t>binary</a:t>
            </a: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 variable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dirty="0">
                <a:solidFill>
                  <a:srgbClr val="0070C0"/>
                </a:solidFill>
                <a:latin typeface="+mj-lt"/>
              </a:rPr>
              <a:t>Encode ordinal variables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endParaRPr lang="fr-FR" sz="2000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endParaRPr lang="fr-FR" sz="2000" i="0" dirty="0">
              <a:solidFill>
                <a:srgbClr val="0070C0"/>
              </a:solidFill>
              <a:effectLst/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1367CB-52A8-89FE-96DF-7D80601B1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801" y="4407666"/>
            <a:ext cx="7849695" cy="157184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211AD18-8F7D-9022-E7EF-E8CAF619A744}"/>
              </a:ext>
            </a:extLst>
          </p:cNvPr>
          <p:cNvSpPr/>
          <p:nvPr/>
        </p:nvSpPr>
        <p:spPr>
          <a:xfrm>
            <a:off x="5123796" y="4317245"/>
            <a:ext cx="612000" cy="1813035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A2183E-381C-1038-BAC6-85FD02B75DFC}"/>
              </a:ext>
            </a:extLst>
          </p:cNvPr>
          <p:cNvSpPr/>
          <p:nvPr/>
        </p:nvSpPr>
        <p:spPr>
          <a:xfrm>
            <a:off x="5812230" y="4280457"/>
            <a:ext cx="504000" cy="1813035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6EA90D-F914-5BD6-7307-94DB3C4E8259}"/>
              </a:ext>
            </a:extLst>
          </p:cNvPr>
          <p:cNvSpPr txBox="1"/>
          <p:nvPr/>
        </p:nvSpPr>
        <p:spPr>
          <a:xfrm>
            <a:off x="4572005" y="3923837"/>
            <a:ext cx="1238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FF3300"/>
                </a:solidFill>
              </a:rPr>
              <a:t>categorical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C1E43E-EFC4-F9EC-1543-85B98BDE24B8}"/>
              </a:ext>
            </a:extLst>
          </p:cNvPr>
          <p:cNvSpPr txBox="1"/>
          <p:nvPr/>
        </p:nvSpPr>
        <p:spPr>
          <a:xfrm>
            <a:off x="8886518" y="4028971"/>
            <a:ext cx="914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FF3300"/>
                </a:solidFill>
              </a:rPr>
              <a:t>binary</a:t>
            </a:r>
            <a:endParaRPr lang="fr-MA" dirty="0">
              <a:solidFill>
                <a:srgbClr val="FF33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44FFFE-094E-56AF-5EE0-E0968AAF8255}"/>
              </a:ext>
            </a:extLst>
          </p:cNvPr>
          <p:cNvSpPr/>
          <p:nvPr/>
        </p:nvSpPr>
        <p:spPr>
          <a:xfrm>
            <a:off x="6342991" y="4306728"/>
            <a:ext cx="324000" cy="1813035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940C63-3A4F-38CE-97B6-053B37BFF3B9}"/>
              </a:ext>
            </a:extLst>
          </p:cNvPr>
          <p:cNvSpPr txBox="1"/>
          <p:nvPr/>
        </p:nvSpPr>
        <p:spPr>
          <a:xfrm>
            <a:off x="7089242" y="6125782"/>
            <a:ext cx="12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0066FF"/>
                </a:solidFill>
              </a:rPr>
              <a:t>continuous</a:t>
            </a:r>
            <a:endParaRPr lang="fr-MA" dirty="0">
              <a:solidFill>
                <a:srgbClr val="0066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E91ED4-3DA3-6E7B-26BE-E98D64D8B3E5}"/>
              </a:ext>
            </a:extLst>
          </p:cNvPr>
          <p:cNvSpPr/>
          <p:nvPr/>
        </p:nvSpPr>
        <p:spPr>
          <a:xfrm>
            <a:off x="10515601" y="4380298"/>
            <a:ext cx="964112" cy="1813035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0C779D-79DB-DC61-7A14-DF8B91460F14}"/>
              </a:ext>
            </a:extLst>
          </p:cNvPr>
          <p:cNvSpPr txBox="1"/>
          <p:nvPr/>
        </p:nvSpPr>
        <p:spPr>
          <a:xfrm>
            <a:off x="10552405" y="6183586"/>
            <a:ext cx="12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0066FF"/>
                </a:solidFill>
              </a:rPr>
              <a:t>continuous</a:t>
            </a:r>
            <a:endParaRPr lang="fr-MA" dirty="0">
              <a:solidFill>
                <a:srgbClr val="0066FF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AE0CEDF-13B9-6FA1-ED7C-A9B335098964}"/>
              </a:ext>
            </a:extLst>
          </p:cNvPr>
          <p:cNvSpPr/>
          <p:nvPr/>
        </p:nvSpPr>
        <p:spPr>
          <a:xfrm>
            <a:off x="7168039" y="4406570"/>
            <a:ext cx="964112" cy="1813035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90E6B4-C9CC-FC5B-7CAF-BCFF0BAEED05}"/>
              </a:ext>
            </a:extLst>
          </p:cNvPr>
          <p:cNvSpPr/>
          <p:nvPr/>
        </p:nvSpPr>
        <p:spPr>
          <a:xfrm>
            <a:off x="9007386" y="4432857"/>
            <a:ext cx="504000" cy="1813035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093A2A-6806-3987-7F44-E5AB78B72DE6}"/>
              </a:ext>
            </a:extLst>
          </p:cNvPr>
          <p:cNvSpPr/>
          <p:nvPr/>
        </p:nvSpPr>
        <p:spPr>
          <a:xfrm>
            <a:off x="9979597" y="4443365"/>
            <a:ext cx="504000" cy="1813035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12F772-8602-6634-1F0E-3096BAEC38B8}"/>
              </a:ext>
            </a:extLst>
          </p:cNvPr>
          <p:cNvSpPr/>
          <p:nvPr/>
        </p:nvSpPr>
        <p:spPr>
          <a:xfrm>
            <a:off x="4340761" y="4385544"/>
            <a:ext cx="720000" cy="1813035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E93D6C-6AC4-F9F9-213D-401D9787CF12}"/>
              </a:ext>
            </a:extLst>
          </p:cNvPr>
          <p:cNvSpPr/>
          <p:nvPr/>
        </p:nvSpPr>
        <p:spPr>
          <a:xfrm>
            <a:off x="6689816" y="4417080"/>
            <a:ext cx="468000" cy="181303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F1AC72A-4800-BA80-0E83-41DD7D1096E9}"/>
              </a:ext>
            </a:extLst>
          </p:cNvPr>
          <p:cNvSpPr/>
          <p:nvPr/>
        </p:nvSpPr>
        <p:spPr>
          <a:xfrm>
            <a:off x="8481832" y="4427589"/>
            <a:ext cx="468000" cy="181303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998232-BD4B-91A4-C043-D4CFB1DABD84}"/>
              </a:ext>
            </a:extLst>
          </p:cNvPr>
          <p:cNvSpPr txBox="1"/>
          <p:nvPr/>
        </p:nvSpPr>
        <p:spPr>
          <a:xfrm>
            <a:off x="8408300" y="6136293"/>
            <a:ext cx="12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discret</a:t>
            </a:r>
          </a:p>
        </p:txBody>
      </p:sp>
    </p:spTree>
    <p:extLst>
      <p:ext uri="{BB962C8B-B14F-4D97-AF65-F5344CB8AC3E}">
        <p14:creationId xmlns:p14="http://schemas.microsoft.com/office/powerpoint/2010/main" val="1934081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/>
      <p:bldP spid="14" grpId="0"/>
      <p:bldP spid="15" grpId="0" animBg="1"/>
      <p:bldP spid="16" grpId="0"/>
      <p:bldP spid="17" grpId="0" animBg="1"/>
      <p:bldP spid="18" grpId="0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B17E0B-8207-2933-4498-D909D9F2DA16}"/>
              </a:ext>
            </a:extLst>
          </p:cNvPr>
          <p:cNvSpPr txBox="1"/>
          <p:nvPr/>
        </p:nvSpPr>
        <p:spPr>
          <a:xfrm>
            <a:off x="15774" y="643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rgbClr val="0180FF"/>
                </a:solidFill>
              </a:rPr>
              <a:t>1. Data </a:t>
            </a:r>
            <a:r>
              <a:rPr lang="fr-FR" sz="3600" dirty="0" err="1">
                <a:solidFill>
                  <a:srgbClr val="0180FF"/>
                </a:solidFill>
              </a:rPr>
              <a:t>Preparation</a:t>
            </a:r>
            <a:endParaRPr lang="fr-MA" sz="3600" dirty="0">
              <a:solidFill>
                <a:srgbClr val="0180FF"/>
              </a:solidFill>
            </a:endParaRPr>
          </a:p>
        </p:txBody>
      </p:sp>
      <p:sp>
        <p:nvSpPr>
          <p:cNvPr id="8" name="ZoneTexte 36">
            <a:extLst>
              <a:ext uri="{FF2B5EF4-FFF2-40B4-BE49-F238E27FC236}">
                <a16:creationId xmlns:a16="http://schemas.microsoft.com/office/drawing/2014/main" id="{1341BC2F-5648-E36B-1C49-2F8C089E6587}"/>
              </a:ext>
            </a:extLst>
          </p:cNvPr>
          <p:cNvSpPr txBox="1"/>
          <p:nvPr/>
        </p:nvSpPr>
        <p:spPr>
          <a:xfrm>
            <a:off x="68308" y="784955"/>
            <a:ext cx="664780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Load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Data set in a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Dataframe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Visualize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Data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with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DataFrame</a:t>
            </a:r>
            <a:endParaRPr lang="fr-FR" sz="2000" b="1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Identify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the type of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problem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identify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non-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predictive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features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without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any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analysis</a:t>
            </a:r>
            <a:endParaRPr lang="fr-FR" sz="2000" b="1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Extract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columns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,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lines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from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a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DataFrame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Identfiy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features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type: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binary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,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categorical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>
                <a:solidFill>
                  <a:srgbClr val="FF3300"/>
                </a:solidFill>
                <a:effectLst/>
                <a:latin typeface="+mj-lt"/>
              </a:rPr>
              <a:t>Encode </a:t>
            </a:r>
            <a:r>
              <a:rPr lang="fr-FR" sz="2000" b="1" i="0" dirty="0" err="1">
                <a:solidFill>
                  <a:srgbClr val="FF3300"/>
                </a:solidFill>
                <a:effectLst/>
                <a:latin typeface="+mj-lt"/>
              </a:rPr>
              <a:t>categorical</a:t>
            </a:r>
            <a:r>
              <a:rPr lang="fr-FR" sz="2000" b="1" i="0" dirty="0">
                <a:solidFill>
                  <a:srgbClr val="FF3300"/>
                </a:solidFill>
                <a:effectLst/>
                <a:latin typeface="+mj-lt"/>
              </a:rPr>
              <a:t> variables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Encode </a:t>
            </a:r>
            <a:r>
              <a:rPr lang="fr-FR" sz="2000" i="0" dirty="0" err="1">
                <a:solidFill>
                  <a:srgbClr val="0070C0"/>
                </a:solidFill>
                <a:effectLst/>
                <a:latin typeface="+mj-lt"/>
              </a:rPr>
              <a:t>binary</a:t>
            </a: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 variable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dirty="0">
                <a:solidFill>
                  <a:srgbClr val="0070C0"/>
                </a:solidFill>
                <a:latin typeface="+mj-lt"/>
              </a:rPr>
              <a:t>Encode ordinal variables</a:t>
            </a:r>
            <a:endParaRPr lang="fr-FR" sz="2000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endParaRPr lang="fr-FR" sz="2000" i="0" dirty="0">
              <a:solidFill>
                <a:srgbClr val="0070C0"/>
              </a:solidFill>
              <a:effectLst/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7FFFDB-7FCC-9099-1574-5F43B116D493}"/>
              </a:ext>
            </a:extLst>
          </p:cNvPr>
          <p:cNvSpPr txBox="1"/>
          <p:nvPr/>
        </p:nvSpPr>
        <p:spPr>
          <a:xfrm>
            <a:off x="5935728" y="1217650"/>
            <a:ext cx="6187964" cy="20928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dirty="0" err="1"/>
              <a:t>onehotencoder</a:t>
            </a:r>
            <a:r>
              <a:rPr lang="fr-MA" dirty="0"/>
              <a:t>=</a:t>
            </a:r>
            <a:r>
              <a:rPr lang="fr-MA" dirty="0" err="1"/>
              <a:t>OneHotEncoder</a:t>
            </a:r>
            <a:r>
              <a:rPr lang="fr-MA" dirty="0"/>
              <a:t>()</a:t>
            </a:r>
          </a:p>
          <a:p>
            <a:pPr>
              <a:spcAft>
                <a:spcPts val="1200"/>
              </a:spcAft>
            </a:pPr>
            <a:r>
              <a:rPr lang="fr-MA" dirty="0"/>
              <a:t>pays=</a:t>
            </a:r>
            <a:r>
              <a:rPr lang="fr-MA" dirty="0" err="1"/>
              <a:t>onehotencoder.fit_transform</a:t>
            </a:r>
            <a:r>
              <a:rPr lang="fr-MA" dirty="0"/>
              <a:t>(</a:t>
            </a:r>
            <a:r>
              <a:rPr lang="fr-MA" dirty="0" err="1"/>
              <a:t>dataset</a:t>
            </a:r>
            <a:r>
              <a:rPr lang="fr-MA" dirty="0"/>
              <a:t>[['</a:t>
            </a:r>
            <a:r>
              <a:rPr lang="fr-MA" dirty="0" err="1"/>
              <a:t>Geography</a:t>
            </a:r>
            <a:r>
              <a:rPr lang="fr-MA" dirty="0"/>
              <a:t>’]])</a:t>
            </a:r>
          </a:p>
          <a:p>
            <a:pPr>
              <a:spcAft>
                <a:spcPts val="1200"/>
              </a:spcAft>
            </a:pPr>
            <a:r>
              <a:rPr lang="fr-MA" dirty="0"/>
              <a:t>pays=</a:t>
            </a:r>
            <a:r>
              <a:rPr lang="fr-MA" dirty="0" err="1"/>
              <a:t>pays.toarray</a:t>
            </a:r>
            <a:r>
              <a:rPr lang="fr-MA" dirty="0"/>
              <a:t>()</a:t>
            </a:r>
          </a:p>
          <a:p>
            <a:pPr>
              <a:spcAft>
                <a:spcPts val="1200"/>
              </a:spcAft>
            </a:pPr>
            <a:r>
              <a:rPr lang="fr-FR" dirty="0"/>
              <a:t>result1=</a:t>
            </a:r>
            <a:r>
              <a:rPr lang="fr-FR" dirty="0" err="1"/>
              <a:t>pnd.DataFrame</a:t>
            </a:r>
            <a:r>
              <a:rPr lang="fr-FR" dirty="0"/>
              <a:t>(</a:t>
            </a:r>
            <a:r>
              <a:rPr lang="fr-FR" dirty="0" err="1"/>
              <a:t>pays,columns</a:t>
            </a:r>
            <a:r>
              <a:rPr lang="fr-FR" dirty="0"/>
              <a:t>=['pays1','pays2','pays3’])</a:t>
            </a:r>
          </a:p>
          <a:p>
            <a:pPr>
              <a:spcAft>
                <a:spcPts val="1200"/>
              </a:spcAft>
            </a:pPr>
            <a:r>
              <a:rPr lang="en-US" dirty="0"/>
              <a:t>result2=</a:t>
            </a:r>
            <a:r>
              <a:rPr lang="en-US" dirty="0" err="1"/>
              <a:t>result.drop</a:t>
            </a:r>
            <a:r>
              <a:rPr lang="en-US" dirty="0"/>
              <a:t>('pays3', axis=1)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4BB4423-A500-5A28-B453-3EF0656B1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10" y="4290485"/>
            <a:ext cx="1722882" cy="1986974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9DF6392-C5F3-1D00-410F-12D4361B4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3636" y="4337554"/>
            <a:ext cx="2218935" cy="1955671"/>
          </a:xfrm>
          <a:prstGeom prst="rect">
            <a:avLst/>
          </a:prstGeom>
          <a:ln>
            <a:solidFill>
              <a:srgbClr val="00B0F0"/>
            </a:solidFill>
          </a:ln>
        </p:spPr>
      </p:pic>
      <p:sp>
        <p:nvSpPr>
          <p:cNvPr id="29" name="Arrow: Right 28">
            <a:extLst>
              <a:ext uri="{FF2B5EF4-FFF2-40B4-BE49-F238E27FC236}">
                <a16:creationId xmlns:a16="http://schemas.microsoft.com/office/drawing/2014/main" id="{2A6B1B2B-B508-A25A-D0C6-3DC877A433F8}"/>
              </a:ext>
            </a:extLst>
          </p:cNvPr>
          <p:cNvSpPr/>
          <p:nvPr/>
        </p:nvSpPr>
        <p:spPr>
          <a:xfrm>
            <a:off x="7819697" y="4878383"/>
            <a:ext cx="1056289" cy="7619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E5FB5CC-36DF-597B-44C0-92CF60DA3497}"/>
              </a:ext>
            </a:extLst>
          </p:cNvPr>
          <p:cNvSpPr txBox="1"/>
          <p:nvPr/>
        </p:nvSpPr>
        <p:spPr>
          <a:xfrm>
            <a:off x="5937698" y="3968222"/>
            <a:ext cx="1346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5FA"/>
                </a:solidFill>
              </a:rPr>
              <a:t>result1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B5A218-C215-4D33-076A-46D03FCD3ACA}"/>
              </a:ext>
            </a:extLst>
          </p:cNvPr>
          <p:cNvSpPr txBox="1"/>
          <p:nvPr/>
        </p:nvSpPr>
        <p:spPr>
          <a:xfrm>
            <a:off x="9405945" y="3921153"/>
            <a:ext cx="1346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5FA"/>
                </a:solidFill>
              </a:rPr>
              <a:t>result2</a:t>
            </a:r>
          </a:p>
        </p:txBody>
      </p:sp>
    </p:spTree>
    <p:extLst>
      <p:ext uri="{BB962C8B-B14F-4D97-AF65-F5344CB8AC3E}">
        <p14:creationId xmlns:p14="http://schemas.microsoft.com/office/powerpoint/2010/main" val="3745055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B17E0B-8207-2933-4498-D909D9F2DA16}"/>
              </a:ext>
            </a:extLst>
          </p:cNvPr>
          <p:cNvSpPr txBox="1"/>
          <p:nvPr/>
        </p:nvSpPr>
        <p:spPr>
          <a:xfrm>
            <a:off x="15774" y="643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rgbClr val="0180FF"/>
                </a:solidFill>
              </a:rPr>
              <a:t>1. Data </a:t>
            </a:r>
            <a:r>
              <a:rPr lang="fr-FR" sz="3600" dirty="0" err="1">
                <a:solidFill>
                  <a:srgbClr val="0180FF"/>
                </a:solidFill>
              </a:rPr>
              <a:t>Preparation</a:t>
            </a:r>
            <a:endParaRPr lang="fr-MA" sz="3600" dirty="0">
              <a:solidFill>
                <a:srgbClr val="0180FF"/>
              </a:solidFill>
            </a:endParaRPr>
          </a:p>
        </p:txBody>
      </p:sp>
      <p:sp>
        <p:nvSpPr>
          <p:cNvPr id="8" name="ZoneTexte 36">
            <a:extLst>
              <a:ext uri="{FF2B5EF4-FFF2-40B4-BE49-F238E27FC236}">
                <a16:creationId xmlns:a16="http://schemas.microsoft.com/office/drawing/2014/main" id="{1341BC2F-5648-E36B-1C49-2F8C089E6587}"/>
              </a:ext>
            </a:extLst>
          </p:cNvPr>
          <p:cNvSpPr txBox="1"/>
          <p:nvPr/>
        </p:nvSpPr>
        <p:spPr>
          <a:xfrm>
            <a:off x="68308" y="784955"/>
            <a:ext cx="6647801" cy="3683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Load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Data set in a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Dataframe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Visualize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Data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with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DataFrame</a:t>
            </a:r>
            <a:endParaRPr lang="fr-FR" sz="2000" b="1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Identify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the type of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problem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identify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non-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predictive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features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without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any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analysis</a:t>
            </a:r>
            <a:endParaRPr lang="fr-FR" sz="2000" b="1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Extract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columns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,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lines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from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a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DataFrame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Identfiy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features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type: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binary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,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categorical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>
                <a:solidFill>
                  <a:srgbClr val="FF3300"/>
                </a:solidFill>
                <a:effectLst/>
                <a:latin typeface="+mj-lt"/>
              </a:rPr>
              <a:t>Encode </a:t>
            </a:r>
            <a:r>
              <a:rPr lang="fr-FR" sz="2000" b="1" i="0" dirty="0" err="1">
                <a:solidFill>
                  <a:srgbClr val="FF3300"/>
                </a:solidFill>
                <a:effectLst/>
                <a:latin typeface="+mj-lt"/>
              </a:rPr>
              <a:t>categorical</a:t>
            </a:r>
            <a:r>
              <a:rPr lang="fr-FR" sz="2000" b="1" i="0" dirty="0">
                <a:solidFill>
                  <a:srgbClr val="FF3300"/>
                </a:solidFill>
                <a:effectLst/>
                <a:latin typeface="+mj-lt"/>
              </a:rPr>
              <a:t> variables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Encode </a:t>
            </a:r>
            <a:r>
              <a:rPr lang="fr-FR" sz="2000" i="0" dirty="0" err="1">
                <a:solidFill>
                  <a:srgbClr val="0070C0"/>
                </a:solidFill>
                <a:effectLst/>
                <a:latin typeface="+mj-lt"/>
              </a:rPr>
              <a:t>binary</a:t>
            </a: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 variable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dirty="0">
                <a:solidFill>
                  <a:srgbClr val="0070C0"/>
                </a:solidFill>
                <a:latin typeface="+mj-lt"/>
              </a:rPr>
              <a:t>Encode ordinal variables</a:t>
            </a:r>
            <a:endParaRPr lang="fr-FR" sz="2000" i="0" dirty="0">
              <a:solidFill>
                <a:srgbClr val="0070C0"/>
              </a:solidFill>
              <a:effectLst/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7FFFDB-7FCC-9099-1574-5F43B116D493}"/>
              </a:ext>
            </a:extLst>
          </p:cNvPr>
          <p:cNvSpPr txBox="1"/>
          <p:nvPr/>
        </p:nvSpPr>
        <p:spPr>
          <a:xfrm>
            <a:off x="5935728" y="1217650"/>
            <a:ext cx="6187964" cy="295465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dirty="0" err="1"/>
              <a:t>onehotencoder</a:t>
            </a:r>
            <a:r>
              <a:rPr lang="fr-MA" dirty="0"/>
              <a:t>=</a:t>
            </a:r>
            <a:r>
              <a:rPr lang="fr-MA" dirty="0" err="1"/>
              <a:t>OneHotEncoder</a:t>
            </a:r>
            <a:r>
              <a:rPr lang="fr-MA" dirty="0"/>
              <a:t>()</a:t>
            </a:r>
          </a:p>
          <a:p>
            <a:pPr>
              <a:spcAft>
                <a:spcPts val="1200"/>
              </a:spcAft>
            </a:pPr>
            <a:r>
              <a:rPr lang="fr-MA" dirty="0"/>
              <a:t>pays=</a:t>
            </a:r>
            <a:r>
              <a:rPr lang="fr-MA" dirty="0" err="1"/>
              <a:t>onehotencoder.fit_transform</a:t>
            </a:r>
            <a:r>
              <a:rPr lang="fr-MA" dirty="0"/>
              <a:t>(</a:t>
            </a:r>
            <a:r>
              <a:rPr lang="fr-MA" dirty="0" err="1"/>
              <a:t>dataset</a:t>
            </a:r>
            <a:r>
              <a:rPr lang="fr-MA" dirty="0"/>
              <a:t>[['</a:t>
            </a:r>
            <a:r>
              <a:rPr lang="fr-MA" dirty="0" err="1"/>
              <a:t>Geography</a:t>
            </a:r>
            <a:r>
              <a:rPr lang="fr-MA" dirty="0"/>
              <a:t>’]])</a:t>
            </a:r>
          </a:p>
          <a:p>
            <a:pPr>
              <a:spcAft>
                <a:spcPts val="1200"/>
              </a:spcAft>
            </a:pPr>
            <a:r>
              <a:rPr lang="fr-MA" dirty="0"/>
              <a:t>pays=</a:t>
            </a:r>
            <a:r>
              <a:rPr lang="fr-MA" dirty="0" err="1"/>
              <a:t>pays.toarray</a:t>
            </a:r>
            <a:r>
              <a:rPr lang="fr-MA" dirty="0"/>
              <a:t>()</a:t>
            </a:r>
          </a:p>
          <a:p>
            <a:pPr>
              <a:spcAft>
                <a:spcPts val="1200"/>
              </a:spcAft>
            </a:pPr>
            <a:r>
              <a:rPr lang="fr-FR" dirty="0"/>
              <a:t>result1=</a:t>
            </a:r>
            <a:r>
              <a:rPr lang="fr-FR" dirty="0" err="1"/>
              <a:t>pnd.DataFrame</a:t>
            </a:r>
            <a:r>
              <a:rPr lang="fr-FR" dirty="0"/>
              <a:t>(</a:t>
            </a:r>
            <a:r>
              <a:rPr lang="fr-FR" dirty="0" err="1"/>
              <a:t>pays,columns</a:t>
            </a:r>
            <a:r>
              <a:rPr lang="fr-FR" dirty="0"/>
              <a:t>=['pays1','pays2','pays3’])</a:t>
            </a:r>
          </a:p>
          <a:p>
            <a:pPr>
              <a:spcAft>
                <a:spcPts val="1200"/>
              </a:spcAft>
            </a:pPr>
            <a:r>
              <a:rPr lang="en-US" dirty="0"/>
              <a:t>result2=</a:t>
            </a:r>
            <a:r>
              <a:rPr lang="en-US" dirty="0" err="1"/>
              <a:t>result.drop</a:t>
            </a:r>
            <a:r>
              <a:rPr lang="en-US" dirty="0"/>
              <a:t>('pays3', axis=1)</a:t>
            </a:r>
          </a:p>
          <a:p>
            <a:pPr>
              <a:spcAft>
                <a:spcPts val="1200"/>
              </a:spcAft>
            </a:pPr>
            <a:r>
              <a:rPr lang="en-US" b="1" dirty="0">
                <a:solidFill>
                  <a:srgbClr val="FF3300"/>
                </a:solidFill>
              </a:rPr>
              <a:t>result3=dataset1.drop('Geography', axis=1)</a:t>
            </a:r>
          </a:p>
          <a:p>
            <a:pPr>
              <a:spcAft>
                <a:spcPts val="1200"/>
              </a:spcAft>
            </a:pP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499215-5AB7-9418-5F87-C5BA8245A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32" y="4842282"/>
            <a:ext cx="1722882" cy="1986974"/>
          </a:xfrm>
          <a:prstGeom prst="rect">
            <a:avLst/>
          </a:prstGeom>
          <a:ln>
            <a:solidFill>
              <a:srgbClr val="00B0F0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B46611-0C6D-AE17-7EB2-EC6FB8FDFB79}"/>
              </a:ext>
            </a:extLst>
          </p:cNvPr>
          <p:cNvSpPr txBox="1"/>
          <p:nvPr/>
        </p:nvSpPr>
        <p:spPr>
          <a:xfrm>
            <a:off x="750667" y="4472950"/>
            <a:ext cx="1346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5FA"/>
                </a:solidFill>
              </a:rPr>
              <a:t>result2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507366-E5BE-A1C6-9D60-87368C541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667" y="4299525"/>
            <a:ext cx="8173591" cy="249589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153294-82B7-FF16-F67F-63B7DB7352EA}"/>
              </a:ext>
            </a:extLst>
          </p:cNvPr>
          <p:cNvCxnSpPr/>
          <p:nvPr/>
        </p:nvCxnSpPr>
        <p:spPr>
          <a:xfrm>
            <a:off x="5423342" y="4605000"/>
            <a:ext cx="0" cy="1969221"/>
          </a:xfrm>
          <a:prstGeom prst="line">
            <a:avLst/>
          </a:prstGeom>
          <a:ln w="381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3703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B17E0B-8207-2933-4498-D909D9F2DA16}"/>
              </a:ext>
            </a:extLst>
          </p:cNvPr>
          <p:cNvSpPr txBox="1"/>
          <p:nvPr/>
        </p:nvSpPr>
        <p:spPr>
          <a:xfrm>
            <a:off x="15774" y="643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rgbClr val="0180FF"/>
                </a:solidFill>
              </a:rPr>
              <a:t>1. Data </a:t>
            </a:r>
            <a:r>
              <a:rPr lang="fr-FR" sz="3600" dirty="0" err="1">
                <a:solidFill>
                  <a:srgbClr val="0180FF"/>
                </a:solidFill>
              </a:rPr>
              <a:t>Preparation</a:t>
            </a:r>
            <a:endParaRPr lang="fr-MA" sz="3600" dirty="0">
              <a:solidFill>
                <a:srgbClr val="0180FF"/>
              </a:solidFill>
            </a:endParaRPr>
          </a:p>
        </p:txBody>
      </p:sp>
      <p:sp>
        <p:nvSpPr>
          <p:cNvPr id="8" name="ZoneTexte 36">
            <a:extLst>
              <a:ext uri="{FF2B5EF4-FFF2-40B4-BE49-F238E27FC236}">
                <a16:creationId xmlns:a16="http://schemas.microsoft.com/office/drawing/2014/main" id="{1341BC2F-5648-E36B-1C49-2F8C089E6587}"/>
              </a:ext>
            </a:extLst>
          </p:cNvPr>
          <p:cNvSpPr txBox="1"/>
          <p:nvPr/>
        </p:nvSpPr>
        <p:spPr>
          <a:xfrm>
            <a:off x="68308" y="784955"/>
            <a:ext cx="664780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Load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Data set in a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Dataframe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Visualize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Data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with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DataFrame</a:t>
            </a:r>
            <a:endParaRPr lang="fr-FR" sz="2000" b="1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Identify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the type of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problem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identify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non-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predictive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features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without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any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analysis</a:t>
            </a:r>
            <a:endParaRPr lang="fr-FR" sz="2000" b="1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Extract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columns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,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lines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from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a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DataFrame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Identfiy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features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type: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binary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,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categorical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>
                <a:solidFill>
                  <a:srgbClr val="FF3300"/>
                </a:solidFill>
                <a:effectLst/>
                <a:latin typeface="+mj-lt"/>
              </a:rPr>
              <a:t>Encode </a:t>
            </a:r>
            <a:r>
              <a:rPr lang="fr-FR" sz="2000" b="1" i="0" dirty="0" err="1">
                <a:solidFill>
                  <a:srgbClr val="FF3300"/>
                </a:solidFill>
                <a:effectLst/>
                <a:latin typeface="+mj-lt"/>
              </a:rPr>
              <a:t>categorical</a:t>
            </a:r>
            <a:r>
              <a:rPr lang="fr-FR" sz="2000" b="1" i="0" dirty="0">
                <a:solidFill>
                  <a:srgbClr val="FF3300"/>
                </a:solidFill>
                <a:effectLst/>
                <a:latin typeface="+mj-lt"/>
              </a:rPr>
              <a:t> variables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Encode </a:t>
            </a:r>
            <a:r>
              <a:rPr lang="fr-FR" sz="2000" i="0" dirty="0" err="1">
                <a:solidFill>
                  <a:srgbClr val="0070C0"/>
                </a:solidFill>
                <a:effectLst/>
                <a:latin typeface="+mj-lt"/>
              </a:rPr>
              <a:t>binary</a:t>
            </a: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 variable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dirty="0">
                <a:solidFill>
                  <a:srgbClr val="0070C0"/>
                </a:solidFill>
                <a:latin typeface="+mj-lt"/>
              </a:rPr>
              <a:t>Encode ordinal variables</a:t>
            </a:r>
            <a:endParaRPr lang="fr-FR" sz="2000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endParaRPr lang="fr-FR" sz="2000" i="0" dirty="0">
              <a:solidFill>
                <a:srgbClr val="0070C0"/>
              </a:solidFill>
              <a:effectLst/>
              <a:latin typeface="+mj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499215-5AB7-9418-5F87-C5BA8245A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32" y="4842282"/>
            <a:ext cx="1722882" cy="1986974"/>
          </a:xfrm>
          <a:prstGeom prst="rect">
            <a:avLst/>
          </a:prstGeom>
          <a:ln>
            <a:solidFill>
              <a:srgbClr val="00B0F0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B46611-0C6D-AE17-7EB2-EC6FB8FDFB79}"/>
              </a:ext>
            </a:extLst>
          </p:cNvPr>
          <p:cNvSpPr txBox="1"/>
          <p:nvPr/>
        </p:nvSpPr>
        <p:spPr>
          <a:xfrm>
            <a:off x="750667" y="4472950"/>
            <a:ext cx="1346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5FA"/>
                </a:solidFill>
              </a:rPr>
              <a:t>result2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F35325-9F53-4FF3-8C29-F0AD5653B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830" y="4462060"/>
            <a:ext cx="7325747" cy="196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721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B17E0B-8207-2933-4498-D909D9F2DA16}"/>
              </a:ext>
            </a:extLst>
          </p:cNvPr>
          <p:cNvSpPr txBox="1"/>
          <p:nvPr/>
        </p:nvSpPr>
        <p:spPr>
          <a:xfrm>
            <a:off x="15774" y="643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rgbClr val="0180FF"/>
                </a:solidFill>
              </a:rPr>
              <a:t>1. Data </a:t>
            </a:r>
            <a:r>
              <a:rPr lang="fr-FR" sz="3600" dirty="0" err="1">
                <a:solidFill>
                  <a:srgbClr val="0180FF"/>
                </a:solidFill>
              </a:rPr>
              <a:t>Preparation</a:t>
            </a:r>
            <a:endParaRPr lang="fr-MA" sz="3600" dirty="0">
              <a:solidFill>
                <a:srgbClr val="0180FF"/>
              </a:solidFill>
            </a:endParaRPr>
          </a:p>
        </p:txBody>
      </p:sp>
      <p:sp>
        <p:nvSpPr>
          <p:cNvPr id="8" name="ZoneTexte 36">
            <a:extLst>
              <a:ext uri="{FF2B5EF4-FFF2-40B4-BE49-F238E27FC236}">
                <a16:creationId xmlns:a16="http://schemas.microsoft.com/office/drawing/2014/main" id="{1341BC2F-5648-E36B-1C49-2F8C089E6587}"/>
              </a:ext>
            </a:extLst>
          </p:cNvPr>
          <p:cNvSpPr txBox="1"/>
          <p:nvPr/>
        </p:nvSpPr>
        <p:spPr>
          <a:xfrm>
            <a:off x="68308" y="784955"/>
            <a:ext cx="664780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Load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Data set in a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Dataframe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Visualize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Data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with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DataFrame</a:t>
            </a:r>
            <a:endParaRPr lang="fr-FR" sz="2000" b="1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Identify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the type of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problem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identify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non-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predictive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features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without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any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analysis</a:t>
            </a:r>
            <a:endParaRPr lang="fr-FR" sz="2000" b="1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Extract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columns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,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lines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from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a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DataFrame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Identfiy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features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type: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binary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,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categorical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>
                <a:solidFill>
                  <a:srgbClr val="FF3300"/>
                </a:solidFill>
                <a:effectLst/>
                <a:latin typeface="+mj-lt"/>
              </a:rPr>
              <a:t>Encode </a:t>
            </a:r>
            <a:r>
              <a:rPr lang="fr-FR" sz="2000" b="1" i="0" dirty="0" err="1">
                <a:solidFill>
                  <a:srgbClr val="FF3300"/>
                </a:solidFill>
                <a:effectLst/>
                <a:latin typeface="+mj-lt"/>
              </a:rPr>
              <a:t>categorical</a:t>
            </a:r>
            <a:r>
              <a:rPr lang="fr-FR" sz="2000" b="1" i="0" dirty="0">
                <a:solidFill>
                  <a:srgbClr val="FF3300"/>
                </a:solidFill>
                <a:effectLst/>
                <a:latin typeface="+mj-lt"/>
              </a:rPr>
              <a:t> variables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Encode </a:t>
            </a:r>
            <a:r>
              <a:rPr lang="fr-FR" sz="2000" i="0" dirty="0" err="1">
                <a:solidFill>
                  <a:srgbClr val="0070C0"/>
                </a:solidFill>
                <a:effectLst/>
                <a:latin typeface="+mj-lt"/>
              </a:rPr>
              <a:t>binary</a:t>
            </a: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 variable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dirty="0">
                <a:solidFill>
                  <a:srgbClr val="0070C0"/>
                </a:solidFill>
                <a:latin typeface="+mj-lt"/>
              </a:rPr>
              <a:t>Encode ordinal variables</a:t>
            </a:r>
            <a:endParaRPr lang="fr-FR" sz="2000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endParaRPr lang="fr-FR" sz="2000" i="0" dirty="0">
              <a:solidFill>
                <a:srgbClr val="0070C0"/>
              </a:solidFill>
              <a:effectLst/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41214E-CB63-AA92-1414-970B5314C8F3}"/>
              </a:ext>
            </a:extLst>
          </p:cNvPr>
          <p:cNvSpPr txBox="1"/>
          <p:nvPr/>
        </p:nvSpPr>
        <p:spPr>
          <a:xfrm>
            <a:off x="5490342" y="3841965"/>
            <a:ext cx="618796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65FA"/>
            </a:solidFill>
          </a:ln>
        </p:spPr>
        <p:txBody>
          <a:bodyPr wrap="square">
            <a:spAutoFit/>
          </a:bodyPr>
          <a:lstStyle/>
          <a:p>
            <a:r>
              <a:rPr lang="fr-MA" dirty="0"/>
              <a:t>dataset2=</a:t>
            </a:r>
            <a:r>
              <a:rPr lang="fr-MA" dirty="0" err="1"/>
              <a:t>pnd.concat</a:t>
            </a:r>
            <a:r>
              <a:rPr lang="fr-MA" dirty="0"/>
              <a:t>([result2,result3],axis=1)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34EE4C-6F11-819D-7993-083AEF1B1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932" y="4690919"/>
            <a:ext cx="8240275" cy="20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03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B17E0B-8207-2933-4498-D909D9F2DA16}"/>
              </a:ext>
            </a:extLst>
          </p:cNvPr>
          <p:cNvSpPr txBox="1"/>
          <p:nvPr/>
        </p:nvSpPr>
        <p:spPr>
          <a:xfrm>
            <a:off x="15774" y="643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rgbClr val="0180FF"/>
                </a:solidFill>
              </a:rPr>
              <a:t>1. Data </a:t>
            </a:r>
            <a:r>
              <a:rPr lang="fr-FR" sz="3600" dirty="0" err="1">
                <a:solidFill>
                  <a:srgbClr val="0180FF"/>
                </a:solidFill>
              </a:rPr>
              <a:t>Preparation</a:t>
            </a:r>
            <a:endParaRPr lang="fr-MA" sz="3600" dirty="0">
              <a:solidFill>
                <a:srgbClr val="0180FF"/>
              </a:solidFill>
            </a:endParaRPr>
          </a:p>
        </p:txBody>
      </p:sp>
      <p:sp>
        <p:nvSpPr>
          <p:cNvPr id="8" name="ZoneTexte 36">
            <a:extLst>
              <a:ext uri="{FF2B5EF4-FFF2-40B4-BE49-F238E27FC236}">
                <a16:creationId xmlns:a16="http://schemas.microsoft.com/office/drawing/2014/main" id="{1341BC2F-5648-E36B-1C49-2F8C089E6587}"/>
              </a:ext>
            </a:extLst>
          </p:cNvPr>
          <p:cNvSpPr txBox="1"/>
          <p:nvPr/>
        </p:nvSpPr>
        <p:spPr>
          <a:xfrm>
            <a:off x="68308" y="784955"/>
            <a:ext cx="664780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Load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Data set in a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Dataframe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Visualize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Data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with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DataFrame</a:t>
            </a:r>
            <a:endParaRPr lang="fr-FR" sz="2000" b="1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Identify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the type of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problem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identify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non-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predictive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features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without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any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analysis</a:t>
            </a:r>
            <a:endParaRPr lang="fr-FR" sz="2000" b="1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Extract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columns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,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lines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from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a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DataFrame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Identfiy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features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type: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binary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,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categorical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Encode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categorical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variables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>
                <a:solidFill>
                  <a:srgbClr val="FF3300"/>
                </a:solidFill>
                <a:effectLst/>
                <a:latin typeface="+mj-lt"/>
              </a:rPr>
              <a:t>Encode </a:t>
            </a:r>
            <a:r>
              <a:rPr lang="fr-FR" sz="2000" b="1" i="0" dirty="0" err="1">
                <a:solidFill>
                  <a:srgbClr val="FF3300"/>
                </a:solidFill>
                <a:effectLst/>
                <a:latin typeface="+mj-lt"/>
              </a:rPr>
              <a:t>binary</a:t>
            </a:r>
            <a:r>
              <a:rPr lang="fr-FR" sz="2000" b="1" i="0" dirty="0">
                <a:solidFill>
                  <a:srgbClr val="FF3300"/>
                </a:solidFill>
                <a:effectLst/>
                <a:latin typeface="+mj-lt"/>
              </a:rPr>
              <a:t> variable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dirty="0">
                <a:solidFill>
                  <a:srgbClr val="0070C0"/>
                </a:solidFill>
                <a:latin typeface="+mj-lt"/>
              </a:rPr>
              <a:t>Encode ordinal variables</a:t>
            </a:r>
            <a:endParaRPr lang="fr-FR" sz="2000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endParaRPr lang="fr-FR" sz="2000" i="0" dirty="0">
              <a:solidFill>
                <a:srgbClr val="0070C0"/>
              </a:solidFill>
              <a:effectLst/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34EE4C-6F11-819D-7993-083AEF1B1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932" y="4690919"/>
            <a:ext cx="8240275" cy="20481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2B550B-F451-51CB-FF3D-5C964BFF2671}"/>
              </a:ext>
            </a:extLst>
          </p:cNvPr>
          <p:cNvSpPr txBox="1"/>
          <p:nvPr/>
        </p:nvSpPr>
        <p:spPr>
          <a:xfrm>
            <a:off x="4862676" y="3635395"/>
            <a:ext cx="6647800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label_encoder</a:t>
            </a:r>
            <a:r>
              <a:rPr lang="fr-MA" dirty="0"/>
              <a:t>=</a:t>
            </a:r>
            <a:r>
              <a:rPr lang="fr-MA" dirty="0" err="1"/>
              <a:t>LabelEncoder</a:t>
            </a:r>
            <a:r>
              <a:rPr lang="fr-MA" dirty="0"/>
              <a:t>()</a:t>
            </a:r>
          </a:p>
          <a:p>
            <a:r>
              <a:rPr lang="fr-MA" dirty="0"/>
              <a:t>dataset2['</a:t>
            </a:r>
            <a:r>
              <a:rPr lang="fr-MA" dirty="0" err="1"/>
              <a:t>Gender</a:t>
            </a:r>
            <a:r>
              <a:rPr lang="fr-MA" dirty="0"/>
              <a:t>']= </a:t>
            </a:r>
            <a:r>
              <a:rPr lang="fr-MA" dirty="0" err="1"/>
              <a:t>label_encoder.fit_transform</a:t>
            </a:r>
            <a:r>
              <a:rPr lang="fr-MA" dirty="0"/>
              <a:t>(dataset2['</a:t>
            </a:r>
            <a:r>
              <a:rPr lang="fr-MA" dirty="0" err="1"/>
              <a:t>Gender</a:t>
            </a:r>
            <a:r>
              <a:rPr lang="fr-MA" dirty="0"/>
              <a:t>']) </a:t>
            </a:r>
          </a:p>
        </p:txBody>
      </p:sp>
    </p:spTree>
    <p:extLst>
      <p:ext uri="{BB962C8B-B14F-4D97-AF65-F5344CB8AC3E}">
        <p14:creationId xmlns:p14="http://schemas.microsoft.com/office/powerpoint/2010/main" val="392766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B17E0B-8207-2933-4498-D909D9F2DA16}"/>
              </a:ext>
            </a:extLst>
          </p:cNvPr>
          <p:cNvSpPr txBox="1"/>
          <p:nvPr/>
        </p:nvSpPr>
        <p:spPr>
          <a:xfrm>
            <a:off x="15774" y="643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rgbClr val="0180FF"/>
                </a:solidFill>
              </a:rPr>
              <a:t>1. Data </a:t>
            </a:r>
            <a:r>
              <a:rPr lang="fr-FR" sz="3600" dirty="0" err="1">
                <a:solidFill>
                  <a:srgbClr val="0180FF"/>
                </a:solidFill>
              </a:rPr>
              <a:t>Preparation</a:t>
            </a:r>
            <a:endParaRPr lang="fr-MA" sz="3600" dirty="0">
              <a:solidFill>
                <a:srgbClr val="0180FF"/>
              </a:solidFill>
            </a:endParaRPr>
          </a:p>
        </p:txBody>
      </p:sp>
      <p:sp>
        <p:nvSpPr>
          <p:cNvPr id="8" name="ZoneTexte 36">
            <a:extLst>
              <a:ext uri="{FF2B5EF4-FFF2-40B4-BE49-F238E27FC236}">
                <a16:creationId xmlns:a16="http://schemas.microsoft.com/office/drawing/2014/main" id="{1341BC2F-5648-E36B-1C49-2F8C089E6587}"/>
              </a:ext>
            </a:extLst>
          </p:cNvPr>
          <p:cNvSpPr txBox="1"/>
          <p:nvPr/>
        </p:nvSpPr>
        <p:spPr>
          <a:xfrm>
            <a:off x="68308" y="784955"/>
            <a:ext cx="664780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Load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Data set in a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Dataframe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Visualize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Data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with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DataFrame</a:t>
            </a:r>
            <a:endParaRPr lang="fr-FR" sz="2000" b="1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Identify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the type of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problem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identify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non-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predictive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features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without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any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analysis</a:t>
            </a:r>
            <a:endParaRPr lang="fr-FR" sz="2000" b="1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Extract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columns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,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lines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from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a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DataFrame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Identfiy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features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type: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binary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,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categorical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Encode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categorical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variables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rPr>
              <a:t>Encode </a:t>
            </a:r>
            <a:r>
              <a:rPr lang="fr-FR" sz="2000" b="1" i="0" dirty="0" err="1"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rPr>
              <a:t>binary</a:t>
            </a:r>
            <a:r>
              <a:rPr lang="fr-FR" sz="2000" b="1" i="0" dirty="0"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rPr>
              <a:t> variable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b="1" dirty="0">
                <a:solidFill>
                  <a:srgbClr val="FF3300"/>
                </a:solidFill>
                <a:latin typeface="+mj-lt"/>
              </a:rPr>
              <a:t>Encode ordinal variables</a:t>
            </a:r>
            <a:endParaRPr lang="fr-FR" sz="2000" b="1" i="0" dirty="0">
              <a:solidFill>
                <a:srgbClr val="FF330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endParaRPr lang="fr-FR" sz="2000" i="0" dirty="0">
              <a:solidFill>
                <a:srgbClr val="0070C0"/>
              </a:solidFill>
              <a:effectLst/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4C28A8-4369-4B35-6489-A54D52E730E9}"/>
              </a:ext>
            </a:extLst>
          </p:cNvPr>
          <p:cNvSpPr txBox="1"/>
          <p:nvPr/>
        </p:nvSpPr>
        <p:spPr>
          <a:xfrm>
            <a:off x="3200400" y="5108028"/>
            <a:ext cx="7756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3300"/>
                </a:solidFill>
              </a:rPr>
              <a:t>Dataset not contain an ordinal variable</a:t>
            </a:r>
            <a:endParaRPr lang="fr-MA" sz="3200" dirty="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9055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B17E0B-8207-2933-4498-D909D9F2DA16}"/>
              </a:ext>
            </a:extLst>
          </p:cNvPr>
          <p:cNvSpPr txBox="1"/>
          <p:nvPr/>
        </p:nvSpPr>
        <p:spPr>
          <a:xfrm>
            <a:off x="15774" y="643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rgbClr val="0180FF"/>
                </a:solidFill>
              </a:rPr>
              <a:t>1. Data </a:t>
            </a:r>
            <a:r>
              <a:rPr lang="fr-FR" sz="3600" dirty="0" err="1">
                <a:solidFill>
                  <a:srgbClr val="0180FF"/>
                </a:solidFill>
              </a:rPr>
              <a:t>Preparation</a:t>
            </a:r>
            <a:endParaRPr lang="fr-MA" sz="3600" dirty="0">
              <a:solidFill>
                <a:srgbClr val="0180FF"/>
              </a:solidFill>
            </a:endParaRPr>
          </a:p>
        </p:txBody>
      </p:sp>
      <p:sp>
        <p:nvSpPr>
          <p:cNvPr id="8" name="ZoneTexte 36">
            <a:extLst>
              <a:ext uri="{FF2B5EF4-FFF2-40B4-BE49-F238E27FC236}">
                <a16:creationId xmlns:a16="http://schemas.microsoft.com/office/drawing/2014/main" id="{1341BC2F-5648-E36B-1C49-2F8C089E6587}"/>
              </a:ext>
            </a:extLst>
          </p:cNvPr>
          <p:cNvSpPr txBox="1"/>
          <p:nvPr/>
        </p:nvSpPr>
        <p:spPr>
          <a:xfrm>
            <a:off x="68308" y="595767"/>
            <a:ext cx="6647801" cy="4914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Load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Data set in a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Dataframe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Visualize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Data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with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DataFrame</a:t>
            </a:r>
            <a:endParaRPr lang="fr-FR" sz="2000" b="1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Identify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the type of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problem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identify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non-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predictive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features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without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any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analysis</a:t>
            </a:r>
            <a:endParaRPr lang="fr-FR" sz="2000" b="1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Extract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columns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,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lines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from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a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DataFrame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Identfiy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features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type: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binary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,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categorical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Encode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categorical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variables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rPr>
              <a:t>Encode </a:t>
            </a:r>
            <a:r>
              <a:rPr lang="fr-FR" sz="2000" b="1" i="0" dirty="0" err="1"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rPr>
              <a:t>binary</a:t>
            </a:r>
            <a:r>
              <a:rPr lang="fr-FR" sz="2000" b="1" i="0" dirty="0"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rPr>
              <a:t> variable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b="1" dirty="0">
                <a:solidFill>
                  <a:srgbClr val="28659C"/>
                </a:solidFill>
                <a:latin typeface="+mj-lt"/>
              </a:rPr>
              <a:t>Encode ordinal variables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b="1" dirty="0" err="1">
                <a:solidFill>
                  <a:srgbClr val="FF0000"/>
                </a:solidFill>
                <a:latin typeface="+mj-lt"/>
              </a:rPr>
              <a:t>Separate</a:t>
            </a:r>
            <a:r>
              <a:rPr lang="fr-FR" sz="20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FF0000"/>
                </a:solidFill>
                <a:latin typeface="+mj-lt"/>
              </a:rPr>
              <a:t>features</a:t>
            </a:r>
            <a:r>
              <a:rPr lang="fr-FR" sz="2000" b="1" dirty="0">
                <a:solidFill>
                  <a:srgbClr val="FF0000"/>
                </a:solidFill>
                <a:latin typeface="+mj-lt"/>
              </a:rPr>
              <a:t> &amp; </a:t>
            </a:r>
            <a:r>
              <a:rPr lang="fr-FR" sz="2000" b="1" dirty="0" err="1">
                <a:solidFill>
                  <a:srgbClr val="FF0000"/>
                </a:solidFill>
                <a:latin typeface="+mj-lt"/>
              </a:rPr>
              <a:t>target</a:t>
            </a:r>
            <a:endParaRPr lang="fr-FR" sz="2000" b="1" dirty="0">
              <a:solidFill>
                <a:srgbClr val="FF000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Split data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dirty="0" err="1">
                <a:solidFill>
                  <a:srgbClr val="0070C0"/>
                </a:solidFill>
                <a:latin typeface="+mj-lt"/>
              </a:rPr>
              <a:t>Rescale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A466C6-6586-11B2-5863-5494B43DD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167" y="5419626"/>
            <a:ext cx="7744906" cy="1505160"/>
          </a:xfrm>
          <a:prstGeom prst="rect">
            <a:avLst/>
          </a:prstGeom>
          <a:ln>
            <a:solidFill>
              <a:srgbClr val="0180FF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2F8DF8-6137-967E-4C5B-781BE1EDE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6484" y="5435391"/>
            <a:ext cx="1128614" cy="1391083"/>
          </a:xfrm>
          <a:prstGeom prst="rect">
            <a:avLst/>
          </a:prstGeom>
          <a:ln>
            <a:solidFill>
              <a:srgbClr val="0180FF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611E037-B8BD-BD46-F77D-8A63EDAC7A40}"/>
              </a:ext>
            </a:extLst>
          </p:cNvPr>
          <p:cNvSpPr txBox="1"/>
          <p:nvPr/>
        </p:nvSpPr>
        <p:spPr>
          <a:xfrm>
            <a:off x="4670535" y="4563133"/>
            <a:ext cx="3642538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/>
              <a:t>X=dataset2.iloc[:,:11]</a:t>
            </a:r>
          </a:p>
          <a:p>
            <a:r>
              <a:rPr lang="fr-MA" dirty="0"/>
              <a:t>y=</a:t>
            </a:r>
            <a:r>
              <a:rPr lang="fr-MA" dirty="0" err="1"/>
              <a:t>dataset.iloc</a:t>
            </a:r>
            <a:r>
              <a:rPr lang="fr-MA" dirty="0"/>
              <a:t>[:,11]</a:t>
            </a:r>
          </a:p>
        </p:txBody>
      </p:sp>
    </p:spTree>
    <p:extLst>
      <p:ext uri="{BB962C8B-B14F-4D97-AF65-F5344CB8AC3E}">
        <p14:creationId xmlns:p14="http://schemas.microsoft.com/office/powerpoint/2010/main" val="20562011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B17E0B-8207-2933-4498-D909D9F2DA16}"/>
              </a:ext>
            </a:extLst>
          </p:cNvPr>
          <p:cNvSpPr txBox="1"/>
          <p:nvPr/>
        </p:nvSpPr>
        <p:spPr>
          <a:xfrm>
            <a:off x="15774" y="643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rgbClr val="0180FF"/>
                </a:solidFill>
              </a:rPr>
              <a:t>1. Data </a:t>
            </a:r>
            <a:r>
              <a:rPr lang="fr-FR" sz="3600" dirty="0" err="1">
                <a:solidFill>
                  <a:srgbClr val="0180FF"/>
                </a:solidFill>
              </a:rPr>
              <a:t>Preparation</a:t>
            </a:r>
            <a:endParaRPr lang="fr-MA" sz="3600" dirty="0">
              <a:solidFill>
                <a:srgbClr val="0180FF"/>
              </a:solidFill>
            </a:endParaRPr>
          </a:p>
        </p:txBody>
      </p:sp>
      <p:sp>
        <p:nvSpPr>
          <p:cNvPr id="8" name="ZoneTexte 36">
            <a:extLst>
              <a:ext uri="{FF2B5EF4-FFF2-40B4-BE49-F238E27FC236}">
                <a16:creationId xmlns:a16="http://schemas.microsoft.com/office/drawing/2014/main" id="{1341BC2F-5648-E36B-1C49-2F8C089E6587}"/>
              </a:ext>
            </a:extLst>
          </p:cNvPr>
          <p:cNvSpPr txBox="1"/>
          <p:nvPr/>
        </p:nvSpPr>
        <p:spPr>
          <a:xfrm>
            <a:off x="68308" y="784955"/>
            <a:ext cx="6647801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Load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Data set in a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Dataframe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Visualize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Data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with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DataFrame</a:t>
            </a:r>
            <a:endParaRPr lang="fr-FR" sz="2000" b="1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Identify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the type of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problem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identify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non-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predictive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features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without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any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analysis</a:t>
            </a:r>
            <a:endParaRPr lang="fr-FR" sz="2000" b="1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Extract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columns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,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lines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from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a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DataFrame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Identfiy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features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type: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binary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,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categorical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Encode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categorical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variables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rPr>
              <a:t>Encode </a:t>
            </a:r>
            <a:r>
              <a:rPr lang="fr-FR" sz="2000" b="1" i="0" dirty="0" err="1"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rPr>
              <a:t>binary</a:t>
            </a:r>
            <a:r>
              <a:rPr lang="fr-FR" sz="2000" b="1" i="0" dirty="0"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rPr>
              <a:t> variable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b="1" dirty="0">
                <a:solidFill>
                  <a:srgbClr val="28659C"/>
                </a:solidFill>
                <a:latin typeface="+mj-lt"/>
              </a:rPr>
              <a:t>Encode ordinal variables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dirty="0" err="1">
                <a:solidFill>
                  <a:srgbClr val="0070C0"/>
                </a:solidFill>
                <a:latin typeface="+mj-lt"/>
              </a:rPr>
              <a:t>Separate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features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&amp; 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target</a:t>
            </a:r>
            <a:endParaRPr lang="fr-FR" sz="2000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b="1" i="0" dirty="0">
                <a:solidFill>
                  <a:srgbClr val="FF3300"/>
                </a:solidFill>
                <a:effectLst/>
                <a:latin typeface="+mj-lt"/>
              </a:rPr>
              <a:t>Split data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dirty="0" err="1">
                <a:solidFill>
                  <a:srgbClr val="0070C0"/>
                </a:solidFill>
                <a:latin typeface="+mj-lt"/>
              </a:rPr>
              <a:t>Rescale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Data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endParaRPr lang="fr-FR" sz="2000" i="0" dirty="0">
              <a:solidFill>
                <a:srgbClr val="0070C0"/>
              </a:solidFill>
              <a:effectLst/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CCB751-FCE4-3F09-FBE4-849AA24D8CC5}"/>
              </a:ext>
            </a:extLst>
          </p:cNvPr>
          <p:cNvSpPr txBox="1"/>
          <p:nvPr/>
        </p:nvSpPr>
        <p:spPr>
          <a:xfrm>
            <a:off x="4875487" y="5530333"/>
            <a:ext cx="618796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X_train,X_test,y_train,y_test</a:t>
            </a:r>
            <a:r>
              <a:rPr lang="fr-MA" dirty="0"/>
              <a:t>=</a:t>
            </a:r>
            <a:r>
              <a:rPr lang="fr-MA" dirty="0" err="1"/>
              <a:t>train_test_split</a:t>
            </a:r>
            <a:r>
              <a:rPr lang="fr-MA" dirty="0"/>
              <a:t>(</a:t>
            </a:r>
            <a:r>
              <a:rPr lang="fr-MA" dirty="0" err="1"/>
              <a:t>X,y,test_size</a:t>
            </a:r>
            <a:r>
              <a:rPr lang="fr-MA" dirty="0"/>
              <a:t>=0.25)</a:t>
            </a:r>
          </a:p>
        </p:txBody>
      </p:sp>
    </p:spTree>
    <p:extLst>
      <p:ext uri="{BB962C8B-B14F-4D97-AF65-F5344CB8AC3E}">
        <p14:creationId xmlns:p14="http://schemas.microsoft.com/office/powerpoint/2010/main" val="4154688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B17E0B-8207-2933-4498-D909D9F2DA16}"/>
              </a:ext>
            </a:extLst>
          </p:cNvPr>
          <p:cNvSpPr txBox="1"/>
          <p:nvPr/>
        </p:nvSpPr>
        <p:spPr>
          <a:xfrm>
            <a:off x="15774" y="643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rgbClr val="0180FF"/>
                </a:solidFill>
              </a:rPr>
              <a:t>1. Data </a:t>
            </a:r>
            <a:r>
              <a:rPr lang="fr-FR" sz="3600" dirty="0" err="1">
                <a:solidFill>
                  <a:srgbClr val="0180FF"/>
                </a:solidFill>
              </a:rPr>
              <a:t>Preparation</a:t>
            </a:r>
            <a:endParaRPr lang="fr-MA" sz="3600" dirty="0">
              <a:solidFill>
                <a:srgbClr val="0180FF"/>
              </a:solidFill>
            </a:endParaRPr>
          </a:p>
        </p:txBody>
      </p:sp>
      <p:sp>
        <p:nvSpPr>
          <p:cNvPr id="8" name="ZoneTexte 36">
            <a:extLst>
              <a:ext uri="{FF2B5EF4-FFF2-40B4-BE49-F238E27FC236}">
                <a16:creationId xmlns:a16="http://schemas.microsoft.com/office/drawing/2014/main" id="{1341BC2F-5648-E36B-1C49-2F8C089E6587}"/>
              </a:ext>
            </a:extLst>
          </p:cNvPr>
          <p:cNvSpPr txBox="1"/>
          <p:nvPr/>
        </p:nvSpPr>
        <p:spPr>
          <a:xfrm>
            <a:off x="68308" y="784955"/>
            <a:ext cx="6647801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Load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Data set in a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Dataframe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Visualize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Data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with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DataFrame</a:t>
            </a:r>
            <a:endParaRPr lang="fr-FR" sz="2000" b="1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Identify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the type of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problem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identify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non-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predictive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features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without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any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analysis</a:t>
            </a:r>
            <a:endParaRPr lang="fr-FR" sz="2000" b="1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Extract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columns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,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lines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from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a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DataFrame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Identfiy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features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type: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binary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,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categorical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Encode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categorical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variables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rPr>
              <a:t>Encode </a:t>
            </a:r>
            <a:r>
              <a:rPr lang="fr-FR" sz="2000" b="1" i="0" dirty="0" err="1"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rPr>
              <a:t>binary</a:t>
            </a:r>
            <a:r>
              <a:rPr lang="fr-FR" sz="2000" b="1" i="0" dirty="0"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rPr>
              <a:t> variable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b="1" dirty="0">
                <a:solidFill>
                  <a:srgbClr val="28659C"/>
                </a:solidFill>
                <a:latin typeface="+mj-lt"/>
              </a:rPr>
              <a:t>Encode ordinal variables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dirty="0" err="1">
                <a:solidFill>
                  <a:srgbClr val="0070C0"/>
                </a:solidFill>
                <a:latin typeface="+mj-lt"/>
              </a:rPr>
              <a:t>Separate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features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&amp; 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target</a:t>
            </a:r>
            <a:endParaRPr lang="fr-FR" sz="2000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b="1" i="0" dirty="0">
                <a:solidFill>
                  <a:srgbClr val="FF3300"/>
                </a:solidFill>
                <a:effectLst/>
                <a:latin typeface="+mj-lt"/>
              </a:rPr>
              <a:t>Split data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dirty="0" err="1">
                <a:solidFill>
                  <a:srgbClr val="0070C0"/>
                </a:solidFill>
                <a:latin typeface="+mj-lt"/>
              </a:rPr>
              <a:t>Rescale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Data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endParaRPr lang="fr-FR" sz="2000" i="0" dirty="0">
              <a:solidFill>
                <a:srgbClr val="0070C0"/>
              </a:solidFill>
              <a:effectLst/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CCB751-FCE4-3F09-FBE4-849AA24D8CC5}"/>
              </a:ext>
            </a:extLst>
          </p:cNvPr>
          <p:cNvSpPr txBox="1"/>
          <p:nvPr/>
        </p:nvSpPr>
        <p:spPr>
          <a:xfrm>
            <a:off x="4875487" y="5530333"/>
            <a:ext cx="618796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X_train,X_test,y_train,y_test</a:t>
            </a:r>
            <a:r>
              <a:rPr lang="fr-MA" dirty="0"/>
              <a:t>=</a:t>
            </a:r>
            <a:r>
              <a:rPr lang="fr-MA" dirty="0" err="1"/>
              <a:t>train_test_split</a:t>
            </a:r>
            <a:r>
              <a:rPr lang="fr-MA" dirty="0"/>
              <a:t>(</a:t>
            </a:r>
            <a:r>
              <a:rPr lang="fr-MA" dirty="0" err="1"/>
              <a:t>X,y,test_size</a:t>
            </a:r>
            <a:r>
              <a:rPr lang="fr-MA" dirty="0"/>
              <a:t>=0.25)</a:t>
            </a:r>
          </a:p>
        </p:txBody>
      </p:sp>
    </p:spTree>
    <p:extLst>
      <p:ext uri="{BB962C8B-B14F-4D97-AF65-F5344CB8AC3E}">
        <p14:creationId xmlns:p14="http://schemas.microsoft.com/office/powerpoint/2010/main" val="1962128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B17E0B-8207-2933-4498-D909D9F2DA16}"/>
              </a:ext>
            </a:extLst>
          </p:cNvPr>
          <p:cNvSpPr txBox="1"/>
          <p:nvPr/>
        </p:nvSpPr>
        <p:spPr>
          <a:xfrm>
            <a:off x="15774" y="643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rgbClr val="0180FF"/>
                </a:solidFill>
              </a:rPr>
              <a:t>1. Data </a:t>
            </a:r>
            <a:r>
              <a:rPr lang="fr-FR" sz="3600" dirty="0" err="1">
                <a:solidFill>
                  <a:srgbClr val="0180FF"/>
                </a:solidFill>
              </a:rPr>
              <a:t>Preparation</a:t>
            </a:r>
            <a:endParaRPr lang="fr-MA" sz="3600" dirty="0">
              <a:solidFill>
                <a:srgbClr val="0180FF"/>
              </a:solidFill>
            </a:endParaRPr>
          </a:p>
        </p:txBody>
      </p:sp>
      <p:sp>
        <p:nvSpPr>
          <p:cNvPr id="8" name="ZoneTexte 36">
            <a:extLst>
              <a:ext uri="{FF2B5EF4-FFF2-40B4-BE49-F238E27FC236}">
                <a16:creationId xmlns:a16="http://schemas.microsoft.com/office/drawing/2014/main" id="{1341BC2F-5648-E36B-1C49-2F8C089E6587}"/>
              </a:ext>
            </a:extLst>
          </p:cNvPr>
          <p:cNvSpPr txBox="1"/>
          <p:nvPr/>
        </p:nvSpPr>
        <p:spPr>
          <a:xfrm>
            <a:off x="68308" y="784955"/>
            <a:ext cx="6647801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Load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Data set in a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Dataframe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Visualize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Data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with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DataFrame</a:t>
            </a:r>
            <a:endParaRPr lang="fr-FR" sz="2000" b="1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Identify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the type of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problem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identify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non-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predictive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features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without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any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analysis</a:t>
            </a:r>
            <a:endParaRPr lang="fr-FR" sz="2000" b="1" i="0" dirty="0">
              <a:solidFill>
                <a:srgbClr val="0070C0"/>
              </a:solidFill>
              <a:effectLst/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Extract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columns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,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lines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from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a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DataFrame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Identfiy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features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 type: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binary</a:t>
            </a:r>
            <a:r>
              <a:rPr lang="fr-FR" sz="2000" b="1" dirty="0">
                <a:solidFill>
                  <a:srgbClr val="0070C0"/>
                </a:solidFill>
                <a:latin typeface="+mj-lt"/>
              </a:rPr>
              <a:t>, </a:t>
            </a:r>
            <a:r>
              <a:rPr lang="fr-FR" sz="2000" b="1" dirty="0" err="1">
                <a:solidFill>
                  <a:srgbClr val="0070C0"/>
                </a:solidFill>
                <a:latin typeface="+mj-lt"/>
              </a:rPr>
              <a:t>categorical</a:t>
            </a:r>
            <a:endParaRPr lang="fr-FR" sz="2000" b="1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Encode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categorical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 variables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b="1" i="0" dirty="0"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rPr>
              <a:t>Encode </a:t>
            </a:r>
            <a:r>
              <a:rPr lang="fr-FR" sz="2000" b="1" i="0" dirty="0" err="1"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rPr>
              <a:t>binary</a:t>
            </a:r>
            <a:r>
              <a:rPr lang="fr-FR" sz="2000" b="1" i="0" dirty="0">
                <a:solidFill>
                  <a:schemeClr val="accent1">
                    <a:lumMod val="75000"/>
                  </a:schemeClr>
                </a:solidFill>
                <a:effectLst/>
                <a:latin typeface="+mj-lt"/>
              </a:rPr>
              <a:t> variable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b="1" dirty="0">
                <a:solidFill>
                  <a:srgbClr val="28659C"/>
                </a:solidFill>
                <a:latin typeface="+mj-lt"/>
              </a:rPr>
              <a:t>Encode ordinal variables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dirty="0" err="1">
                <a:solidFill>
                  <a:srgbClr val="0070C0"/>
                </a:solidFill>
                <a:latin typeface="+mj-lt"/>
              </a:rPr>
              <a:t>Separate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features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&amp; 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target</a:t>
            </a:r>
            <a:endParaRPr lang="fr-FR" sz="2000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Split data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r>
              <a:rPr lang="fr-FR" sz="2000" b="1" dirty="0" err="1">
                <a:solidFill>
                  <a:srgbClr val="FF3300"/>
                </a:solidFill>
                <a:latin typeface="+mj-lt"/>
              </a:rPr>
              <a:t>Rescale</a:t>
            </a:r>
            <a:r>
              <a:rPr lang="fr-FR" sz="2000" b="1" dirty="0">
                <a:solidFill>
                  <a:srgbClr val="FF3300"/>
                </a:solidFill>
                <a:latin typeface="+mj-lt"/>
              </a:rPr>
              <a:t> Data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endParaRPr lang="fr-FR" sz="2000" i="0" dirty="0">
              <a:solidFill>
                <a:srgbClr val="0070C0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DFB417-9850-534D-2595-3F351036882D}"/>
              </a:ext>
            </a:extLst>
          </p:cNvPr>
          <p:cNvSpPr txBox="1"/>
          <p:nvPr/>
        </p:nvSpPr>
        <p:spPr>
          <a:xfrm>
            <a:off x="5234152" y="3172282"/>
            <a:ext cx="6290441" cy="12311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dirty="0"/>
              <a:t>sc=</a:t>
            </a:r>
            <a:r>
              <a:rPr lang="fr-MA" dirty="0" err="1"/>
              <a:t>StandardScaler</a:t>
            </a:r>
            <a:r>
              <a:rPr lang="fr-MA" dirty="0"/>
              <a:t>()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X_train</a:t>
            </a:r>
            <a:r>
              <a:rPr lang="fr-MA" dirty="0"/>
              <a:t>[:,[2,4,5,6,7,10]]=</a:t>
            </a:r>
            <a:r>
              <a:rPr lang="fr-MA" dirty="0" err="1"/>
              <a:t>sc.fit_transform</a:t>
            </a:r>
            <a:r>
              <a:rPr lang="fr-MA" dirty="0"/>
              <a:t>(</a:t>
            </a:r>
            <a:r>
              <a:rPr lang="fr-MA" dirty="0" err="1"/>
              <a:t>X_train</a:t>
            </a:r>
            <a:r>
              <a:rPr lang="fr-MA" dirty="0"/>
              <a:t>[:,[2,4,5,6,7,10]])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X_test</a:t>
            </a:r>
            <a:r>
              <a:rPr lang="fr-MA" dirty="0"/>
              <a:t>[:,[2,4,5,6,7,10]]=</a:t>
            </a:r>
            <a:r>
              <a:rPr lang="fr-MA" dirty="0" err="1"/>
              <a:t>sc.transform</a:t>
            </a:r>
            <a:r>
              <a:rPr lang="fr-MA" dirty="0"/>
              <a:t>(</a:t>
            </a:r>
            <a:r>
              <a:rPr lang="fr-MA" dirty="0" err="1"/>
              <a:t>X_test</a:t>
            </a:r>
            <a:r>
              <a:rPr lang="fr-MA" dirty="0"/>
              <a:t>[:,[2,4,5,6,7,10]])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A140D8-4160-5CF2-6D38-96987B431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416" y="5190292"/>
            <a:ext cx="7725853" cy="160042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C1258ED2-88CD-D82D-CB22-51CB37E36D95}"/>
              </a:ext>
            </a:extLst>
          </p:cNvPr>
          <p:cNvSpPr/>
          <p:nvPr/>
        </p:nvSpPr>
        <p:spPr>
          <a:xfrm>
            <a:off x="4824248" y="4997669"/>
            <a:ext cx="189186" cy="19262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C82CABF-0C76-E729-FA3E-B8A0F1D9E292}"/>
              </a:ext>
            </a:extLst>
          </p:cNvPr>
          <p:cNvSpPr/>
          <p:nvPr/>
        </p:nvSpPr>
        <p:spPr>
          <a:xfrm>
            <a:off x="5827988" y="4992409"/>
            <a:ext cx="189186" cy="19262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88B479D-2D92-97B6-7D8E-CFA377C369B6}"/>
              </a:ext>
            </a:extLst>
          </p:cNvPr>
          <p:cNvSpPr/>
          <p:nvPr/>
        </p:nvSpPr>
        <p:spPr>
          <a:xfrm>
            <a:off x="6879023" y="4987152"/>
            <a:ext cx="189186" cy="19262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D9CFC79-BBFF-26A9-8912-DD74AD8697F9}"/>
              </a:ext>
            </a:extLst>
          </p:cNvPr>
          <p:cNvSpPr/>
          <p:nvPr/>
        </p:nvSpPr>
        <p:spPr>
          <a:xfrm>
            <a:off x="10216069" y="4981893"/>
            <a:ext cx="189186" cy="19262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E7F61E4-0F3E-0952-5248-1EF276D55CE1}"/>
              </a:ext>
            </a:extLst>
          </p:cNvPr>
          <p:cNvSpPr/>
          <p:nvPr/>
        </p:nvSpPr>
        <p:spPr>
          <a:xfrm>
            <a:off x="6269428" y="4992402"/>
            <a:ext cx="189186" cy="19262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EEE85AB-04C3-38B2-D6FB-B4BE12AFB33F}"/>
              </a:ext>
            </a:extLst>
          </p:cNvPr>
          <p:cNvSpPr/>
          <p:nvPr/>
        </p:nvSpPr>
        <p:spPr>
          <a:xfrm>
            <a:off x="7667306" y="4971380"/>
            <a:ext cx="189186" cy="19262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7924824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18C513-EE3D-6EDC-4D44-2D81762A1C10}"/>
              </a:ext>
            </a:extLst>
          </p:cNvPr>
          <p:cNvSpPr txBox="1"/>
          <p:nvPr/>
        </p:nvSpPr>
        <p:spPr>
          <a:xfrm>
            <a:off x="15774" y="643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rgbClr val="0180FF"/>
                </a:solidFill>
              </a:rPr>
              <a:t>2. Model</a:t>
            </a:r>
            <a:endParaRPr lang="fr-MA" sz="3600" dirty="0">
              <a:solidFill>
                <a:srgbClr val="0180FF"/>
              </a:solidFill>
            </a:endParaRPr>
          </a:p>
        </p:txBody>
      </p:sp>
      <p:sp>
        <p:nvSpPr>
          <p:cNvPr id="3" name="ZoneTexte 36">
            <a:extLst>
              <a:ext uri="{FF2B5EF4-FFF2-40B4-BE49-F238E27FC236}">
                <a16:creationId xmlns:a16="http://schemas.microsoft.com/office/drawing/2014/main" id="{813CC3A4-2486-1C16-24CE-32BDFB6CC9C7}"/>
              </a:ext>
            </a:extLst>
          </p:cNvPr>
          <p:cNvSpPr txBox="1"/>
          <p:nvPr/>
        </p:nvSpPr>
        <p:spPr>
          <a:xfrm>
            <a:off x="68308" y="784955"/>
            <a:ext cx="5005563" cy="5119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i="0" dirty="0" err="1">
                <a:solidFill>
                  <a:srgbClr val="0070C0"/>
                </a:solidFill>
                <a:effectLst/>
                <a:latin typeface="+mj-lt"/>
              </a:rPr>
              <a:t>Choose</a:t>
            </a: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 the technique (</a:t>
            </a:r>
            <a:r>
              <a:rPr lang="fr-FR" sz="2000" i="0" dirty="0" err="1">
                <a:solidFill>
                  <a:srgbClr val="0070C0"/>
                </a:solidFill>
                <a:effectLst/>
                <a:latin typeface="+mj-lt"/>
              </a:rPr>
              <a:t>Linear</a:t>
            </a: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 </a:t>
            </a:r>
            <a:r>
              <a:rPr lang="fr-FR" sz="2000" i="0" dirty="0" err="1">
                <a:solidFill>
                  <a:srgbClr val="0070C0"/>
                </a:solidFill>
                <a:effectLst/>
                <a:latin typeface="+mj-lt"/>
              </a:rPr>
              <a:t>Regression</a:t>
            </a: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, </a:t>
            </a:r>
            <a:r>
              <a:rPr lang="fr-FR" sz="2000" b="1" i="0" dirty="0">
                <a:solidFill>
                  <a:srgbClr val="0070C0"/>
                </a:solidFill>
                <a:effectLst/>
                <a:latin typeface="+mj-lt"/>
              </a:rPr>
              <a:t>Neural </a:t>
            </a:r>
            <a:r>
              <a:rPr lang="fr-FR" sz="2000" b="1" i="0" dirty="0" err="1">
                <a:solidFill>
                  <a:srgbClr val="0070C0"/>
                </a:solidFill>
                <a:effectLst/>
                <a:latin typeface="+mj-lt"/>
              </a:rPr>
              <a:t>Netwrok</a:t>
            </a: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, SVR,…) </a:t>
            </a:r>
            <a:endParaRPr lang="fr-FR" sz="2000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i="0" dirty="0" err="1">
                <a:solidFill>
                  <a:srgbClr val="0070C0"/>
                </a:solidFill>
                <a:effectLst/>
                <a:latin typeface="+mj-lt"/>
              </a:rPr>
              <a:t>choose</a:t>
            </a: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 an architecture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i="0" dirty="0" err="1">
                <a:solidFill>
                  <a:srgbClr val="0070C0"/>
                </a:solidFill>
                <a:effectLst/>
                <a:latin typeface="+mj-lt"/>
              </a:rPr>
              <a:t>Create</a:t>
            </a: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 a neural network </a:t>
            </a:r>
            <a:r>
              <a:rPr lang="fr-FR" sz="2000" i="0" dirty="0" err="1">
                <a:solidFill>
                  <a:srgbClr val="0070C0"/>
                </a:solidFill>
                <a:effectLst/>
                <a:latin typeface="+mj-lt"/>
              </a:rPr>
              <a:t>according</a:t>
            </a: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 to the architecture</a:t>
            </a:r>
          </a:p>
          <a:p>
            <a:pPr marL="800100" lvl="1" indent="-342900">
              <a:spcAft>
                <a:spcPts val="8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FR" sz="2000" dirty="0" err="1">
                <a:solidFill>
                  <a:srgbClr val="0070C0"/>
                </a:solidFill>
                <a:latin typeface="+mj-lt"/>
              </a:rPr>
              <a:t>Initialize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the model </a:t>
            </a:r>
          </a:p>
          <a:p>
            <a:pPr marL="800100" lvl="1" indent="-342900">
              <a:spcAft>
                <a:spcPts val="8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FR" sz="2000" dirty="0" err="1">
                <a:solidFill>
                  <a:srgbClr val="0070C0"/>
                </a:solidFill>
                <a:latin typeface="+mj-lt"/>
              </a:rPr>
              <a:t>create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input layer and 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hidden</a:t>
            </a:r>
            <a:r>
              <a:rPr lang="fr-FR" sz="2000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layers</a:t>
            </a:r>
            <a:endParaRPr lang="fr-FR" sz="2000" dirty="0">
              <a:solidFill>
                <a:srgbClr val="0070C0"/>
              </a:solidFill>
              <a:latin typeface="+mj-lt"/>
            </a:endParaRPr>
          </a:p>
          <a:p>
            <a:pPr marL="800100" lvl="1" indent="-342900">
              <a:spcAft>
                <a:spcPts val="8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FR" sz="2000" i="0" dirty="0" err="1">
                <a:solidFill>
                  <a:srgbClr val="0070C0"/>
                </a:solidFill>
                <a:effectLst/>
                <a:latin typeface="+mj-lt"/>
              </a:rPr>
              <a:t>Create</a:t>
            </a:r>
            <a:r>
              <a:rPr lang="fr-FR" sz="2000" i="0" dirty="0">
                <a:solidFill>
                  <a:srgbClr val="0070C0"/>
                </a:solidFill>
                <a:effectLst/>
                <a:latin typeface="+mj-lt"/>
              </a:rPr>
              <a:t> output layer</a:t>
            </a: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AutoNum type="arabicPeriod"/>
            </a:pPr>
            <a:r>
              <a:rPr lang="fr-FR" sz="2000" dirty="0">
                <a:solidFill>
                  <a:srgbClr val="0070C0"/>
                </a:solidFill>
                <a:latin typeface="+mj-lt"/>
              </a:rPr>
              <a:t>Compile</a:t>
            </a:r>
          </a:p>
          <a:p>
            <a:pPr marL="800100" lvl="1" indent="-342900">
              <a:spcAft>
                <a:spcPts val="8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0070C0"/>
                </a:solidFill>
                <a:latin typeface="+mj-lt"/>
              </a:rPr>
              <a:t> </a:t>
            </a:r>
            <a:r>
              <a:rPr lang="fr-FR" sz="2000" dirty="0" err="1">
                <a:solidFill>
                  <a:srgbClr val="0070C0"/>
                </a:solidFill>
                <a:latin typeface="+mj-lt"/>
              </a:rPr>
              <a:t>optimizer</a:t>
            </a:r>
            <a:endParaRPr lang="fr-FR" sz="2000" dirty="0">
              <a:solidFill>
                <a:srgbClr val="0070C0"/>
              </a:solidFill>
              <a:latin typeface="+mj-lt"/>
            </a:endParaRPr>
          </a:p>
          <a:p>
            <a:pPr marL="800100" lvl="1" indent="-342900">
              <a:spcAft>
                <a:spcPts val="8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FR" sz="2000" dirty="0" err="1">
                <a:solidFill>
                  <a:srgbClr val="0070C0"/>
                </a:solidFill>
                <a:latin typeface="+mj-lt"/>
              </a:rPr>
              <a:t>Loss</a:t>
            </a:r>
            <a:endParaRPr lang="fr-FR" sz="2000" dirty="0">
              <a:solidFill>
                <a:srgbClr val="0070C0"/>
              </a:solidFill>
              <a:latin typeface="+mj-lt"/>
            </a:endParaRPr>
          </a:p>
          <a:p>
            <a:pPr marL="800100" lvl="1" indent="-342900">
              <a:spcAft>
                <a:spcPts val="8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FR" sz="2000" dirty="0" err="1">
                <a:solidFill>
                  <a:srgbClr val="0070C0"/>
                </a:solidFill>
                <a:latin typeface="+mj-lt"/>
              </a:rPr>
              <a:t>metrics</a:t>
            </a:r>
            <a:endParaRPr lang="fr-FR" sz="2000" dirty="0">
              <a:solidFill>
                <a:srgbClr val="0070C0"/>
              </a:solidFill>
              <a:latin typeface="+mj-lt"/>
            </a:endParaRPr>
          </a:p>
          <a:p>
            <a:pPr marL="342900" indent="-342900">
              <a:spcAft>
                <a:spcPts val="800"/>
              </a:spcAft>
              <a:buClr>
                <a:srgbClr val="FF3300"/>
              </a:buClr>
              <a:buFontTx/>
              <a:buAutoNum type="arabicPeriod"/>
            </a:pPr>
            <a:endParaRPr lang="fr-FR" sz="2000" i="0" dirty="0">
              <a:solidFill>
                <a:srgbClr val="0070C0"/>
              </a:solidFill>
              <a:effectLst/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13A601A-CC28-1FE6-EDFE-36EAC7F95455}"/>
              </a:ext>
            </a:extLst>
          </p:cNvPr>
          <p:cNvSpPr/>
          <p:nvPr/>
        </p:nvSpPr>
        <p:spPr>
          <a:xfrm>
            <a:off x="5328745" y="3153099"/>
            <a:ext cx="299545" cy="3783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3EF5E60-CA29-3B93-EC0F-E9E5CA2B4DB5}"/>
              </a:ext>
            </a:extLst>
          </p:cNvPr>
          <p:cNvSpPr/>
          <p:nvPr/>
        </p:nvSpPr>
        <p:spPr>
          <a:xfrm>
            <a:off x="5328745" y="3683871"/>
            <a:ext cx="299545" cy="3783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1D6CF4E-306A-721A-A776-4301AD18A45A}"/>
              </a:ext>
            </a:extLst>
          </p:cNvPr>
          <p:cNvSpPr/>
          <p:nvPr/>
        </p:nvSpPr>
        <p:spPr>
          <a:xfrm>
            <a:off x="5328744" y="4236478"/>
            <a:ext cx="299545" cy="3783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6C07ED6-13E4-D101-13D7-2B7E5CBBBCBE}"/>
              </a:ext>
            </a:extLst>
          </p:cNvPr>
          <p:cNvSpPr/>
          <p:nvPr/>
        </p:nvSpPr>
        <p:spPr>
          <a:xfrm>
            <a:off x="5328744" y="4779809"/>
            <a:ext cx="299545" cy="3783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BF9A6E3-A3A2-EDF5-593D-E3DD83B38514}"/>
              </a:ext>
            </a:extLst>
          </p:cNvPr>
          <p:cNvSpPr/>
          <p:nvPr/>
        </p:nvSpPr>
        <p:spPr>
          <a:xfrm>
            <a:off x="5328745" y="1020080"/>
            <a:ext cx="299545" cy="3783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0BC2042-73AA-06DB-1976-AB5E9555A35F}"/>
              </a:ext>
            </a:extLst>
          </p:cNvPr>
          <p:cNvSpPr/>
          <p:nvPr/>
        </p:nvSpPr>
        <p:spPr>
          <a:xfrm>
            <a:off x="5328745" y="1550852"/>
            <a:ext cx="299545" cy="3783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8335C93-7914-A2ED-A21F-87998520D41A}"/>
              </a:ext>
            </a:extLst>
          </p:cNvPr>
          <p:cNvSpPr/>
          <p:nvPr/>
        </p:nvSpPr>
        <p:spPr>
          <a:xfrm>
            <a:off x="5328744" y="2103459"/>
            <a:ext cx="299545" cy="3783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37ADD6A-39ED-01E1-0E01-70D82FF398EE}"/>
              </a:ext>
            </a:extLst>
          </p:cNvPr>
          <p:cNvSpPr/>
          <p:nvPr/>
        </p:nvSpPr>
        <p:spPr>
          <a:xfrm>
            <a:off x="5328744" y="2646790"/>
            <a:ext cx="299545" cy="378372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DC0BFE3-44B6-A971-BF63-EFE999CC5C93}"/>
              </a:ext>
            </a:extLst>
          </p:cNvPr>
          <p:cNvSpPr/>
          <p:nvPr/>
        </p:nvSpPr>
        <p:spPr>
          <a:xfrm>
            <a:off x="5355017" y="5357881"/>
            <a:ext cx="299545" cy="3783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51F74D7-A067-6694-0A6E-744F0B2400F4}"/>
              </a:ext>
            </a:extLst>
          </p:cNvPr>
          <p:cNvSpPr/>
          <p:nvPr/>
        </p:nvSpPr>
        <p:spPr>
          <a:xfrm>
            <a:off x="7118130" y="3502794"/>
            <a:ext cx="670036" cy="7672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1719C02-1D18-0B7F-21CC-DBBBEA0C68BE}"/>
              </a:ext>
            </a:extLst>
          </p:cNvPr>
          <p:cNvSpPr/>
          <p:nvPr/>
        </p:nvSpPr>
        <p:spPr>
          <a:xfrm>
            <a:off x="7061637" y="2562932"/>
            <a:ext cx="670036" cy="7672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01E4CB4-1C15-F865-0E15-44C6225AE636}"/>
              </a:ext>
            </a:extLst>
          </p:cNvPr>
          <p:cNvSpPr/>
          <p:nvPr/>
        </p:nvSpPr>
        <p:spPr>
          <a:xfrm>
            <a:off x="7068207" y="1521357"/>
            <a:ext cx="670036" cy="7672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945144A-0DDB-67A9-069B-6A9FC63BE869}"/>
              </a:ext>
            </a:extLst>
          </p:cNvPr>
          <p:cNvSpPr/>
          <p:nvPr/>
        </p:nvSpPr>
        <p:spPr>
          <a:xfrm>
            <a:off x="7011714" y="581495"/>
            <a:ext cx="670036" cy="7672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F8489B4-B528-DE0E-C026-DFA6DBEEFE1C}"/>
              </a:ext>
            </a:extLst>
          </p:cNvPr>
          <p:cNvSpPr/>
          <p:nvPr/>
        </p:nvSpPr>
        <p:spPr>
          <a:xfrm>
            <a:off x="7118130" y="5362546"/>
            <a:ext cx="670036" cy="7672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D9B4419-4902-6322-A75C-BDA0E108A421}"/>
              </a:ext>
            </a:extLst>
          </p:cNvPr>
          <p:cNvSpPr/>
          <p:nvPr/>
        </p:nvSpPr>
        <p:spPr>
          <a:xfrm>
            <a:off x="7061637" y="4422684"/>
            <a:ext cx="670036" cy="7672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F6ADF3C-8174-C3F7-18A5-3A3297E9CE70}"/>
              </a:ext>
            </a:extLst>
          </p:cNvPr>
          <p:cNvSpPr/>
          <p:nvPr/>
        </p:nvSpPr>
        <p:spPr>
          <a:xfrm>
            <a:off x="9099338" y="3513303"/>
            <a:ext cx="670036" cy="7672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A95511A-8034-EA5E-34F3-93D29EFA6356}"/>
              </a:ext>
            </a:extLst>
          </p:cNvPr>
          <p:cNvSpPr/>
          <p:nvPr/>
        </p:nvSpPr>
        <p:spPr>
          <a:xfrm>
            <a:off x="9042845" y="2573441"/>
            <a:ext cx="670036" cy="7672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E487070-1A54-9352-1D87-FACA34AAECEA}"/>
              </a:ext>
            </a:extLst>
          </p:cNvPr>
          <p:cNvSpPr/>
          <p:nvPr/>
        </p:nvSpPr>
        <p:spPr>
          <a:xfrm>
            <a:off x="9049415" y="1531866"/>
            <a:ext cx="670036" cy="7672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5702CE7-6876-534B-2ABB-68F29D9E2FC3}"/>
              </a:ext>
            </a:extLst>
          </p:cNvPr>
          <p:cNvSpPr/>
          <p:nvPr/>
        </p:nvSpPr>
        <p:spPr>
          <a:xfrm>
            <a:off x="8992922" y="592004"/>
            <a:ext cx="670036" cy="7672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3B0E531-07E4-604F-DC00-E5AF3A3A856C}"/>
              </a:ext>
            </a:extLst>
          </p:cNvPr>
          <p:cNvSpPr/>
          <p:nvPr/>
        </p:nvSpPr>
        <p:spPr>
          <a:xfrm>
            <a:off x="9099338" y="5373055"/>
            <a:ext cx="670036" cy="7672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46FE55E-ECED-31A5-F34B-2C53CD4D7A77}"/>
              </a:ext>
            </a:extLst>
          </p:cNvPr>
          <p:cNvSpPr/>
          <p:nvPr/>
        </p:nvSpPr>
        <p:spPr>
          <a:xfrm>
            <a:off x="9042845" y="4433193"/>
            <a:ext cx="670036" cy="7672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94DB887-2CDC-3470-1EAA-20AF8D1920FF}"/>
              </a:ext>
            </a:extLst>
          </p:cNvPr>
          <p:cNvSpPr/>
          <p:nvPr/>
        </p:nvSpPr>
        <p:spPr>
          <a:xfrm>
            <a:off x="10867703" y="2938452"/>
            <a:ext cx="670036" cy="7672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B912E4F-519C-65F7-E48B-9FC59AB9ACE1}"/>
              </a:ext>
            </a:extLst>
          </p:cNvPr>
          <p:cNvCxnSpPr>
            <a:stCxn id="10" idx="6"/>
            <a:endCxn id="18" idx="2"/>
          </p:cNvCxnSpPr>
          <p:nvPr/>
        </p:nvCxnSpPr>
        <p:spPr>
          <a:xfrm flipV="1">
            <a:off x="5628290" y="965124"/>
            <a:ext cx="1383424" cy="244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84623D1-0ED6-09FA-0425-6E74EE04986F}"/>
              </a:ext>
            </a:extLst>
          </p:cNvPr>
          <p:cNvCxnSpPr>
            <a:cxnSpLocks/>
            <a:stCxn id="10" idx="6"/>
            <a:endCxn id="17" idx="2"/>
          </p:cNvCxnSpPr>
          <p:nvPr/>
        </p:nvCxnSpPr>
        <p:spPr>
          <a:xfrm>
            <a:off x="5628290" y="1209266"/>
            <a:ext cx="1439917" cy="695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5F20D40-D289-F668-DCD3-6A05E1D7AE1E}"/>
              </a:ext>
            </a:extLst>
          </p:cNvPr>
          <p:cNvCxnSpPr>
            <a:cxnSpLocks/>
            <a:stCxn id="10" idx="6"/>
            <a:endCxn id="16" idx="2"/>
          </p:cNvCxnSpPr>
          <p:nvPr/>
        </p:nvCxnSpPr>
        <p:spPr>
          <a:xfrm>
            <a:off x="5628290" y="1209266"/>
            <a:ext cx="1433347" cy="17372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24C02DD-8750-9A5E-4D5B-350B80CC090A}"/>
              </a:ext>
            </a:extLst>
          </p:cNvPr>
          <p:cNvCxnSpPr>
            <a:cxnSpLocks/>
            <a:stCxn id="10" idx="6"/>
            <a:endCxn id="15" idx="2"/>
          </p:cNvCxnSpPr>
          <p:nvPr/>
        </p:nvCxnSpPr>
        <p:spPr>
          <a:xfrm>
            <a:off x="5628290" y="1209266"/>
            <a:ext cx="1489840" cy="2677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82D74A0-97FD-E381-4324-45AB4987835E}"/>
              </a:ext>
            </a:extLst>
          </p:cNvPr>
          <p:cNvCxnSpPr>
            <a:cxnSpLocks/>
            <a:stCxn id="10" idx="6"/>
            <a:endCxn id="20" idx="2"/>
          </p:cNvCxnSpPr>
          <p:nvPr/>
        </p:nvCxnSpPr>
        <p:spPr>
          <a:xfrm>
            <a:off x="5628290" y="1209266"/>
            <a:ext cx="1433347" cy="3597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0633473-838A-9C73-D398-F163DA2B6959}"/>
              </a:ext>
            </a:extLst>
          </p:cNvPr>
          <p:cNvCxnSpPr>
            <a:cxnSpLocks/>
            <a:stCxn id="10" idx="6"/>
            <a:endCxn id="19" idx="2"/>
          </p:cNvCxnSpPr>
          <p:nvPr/>
        </p:nvCxnSpPr>
        <p:spPr>
          <a:xfrm>
            <a:off x="5628290" y="1209266"/>
            <a:ext cx="1489840" cy="45369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75068F8-77D8-2DE2-BE7B-E9CEDF597658}"/>
              </a:ext>
            </a:extLst>
          </p:cNvPr>
          <p:cNvCxnSpPr>
            <a:cxnSpLocks/>
          </p:cNvCxnSpPr>
          <p:nvPr/>
        </p:nvCxnSpPr>
        <p:spPr>
          <a:xfrm>
            <a:off x="6948663" y="363706"/>
            <a:ext cx="63051" cy="626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3AC93A1-8166-BF1E-B80F-8C0F6E645328}"/>
              </a:ext>
            </a:extLst>
          </p:cNvPr>
          <p:cNvCxnSpPr>
            <a:cxnSpLocks/>
          </p:cNvCxnSpPr>
          <p:nvPr/>
        </p:nvCxnSpPr>
        <p:spPr>
          <a:xfrm>
            <a:off x="6974937" y="1225560"/>
            <a:ext cx="63051" cy="626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DC33C88-5FB5-29A6-B873-A845806AF7D9}"/>
              </a:ext>
            </a:extLst>
          </p:cNvPr>
          <p:cNvCxnSpPr>
            <a:cxnSpLocks/>
          </p:cNvCxnSpPr>
          <p:nvPr/>
        </p:nvCxnSpPr>
        <p:spPr>
          <a:xfrm>
            <a:off x="6985446" y="2213540"/>
            <a:ext cx="63051" cy="626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AE00488-F2BF-A198-0005-3D7BF926ACAC}"/>
              </a:ext>
            </a:extLst>
          </p:cNvPr>
          <p:cNvCxnSpPr>
            <a:cxnSpLocks/>
          </p:cNvCxnSpPr>
          <p:nvPr/>
        </p:nvCxnSpPr>
        <p:spPr>
          <a:xfrm>
            <a:off x="7059017" y="3185753"/>
            <a:ext cx="63051" cy="626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4AC8011-05A6-5FF4-DB50-6275D399A5E7}"/>
              </a:ext>
            </a:extLst>
          </p:cNvPr>
          <p:cNvCxnSpPr>
            <a:cxnSpLocks/>
          </p:cNvCxnSpPr>
          <p:nvPr/>
        </p:nvCxnSpPr>
        <p:spPr>
          <a:xfrm>
            <a:off x="7022228" y="4110669"/>
            <a:ext cx="63051" cy="626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BFF5840-97C5-BB91-A9B5-508153AB0E01}"/>
              </a:ext>
            </a:extLst>
          </p:cNvPr>
          <p:cNvCxnSpPr>
            <a:cxnSpLocks/>
          </p:cNvCxnSpPr>
          <p:nvPr/>
        </p:nvCxnSpPr>
        <p:spPr>
          <a:xfrm>
            <a:off x="7064268" y="5035581"/>
            <a:ext cx="63051" cy="626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546176D-0A1E-36BC-C48D-7B49D4975EA8}"/>
              </a:ext>
            </a:extLst>
          </p:cNvPr>
          <p:cNvCxnSpPr>
            <a:cxnSpLocks/>
            <a:stCxn id="11" idx="6"/>
            <a:endCxn id="18" idx="2"/>
          </p:cNvCxnSpPr>
          <p:nvPr/>
        </p:nvCxnSpPr>
        <p:spPr>
          <a:xfrm flipV="1">
            <a:off x="5628290" y="965124"/>
            <a:ext cx="1383424" cy="774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A33BF34-951F-5F39-4811-F9ACBF314155}"/>
              </a:ext>
            </a:extLst>
          </p:cNvPr>
          <p:cNvCxnSpPr>
            <a:cxnSpLocks/>
            <a:stCxn id="12" idx="6"/>
            <a:endCxn id="18" idx="2"/>
          </p:cNvCxnSpPr>
          <p:nvPr/>
        </p:nvCxnSpPr>
        <p:spPr>
          <a:xfrm flipV="1">
            <a:off x="5628289" y="965124"/>
            <a:ext cx="1383425" cy="1327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69B7C6F-540E-A7ED-1048-D00DC5B2E7DA}"/>
              </a:ext>
            </a:extLst>
          </p:cNvPr>
          <p:cNvCxnSpPr>
            <a:cxnSpLocks/>
            <a:stCxn id="13" idx="6"/>
            <a:endCxn id="18" idx="2"/>
          </p:cNvCxnSpPr>
          <p:nvPr/>
        </p:nvCxnSpPr>
        <p:spPr>
          <a:xfrm flipV="1">
            <a:off x="5628289" y="965124"/>
            <a:ext cx="1383425" cy="18708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CEED590-539B-5355-2562-3106C8CA6C12}"/>
              </a:ext>
            </a:extLst>
          </p:cNvPr>
          <p:cNvCxnSpPr>
            <a:cxnSpLocks/>
            <a:stCxn id="4" idx="6"/>
            <a:endCxn id="18" idx="2"/>
          </p:cNvCxnSpPr>
          <p:nvPr/>
        </p:nvCxnSpPr>
        <p:spPr>
          <a:xfrm flipV="1">
            <a:off x="5628290" y="965124"/>
            <a:ext cx="1383424" cy="2377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8B38489-3BB2-DDFC-A61B-93C351104836}"/>
              </a:ext>
            </a:extLst>
          </p:cNvPr>
          <p:cNvCxnSpPr>
            <a:cxnSpLocks/>
            <a:stCxn id="6" idx="6"/>
            <a:endCxn id="18" idx="2"/>
          </p:cNvCxnSpPr>
          <p:nvPr/>
        </p:nvCxnSpPr>
        <p:spPr>
          <a:xfrm flipV="1">
            <a:off x="5628290" y="965124"/>
            <a:ext cx="1383424" cy="2907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36AA98EA-C8BF-F237-9227-BFF0C6CD22DF}"/>
              </a:ext>
            </a:extLst>
          </p:cNvPr>
          <p:cNvCxnSpPr>
            <a:cxnSpLocks/>
            <a:stCxn id="8" idx="6"/>
            <a:endCxn id="18" idx="2"/>
          </p:cNvCxnSpPr>
          <p:nvPr/>
        </p:nvCxnSpPr>
        <p:spPr>
          <a:xfrm flipV="1">
            <a:off x="5628289" y="965124"/>
            <a:ext cx="1383425" cy="3460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77D78E8-75D8-C26F-30AD-D895AFE77FA0}"/>
              </a:ext>
            </a:extLst>
          </p:cNvPr>
          <p:cNvCxnSpPr>
            <a:cxnSpLocks/>
            <a:stCxn id="9" idx="6"/>
            <a:endCxn id="18" idx="2"/>
          </p:cNvCxnSpPr>
          <p:nvPr/>
        </p:nvCxnSpPr>
        <p:spPr>
          <a:xfrm flipV="1">
            <a:off x="5628289" y="965124"/>
            <a:ext cx="1383425" cy="4003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33865EAA-CE1C-316F-2B77-0837DCD8E046}"/>
              </a:ext>
            </a:extLst>
          </p:cNvPr>
          <p:cNvCxnSpPr>
            <a:cxnSpLocks/>
            <a:stCxn id="14" idx="6"/>
            <a:endCxn id="18" idx="2"/>
          </p:cNvCxnSpPr>
          <p:nvPr/>
        </p:nvCxnSpPr>
        <p:spPr>
          <a:xfrm flipV="1">
            <a:off x="5654562" y="965124"/>
            <a:ext cx="1357152" cy="4581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EE46694A-691F-D55D-896E-8D408FF2AC00}"/>
              </a:ext>
            </a:extLst>
          </p:cNvPr>
          <p:cNvCxnSpPr>
            <a:cxnSpLocks/>
            <a:stCxn id="18" idx="6"/>
            <a:endCxn id="26" idx="2"/>
          </p:cNvCxnSpPr>
          <p:nvPr/>
        </p:nvCxnSpPr>
        <p:spPr>
          <a:xfrm>
            <a:off x="7681750" y="965124"/>
            <a:ext cx="1311172" cy="10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7A42739-F1A7-C5CA-7793-0A145F6A2193}"/>
              </a:ext>
            </a:extLst>
          </p:cNvPr>
          <p:cNvCxnSpPr>
            <a:cxnSpLocks/>
            <a:stCxn id="17" idx="6"/>
            <a:endCxn id="26" idx="2"/>
          </p:cNvCxnSpPr>
          <p:nvPr/>
        </p:nvCxnSpPr>
        <p:spPr>
          <a:xfrm flipV="1">
            <a:off x="7738243" y="975633"/>
            <a:ext cx="1254679" cy="929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E4E44C8C-27BB-851F-0B32-68C3AE3139BC}"/>
              </a:ext>
            </a:extLst>
          </p:cNvPr>
          <p:cNvCxnSpPr>
            <a:cxnSpLocks/>
            <a:stCxn id="16" idx="6"/>
            <a:endCxn id="26" idx="2"/>
          </p:cNvCxnSpPr>
          <p:nvPr/>
        </p:nvCxnSpPr>
        <p:spPr>
          <a:xfrm flipV="1">
            <a:off x="7731673" y="975633"/>
            <a:ext cx="1261249" cy="19709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22FF97E2-027C-8FD3-7D7F-3F6AE8656482}"/>
              </a:ext>
            </a:extLst>
          </p:cNvPr>
          <p:cNvCxnSpPr>
            <a:cxnSpLocks/>
            <a:stCxn id="15" idx="6"/>
            <a:endCxn id="26" idx="2"/>
          </p:cNvCxnSpPr>
          <p:nvPr/>
        </p:nvCxnSpPr>
        <p:spPr>
          <a:xfrm flipV="1">
            <a:off x="7788166" y="975633"/>
            <a:ext cx="1204756" cy="2910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DDE81787-06AB-9F2B-87FF-AAD6BC29E6FB}"/>
              </a:ext>
            </a:extLst>
          </p:cNvPr>
          <p:cNvCxnSpPr>
            <a:cxnSpLocks/>
            <a:stCxn id="20" idx="6"/>
            <a:endCxn id="26" idx="2"/>
          </p:cNvCxnSpPr>
          <p:nvPr/>
        </p:nvCxnSpPr>
        <p:spPr>
          <a:xfrm flipV="1">
            <a:off x="7731673" y="975633"/>
            <a:ext cx="1261249" cy="3830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2D80AB92-6E5A-C889-7647-0B5FD2793AB3}"/>
              </a:ext>
            </a:extLst>
          </p:cNvPr>
          <p:cNvCxnSpPr>
            <a:cxnSpLocks/>
            <a:stCxn id="19" idx="6"/>
            <a:endCxn id="26" idx="2"/>
          </p:cNvCxnSpPr>
          <p:nvPr/>
        </p:nvCxnSpPr>
        <p:spPr>
          <a:xfrm flipV="1">
            <a:off x="7788166" y="975633"/>
            <a:ext cx="1204756" cy="4770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29E3736-0E63-36DC-F022-E863F90A2B96}"/>
              </a:ext>
            </a:extLst>
          </p:cNvPr>
          <p:cNvCxnSpPr>
            <a:cxnSpLocks/>
            <a:stCxn id="26" idx="6"/>
            <a:endCxn id="29" idx="2"/>
          </p:cNvCxnSpPr>
          <p:nvPr/>
        </p:nvCxnSpPr>
        <p:spPr>
          <a:xfrm>
            <a:off x="9662958" y="975633"/>
            <a:ext cx="1204745" cy="23464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F22B17EA-9BE6-7FB9-2866-B8B8C58F7058}"/>
              </a:ext>
            </a:extLst>
          </p:cNvPr>
          <p:cNvCxnSpPr>
            <a:cxnSpLocks/>
            <a:stCxn id="25" idx="6"/>
            <a:endCxn id="29" idx="2"/>
          </p:cNvCxnSpPr>
          <p:nvPr/>
        </p:nvCxnSpPr>
        <p:spPr>
          <a:xfrm>
            <a:off x="9719451" y="1915495"/>
            <a:ext cx="1148252" cy="1406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6B6D7A66-CE3E-A7BF-2DEF-C627D416C0C4}"/>
              </a:ext>
            </a:extLst>
          </p:cNvPr>
          <p:cNvCxnSpPr>
            <a:cxnSpLocks/>
            <a:stCxn id="24" idx="6"/>
            <a:endCxn id="29" idx="2"/>
          </p:cNvCxnSpPr>
          <p:nvPr/>
        </p:nvCxnSpPr>
        <p:spPr>
          <a:xfrm>
            <a:off x="9712881" y="2957070"/>
            <a:ext cx="1154822" cy="3650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B8AEA79E-0C7A-DEFD-94D1-4CC7DB499689}"/>
              </a:ext>
            </a:extLst>
          </p:cNvPr>
          <p:cNvCxnSpPr>
            <a:cxnSpLocks/>
            <a:stCxn id="23" idx="6"/>
            <a:endCxn id="29" idx="2"/>
          </p:cNvCxnSpPr>
          <p:nvPr/>
        </p:nvCxnSpPr>
        <p:spPr>
          <a:xfrm flipV="1">
            <a:off x="9769374" y="3322081"/>
            <a:ext cx="1098329" cy="574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F4C65073-BE61-C0B4-27A9-7F6F05909612}"/>
              </a:ext>
            </a:extLst>
          </p:cNvPr>
          <p:cNvCxnSpPr>
            <a:cxnSpLocks/>
            <a:stCxn id="28" idx="6"/>
            <a:endCxn id="29" idx="2"/>
          </p:cNvCxnSpPr>
          <p:nvPr/>
        </p:nvCxnSpPr>
        <p:spPr>
          <a:xfrm flipV="1">
            <a:off x="9712881" y="3322081"/>
            <a:ext cx="1154822" cy="1494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FB8D6DB-2D3C-EEBC-D15D-18F6432BA148}"/>
              </a:ext>
            </a:extLst>
          </p:cNvPr>
          <p:cNvCxnSpPr>
            <a:cxnSpLocks/>
            <a:stCxn id="27" idx="6"/>
            <a:endCxn id="29" idx="2"/>
          </p:cNvCxnSpPr>
          <p:nvPr/>
        </p:nvCxnSpPr>
        <p:spPr>
          <a:xfrm flipV="1">
            <a:off x="9769374" y="3322081"/>
            <a:ext cx="1098329" cy="2434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9547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18C513-EE3D-6EDC-4D44-2D81762A1C10}"/>
              </a:ext>
            </a:extLst>
          </p:cNvPr>
          <p:cNvSpPr txBox="1"/>
          <p:nvPr/>
        </p:nvSpPr>
        <p:spPr>
          <a:xfrm>
            <a:off x="15774" y="643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rgbClr val="0180FF"/>
                </a:solidFill>
              </a:rPr>
              <a:t>3. </a:t>
            </a:r>
            <a:r>
              <a:rPr lang="fr-FR" sz="3600" dirty="0" err="1">
                <a:solidFill>
                  <a:srgbClr val="0180FF"/>
                </a:solidFill>
              </a:rPr>
              <a:t>Prediction</a:t>
            </a:r>
            <a:endParaRPr lang="fr-MA" sz="3600" dirty="0">
              <a:solidFill>
                <a:srgbClr val="018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7765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18C513-EE3D-6EDC-4D44-2D81762A1C10}"/>
              </a:ext>
            </a:extLst>
          </p:cNvPr>
          <p:cNvSpPr txBox="1"/>
          <p:nvPr/>
        </p:nvSpPr>
        <p:spPr>
          <a:xfrm>
            <a:off x="15774" y="643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rgbClr val="0180FF"/>
                </a:solidFill>
              </a:rPr>
              <a:t>4. Evaluation</a:t>
            </a:r>
            <a:endParaRPr lang="fr-MA" sz="3600" dirty="0">
              <a:solidFill>
                <a:srgbClr val="018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56449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18C513-EE3D-6EDC-4D44-2D81762A1C10}"/>
              </a:ext>
            </a:extLst>
          </p:cNvPr>
          <p:cNvSpPr txBox="1"/>
          <p:nvPr/>
        </p:nvSpPr>
        <p:spPr>
          <a:xfrm>
            <a:off x="15774" y="643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rgbClr val="0180FF"/>
                </a:solidFill>
              </a:rPr>
              <a:t>5. </a:t>
            </a:r>
            <a:r>
              <a:rPr lang="fr-FR" sz="3600" dirty="0" err="1">
                <a:solidFill>
                  <a:srgbClr val="0180FF"/>
                </a:solidFill>
              </a:rPr>
              <a:t>Improve</a:t>
            </a:r>
            <a:r>
              <a:rPr lang="fr-FR" sz="3600" dirty="0">
                <a:solidFill>
                  <a:srgbClr val="0180FF"/>
                </a:solidFill>
              </a:rPr>
              <a:t> Performance</a:t>
            </a:r>
            <a:endParaRPr lang="fr-MA" sz="3600" dirty="0">
              <a:solidFill>
                <a:srgbClr val="018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027728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94358</TotalTime>
  <Words>1266</Words>
  <Application>Microsoft Office PowerPoint</Application>
  <PresentationFormat>Widescreen</PresentationFormat>
  <Paragraphs>238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Wingdings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Moha</dc:creator>
  <cp:lastModifiedBy>abdelwahab naji</cp:lastModifiedBy>
  <cp:revision>784</cp:revision>
  <dcterms:created xsi:type="dcterms:W3CDTF">2019-09-13T15:50:46Z</dcterms:created>
  <dcterms:modified xsi:type="dcterms:W3CDTF">2023-11-26T23:22:49Z</dcterms:modified>
</cp:coreProperties>
</file>