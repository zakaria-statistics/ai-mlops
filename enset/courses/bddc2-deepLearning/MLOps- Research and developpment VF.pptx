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18" r:id="rId2"/>
    <p:sldId id="748" r:id="rId3"/>
    <p:sldId id="557" r:id="rId4"/>
    <p:sldId id="827" r:id="rId5"/>
    <p:sldId id="831" r:id="rId6"/>
    <p:sldId id="829" r:id="rId7"/>
    <p:sldId id="833" r:id="rId8"/>
    <p:sldId id="835" r:id="rId9"/>
    <p:sldId id="834" r:id="rId10"/>
    <p:sldId id="836" r:id="rId11"/>
    <p:sldId id="837" r:id="rId12"/>
    <p:sldId id="800" r:id="rId13"/>
    <p:sldId id="804" r:id="rId14"/>
    <p:sldId id="806" r:id="rId15"/>
    <p:sldId id="774" r:id="rId16"/>
    <p:sldId id="805" r:id="rId17"/>
    <p:sldId id="807" r:id="rId18"/>
    <p:sldId id="823" r:id="rId19"/>
    <p:sldId id="808" r:id="rId20"/>
    <p:sldId id="838" r:id="rId21"/>
    <p:sldId id="850" r:id="rId22"/>
    <p:sldId id="839" r:id="rId23"/>
    <p:sldId id="810" r:id="rId24"/>
    <p:sldId id="849" r:id="rId25"/>
    <p:sldId id="840" r:id="rId26"/>
    <p:sldId id="813" r:id="rId27"/>
    <p:sldId id="841" r:id="rId28"/>
    <p:sldId id="814" r:id="rId29"/>
    <p:sldId id="825" r:id="rId30"/>
    <p:sldId id="824" r:id="rId31"/>
    <p:sldId id="826" r:id="rId32"/>
    <p:sldId id="815" r:id="rId33"/>
    <p:sldId id="817" r:id="rId34"/>
    <p:sldId id="842" r:id="rId35"/>
    <p:sldId id="846" r:id="rId36"/>
    <p:sldId id="844" r:id="rId37"/>
    <p:sldId id="847" r:id="rId38"/>
    <p:sldId id="845" r:id="rId39"/>
    <p:sldId id="848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0065FA"/>
    <a:srgbClr val="FF3300"/>
    <a:srgbClr val="FDF3ED"/>
    <a:srgbClr val="28659C"/>
    <a:srgbClr val="0066FF"/>
    <a:srgbClr val="FFFF99"/>
    <a:srgbClr val="FFEFE7"/>
    <a:srgbClr val="FEF6F0"/>
    <a:srgbClr val="9B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7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02/12/2023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AbdelwahabNaji" TargetMode="External"/><Relationship Id="rId2" Type="http://schemas.openxmlformats.org/officeDocument/2006/relationships/hyperlink" Target="mailto:Abdelwahab.naji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ml-ops.org/content/end-to-end-ml-workflow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Illustration-of-the-training-of-the-six-shallow-machine-learning-models-feature_fig3_35814440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house-prices-advanced-regression-techniques/data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0079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2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069565" y="613388"/>
            <a:ext cx="2389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Année universitaire 2023/2024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5A7D36-36E7-8F3B-2DE2-6809CBC22DE0}"/>
              </a:ext>
            </a:extLst>
          </p:cNvPr>
          <p:cNvSpPr txBox="1"/>
          <p:nvPr/>
        </p:nvSpPr>
        <p:spPr>
          <a:xfrm>
            <a:off x="1371600" y="2937894"/>
            <a:ext cx="8904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MLOPS –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Research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Developpment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Environment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F75F6-6B06-12AA-26EA-49E2E9A479A8}"/>
              </a:ext>
            </a:extLst>
          </p:cNvPr>
          <p:cNvSpPr txBox="1"/>
          <p:nvPr/>
        </p:nvSpPr>
        <p:spPr>
          <a:xfrm>
            <a:off x="6299508" y="0"/>
            <a:ext cx="5892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chemeClr val="bg1">
                    <a:lumMod val="50000"/>
                  </a:schemeClr>
                </a:solidFill>
              </a:rPr>
              <a:t>Enset</a:t>
            </a:r>
            <a:r>
              <a:rPr lang="fr-MA" b="1" dirty="0">
                <a:solidFill>
                  <a:schemeClr val="bg1">
                    <a:lumMod val="50000"/>
                  </a:schemeClr>
                </a:solidFill>
              </a:rPr>
              <a:t> DE Mohammedia- Master</a:t>
            </a:r>
          </a:p>
          <a:p>
            <a:pPr algn="ctr"/>
            <a:r>
              <a:rPr lang="fr-MA" b="1" dirty="0">
                <a:solidFill>
                  <a:srgbClr val="FF0000"/>
                </a:solidFill>
              </a:rPr>
              <a:t>II-BDCC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12928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36">
            <a:extLst>
              <a:ext uri="{FF2B5EF4-FFF2-40B4-BE49-F238E27FC236}">
                <a16:creationId xmlns:a16="http://schemas.microsoft.com/office/drawing/2014/main" id="{AED963F4-8D59-4011-63A9-7E5D7B9CC1B1}"/>
              </a:ext>
            </a:extLst>
          </p:cNvPr>
          <p:cNvSpPr txBox="1"/>
          <p:nvPr/>
        </p:nvSpPr>
        <p:spPr>
          <a:xfrm>
            <a:off x="-45720" y="175526"/>
            <a:ext cx="12237720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en-US" sz="2800" b="1" i="0" dirty="0">
                <a:solidFill>
                  <a:srgbClr val="0180FF"/>
                </a:solidFill>
                <a:effectLst/>
                <a:latin typeface="+mj-lt"/>
              </a:rPr>
              <a:t>how to learn machine learning well</a:t>
            </a:r>
            <a:endParaRPr lang="fr-FR" sz="2800" b="1" i="0" dirty="0">
              <a:solidFill>
                <a:srgbClr val="0180FF"/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endParaRPr lang="fr-FR" sz="28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If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can’t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implement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,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then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don’t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understand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it</a:t>
            </a:r>
            <a:endParaRPr lang="fr-FR" sz="28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How to practice</a:t>
            </a:r>
          </a:p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Recall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: </a:t>
            </a: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this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is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a hands-on course</a:t>
            </a:r>
          </a:p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Get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your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hands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dirty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1202A-4FD5-7F20-7A16-E28A72860AB1}"/>
              </a:ext>
            </a:extLst>
          </p:cNvPr>
          <p:cNvSpPr/>
          <p:nvPr/>
        </p:nvSpPr>
        <p:spPr>
          <a:xfrm>
            <a:off x="702092" y="3976594"/>
            <a:ext cx="20116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Concepts</a:t>
            </a:r>
            <a:endParaRPr lang="fr-M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0131D8-0D37-5299-B353-42D42AF52717}"/>
              </a:ext>
            </a:extLst>
          </p:cNvPr>
          <p:cNvSpPr/>
          <p:nvPr/>
        </p:nvSpPr>
        <p:spPr>
          <a:xfrm>
            <a:off x="4665565" y="3986579"/>
            <a:ext cx="20116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Code</a:t>
            </a:r>
            <a:endParaRPr lang="fr-MA" dirty="0"/>
          </a:p>
        </p:txBody>
      </p:sp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EF228739-DB1B-3EEF-3660-A5AD38F05649}"/>
              </a:ext>
            </a:extLst>
          </p:cNvPr>
          <p:cNvSpPr/>
          <p:nvPr/>
        </p:nvSpPr>
        <p:spPr>
          <a:xfrm>
            <a:off x="2850932" y="4113754"/>
            <a:ext cx="1447800" cy="7772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4F4B0-D2D7-F96D-B6F5-B111BF647750}"/>
              </a:ext>
            </a:extLst>
          </p:cNvPr>
          <p:cNvSpPr txBox="1"/>
          <p:nvPr/>
        </p:nvSpPr>
        <p:spPr>
          <a:xfrm>
            <a:off x="31532" y="5346408"/>
            <a:ext cx="9049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400" b="1" i="0" dirty="0" err="1">
                <a:solidFill>
                  <a:srgbClr val="FF3300"/>
                </a:solidFill>
                <a:effectLst/>
                <a:latin typeface="+mj-lt"/>
              </a:rPr>
              <a:t>Remember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: a real job /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project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involves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actually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writing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code</a:t>
            </a:r>
            <a:endParaRPr lang="fr-FR" sz="2400" b="1" i="0" dirty="0">
              <a:solidFill>
                <a:srgbClr val="FF33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054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3">
            <a:extLst>
              <a:ext uri="{FF2B5EF4-FFF2-40B4-BE49-F238E27FC236}">
                <a16:creationId xmlns:a16="http://schemas.microsoft.com/office/drawing/2014/main" id="{0F141BF6-CE28-417B-85E9-6D17E155ED9A}"/>
              </a:ext>
            </a:extLst>
          </p:cNvPr>
          <p:cNvCxnSpPr/>
          <p:nvPr/>
        </p:nvCxnSpPr>
        <p:spPr>
          <a:xfrm>
            <a:off x="3837226" y="708926"/>
            <a:ext cx="8316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43F62F-14CB-4D3F-A108-963BF50127BC}"/>
              </a:ext>
            </a:extLst>
          </p:cNvPr>
          <p:cNvSpPr txBox="1"/>
          <p:nvPr/>
        </p:nvSpPr>
        <p:spPr>
          <a:xfrm>
            <a:off x="3837223" y="26518"/>
            <a:ext cx="835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b="1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MLOPS- </a:t>
            </a:r>
            <a:r>
              <a:rPr lang="fr-MA" sz="2800" b="1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Research</a:t>
            </a:r>
            <a:r>
              <a:rPr lang="fr-MA" sz="2800" b="1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and </a:t>
            </a:r>
            <a:r>
              <a:rPr lang="fr-MA" sz="2800" b="1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Developpment</a:t>
            </a:r>
            <a:r>
              <a:rPr lang="fr-MA" sz="2800" b="1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fr-MA" sz="2800" b="1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Outlines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4" name="ZoneTexte 36">
            <a:extLst>
              <a:ext uri="{FF2B5EF4-FFF2-40B4-BE49-F238E27FC236}">
                <a16:creationId xmlns:a16="http://schemas.microsoft.com/office/drawing/2014/main" id="{D9AA0647-917C-4E29-9301-1802027861E8}"/>
              </a:ext>
            </a:extLst>
          </p:cNvPr>
          <p:cNvSpPr txBox="1"/>
          <p:nvPr/>
        </p:nvSpPr>
        <p:spPr>
          <a:xfrm>
            <a:off x="3837226" y="708926"/>
            <a:ext cx="8354774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Data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Analysis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pipline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Engineering pipeline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Feature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Selection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pipeline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Model Training pipeline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Scoring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pipeline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954BC-F423-4695-B0AF-166DC309DBE6}"/>
              </a:ext>
            </a:extLst>
          </p:cNvPr>
          <p:cNvSpPr/>
          <p:nvPr/>
        </p:nvSpPr>
        <p:spPr>
          <a:xfrm>
            <a:off x="0" y="0"/>
            <a:ext cx="3837226" cy="6857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626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F7A8-811A-8549-BE43-68D7DA54B003}"/>
              </a:ext>
            </a:extLst>
          </p:cNvPr>
          <p:cNvSpPr txBox="1"/>
          <p:nvPr/>
        </p:nvSpPr>
        <p:spPr>
          <a:xfrm>
            <a:off x="0" y="65233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MA" sz="1600" b="1" dirty="0">
                <a:solidFill>
                  <a:srgbClr val="FF3300"/>
                </a:solidFill>
                <a:latin typeface="+mj-lt"/>
              </a:rPr>
              <a:t>1. </a:t>
            </a:r>
            <a:r>
              <a:rPr lang="fr-MA" sz="1600" dirty="0">
                <a:latin typeface="+mj-lt"/>
              </a:rPr>
              <a:t>Data set</a:t>
            </a:r>
          </a:p>
        </p:txBody>
      </p:sp>
    </p:spTree>
    <p:extLst>
      <p:ext uri="{BB962C8B-B14F-4D97-AF65-F5344CB8AC3E}">
        <p14:creationId xmlns:p14="http://schemas.microsoft.com/office/powerpoint/2010/main" val="61946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F7A8-811A-8549-BE43-68D7DA54B003}"/>
              </a:ext>
            </a:extLst>
          </p:cNvPr>
          <p:cNvSpPr txBox="1"/>
          <p:nvPr/>
        </p:nvSpPr>
        <p:spPr>
          <a:xfrm>
            <a:off x="0" y="652338"/>
            <a:ext cx="12176226" cy="3580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2.  </a:t>
            </a:r>
            <a:r>
              <a:rPr lang="fr-MA" b="1" dirty="0">
                <a:latin typeface="+mj-lt"/>
              </a:rPr>
              <a:t>Data </a:t>
            </a:r>
            <a:r>
              <a:rPr lang="fr-MA" b="1" dirty="0" err="1">
                <a:latin typeface="+mj-lt"/>
              </a:rPr>
              <a:t>Preprocessing</a:t>
            </a:r>
            <a:r>
              <a:rPr lang="fr-MA" b="1" dirty="0">
                <a:latin typeface="+mj-lt"/>
              </a:rPr>
              <a:t>:</a:t>
            </a:r>
            <a:r>
              <a:rPr lang="fr-MA" dirty="0">
                <a:latin typeface="+mj-lt"/>
              </a:rPr>
              <a:t> 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handling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missing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values,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dealing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with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outliers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,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standardizing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or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normalizing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features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,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encoding categorical variables, and other data transformations to ensure that the data is suitable for modeling.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70C0"/>
                </a:solidFill>
                <a:effectLst/>
                <a:latin typeface="+mj-lt"/>
              </a:rPr>
              <a:t>Allows to an algorithm ML  the ability of interpreting easily the data's features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3. </a:t>
            </a:r>
            <a:r>
              <a:rPr lang="fr-MA" b="1" i="0" dirty="0">
                <a:solidFill>
                  <a:srgbClr val="374151"/>
                </a:solidFill>
                <a:effectLst/>
                <a:latin typeface="+mj-lt"/>
              </a:rPr>
              <a:t>Exploration and Data </a:t>
            </a:r>
            <a:r>
              <a:rPr lang="fr-MA" b="1" i="0" dirty="0" err="1">
                <a:solidFill>
                  <a:srgbClr val="374151"/>
                </a:solidFill>
                <a:effectLst/>
                <a:latin typeface="+mj-lt"/>
              </a:rPr>
              <a:t>Analysis</a:t>
            </a:r>
            <a:r>
              <a:rPr lang="fr-MA" b="1" i="0" dirty="0">
                <a:solidFill>
                  <a:srgbClr val="374151"/>
                </a:solidFill>
                <a:effectLst/>
                <a:latin typeface="+mj-lt"/>
              </a:rPr>
              <a:t> (EDA)</a:t>
            </a:r>
            <a:r>
              <a:rPr lang="fr-MA" b="1" dirty="0">
                <a:latin typeface="+mj-lt"/>
              </a:rPr>
              <a:t>:</a:t>
            </a:r>
            <a:r>
              <a:rPr lang="fr-MA" dirty="0">
                <a:latin typeface="+mj-lt"/>
              </a:rPr>
              <a:t>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examining and analyzing the dataset to gain insights and a better understanding of its characteristics.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Visualizing data, calculating statistics, identifying patterns, and exploring relationships within the dataset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70C0"/>
                </a:solidFill>
                <a:effectLst/>
                <a:latin typeface="+mj-lt"/>
              </a:rPr>
              <a:t>Inform feature selection, model choice, and data preprocessing decisions</a:t>
            </a: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4. </a:t>
            </a:r>
            <a:r>
              <a:rPr lang="fr-MA" b="1" i="0" dirty="0" err="1">
                <a:solidFill>
                  <a:srgbClr val="374151"/>
                </a:solidFill>
                <a:effectLst/>
                <a:latin typeface="+mj-lt"/>
              </a:rPr>
              <a:t>Feature</a:t>
            </a:r>
            <a:r>
              <a:rPr lang="fr-MA" b="1" i="0" dirty="0">
                <a:solidFill>
                  <a:srgbClr val="374151"/>
                </a:solidFill>
                <a:effectLst/>
                <a:latin typeface="+mj-lt"/>
              </a:rPr>
              <a:t> Engineering</a:t>
            </a:r>
            <a:r>
              <a:rPr lang="en-US" dirty="0">
                <a:solidFill>
                  <a:srgbClr val="374151"/>
                </a:solidFill>
                <a:latin typeface="+mj-lt"/>
              </a:rPr>
              <a:t>: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creating, selecting, or transforming input features (characteristics) to improve a model's performance.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Designing relevant and informative input data for machine learning algorithms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70C0"/>
                </a:solidFill>
                <a:effectLst/>
                <a:latin typeface="+mj-lt"/>
              </a:rPr>
              <a:t>And then possibly have a model more accurate and precise in predictions</a:t>
            </a:r>
          </a:p>
        </p:txBody>
      </p:sp>
    </p:spTree>
    <p:extLst>
      <p:ext uri="{BB962C8B-B14F-4D97-AF65-F5344CB8AC3E}">
        <p14:creationId xmlns:p14="http://schemas.microsoft.com/office/powerpoint/2010/main" val="176909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F7A8-811A-8549-BE43-68D7DA54B003}"/>
              </a:ext>
            </a:extLst>
          </p:cNvPr>
          <p:cNvSpPr txBox="1"/>
          <p:nvPr/>
        </p:nvSpPr>
        <p:spPr>
          <a:xfrm>
            <a:off x="0" y="652338"/>
            <a:ext cx="12192000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5. </a:t>
            </a:r>
            <a:r>
              <a:rPr lang="en-US" b="1" dirty="0">
                <a:solidFill>
                  <a:srgbClr val="374151"/>
                </a:solidFill>
                <a:latin typeface="+mj-lt"/>
              </a:rPr>
              <a:t>Model Selection:</a:t>
            </a:r>
            <a:r>
              <a:rPr lang="en-US" dirty="0">
                <a:solidFill>
                  <a:srgbClr val="374151"/>
                </a:solidFill>
                <a:latin typeface="+mj-lt"/>
              </a:rPr>
              <a:t> this step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involves choosing the appropriate machine learning algorithm or model architecture based on the nature of the task and dataset.</a:t>
            </a:r>
          </a:p>
          <a:p>
            <a:pPr marL="742950" lvl="1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This step is critical for achieving optimal model performance and accuracy.</a:t>
            </a:r>
          </a:p>
          <a:p>
            <a:pPr>
              <a:spcAft>
                <a:spcPts val="10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6. </a:t>
            </a: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Model Training: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involves using a selected algorithm to fit the model to the training data, adjusting its parameters to minimize a specified loss function.</a:t>
            </a:r>
          </a:p>
          <a:p>
            <a:pPr marL="742950" lvl="1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This process allows the model to learn patterns and relationships in the data and become capable of making predictions</a:t>
            </a:r>
          </a:p>
          <a:p>
            <a:pPr>
              <a:spcAft>
                <a:spcPts val="10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7. </a:t>
            </a: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Model Evaluation: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assesses the performance of a trained model using independent test or validation data</a:t>
            </a:r>
          </a:p>
          <a:p>
            <a:pPr marL="742950" lvl="1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This step helps determine how well the model generalizes to unseen data</a:t>
            </a:r>
          </a:p>
          <a:p>
            <a:pPr marL="742950" lvl="1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For Classification Task: Measuring its accuracy, precision, recall, F1 score, or other relevant metrics .</a:t>
            </a:r>
          </a:p>
          <a:p>
            <a:pPr marL="742950" lvl="1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For Regression Task: Measuring its MSE, RMSE, or other relevant metrics.</a:t>
            </a:r>
            <a:endParaRPr lang="en-US" dirty="0">
              <a:solidFill>
                <a:srgbClr val="374151"/>
              </a:solidFill>
              <a:latin typeface="+mj-lt"/>
            </a:endParaRPr>
          </a:p>
          <a:p>
            <a:pPr marL="0" lvl="1">
              <a:spcAft>
                <a:spcPts val="10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8. </a:t>
            </a:r>
            <a:r>
              <a:rPr lang="en-US" sz="1800" b="1" dirty="0">
                <a:solidFill>
                  <a:srgbClr val="374151"/>
                </a:solidFill>
                <a:latin typeface="+mj-lt"/>
              </a:rPr>
              <a:t>Model Optimization:</a:t>
            </a:r>
            <a:r>
              <a:rPr lang="en-US" sz="1800" dirty="0">
                <a:solidFill>
                  <a:srgbClr val="374151"/>
                </a:solidFill>
                <a:latin typeface="+mj-lt"/>
              </a:rPr>
              <a:t> involves fine-tuning the model's hyperparameters, architecture, and training process to improve its performance, typically based on evaluation results.</a:t>
            </a:r>
          </a:p>
          <a:p>
            <a:pPr marL="742950" lvl="2" indent="-285750">
              <a:spcAft>
                <a:spcPts val="10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74151"/>
                </a:solidFill>
                <a:latin typeface="+mj-lt"/>
              </a:rPr>
              <a:t>This iterative process aims to enhance the model's predictive power and generalization capabilities for better results on unseen data.</a:t>
            </a:r>
            <a:endParaRPr lang="en-US" b="0" i="0" dirty="0">
              <a:solidFill>
                <a:srgbClr val="37415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968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F7A8-811A-8549-BE43-68D7DA54B003}"/>
              </a:ext>
            </a:extLst>
          </p:cNvPr>
          <p:cNvSpPr txBox="1"/>
          <p:nvPr/>
        </p:nvSpPr>
        <p:spPr>
          <a:xfrm>
            <a:off x="0" y="715402"/>
            <a:ext cx="12192000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MA" b="1" dirty="0">
                <a:solidFill>
                  <a:srgbClr val="FF3300"/>
                </a:solidFill>
                <a:latin typeface="+mj-lt"/>
              </a:rPr>
              <a:t>9. </a:t>
            </a: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Model Deployment: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involves integrating the trained model into a production environment or system, making it available for real-time predictions or decisions.</a:t>
            </a:r>
          </a:p>
          <a:p>
            <a:pPr marL="742950" lvl="1" indent="-28575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This step ensures that the model can be used to address the intended problem in practical applications</a:t>
            </a:r>
          </a:p>
          <a:p>
            <a:pPr marL="742950" lvl="1" indent="-28575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Involves creating APIs or software interfaces for its seamless integration.</a:t>
            </a:r>
            <a:endParaRPr lang="fr-MA" dirty="0">
              <a:latin typeface="+mj-lt"/>
            </a:endParaRPr>
          </a:p>
        </p:txBody>
      </p:sp>
      <p:pic>
        <p:nvPicPr>
          <p:cNvPr id="8194" name="Picture 2" descr="Descriptive diagram of deployment of a machine learning model in a web application.">
            <a:extLst>
              <a:ext uri="{FF2B5EF4-FFF2-40B4-BE49-F238E27FC236}">
                <a16:creationId xmlns:a16="http://schemas.microsoft.com/office/drawing/2014/main" id="{1EC0BCCB-38EB-2057-43C6-23684CE6C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42" y="2362967"/>
            <a:ext cx="5459467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29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254CD5-F99A-7168-3017-65107B08800E}"/>
              </a:ext>
            </a:extLst>
          </p:cNvPr>
          <p:cNvSpPr txBox="1"/>
          <p:nvPr/>
        </p:nvSpPr>
        <p:spPr>
          <a:xfrm>
            <a:off x="114298" y="6270557"/>
            <a:ext cx="1201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>
                <a:hlinkClick r:id="rId2"/>
              </a:rPr>
              <a:t>https://ml-ops.org/content/end-to-end-ml-workflow</a:t>
            </a:r>
            <a:endParaRPr lang="fr-MA" sz="1600" dirty="0"/>
          </a:p>
          <a:p>
            <a:endParaRPr lang="fr-MA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A1760-F248-A542-56FC-68439787F3DE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 workflow</a:t>
            </a:r>
            <a:endParaRPr lang="fr-MA" sz="3600" dirty="0">
              <a:solidFill>
                <a:srgbClr val="0180FF"/>
              </a:solidFill>
            </a:endParaRPr>
          </a:p>
        </p:txBody>
      </p:sp>
      <p:pic>
        <p:nvPicPr>
          <p:cNvPr id="6146" name="Picture 2" descr="Machine Learning Engineering">
            <a:extLst>
              <a:ext uri="{FF2B5EF4-FFF2-40B4-BE49-F238E27FC236}">
                <a16:creationId xmlns:a16="http://schemas.microsoft.com/office/drawing/2014/main" id="{A91E3329-D2D5-309D-133C-DFFDDD7DE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79" y="646388"/>
            <a:ext cx="7402461" cy="554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328765-92BA-7865-A0E4-2E626E51B88C}"/>
              </a:ext>
            </a:extLst>
          </p:cNvPr>
          <p:cNvSpPr txBox="1"/>
          <p:nvPr/>
        </p:nvSpPr>
        <p:spPr>
          <a:xfrm>
            <a:off x="8466083" y="2317534"/>
            <a:ext cx="21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159327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CF712-335D-AF19-6824-51AC8E8D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3" y="1009500"/>
            <a:ext cx="7914288" cy="51962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254CD5-F99A-7168-3017-65107B08800E}"/>
              </a:ext>
            </a:extLst>
          </p:cNvPr>
          <p:cNvSpPr txBox="1"/>
          <p:nvPr/>
        </p:nvSpPr>
        <p:spPr>
          <a:xfrm>
            <a:off x="114298" y="6270557"/>
            <a:ext cx="1201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>
                <a:hlinkClick r:id="rId3"/>
              </a:rPr>
              <a:t>https://www.researchgate.net/figure/Illustration-of-the-training-of-the-six-shallow-machine-learning-models-feature_fig3_358144402</a:t>
            </a:r>
            <a:endParaRPr lang="fr-MA" sz="1600" dirty="0"/>
          </a:p>
          <a:p>
            <a:endParaRPr lang="fr-MA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A1760-F248-A542-56FC-68439787F3DE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Machine Learning Project end to end workflow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62C7B-20AC-9CD0-E310-33E442623216}"/>
              </a:ext>
            </a:extLst>
          </p:cNvPr>
          <p:cNvSpPr txBox="1"/>
          <p:nvPr/>
        </p:nvSpPr>
        <p:spPr>
          <a:xfrm>
            <a:off x="8466083" y="2317534"/>
            <a:ext cx="21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481459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27666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Application</a:t>
            </a:r>
          </a:p>
          <a:p>
            <a:pPr algn="ctr"/>
            <a:r>
              <a:rPr lang="fr-MA" sz="3600" dirty="0" err="1">
                <a:solidFill>
                  <a:srgbClr val="0180FF"/>
                </a:solidFill>
              </a:rPr>
              <a:t>Prediction</a:t>
            </a:r>
            <a:r>
              <a:rPr lang="fr-MA" sz="3600" dirty="0">
                <a:solidFill>
                  <a:srgbClr val="0180FF"/>
                </a:solidFill>
              </a:rPr>
              <a:t> Sale Price of </a:t>
            </a:r>
            <a:r>
              <a:rPr lang="fr-MA" sz="3600" dirty="0" err="1">
                <a:solidFill>
                  <a:srgbClr val="0180FF"/>
                </a:solidFill>
              </a:rPr>
              <a:t>Houses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02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58406-6976-9096-80D6-20A5CD4C6530}"/>
              </a:ext>
            </a:extLst>
          </p:cNvPr>
          <p:cNvSpPr/>
          <p:nvPr/>
        </p:nvSpPr>
        <p:spPr>
          <a:xfrm>
            <a:off x="173421" y="1789386"/>
            <a:ext cx="4414345" cy="2017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800" b="1" dirty="0" err="1"/>
              <a:t>Research</a:t>
            </a:r>
            <a:r>
              <a:rPr lang="fr-MA" sz="2800" b="1" dirty="0"/>
              <a:t> and </a:t>
            </a:r>
            <a:r>
              <a:rPr lang="fr-MA" sz="2800" b="1" dirty="0" err="1"/>
              <a:t>Development</a:t>
            </a:r>
            <a:r>
              <a:rPr lang="fr-MA" sz="2800" b="1" dirty="0"/>
              <a:t> </a:t>
            </a:r>
            <a:r>
              <a:rPr lang="fr-MA" sz="2800" b="1" dirty="0" err="1"/>
              <a:t>Environment</a:t>
            </a:r>
            <a:endParaRPr lang="fr-MA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8C105A-F2A7-5085-F2FB-7C4BD86F8B89}"/>
              </a:ext>
            </a:extLst>
          </p:cNvPr>
          <p:cNvSpPr/>
          <p:nvPr/>
        </p:nvSpPr>
        <p:spPr>
          <a:xfrm>
            <a:off x="6726621" y="1789386"/>
            <a:ext cx="4414345" cy="2017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2800" b="1" dirty="0"/>
              <a:t>Production</a:t>
            </a:r>
            <a:br>
              <a:rPr lang="fr-MA" sz="2800" b="1" dirty="0"/>
            </a:br>
            <a:r>
              <a:rPr lang="fr-MA" sz="2800" b="1" dirty="0"/>
              <a:t> </a:t>
            </a:r>
            <a:r>
              <a:rPr lang="fr-MA" sz="2800" b="1" dirty="0" err="1"/>
              <a:t>Environment</a:t>
            </a:r>
            <a:endParaRPr lang="fr-MA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9559D-5286-A4E1-CE2A-5D2666B43C44}"/>
              </a:ext>
            </a:extLst>
          </p:cNvPr>
          <p:cNvSpPr txBox="1"/>
          <p:nvPr/>
        </p:nvSpPr>
        <p:spPr>
          <a:xfrm>
            <a:off x="173421" y="3979714"/>
            <a:ext cx="44143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Represents a dedicated space and infrastructure where researchers and data scientists can experiment, innovate, and explore new techniques and approaches to advance the project's goals.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Use notebook to </a:t>
            </a:r>
            <a:endParaRPr lang="fr-M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641C8-5477-3969-6D06-A41E7F9AA501}"/>
              </a:ext>
            </a:extLst>
          </p:cNvPr>
          <p:cNvSpPr txBox="1"/>
          <p:nvPr/>
        </p:nvSpPr>
        <p:spPr>
          <a:xfrm>
            <a:off x="6726621" y="3807372"/>
            <a:ext cx="47033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Represents the operational and real-world deployment phase where the trained machine learning model is integrated into a system or application to provide predictions.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Librairies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Configurations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py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files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…</a:t>
            </a:r>
            <a:endParaRPr lang="fr-M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B9ACC-6DAC-1CDB-6FB6-47A37D31A521}"/>
              </a:ext>
            </a:extLst>
          </p:cNvPr>
          <p:cNvSpPr txBox="1"/>
          <p:nvPr/>
        </p:nvSpPr>
        <p:spPr>
          <a:xfrm>
            <a:off x="0" y="31525"/>
            <a:ext cx="1219199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/>
              <a:t>how to carry out the project?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0180FF"/>
                </a:solidFill>
              </a:rPr>
              <a:t>work on two different environments</a:t>
            </a:r>
            <a:endParaRPr lang="fr-MA" sz="20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21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3E7FA-972C-9D3D-5641-A7FA75AEBEE8}"/>
              </a:ext>
            </a:extLst>
          </p:cNvPr>
          <p:cNvSpPr/>
          <p:nvPr/>
        </p:nvSpPr>
        <p:spPr>
          <a:xfrm>
            <a:off x="121920" y="502920"/>
            <a:ext cx="333756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Import dependencies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68367-0382-D4B7-4CD3-83E8DE604FBA}"/>
              </a:ext>
            </a:extLst>
          </p:cNvPr>
          <p:cNvSpPr/>
          <p:nvPr/>
        </p:nvSpPr>
        <p:spPr>
          <a:xfrm>
            <a:off x="121920" y="1170741"/>
            <a:ext cx="333756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Local training data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D3DE9-E766-8DDC-D62E-D164D27BC8A6}"/>
              </a:ext>
            </a:extLst>
          </p:cNvPr>
          <p:cNvSpPr/>
          <p:nvPr/>
        </p:nvSpPr>
        <p:spPr>
          <a:xfrm>
            <a:off x="121920" y="3458286"/>
            <a:ext cx="333756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Data preprocessing Pipeline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8E5FE-A2DA-CA42-C80A-7E879F3B2133}"/>
              </a:ext>
            </a:extLst>
          </p:cNvPr>
          <p:cNvSpPr/>
          <p:nvPr/>
        </p:nvSpPr>
        <p:spPr>
          <a:xfrm>
            <a:off x="121920" y="4171827"/>
            <a:ext cx="333756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Train model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884A4-6C5E-D5DB-04B8-A43FFEAAFD1E}"/>
              </a:ext>
            </a:extLst>
          </p:cNvPr>
          <p:cNvSpPr/>
          <p:nvPr/>
        </p:nvSpPr>
        <p:spPr>
          <a:xfrm>
            <a:off x="121920" y="4885368"/>
            <a:ext cx="333756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Evaluate the model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48B47-6A03-4364-E705-397B8DF32B9C}"/>
              </a:ext>
            </a:extLst>
          </p:cNvPr>
          <p:cNvSpPr/>
          <p:nvPr/>
        </p:nvSpPr>
        <p:spPr>
          <a:xfrm>
            <a:off x="121920" y="5537949"/>
            <a:ext cx="333756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Persist the model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0F7380-0F1A-C7A4-8DCD-B4949E02048C}"/>
              </a:ext>
            </a:extLst>
          </p:cNvPr>
          <p:cNvSpPr/>
          <p:nvPr/>
        </p:nvSpPr>
        <p:spPr>
          <a:xfrm>
            <a:off x="121920" y="6208509"/>
            <a:ext cx="333756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Score new data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3722D-53B2-7A4D-9BFD-BDDA8CA955E8}"/>
              </a:ext>
            </a:extLst>
          </p:cNvPr>
          <p:cNvSpPr/>
          <p:nvPr/>
        </p:nvSpPr>
        <p:spPr>
          <a:xfrm>
            <a:off x="121920" y="1869393"/>
            <a:ext cx="333756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Prep train/ test data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7A5C9-8A9E-4B86-7F58-68EA97F1CD4F}"/>
              </a:ext>
            </a:extLst>
          </p:cNvPr>
          <p:cNvSpPr/>
          <p:nvPr/>
        </p:nvSpPr>
        <p:spPr>
          <a:xfrm>
            <a:off x="121920" y="2642349"/>
            <a:ext cx="333756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MA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Config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7C48D-12F6-C945-5175-B7D98DEDF7C9}"/>
              </a:ext>
            </a:extLst>
          </p:cNvPr>
          <p:cNvSpPr txBox="1"/>
          <p:nvPr/>
        </p:nvSpPr>
        <p:spPr>
          <a:xfrm>
            <a:off x="-33188" y="89062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b="1" dirty="0"/>
              <a:t>Observe the structure of the notebook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AF046-5B54-D02A-4EC1-AA6AA158196D}"/>
              </a:ext>
            </a:extLst>
          </p:cNvPr>
          <p:cNvSpPr txBox="1"/>
          <p:nvPr/>
        </p:nvSpPr>
        <p:spPr>
          <a:xfrm>
            <a:off x="3459480" y="356585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180FF"/>
                </a:solidFill>
              </a:rPr>
              <a:t>https://scikit-learn.org/stable/modules/preprocessing.html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40855-E093-79C5-6CCE-FE1E2E6E51F0}"/>
              </a:ext>
            </a:extLst>
          </p:cNvPr>
          <p:cNvSpPr txBox="1"/>
          <p:nvPr/>
        </p:nvSpPr>
        <p:spPr>
          <a:xfrm>
            <a:off x="4527755" y="752168"/>
            <a:ext cx="573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180FF"/>
                </a:solidFill>
              </a:rPr>
              <a:t>Research</a:t>
            </a:r>
            <a:r>
              <a:rPr lang="fr-MA" b="1" dirty="0">
                <a:solidFill>
                  <a:srgbClr val="0180FF"/>
                </a:solidFill>
              </a:rPr>
              <a:t> </a:t>
            </a:r>
            <a:r>
              <a:rPr lang="fr-MA" b="1" dirty="0" err="1">
                <a:solidFill>
                  <a:srgbClr val="0180FF"/>
                </a:solidFill>
              </a:rPr>
              <a:t>Environment</a:t>
            </a:r>
            <a:r>
              <a:rPr lang="fr-MA" b="1" dirty="0">
                <a:solidFill>
                  <a:srgbClr val="0180FF"/>
                </a:solidFill>
              </a:rPr>
              <a:t>/ </a:t>
            </a:r>
            <a:r>
              <a:rPr lang="fr-MA" b="1" dirty="0" err="1">
                <a:solidFill>
                  <a:srgbClr val="0180FF"/>
                </a:solidFill>
              </a:rPr>
              <a:t>Jupyter</a:t>
            </a:r>
            <a:r>
              <a:rPr lang="fr-MA" b="1" dirty="0">
                <a:solidFill>
                  <a:srgbClr val="0180FF"/>
                </a:solidFill>
              </a:rPr>
              <a:t> notebook code</a:t>
            </a:r>
          </a:p>
        </p:txBody>
      </p:sp>
    </p:spTree>
    <p:extLst>
      <p:ext uri="{BB962C8B-B14F-4D97-AF65-F5344CB8AC3E}">
        <p14:creationId xmlns:p14="http://schemas.microsoft.com/office/powerpoint/2010/main" val="3175915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Data set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F7A8-811A-8549-BE43-68D7DA54B003}"/>
              </a:ext>
            </a:extLst>
          </p:cNvPr>
          <p:cNvSpPr txBox="1"/>
          <p:nvPr/>
        </p:nvSpPr>
        <p:spPr>
          <a:xfrm>
            <a:off x="0" y="967657"/>
            <a:ext cx="12192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Objective: </a:t>
            </a:r>
            <a:r>
              <a:rPr lang="fr-MA" dirty="0" err="1"/>
              <a:t>predict</a:t>
            </a:r>
            <a:r>
              <a:rPr lang="fr-MA" dirty="0"/>
              <a:t> </a:t>
            </a:r>
            <a:r>
              <a:rPr lang="fr-MA" dirty="0" err="1"/>
              <a:t>SalePrice</a:t>
            </a:r>
            <a:r>
              <a:rPr lang="fr-MA" dirty="0"/>
              <a:t> of </a:t>
            </a:r>
            <a:r>
              <a:rPr lang="fr-MA" dirty="0" err="1"/>
              <a:t>houses</a:t>
            </a:r>
            <a:endParaRPr lang="fr-MA" dirty="0"/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house-</a:t>
            </a:r>
            <a:r>
              <a:rPr lang="fr-MA" dirty="0" err="1"/>
              <a:t>prices</a:t>
            </a:r>
            <a:r>
              <a:rPr lang="fr-MA" dirty="0"/>
              <a:t> </a:t>
            </a:r>
            <a:r>
              <a:rPr lang="fr-MA" dirty="0" err="1"/>
              <a:t>dataset</a:t>
            </a:r>
            <a:endParaRPr lang="fr-FR" b="1" dirty="0"/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b="1" dirty="0"/>
              <a:t>Download the data set </a:t>
            </a:r>
            <a:r>
              <a:rPr lang="fr-FR" b="1" dirty="0" err="1"/>
              <a:t>from</a:t>
            </a:r>
            <a:r>
              <a:rPr lang="fr-FR" b="1" dirty="0"/>
              <a:t> </a:t>
            </a:r>
            <a:r>
              <a:rPr lang="fr-FR" b="1" dirty="0" err="1"/>
              <a:t>kaggle</a:t>
            </a:r>
            <a:r>
              <a:rPr lang="fr-FR" b="1" dirty="0"/>
              <a:t>: </a:t>
            </a:r>
            <a:r>
              <a:rPr lang="fr-MA" dirty="0">
                <a:hlinkClick r:id="rId2"/>
              </a:rPr>
              <a:t>https://www.kaggle.com/c/house-prices-advanced-regression-techniques/data</a:t>
            </a:r>
            <a:endParaRPr lang="fr-FR" dirty="0"/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Download the train.csv &amp; test.csv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Explore </a:t>
            </a:r>
            <a:r>
              <a:rPr lang="fr-MA" dirty="0" err="1"/>
              <a:t>rows</a:t>
            </a:r>
            <a:r>
              <a:rPr lang="fr-MA" dirty="0"/>
              <a:t> and </a:t>
            </a:r>
            <a:r>
              <a:rPr lang="fr-MA" dirty="0" err="1"/>
              <a:t>columns</a:t>
            </a:r>
            <a:endParaRPr lang="fr-MA" dirty="0"/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Shape: (1460, 81)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79 </a:t>
            </a:r>
            <a:r>
              <a:rPr lang="fr-MA" dirty="0" err="1"/>
              <a:t>predictive</a:t>
            </a:r>
            <a:r>
              <a:rPr lang="fr-MA" dirty="0"/>
              <a:t> variables and 1 </a:t>
            </a:r>
            <a:r>
              <a:rPr lang="fr-MA" dirty="0" err="1"/>
              <a:t>target</a:t>
            </a:r>
            <a:r>
              <a:rPr lang="fr-MA" dirty="0"/>
              <a:t> variable</a:t>
            </a:r>
          </a:p>
        </p:txBody>
      </p:sp>
    </p:spTree>
    <p:extLst>
      <p:ext uri="{BB962C8B-B14F-4D97-AF65-F5344CB8AC3E}">
        <p14:creationId xmlns:p14="http://schemas.microsoft.com/office/powerpoint/2010/main" val="3437694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Data set- </a:t>
            </a:r>
            <a:r>
              <a:rPr lang="fr-FR" sz="3600" dirty="0" err="1">
                <a:solidFill>
                  <a:srgbClr val="0180FF"/>
                </a:solidFill>
              </a:rPr>
              <a:t>columns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BCC6F-3AE9-27BB-7B87-4F9EBC908BE1}"/>
              </a:ext>
            </a:extLst>
          </p:cNvPr>
          <p:cNvSpPr txBox="1"/>
          <p:nvPr/>
        </p:nvSpPr>
        <p:spPr>
          <a:xfrm>
            <a:off x="9256939" y="1067093"/>
            <a:ext cx="1568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1. </a:t>
            </a:r>
            <a:r>
              <a:rPr lang="fr-MA" b="1" dirty="0" err="1">
                <a:solidFill>
                  <a:srgbClr val="0065FA"/>
                </a:solidFill>
              </a:rPr>
              <a:t>SalePrice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D32CE-18A3-00E9-78EF-49B88F549423}"/>
              </a:ext>
            </a:extLst>
          </p:cNvPr>
          <p:cNvSpPr/>
          <p:nvPr/>
        </p:nvSpPr>
        <p:spPr>
          <a:xfrm>
            <a:off x="211434" y="568389"/>
            <a:ext cx="8426380" cy="425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 err="1"/>
              <a:t>Predictible</a:t>
            </a:r>
            <a:r>
              <a:rPr lang="fr-MA" dirty="0"/>
              <a:t>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81F82-E111-26DA-08AE-77B5E264EF18}"/>
              </a:ext>
            </a:extLst>
          </p:cNvPr>
          <p:cNvSpPr/>
          <p:nvPr/>
        </p:nvSpPr>
        <p:spPr>
          <a:xfrm>
            <a:off x="9014231" y="584335"/>
            <a:ext cx="1813402" cy="425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Target variable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85148-8FB4-4AF2-CAE3-2C7A9E6BD03B}"/>
              </a:ext>
            </a:extLst>
          </p:cNvPr>
          <p:cNvSpPr/>
          <p:nvPr/>
        </p:nvSpPr>
        <p:spPr>
          <a:xfrm>
            <a:off x="211434" y="994153"/>
            <a:ext cx="8426380" cy="58574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64880-6066-8519-CA8E-979DFB4CE33D}"/>
              </a:ext>
            </a:extLst>
          </p:cNvPr>
          <p:cNvSpPr txBox="1"/>
          <p:nvPr/>
        </p:nvSpPr>
        <p:spPr>
          <a:xfrm>
            <a:off x="227763" y="961495"/>
            <a:ext cx="221701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strike="sngStrike" dirty="0">
                <a:solidFill>
                  <a:srgbClr val="FF0000"/>
                </a:solidFill>
              </a:rPr>
              <a:t>id</a:t>
            </a:r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MSSubClass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MSZoning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LotFrontage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LotArea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/>
              <a:t>Street</a:t>
            </a:r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Alley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LotShape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LandContour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/>
              <a:t>Utilities</a:t>
            </a:r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LotConfig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LandSlope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Neighborhood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/>
              <a:t>Condition1</a:t>
            </a:r>
          </a:p>
          <a:p>
            <a:pPr marL="342900" indent="-342900">
              <a:buFont typeface="+mj-lt"/>
              <a:buAutoNum type="arabicPeriod"/>
            </a:pPr>
            <a:r>
              <a:rPr lang="fr-MA" dirty="0"/>
              <a:t>Condition2</a:t>
            </a:r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BldgType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HouseStyle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OverallQual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OverallCond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YearBuilt</a:t>
            </a:r>
            <a:endParaRPr lang="fr-MA" dirty="0"/>
          </a:p>
          <a:p>
            <a:pPr marL="342900" indent="-342900">
              <a:buFont typeface="+mj-lt"/>
              <a:buAutoNum type="arabicPeriod"/>
            </a:pPr>
            <a:r>
              <a:rPr lang="fr-MA" dirty="0" err="1"/>
              <a:t>YearRemodAdd</a:t>
            </a:r>
            <a:endParaRPr lang="fr-M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E3CBB-B34F-2D01-ABDC-0DB1939F2EB4}"/>
              </a:ext>
            </a:extLst>
          </p:cNvPr>
          <p:cNvSpPr txBox="1"/>
          <p:nvPr/>
        </p:nvSpPr>
        <p:spPr>
          <a:xfrm>
            <a:off x="2439122" y="1130942"/>
            <a:ext cx="22443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RoofStyle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RoofMatl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Exterior1st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Exterior2nd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MasVnrType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MasVnrArea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ExterQual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ExterCond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Foundation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BsmtQual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BsmtCond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BsmtExposure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BsmtFinType1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BsmtFinSF1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BsmtFinType2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/>
              <a:t>BsmtFinSF2</a:t>
            </a:r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BsmtUnfSF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TotalBsmtSF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Heating</a:t>
            </a:r>
            <a:endParaRPr lang="fr-MA" dirty="0"/>
          </a:p>
          <a:p>
            <a:pPr marL="342900" indent="-342900">
              <a:buFont typeface="+mj-lt"/>
              <a:buAutoNum type="arabicPeriod" startAt="21"/>
            </a:pPr>
            <a:r>
              <a:rPr lang="fr-MA" dirty="0" err="1"/>
              <a:t>HeatingQC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3ED3E-D3EC-0CC6-312E-76545BC12A70}"/>
              </a:ext>
            </a:extLst>
          </p:cNvPr>
          <p:cNvSpPr txBox="1"/>
          <p:nvPr/>
        </p:nvSpPr>
        <p:spPr>
          <a:xfrm>
            <a:off x="4504423" y="1114617"/>
            <a:ext cx="221701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CentralAir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Electrical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/>
              <a:t>1stFlrSF</a:t>
            </a:r>
          </a:p>
          <a:p>
            <a:pPr marL="342900" indent="-342900">
              <a:buFont typeface="+mj-lt"/>
              <a:buAutoNum type="arabicPeriod" startAt="41"/>
            </a:pPr>
            <a:r>
              <a:rPr lang="fr-MA" dirty="0"/>
              <a:t>2ndFlrSF</a:t>
            </a:r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LowQualFinSF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GrLivArea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BsmtFullBath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BsmtHalfBath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FullBath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HalfBath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BedroomAbvGr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KitchenAbvGr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KitchenQual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TotRmsAbvGrd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Functional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Fireplaces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FireplaceQu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GarageType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GarageYrBlt</a:t>
            </a:r>
            <a:endParaRPr lang="fr-MA" dirty="0"/>
          </a:p>
          <a:p>
            <a:pPr marL="342900" indent="-342900">
              <a:buFont typeface="+mj-lt"/>
              <a:buAutoNum type="arabicPeriod" startAt="41"/>
            </a:pPr>
            <a:r>
              <a:rPr lang="fr-MA" dirty="0" err="1"/>
              <a:t>GarageFinish</a:t>
            </a:r>
            <a:endParaRPr lang="fr-M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7E164-E6D7-5EBC-550B-14BC0DC93B75}"/>
              </a:ext>
            </a:extLst>
          </p:cNvPr>
          <p:cNvSpPr txBox="1"/>
          <p:nvPr/>
        </p:nvSpPr>
        <p:spPr>
          <a:xfrm>
            <a:off x="6645715" y="1147271"/>
            <a:ext cx="228532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GarageCars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GarageArea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GarageQual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GarageCond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PavedDrive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WoodDeckSF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OpenPorchSF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EnclosedPorch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/>
              <a:t>3SsnPorch</a:t>
            </a:r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ScreenPorch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PoolArea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PoolQC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Fence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MiscFeature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MiscVal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MoSold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YrSold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SaleType</a:t>
            </a:r>
            <a:endParaRPr lang="fr-MA" dirty="0"/>
          </a:p>
          <a:p>
            <a:pPr marL="342900" indent="-342900">
              <a:buFont typeface="+mj-lt"/>
              <a:buAutoNum type="arabicPeriod" startAt="61"/>
            </a:pPr>
            <a:r>
              <a:rPr lang="fr-MA" dirty="0" err="1"/>
              <a:t>SaleCondition</a:t>
            </a:r>
            <a:endParaRPr lang="fr-M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14B17E-3E0D-619B-8D05-292291E0B99D}"/>
              </a:ext>
            </a:extLst>
          </p:cNvPr>
          <p:cNvSpPr/>
          <p:nvPr/>
        </p:nvSpPr>
        <p:spPr>
          <a:xfrm>
            <a:off x="9012440" y="1028212"/>
            <a:ext cx="1813402" cy="425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2207A8-B446-5CC4-4FE8-030E3D8BF7D4}"/>
              </a:ext>
            </a:extLst>
          </p:cNvPr>
          <p:cNvSpPr txBox="1"/>
          <p:nvPr/>
        </p:nvSpPr>
        <p:spPr>
          <a:xfrm>
            <a:off x="8867980" y="4146331"/>
            <a:ext cx="3260956" cy="12311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/>
              <a:t>44 </a:t>
            </a: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/>
              <a:t>35 </a:t>
            </a:r>
            <a:r>
              <a:rPr lang="fr-MA" dirty="0" err="1"/>
              <a:t>numerical</a:t>
            </a:r>
            <a:r>
              <a:rPr lang="fr-MA" dirty="0"/>
              <a:t> variables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/>
              <a:t>Target </a:t>
            </a:r>
            <a:r>
              <a:rPr lang="fr-MA" dirty="0" err="1"/>
              <a:t>is</a:t>
            </a:r>
            <a:r>
              <a:rPr lang="fr-MA" dirty="0"/>
              <a:t> </a:t>
            </a:r>
            <a:r>
              <a:rPr lang="fr-MA" dirty="0" err="1"/>
              <a:t>numeric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87713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8442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Part 1</a:t>
            </a:r>
          </a:p>
          <a:p>
            <a:pPr algn="ctr"/>
            <a:r>
              <a:rPr lang="fr-FR" sz="3600" dirty="0">
                <a:solidFill>
                  <a:srgbClr val="0180FF"/>
                </a:solidFill>
              </a:rPr>
              <a:t>Data </a:t>
            </a:r>
            <a:r>
              <a:rPr lang="fr-FR" sz="3600" dirty="0" err="1">
                <a:solidFill>
                  <a:srgbClr val="0180FF"/>
                </a:solidFill>
              </a:rPr>
              <a:t>Analysis</a:t>
            </a:r>
            <a:r>
              <a:rPr lang="fr-FR" sz="3600" dirty="0">
                <a:solidFill>
                  <a:srgbClr val="0180FF"/>
                </a:solidFill>
              </a:rPr>
              <a:t> pipeline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481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571138"/>
            <a:ext cx="1218937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/>
              <a:t>In </a:t>
            </a:r>
            <a:r>
              <a:rPr lang="fr-MA" sz="2000" b="1" dirty="0" err="1"/>
              <a:t>this</a:t>
            </a:r>
            <a:r>
              <a:rPr lang="fr-MA" sz="2000" b="1" dirty="0"/>
              <a:t> part, </a:t>
            </a:r>
            <a:r>
              <a:rPr lang="fr-MA" sz="2000" b="1" dirty="0" err="1"/>
              <a:t>we</a:t>
            </a:r>
            <a:r>
              <a:rPr lang="fr-MA" sz="2000" b="1" dirty="0"/>
              <a:t> </a:t>
            </a:r>
            <a:r>
              <a:rPr lang="fr-MA" sz="2000" b="1" dirty="0" err="1"/>
              <a:t>will</a:t>
            </a:r>
            <a:r>
              <a:rPr lang="fr-MA" sz="2000" b="1" dirty="0"/>
              <a:t> analyse the </a:t>
            </a:r>
            <a:r>
              <a:rPr lang="fr-MA" sz="2000" b="1" dirty="0" err="1"/>
              <a:t>following</a:t>
            </a:r>
            <a:r>
              <a:rPr lang="fr-MA" sz="2000" b="1" dirty="0"/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/>
              <a:t>The </a:t>
            </a:r>
            <a:r>
              <a:rPr lang="fr-MA" dirty="0" err="1"/>
              <a:t>target</a:t>
            </a:r>
            <a:r>
              <a:rPr lang="fr-MA" dirty="0"/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/>
              <a:t>Variable types (</a:t>
            </a:r>
            <a:r>
              <a:rPr lang="fr-MA" dirty="0" err="1"/>
              <a:t>categorical</a:t>
            </a:r>
            <a:r>
              <a:rPr lang="fr-MA" dirty="0"/>
              <a:t> and </a:t>
            </a:r>
            <a:r>
              <a:rPr lang="fr-MA" dirty="0" err="1"/>
              <a:t>numerical</a:t>
            </a:r>
            <a:r>
              <a:rPr lang="fr-MA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Missing</a:t>
            </a:r>
            <a:r>
              <a:rPr lang="fr-MA" dirty="0"/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Numerical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Discrete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Continuous</a:t>
            </a:r>
            <a:endParaRPr lang="fr-MA" dirty="0"/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Distributions</a:t>
            </a: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Cardinality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Special</a:t>
            </a:r>
            <a:r>
              <a:rPr lang="fr-MA" dirty="0"/>
              <a:t> </a:t>
            </a:r>
            <a:r>
              <a:rPr lang="fr-MA" dirty="0" err="1"/>
              <a:t>mappings</a:t>
            </a:r>
            <a:endParaRPr lang="fr-M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A3275-D568-26E4-AAA0-3CE6423679D4}"/>
              </a:ext>
            </a:extLst>
          </p:cNvPr>
          <p:cNvSpPr txBox="1"/>
          <p:nvPr/>
        </p:nvSpPr>
        <p:spPr>
          <a:xfrm>
            <a:off x="19708" y="28165"/>
            <a:ext cx="612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180FF"/>
                </a:solidFill>
              </a:rPr>
              <a:t>Data </a:t>
            </a:r>
            <a:r>
              <a:rPr lang="fr-FR" sz="2400" b="1" dirty="0" err="1">
                <a:solidFill>
                  <a:srgbClr val="0180FF"/>
                </a:solidFill>
              </a:rPr>
              <a:t>Analysis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867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523843"/>
            <a:ext cx="1218937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The </a:t>
            </a:r>
            <a:r>
              <a:rPr lang="fr-MA" b="1" dirty="0" err="1">
                <a:solidFill>
                  <a:srgbClr val="0065FA"/>
                </a:solidFill>
              </a:rPr>
              <a:t>target</a:t>
            </a:r>
            <a:r>
              <a:rPr lang="fr-MA" b="1" dirty="0">
                <a:solidFill>
                  <a:srgbClr val="0065FA"/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/>
              <a:t>Variable types (</a:t>
            </a:r>
            <a:r>
              <a:rPr lang="fr-MA" dirty="0" err="1"/>
              <a:t>categorical</a:t>
            </a:r>
            <a:r>
              <a:rPr lang="fr-MA" dirty="0"/>
              <a:t> and </a:t>
            </a:r>
            <a:r>
              <a:rPr lang="fr-MA" dirty="0" err="1"/>
              <a:t>numerical</a:t>
            </a:r>
            <a:r>
              <a:rPr lang="fr-MA" dirty="0"/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Missing</a:t>
            </a:r>
            <a:r>
              <a:rPr lang="fr-MA" dirty="0"/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Numerical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Discrete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Continuous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Distributions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Cardinality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Special</a:t>
            </a:r>
            <a:r>
              <a:rPr lang="fr-MA" dirty="0"/>
              <a:t> </a:t>
            </a:r>
            <a:r>
              <a:rPr lang="fr-MA" dirty="0" err="1"/>
              <a:t>mappings</a:t>
            </a:r>
            <a:endParaRPr lang="fr-MA" dirty="0"/>
          </a:p>
          <a:p>
            <a:pPr marL="342900" indent="-342900">
              <a:spcAft>
                <a:spcPts val="600"/>
              </a:spcAft>
              <a:buAutoNum type="arabicPeriod"/>
            </a:pPr>
            <a:endParaRPr lang="fr-MA" dirty="0"/>
          </a:p>
          <a:p>
            <a:pPr>
              <a:spcAft>
                <a:spcPts val="600"/>
              </a:spcAft>
            </a:pPr>
            <a:endParaRPr lang="fr-M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6DE20-7493-FE5E-AC38-3A0123418D77}"/>
              </a:ext>
            </a:extLst>
          </p:cNvPr>
          <p:cNvSpPr txBox="1"/>
          <p:nvPr/>
        </p:nvSpPr>
        <p:spPr>
          <a:xfrm>
            <a:off x="19708" y="28165"/>
            <a:ext cx="6124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180FF"/>
                </a:solidFill>
              </a:rPr>
              <a:t>Data </a:t>
            </a:r>
            <a:r>
              <a:rPr lang="fr-FR" sz="2000" b="1" dirty="0" err="1">
                <a:solidFill>
                  <a:srgbClr val="0180FF"/>
                </a:solidFill>
              </a:rPr>
              <a:t>Analysis</a:t>
            </a:r>
            <a:r>
              <a:rPr lang="fr-FR" sz="2000" b="1" dirty="0">
                <a:solidFill>
                  <a:srgbClr val="0180FF"/>
                </a:solidFill>
              </a:rPr>
              <a:t> pipeline</a:t>
            </a:r>
            <a:endParaRPr lang="fr-MA" sz="20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61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571145"/>
            <a:ext cx="1218937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What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we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need</a:t>
            </a:r>
            <a:r>
              <a:rPr lang="fr-MA" dirty="0">
                <a:latin typeface="+mj-lt"/>
              </a:rPr>
              <a:t> to </a:t>
            </a:r>
            <a:r>
              <a:rPr lang="fr-MA" dirty="0" err="1">
                <a:latin typeface="+mj-lt"/>
              </a:rPr>
              <a:t>knwo</a:t>
            </a:r>
            <a:r>
              <a:rPr lang="fr-MA" dirty="0">
                <a:latin typeface="+mj-lt"/>
              </a:rPr>
              <a:t>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The type of the </a:t>
            </a:r>
            <a:r>
              <a:rPr lang="fr-MA" dirty="0" err="1">
                <a:latin typeface="+mj-lt"/>
              </a:rPr>
              <a:t>target</a:t>
            </a:r>
            <a:r>
              <a:rPr lang="fr-MA" dirty="0">
                <a:latin typeface="+mj-lt"/>
              </a:rPr>
              <a:t> variable (</a:t>
            </a:r>
            <a:r>
              <a:rPr lang="fr-MA" dirty="0" err="1">
                <a:latin typeface="+mj-lt"/>
              </a:rPr>
              <a:t>regression</a:t>
            </a:r>
            <a:r>
              <a:rPr lang="fr-MA" dirty="0">
                <a:latin typeface="+mj-lt"/>
              </a:rPr>
              <a:t> or classification)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0000"/>
                </a:solidFill>
                <a:latin typeface="+mj-lt"/>
              </a:rPr>
              <a:t>Continus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target</a:t>
            </a:r>
            <a:endParaRPr lang="fr-MA" dirty="0">
              <a:solidFill>
                <a:srgbClr val="000000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0000"/>
                </a:solidFill>
                <a:latin typeface="+mj-lt"/>
              </a:rPr>
              <a:t>Distribution</a:t>
            </a: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0000"/>
                </a:solidFill>
                <a:latin typeface="+mj-lt"/>
              </a:rPr>
              <a:t>Improve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 the spread of the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target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 by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appliying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mathematical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 techniques:  log transformation, power transformation,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normalization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,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centering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, custom transformation,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scale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 change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0000"/>
                </a:solidFill>
                <a:latin typeface="+mj-lt"/>
              </a:rPr>
              <a:t>Discrete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:  log transformation, power transformation,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normalization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, </a:t>
            </a:r>
            <a:r>
              <a:rPr lang="fr-MA" dirty="0" err="1">
                <a:solidFill>
                  <a:srgbClr val="000000"/>
                </a:solidFill>
                <a:latin typeface="+mj-lt"/>
              </a:rPr>
              <a:t>centering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, custom transformation, 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ordinal </a:t>
            </a:r>
            <a:r>
              <a:rPr lang="fr-MA" dirty="0" err="1">
                <a:solidFill>
                  <a:srgbClr val="0070C0"/>
                </a:solidFill>
                <a:latin typeface="+mj-lt"/>
              </a:rPr>
              <a:t>Encoding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MA" dirty="0" err="1">
                <a:solidFill>
                  <a:srgbClr val="0070C0"/>
                </a:solidFill>
                <a:latin typeface="+mj-lt"/>
              </a:rPr>
              <a:t>One-Hot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0070C0"/>
                </a:solidFill>
                <a:latin typeface="+mj-lt"/>
              </a:rPr>
              <a:t>encoding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,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0000"/>
                </a:solidFill>
                <a:latin typeface="+mj-lt"/>
              </a:rPr>
              <a:t>Categorial</a:t>
            </a:r>
            <a:r>
              <a:rPr lang="fr-MA" dirty="0">
                <a:solidFill>
                  <a:srgbClr val="000000"/>
                </a:solidFill>
                <a:latin typeface="+mj-lt"/>
              </a:rPr>
              <a:t>: </a:t>
            </a:r>
            <a:r>
              <a:rPr lang="fr-MA" dirty="0" err="1">
                <a:solidFill>
                  <a:srgbClr val="0070C0"/>
                </a:solidFill>
                <a:latin typeface="+mj-lt"/>
              </a:rPr>
              <a:t>One-Hot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0070C0"/>
                </a:solidFill>
                <a:latin typeface="+mj-lt"/>
              </a:rPr>
              <a:t>encoding</a:t>
            </a:r>
            <a:r>
              <a:rPr lang="fr-MA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MA" b="1" i="0" dirty="0">
                <a:effectLst/>
                <a:latin typeface="+mj-lt"/>
              </a:rPr>
              <a:t>Label </a:t>
            </a:r>
            <a:r>
              <a:rPr lang="fr-MA" b="1" i="0" dirty="0" err="1">
                <a:effectLst/>
                <a:latin typeface="+mj-lt"/>
              </a:rPr>
              <a:t>Encoding</a:t>
            </a:r>
            <a:r>
              <a:rPr lang="fr-MA" b="1" i="0" dirty="0">
                <a:effectLst/>
                <a:latin typeface="+mj-lt"/>
              </a:rPr>
              <a:t> (in case of </a:t>
            </a:r>
            <a:r>
              <a:rPr lang="fr-MA" b="1" i="0" dirty="0" err="1">
                <a:effectLst/>
                <a:latin typeface="+mj-lt"/>
              </a:rPr>
              <a:t>ordered</a:t>
            </a:r>
            <a:r>
              <a:rPr lang="fr-MA" b="1" i="0" dirty="0">
                <a:effectLst/>
                <a:latin typeface="+mj-lt"/>
              </a:rPr>
              <a:t> values), Frequency </a:t>
            </a:r>
            <a:r>
              <a:rPr lang="fr-MA" b="1" i="0" dirty="0" err="1">
                <a:effectLst/>
                <a:latin typeface="+mj-lt"/>
              </a:rPr>
              <a:t>Encoding</a:t>
            </a:r>
            <a:r>
              <a:rPr lang="fr-MA" b="1" i="0" dirty="0">
                <a:effectLst/>
                <a:latin typeface="+mj-lt"/>
              </a:rPr>
              <a:t>, </a:t>
            </a:r>
            <a:r>
              <a:rPr lang="fr-MA" b="1" i="0" dirty="0" err="1">
                <a:effectLst/>
                <a:latin typeface="+mj-lt"/>
              </a:rPr>
              <a:t>Embedding</a:t>
            </a:r>
            <a:endParaRPr lang="fr-MA" b="1" dirty="0">
              <a:latin typeface="+mj-lt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0000"/>
                </a:solidFill>
                <a:latin typeface="+mj-lt"/>
              </a:rPr>
              <a:t>Embedding</a:t>
            </a:r>
            <a:r>
              <a:rPr lang="fr-MA" b="1" dirty="0">
                <a:solidFill>
                  <a:srgbClr val="000000"/>
                </a:solidFill>
                <a:latin typeface="+mj-lt"/>
              </a:rPr>
              <a:t>: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represents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fr-MA" b="0" i="0" dirty="0" err="1">
                <a:solidFill>
                  <a:srgbClr val="374151"/>
                </a:solidFill>
                <a:effectLst/>
                <a:latin typeface="+mj-lt"/>
              </a:rPr>
              <a:t>categorical</a:t>
            </a:r>
            <a:r>
              <a:rPr lang="fr-MA" b="0" i="0" dirty="0">
                <a:solidFill>
                  <a:srgbClr val="374151"/>
                </a:solidFill>
                <a:effectLst/>
                <a:latin typeface="+mj-lt"/>
              </a:rPr>
              <a:t> data as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continuous vectors, enabling models to capture relationships and similarities between categories</a:t>
            </a:r>
            <a:endParaRPr lang="fr-MA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0000"/>
                </a:solidFill>
                <a:latin typeface="+mj-lt"/>
              </a:rPr>
              <a:t>binary</a:t>
            </a: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94B61-C687-683E-C9CD-4918B917B4FD}"/>
              </a:ext>
            </a:extLst>
          </p:cNvPr>
          <p:cNvSpPr txBox="1"/>
          <p:nvPr/>
        </p:nvSpPr>
        <p:spPr>
          <a:xfrm>
            <a:off x="15764" y="75687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5FA"/>
                </a:solidFill>
              </a:rPr>
              <a:t>1. Target variable </a:t>
            </a:r>
            <a:r>
              <a:rPr lang="fr-MA" b="1" dirty="0" err="1">
                <a:solidFill>
                  <a:srgbClr val="0065FA"/>
                </a:solidFill>
              </a:rPr>
              <a:t>analysis</a:t>
            </a:r>
            <a:endParaRPr lang="fr-MA" b="1" dirty="0">
              <a:solidFill>
                <a:srgbClr val="0065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47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602673"/>
            <a:ext cx="1218937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>
                <a:solidFill>
                  <a:srgbClr val="0065FA"/>
                </a:solidFill>
              </a:rPr>
              <a:t>The </a:t>
            </a:r>
            <a:r>
              <a:rPr lang="fr-MA" dirty="0" err="1">
                <a:solidFill>
                  <a:srgbClr val="0065FA"/>
                </a:solidFill>
              </a:rPr>
              <a:t>target</a:t>
            </a:r>
            <a:r>
              <a:rPr lang="fr-MA" dirty="0">
                <a:solidFill>
                  <a:srgbClr val="0065FA"/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Variable types (</a:t>
            </a:r>
            <a:r>
              <a:rPr lang="fr-MA" b="1" dirty="0" err="1">
                <a:solidFill>
                  <a:srgbClr val="0065FA"/>
                </a:solidFill>
              </a:rPr>
              <a:t>categorical</a:t>
            </a:r>
            <a:r>
              <a:rPr lang="fr-MA" b="1" dirty="0">
                <a:solidFill>
                  <a:srgbClr val="0065FA"/>
                </a:solidFill>
              </a:rPr>
              <a:t> and </a:t>
            </a: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Missing</a:t>
            </a:r>
            <a:r>
              <a:rPr lang="fr-MA" dirty="0"/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Numerical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Discrete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Continuous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Distributions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Cardinality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Special</a:t>
            </a:r>
            <a:r>
              <a:rPr lang="fr-MA" dirty="0"/>
              <a:t> </a:t>
            </a:r>
            <a:r>
              <a:rPr lang="fr-MA" dirty="0" err="1"/>
              <a:t>mappings</a:t>
            </a:r>
            <a:endParaRPr lang="fr-MA" dirty="0"/>
          </a:p>
          <a:p>
            <a:pPr marL="342900" indent="-342900">
              <a:spcAft>
                <a:spcPts val="600"/>
              </a:spcAft>
              <a:buAutoNum type="arabicPeriod"/>
            </a:pPr>
            <a:endParaRPr lang="fr-MA" dirty="0"/>
          </a:p>
          <a:p>
            <a:pPr>
              <a:spcAft>
                <a:spcPts val="600"/>
              </a:spcAft>
            </a:pPr>
            <a:endParaRPr lang="fr-M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267C4D-4B5E-1D1D-BC43-8DB0ACF0EA11}"/>
              </a:ext>
            </a:extLst>
          </p:cNvPr>
          <p:cNvSpPr txBox="1"/>
          <p:nvPr/>
        </p:nvSpPr>
        <p:spPr>
          <a:xfrm>
            <a:off x="19708" y="28165"/>
            <a:ext cx="6124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180FF"/>
                </a:solidFill>
              </a:rPr>
              <a:t>Data </a:t>
            </a:r>
            <a:r>
              <a:rPr lang="fr-FR" sz="2000" b="1" dirty="0" err="1">
                <a:solidFill>
                  <a:srgbClr val="0180FF"/>
                </a:solidFill>
              </a:rPr>
              <a:t>Analysis</a:t>
            </a:r>
            <a:r>
              <a:rPr lang="fr-FR" sz="2000" b="1" dirty="0">
                <a:solidFill>
                  <a:srgbClr val="0180FF"/>
                </a:solidFill>
              </a:rPr>
              <a:t> pipeline</a:t>
            </a:r>
            <a:endParaRPr lang="fr-MA" sz="20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627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571145"/>
            <a:ext cx="121893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What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we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need</a:t>
            </a:r>
            <a:r>
              <a:rPr lang="fr-MA" dirty="0">
                <a:latin typeface="+mj-lt"/>
              </a:rPr>
              <a:t> to </a:t>
            </a:r>
            <a:r>
              <a:rPr lang="fr-MA" dirty="0" err="1">
                <a:latin typeface="+mj-lt"/>
              </a:rPr>
              <a:t>knwo</a:t>
            </a:r>
            <a:r>
              <a:rPr lang="fr-MA" dirty="0">
                <a:latin typeface="+mj-lt"/>
              </a:rPr>
              <a:t>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identify categorical variables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identify numerical variables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94B61-C687-683E-C9CD-4918B917B4FD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2. Variables types</a:t>
            </a:r>
          </a:p>
        </p:txBody>
      </p:sp>
    </p:spTree>
    <p:extLst>
      <p:ext uri="{BB962C8B-B14F-4D97-AF65-F5344CB8AC3E}">
        <p14:creationId xmlns:p14="http://schemas.microsoft.com/office/powerpoint/2010/main" val="1500455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59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602673"/>
            <a:ext cx="1218937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The </a:t>
            </a:r>
            <a:r>
              <a:rPr lang="fr-MA" b="1" dirty="0" err="1">
                <a:solidFill>
                  <a:srgbClr val="0065FA"/>
                </a:solidFill>
              </a:rPr>
              <a:t>target</a:t>
            </a:r>
            <a:r>
              <a:rPr lang="fr-MA" b="1" dirty="0">
                <a:solidFill>
                  <a:srgbClr val="0065FA"/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Variable types (</a:t>
            </a:r>
            <a:r>
              <a:rPr lang="fr-MA" b="1" dirty="0" err="1">
                <a:solidFill>
                  <a:srgbClr val="0065FA"/>
                </a:solidFill>
              </a:rPr>
              <a:t>categorical</a:t>
            </a:r>
            <a:r>
              <a:rPr lang="fr-MA" b="1" dirty="0">
                <a:solidFill>
                  <a:srgbClr val="0065FA"/>
                </a:solidFill>
              </a:rPr>
              <a:t> and </a:t>
            </a: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Missing</a:t>
            </a:r>
            <a:r>
              <a:rPr lang="fr-MA" b="1" dirty="0">
                <a:solidFill>
                  <a:srgbClr val="0065FA"/>
                </a:solidFill>
              </a:rPr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Numerical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Discrete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Continuous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Distributions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Cardinality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Special</a:t>
            </a:r>
            <a:r>
              <a:rPr lang="fr-MA" dirty="0"/>
              <a:t> </a:t>
            </a:r>
            <a:r>
              <a:rPr lang="fr-MA" dirty="0" err="1"/>
              <a:t>mappings</a:t>
            </a:r>
            <a:endParaRPr lang="fr-MA" dirty="0"/>
          </a:p>
          <a:p>
            <a:pPr marL="342900" indent="-342900">
              <a:spcAft>
                <a:spcPts val="600"/>
              </a:spcAft>
              <a:buAutoNum type="arabicPeriod"/>
            </a:pPr>
            <a:endParaRPr lang="fr-MA" dirty="0"/>
          </a:p>
          <a:p>
            <a:pPr>
              <a:spcAft>
                <a:spcPts val="600"/>
              </a:spcAft>
            </a:pPr>
            <a:endParaRPr lang="fr-M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267C4D-4B5E-1D1D-BC43-8DB0ACF0EA11}"/>
              </a:ext>
            </a:extLst>
          </p:cNvPr>
          <p:cNvSpPr txBox="1"/>
          <p:nvPr/>
        </p:nvSpPr>
        <p:spPr>
          <a:xfrm>
            <a:off x="19707" y="43931"/>
            <a:ext cx="6727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180FF"/>
                </a:solidFill>
              </a:rPr>
              <a:t>Data </a:t>
            </a:r>
            <a:r>
              <a:rPr lang="fr-FR" sz="2400" b="1" dirty="0" err="1">
                <a:solidFill>
                  <a:srgbClr val="0180FF"/>
                </a:solidFill>
              </a:rPr>
              <a:t>Analysis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62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028343"/>
            <a:ext cx="1218937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What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we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need</a:t>
            </a:r>
            <a:r>
              <a:rPr lang="fr-MA" dirty="0">
                <a:latin typeface="+mj-lt"/>
              </a:rPr>
              <a:t> to do: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How </a:t>
            </a:r>
            <a:r>
              <a:rPr lang="fr-MA" dirty="0" err="1">
                <a:latin typeface="+mj-lt"/>
              </a:rPr>
              <a:t>many</a:t>
            </a:r>
            <a:r>
              <a:rPr lang="fr-MA" dirty="0">
                <a:latin typeface="+mj-lt"/>
              </a:rPr>
              <a:t> variables has Nan values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Which</a:t>
            </a:r>
            <a:r>
              <a:rPr lang="fr-MA" dirty="0">
                <a:latin typeface="+mj-lt"/>
              </a:rPr>
              <a:t> variables have Nan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Which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categorical</a:t>
            </a:r>
            <a:r>
              <a:rPr lang="fr-MA" dirty="0">
                <a:latin typeface="+mj-lt"/>
              </a:rPr>
              <a:t> variables have Nan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Which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numericla</a:t>
            </a:r>
            <a:r>
              <a:rPr lang="fr-MA" dirty="0">
                <a:latin typeface="+mj-lt"/>
              </a:rPr>
              <a:t> variables have Nan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what is the percentage of null values for each variable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What is the relationship between missing data and Sale Price</a:t>
            </a: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how depends the output to variables with missing values are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What Numerical Variables we have in the dataset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Which information can we have form temporal variables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variables are discrete and how can they influence the price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variables are continuous and verify their distribution, and which</a:t>
            </a:r>
            <a:br>
              <a:rPr lang="en-US" dirty="0">
                <a:solidFill>
                  <a:srgbClr val="000000"/>
                </a:solidFill>
                <a:latin typeface="+mj-lt"/>
              </a:rPr>
            </a:br>
            <a:r>
              <a:rPr lang="en-US" dirty="0">
                <a:solidFill>
                  <a:srgbClr val="000000"/>
                </a:solidFill>
                <a:latin typeface="+mj-lt"/>
              </a:rPr>
              <a:t> transformation can be made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4E21C-4E26-EB33-814C-7088900F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1" y="3488144"/>
            <a:ext cx="3596694" cy="27798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4721A-66A8-0F1E-B649-6A75286F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1" y="551480"/>
            <a:ext cx="3596693" cy="2652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42E253-1637-4777-C28E-75F18CD9698C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3. </a:t>
            </a:r>
            <a:r>
              <a:rPr lang="fr-MA" sz="2000" b="1" dirty="0" err="1">
                <a:solidFill>
                  <a:srgbClr val="0065FA"/>
                </a:solidFill>
              </a:rPr>
              <a:t>Missing</a:t>
            </a:r>
            <a:r>
              <a:rPr lang="fr-MA" sz="2000" b="1" dirty="0">
                <a:solidFill>
                  <a:srgbClr val="0065FA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898008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14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602673"/>
            <a:ext cx="1218937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The </a:t>
            </a:r>
            <a:r>
              <a:rPr lang="fr-MA" b="1" dirty="0" err="1">
                <a:solidFill>
                  <a:srgbClr val="0065FA"/>
                </a:solidFill>
              </a:rPr>
              <a:t>target</a:t>
            </a:r>
            <a:r>
              <a:rPr lang="fr-MA" b="1" dirty="0">
                <a:solidFill>
                  <a:srgbClr val="0065FA"/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Variable types (</a:t>
            </a:r>
            <a:r>
              <a:rPr lang="fr-MA" b="1" dirty="0" err="1">
                <a:solidFill>
                  <a:srgbClr val="0065FA"/>
                </a:solidFill>
              </a:rPr>
              <a:t>categorical</a:t>
            </a:r>
            <a:r>
              <a:rPr lang="fr-MA" b="1" dirty="0">
                <a:solidFill>
                  <a:srgbClr val="0065FA"/>
                </a:solidFill>
              </a:rPr>
              <a:t> and </a:t>
            </a: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Missing</a:t>
            </a:r>
            <a:r>
              <a:rPr lang="fr-MA" b="1" dirty="0">
                <a:solidFill>
                  <a:srgbClr val="0065FA"/>
                </a:solidFill>
              </a:rPr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Discrete</a:t>
            </a:r>
            <a:endParaRPr lang="fr-MA" b="1" dirty="0">
              <a:solidFill>
                <a:srgbClr val="0065FA"/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Continuous</a:t>
            </a:r>
            <a:endParaRPr lang="fr-MA" b="1" dirty="0">
              <a:solidFill>
                <a:srgbClr val="0065FA"/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Distributions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/>
              <a:t>Categorical</a:t>
            </a:r>
            <a:r>
              <a:rPr lang="fr-MA" dirty="0"/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Cardinality</a:t>
            </a:r>
            <a:endParaRPr lang="fr-MA" dirty="0"/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/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/>
              <a:t>Special</a:t>
            </a:r>
            <a:r>
              <a:rPr lang="fr-MA" dirty="0"/>
              <a:t> </a:t>
            </a:r>
            <a:r>
              <a:rPr lang="fr-MA" dirty="0" err="1"/>
              <a:t>mappings</a:t>
            </a:r>
            <a:endParaRPr lang="fr-MA" dirty="0"/>
          </a:p>
          <a:p>
            <a:pPr marL="342900" indent="-342900">
              <a:spcAft>
                <a:spcPts val="600"/>
              </a:spcAft>
              <a:buAutoNum type="arabicPeriod"/>
            </a:pPr>
            <a:endParaRPr lang="fr-MA" dirty="0"/>
          </a:p>
          <a:p>
            <a:pPr>
              <a:spcAft>
                <a:spcPts val="600"/>
              </a:spcAft>
            </a:pPr>
            <a:endParaRPr lang="fr-M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267C4D-4B5E-1D1D-BC43-8DB0ACF0EA11}"/>
              </a:ext>
            </a:extLst>
          </p:cNvPr>
          <p:cNvSpPr txBox="1"/>
          <p:nvPr/>
        </p:nvSpPr>
        <p:spPr>
          <a:xfrm>
            <a:off x="19707" y="43931"/>
            <a:ext cx="6727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180FF"/>
                </a:solidFill>
              </a:rPr>
              <a:t>Data </a:t>
            </a:r>
            <a:r>
              <a:rPr lang="fr-FR" sz="2400" b="1" dirty="0" err="1">
                <a:solidFill>
                  <a:srgbClr val="0180FF"/>
                </a:solidFill>
              </a:rPr>
              <a:t>Analysis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569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028343"/>
            <a:ext cx="12189372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What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we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need</a:t>
            </a:r>
            <a:r>
              <a:rPr lang="fr-MA" dirty="0">
                <a:latin typeface="+mj-lt"/>
              </a:rPr>
              <a:t> to do: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Which Numerical Variables we have in the dataset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variables are temporal and how can they influence the price and w</a:t>
            </a: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hich information can we have form them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variables are discrete and how can they influence the price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variables are continuous and verify their distribution, and which transformation can be made for each continuous variable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skewed variables and see how predictive they are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EE0C7B-54DD-02B3-4055-6B1DCFC1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35" y="3140922"/>
            <a:ext cx="5197963" cy="32580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CB1494-19FD-9FAB-93D6-6DB32A7C7614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4. </a:t>
            </a:r>
            <a:r>
              <a:rPr lang="fr-MA" sz="2000" b="1" dirty="0" err="1">
                <a:solidFill>
                  <a:srgbClr val="0065FA"/>
                </a:solidFill>
              </a:rPr>
              <a:t>Numerical</a:t>
            </a:r>
            <a:r>
              <a:rPr lang="fr-MA" sz="2000" b="1" dirty="0">
                <a:solidFill>
                  <a:srgbClr val="0065FA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970574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602673"/>
            <a:ext cx="1218937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The </a:t>
            </a:r>
            <a:r>
              <a:rPr lang="fr-MA" b="1" dirty="0" err="1">
                <a:solidFill>
                  <a:srgbClr val="0065FA"/>
                </a:solidFill>
              </a:rPr>
              <a:t>target</a:t>
            </a:r>
            <a:r>
              <a:rPr lang="fr-MA" b="1" dirty="0">
                <a:solidFill>
                  <a:srgbClr val="0065FA"/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>
                <a:solidFill>
                  <a:srgbClr val="0065FA"/>
                </a:solidFill>
              </a:rPr>
              <a:t>Variable types (</a:t>
            </a:r>
            <a:r>
              <a:rPr lang="fr-MA" b="1" dirty="0" err="1">
                <a:solidFill>
                  <a:srgbClr val="0065FA"/>
                </a:solidFill>
              </a:rPr>
              <a:t>categorical</a:t>
            </a:r>
            <a:r>
              <a:rPr lang="fr-MA" b="1" dirty="0">
                <a:solidFill>
                  <a:srgbClr val="0065FA"/>
                </a:solidFill>
              </a:rPr>
              <a:t> and </a:t>
            </a: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Missing</a:t>
            </a:r>
            <a:r>
              <a:rPr lang="fr-MA" b="1" dirty="0">
                <a:solidFill>
                  <a:srgbClr val="0065FA"/>
                </a:solidFill>
              </a:rPr>
              <a:t>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Numerical</a:t>
            </a:r>
            <a:r>
              <a:rPr lang="fr-MA" b="1" dirty="0">
                <a:solidFill>
                  <a:srgbClr val="0065FA"/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Discrete</a:t>
            </a:r>
            <a:endParaRPr lang="fr-MA" b="1" dirty="0">
              <a:solidFill>
                <a:srgbClr val="0065FA"/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Continuous</a:t>
            </a:r>
            <a:endParaRPr lang="fr-MA" b="1" dirty="0">
              <a:solidFill>
                <a:srgbClr val="0065FA"/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Distributions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Transformations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Categorical</a:t>
            </a:r>
            <a:r>
              <a:rPr lang="fr-MA" b="1" dirty="0">
                <a:solidFill>
                  <a:srgbClr val="0065FA"/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Cardinality</a:t>
            </a:r>
            <a:endParaRPr lang="fr-MA" b="1" dirty="0">
              <a:solidFill>
                <a:srgbClr val="0065FA"/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Rare Labels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b="1" dirty="0" err="1">
                <a:solidFill>
                  <a:srgbClr val="0065FA"/>
                </a:solidFill>
              </a:rPr>
              <a:t>Special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mappings</a:t>
            </a:r>
            <a:endParaRPr lang="fr-MA" b="1" dirty="0">
              <a:solidFill>
                <a:srgbClr val="0065FA"/>
              </a:solidFill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fr-MA" dirty="0"/>
          </a:p>
          <a:p>
            <a:pPr>
              <a:spcAft>
                <a:spcPts val="600"/>
              </a:spcAft>
            </a:pPr>
            <a:endParaRPr lang="fr-M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267C4D-4B5E-1D1D-BC43-8DB0ACF0EA11}"/>
              </a:ext>
            </a:extLst>
          </p:cNvPr>
          <p:cNvSpPr txBox="1"/>
          <p:nvPr/>
        </p:nvSpPr>
        <p:spPr>
          <a:xfrm>
            <a:off x="19707" y="43931"/>
            <a:ext cx="6727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180FF"/>
                </a:solidFill>
              </a:rPr>
              <a:t>Data </a:t>
            </a:r>
            <a:r>
              <a:rPr lang="fr-FR" sz="2400" b="1" dirty="0" err="1">
                <a:solidFill>
                  <a:srgbClr val="0180FF"/>
                </a:solidFill>
              </a:rPr>
              <a:t>Analysis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16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028343"/>
            <a:ext cx="1218937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What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we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need</a:t>
            </a:r>
            <a:r>
              <a:rPr lang="fr-MA" dirty="0">
                <a:latin typeface="+mj-lt"/>
              </a:rPr>
              <a:t> to do: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skewed (asymmetric) variables and see how predictive they are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How many different categories are present in each categorical variable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which categorical variable are ordered and how can be encoded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Which labels are under-represented in the dataset and why we shood remove or replace them</a:t>
            </a: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Find the relationship between the categories of the different variable and the house sale price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1B995-8CF3-5FAC-7BAB-2D2D61EBFD6A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5. </a:t>
            </a:r>
            <a:r>
              <a:rPr lang="fr-MA" sz="2000" b="1" dirty="0" err="1">
                <a:solidFill>
                  <a:srgbClr val="0065FA"/>
                </a:solidFill>
              </a:rPr>
              <a:t>Categorical</a:t>
            </a:r>
            <a:r>
              <a:rPr lang="fr-MA" sz="2000" b="1" dirty="0">
                <a:solidFill>
                  <a:srgbClr val="0065FA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871305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501311"/>
            <a:ext cx="121893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Incode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categorical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data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into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numerical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data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before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use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them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is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a crucial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step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before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modeling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step</a:t>
            </a:r>
            <a:endParaRPr lang="fr-MA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Some techniques can not work with categorical data directly: neural networks, </a:t>
            </a:r>
            <a:r>
              <a:rPr lang="en-US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knn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, logistic regression, linear regression…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These techniques </a:t>
            </a:r>
            <a:r>
              <a:rPr lang="fr-MA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require</a:t>
            </a:r>
            <a:r>
              <a:rPr lang="fr-MA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 transformations</a:t>
            </a:r>
            <a:endParaRPr lang="en-US" sz="20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Some techniques can work with categorical data directly: decision trees, random forest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But, 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Some implementations of machine learning algorithms require all data to be numerical like </a:t>
            </a:r>
            <a:r>
              <a:rPr lang="en-US" sz="20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sklearn</a:t>
            </a: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CCC23-8F46-54C7-7458-7D81E33C96D2}"/>
              </a:ext>
            </a:extLst>
          </p:cNvPr>
          <p:cNvSpPr txBox="1"/>
          <p:nvPr/>
        </p:nvSpPr>
        <p:spPr>
          <a:xfrm>
            <a:off x="0" y="658792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>
                <a:solidFill>
                  <a:srgbClr val="0180FF"/>
                </a:solidFill>
                <a:latin typeface="Helvetica Neue"/>
              </a:rPr>
              <a:t>Machine Learning Techniques &amp; </a:t>
            </a:r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Categorical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3C03E-F52D-3818-2705-22866AD747F2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5. </a:t>
            </a:r>
            <a:r>
              <a:rPr lang="fr-MA" sz="2000" b="1" dirty="0" err="1">
                <a:solidFill>
                  <a:srgbClr val="0065FA"/>
                </a:solidFill>
              </a:rPr>
              <a:t>Categorical</a:t>
            </a:r>
            <a:r>
              <a:rPr lang="fr-MA" sz="2000" b="1" dirty="0">
                <a:solidFill>
                  <a:srgbClr val="0065FA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149749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753557"/>
            <a:ext cx="12189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Ordinal encoding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For example: size (XS,S,M,L,XL,XXL), the order have a sense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machine learning algorithms may be able to understand and harness this sense.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CCC23-8F46-54C7-7458-7D81E33C96D2}"/>
              </a:ext>
            </a:extLst>
          </p:cNvPr>
          <p:cNvSpPr txBox="1"/>
          <p:nvPr/>
        </p:nvSpPr>
        <p:spPr>
          <a:xfrm>
            <a:off x="0" y="800682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Ordinal Encoding for </a:t>
            </a:r>
            <a:r>
              <a:rPr lang="en-US" b="1" dirty="0" err="1">
                <a:solidFill>
                  <a:srgbClr val="0180FF"/>
                </a:solidFill>
                <a:effectLst/>
                <a:latin typeface="Helvetica Neue"/>
              </a:rPr>
              <a:t>Oredered</a:t>
            </a:r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 Categorical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40F59-5AE0-6388-4D33-C8E844F5BBC0}"/>
              </a:ext>
            </a:extLst>
          </p:cNvPr>
          <p:cNvSpPr txBox="1"/>
          <p:nvPr/>
        </p:nvSpPr>
        <p:spPr>
          <a:xfrm>
            <a:off x="173421" y="3494380"/>
            <a:ext cx="6117020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/>
              <a:t>import pandas as </a:t>
            </a:r>
            <a:r>
              <a:rPr lang="fr-MA" dirty="0" err="1"/>
              <a:t>pnd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/>
              <a:t>data = ['M','XL','M','XS','S','XS','S'] 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df</a:t>
            </a:r>
            <a:r>
              <a:rPr lang="fr-MA" dirty="0"/>
              <a:t> = </a:t>
            </a:r>
            <a:r>
              <a:rPr lang="fr-MA" dirty="0" err="1"/>
              <a:t>pnd.DataFrame</a:t>
            </a:r>
            <a:r>
              <a:rPr lang="fr-MA" dirty="0"/>
              <a:t>(data, </a:t>
            </a:r>
            <a:r>
              <a:rPr lang="fr-MA" dirty="0" err="1"/>
              <a:t>columns</a:t>
            </a:r>
            <a:r>
              <a:rPr lang="fr-MA" dirty="0"/>
              <a:t>=['Size']) 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scale_mapper</a:t>
            </a:r>
            <a:r>
              <a:rPr lang="fr-MA" dirty="0"/>
              <a:t> = {"XS":1, "S":2, "M":3,"L":4,"XL":5}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df</a:t>
            </a:r>
            <a:r>
              <a:rPr lang="fr-MA" dirty="0"/>
              <a:t>["Size"] = </a:t>
            </a:r>
            <a:r>
              <a:rPr lang="fr-MA" dirty="0" err="1"/>
              <a:t>df</a:t>
            </a:r>
            <a:r>
              <a:rPr lang="fr-MA" dirty="0"/>
              <a:t>["Size"].replace(</a:t>
            </a:r>
            <a:r>
              <a:rPr lang="fr-MA" dirty="0" err="1"/>
              <a:t>scale_mapper</a:t>
            </a:r>
            <a:r>
              <a:rPr lang="fr-MA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F0FA6-7339-EC9C-3E67-793DC191EE47}"/>
              </a:ext>
            </a:extLst>
          </p:cNvPr>
          <p:cNvSpPr txBox="1"/>
          <p:nvPr/>
        </p:nvSpPr>
        <p:spPr>
          <a:xfrm>
            <a:off x="173421" y="3132051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Example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F4612-B710-45A9-EF91-811D600643DD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5. </a:t>
            </a:r>
            <a:r>
              <a:rPr lang="fr-MA" sz="2000" b="1" dirty="0" err="1">
                <a:solidFill>
                  <a:srgbClr val="0065FA"/>
                </a:solidFill>
              </a:rPr>
              <a:t>Categorical</a:t>
            </a:r>
            <a:r>
              <a:rPr lang="fr-MA" sz="2000" b="1" dirty="0">
                <a:solidFill>
                  <a:srgbClr val="0065FA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378590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2628" y="1138703"/>
            <a:ext cx="12189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One-Hot Encoding: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For example: color (</a:t>
            </a:r>
            <a:r>
              <a:rPr lang="en-US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red,green,blue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), the order not make sense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CCC23-8F46-54C7-7458-7D81E33C96D2}"/>
              </a:ext>
            </a:extLst>
          </p:cNvPr>
          <p:cNvSpPr txBox="1"/>
          <p:nvPr/>
        </p:nvSpPr>
        <p:spPr>
          <a:xfrm>
            <a:off x="0" y="784922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One-Hot Encoding for Non </a:t>
            </a:r>
            <a:r>
              <a:rPr lang="en-US" b="1" dirty="0" err="1">
                <a:solidFill>
                  <a:srgbClr val="0180FF"/>
                </a:solidFill>
                <a:effectLst/>
                <a:latin typeface="Helvetica Neue"/>
              </a:rPr>
              <a:t>Ordrered</a:t>
            </a:r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 Categorical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F0FA6-7339-EC9C-3E67-793DC191EE47}"/>
              </a:ext>
            </a:extLst>
          </p:cNvPr>
          <p:cNvSpPr txBox="1"/>
          <p:nvPr/>
        </p:nvSpPr>
        <p:spPr>
          <a:xfrm>
            <a:off x="173421" y="2375304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180FF"/>
                </a:solidFill>
                <a:effectLst/>
                <a:latin typeface="Helvetica Neue"/>
              </a:rPr>
              <a:t>Example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C4D2C-E3A6-CAA6-258A-B97379DADD50}"/>
              </a:ext>
            </a:extLst>
          </p:cNvPr>
          <p:cNvSpPr txBox="1"/>
          <p:nvPr/>
        </p:nvSpPr>
        <p:spPr>
          <a:xfrm>
            <a:off x="173420" y="2809131"/>
            <a:ext cx="6589987" cy="39087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numpy</a:t>
            </a:r>
            <a:r>
              <a:rPr lang="fr-MA" dirty="0"/>
              <a:t> import </a:t>
            </a:r>
            <a:r>
              <a:rPr lang="fr-MA" dirty="0" err="1"/>
              <a:t>asarray</a:t>
            </a:r>
            <a:endParaRPr lang="fr-MA" dirty="0"/>
          </a:p>
          <a:p>
            <a:pPr>
              <a:spcAft>
                <a:spcPts val="600"/>
              </a:spcAft>
            </a:pPr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sklearn.preprocessing</a:t>
            </a:r>
            <a:r>
              <a:rPr lang="fr-MA" dirty="0"/>
              <a:t> import </a:t>
            </a:r>
            <a:r>
              <a:rPr lang="fr-MA" dirty="0" err="1"/>
              <a:t>OneHotEncoder</a:t>
            </a:r>
            <a:endParaRPr lang="fr-MA" dirty="0"/>
          </a:p>
          <a:p>
            <a:pPr>
              <a:spcAft>
                <a:spcPts val="600"/>
              </a:spcAft>
            </a:pPr>
            <a:r>
              <a:rPr lang="fr-MA" dirty="0">
                <a:solidFill>
                  <a:srgbClr val="00B050"/>
                </a:solidFill>
              </a:rPr>
              <a:t># </a:t>
            </a:r>
            <a:r>
              <a:rPr lang="fr-MA" dirty="0" err="1">
                <a:solidFill>
                  <a:srgbClr val="00B050"/>
                </a:solidFill>
              </a:rPr>
              <a:t>define</a:t>
            </a:r>
            <a:r>
              <a:rPr lang="fr-MA" dirty="0">
                <a:solidFill>
                  <a:srgbClr val="00B050"/>
                </a:solidFill>
              </a:rPr>
              <a:t> data</a:t>
            </a:r>
          </a:p>
          <a:p>
            <a:pPr>
              <a:spcAft>
                <a:spcPts val="600"/>
              </a:spcAft>
            </a:pPr>
            <a:r>
              <a:rPr lang="fr-MA" dirty="0"/>
              <a:t>data = </a:t>
            </a:r>
            <a:r>
              <a:rPr lang="fr-MA" dirty="0" err="1"/>
              <a:t>asarray</a:t>
            </a:r>
            <a:r>
              <a:rPr lang="fr-MA" dirty="0"/>
              <a:t>([['</a:t>
            </a:r>
            <a:r>
              <a:rPr lang="fr-MA" dirty="0" err="1"/>
              <a:t>red</a:t>
            </a:r>
            <a:r>
              <a:rPr lang="fr-MA" dirty="0"/>
              <a:t>'], ['green'], ['</a:t>
            </a:r>
            <a:r>
              <a:rPr lang="fr-MA" dirty="0" err="1"/>
              <a:t>blue</a:t>
            </a:r>
            <a:r>
              <a:rPr lang="fr-MA" dirty="0"/>
              <a:t>']])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(data)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("---------------------------------")</a:t>
            </a:r>
          </a:p>
          <a:p>
            <a:pPr>
              <a:spcAft>
                <a:spcPts val="600"/>
              </a:spcAft>
            </a:pPr>
            <a:r>
              <a:rPr lang="fr-MA" dirty="0">
                <a:solidFill>
                  <a:srgbClr val="00B050"/>
                </a:solidFill>
              </a:rPr>
              <a:t># </a:t>
            </a:r>
            <a:r>
              <a:rPr lang="fr-MA" dirty="0" err="1">
                <a:solidFill>
                  <a:srgbClr val="00B050"/>
                </a:solidFill>
              </a:rPr>
              <a:t>define</a:t>
            </a:r>
            <a:r>
              <a:rPr lang="fr-MA" dirty="0">
                <a:solidFill>
                  <a:srgbClr val="00B050"/>
                </a:solidFill>
              </a:rPr>
              <a:t> one hot </a:t>
            </a:r>
            <a:r>
              <a:rPr lang="fr-MA" dirty="0" err="1">
                <a:solidFill>
                  <a:srgbClr val="00B050"/>
                </a:solidFill>
              </a:rPr>
              <a:t>encoding</a:t>
            </a:r>
            <a:endParaRPr lang="fr-MA" dirty="0">
              <a:solidFill>
                <a:srgbClr val="00B050"/>
              </a:solidFill>
            </a:endParaRPr>
          </a:p>
          <a:p>
            <a:pPr>
              <a:spcAft>
                <a:spcPts val="600"/>
              </a:spcAft>
            </a:pPr>
            <a:r>
              <a:rPr lang="fr-MA" dirty="0"/>
              <a:t>encoder = </a:t>
            </a:r>
            <a:r>
              <a:rPr lang="fr-MA" dirty="0" err="1"/>
              <a:t>OneHotEncoder</a:t>
            </a:r>
            <a:r>
              <a:rPr lang="fr-MA" dirty="0"/>
              <a:t>(</a:t>
            </a:r>
            <a:r>
              <a:rPr lang="fr-MA" dirty="0" err="1"/>
              <a:t>sparse</a:t>
            </a:r>
            <a:r>
              <a:rPr lang="fr-MA" dirty="0"/>
              <a:t>=False)</a:t>
            </a:r>
          </a:p>
          <a:p>
            <a:pPr>
              <a:spcAft>
                <a:spcPts val="600"/>
              </a:spcAft>
            </a:pPr>
            <a:r>
              <a:rPr lang="fr-MA" dirty="0">
                <a:solidFill>
                  <a:srgbClr val="00B050"/>
                </a:solidFill>
              </a:rPr>
              <a:t># </a:t>
            </a:r>
            <a:r>
              <a:rPr lang="fr-MA" dirty="0" err="1">
                <a:solidFill>
                  <a:srgbClr val="00B050"/>
                </a:solidFill>
              </a:rPr>
              <a:t>transform</a:t>
            </a:r>
            <a:r>
              <a:rPr lang="fr-MA" dirty="0">
                <a:solidFill>
                  <a:srgbClr val="00B050"/>
                </a:solidFill>
              </a:rPr>
              <a:t> data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onehot</a:t>
            </a:r>
            <a:r>
              <a:rPr lang="fr-MA" dirty="0"/>
              <a:t> = </a:t>
            </a:r>
            <a:r>
              <a:rPr lang="fr-MA" dirty="0" err="1"/>
              <a:t>encoder.fit_transform</a:t>
            </a:r>
            <a:r>
              <a:rPr lang="fr-MA" dirty="0"/>
              <a:t>(data)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onehot</a:t>
            </a:r>
            <a:r>
              <a:rPr lang="fr-MA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245AE-A7F6-016E-816C-25BF85C45224}"/>
              </a:ext>
            </a:extLst>
          </p:cNvPr>
          <p:cNvSpPr txBox="1"/>
          <p:nvPr/>
        </p:nvSpPr>
        <p:spPr>
          <a:xfrm>
            <a:off x="15764" y="75687"/>
            <a:ext cx="61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2000" b="1" dirty="0">
                <a:solidFill>
                  <a:srgbClr val="0065FA"/>
                </a:solidFill>
              </a:rPr>
              <a:t>5. </a:t>
            </a:r>
            <a:r>
              <a:rPr lang="fr-MA" sz="2000" b="1" dirty="0" err="1">
                <a:solidFill>
                  <a:srgbClr val="0065FA"/>
                </a:solidFill>
              </a:rPr>
              <a:t>Categorical</a:t>
            </a:r>
            <a:r>
              <a:rPr lang="fr-MA" sz="2000" b="1" dirty="0">
                <a:solidFill>
                  <a:srgbClr val="0065FA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923379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8442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Part 2</a:t>
            </a:r>
          </a:p>
          <a:p>
            <a:pPr algn="ctr"/>
            <a:r>
              <a:rPr lang="fr-FR" sz="3600" dirty="0" err="1">
                <a:solidFill>
                  <a:srgbClr val="0180FF"/>
                </a:solidFill>
              </a:rPr>
              <a:t>Features</a:t>
            </a:r>
            <a:r>
              <a:rPr lang="fr-FR" sz="3600" dirty="0">
                <a:solidFill>
                  <a:srgbClr val="0180FF"/>
                </a:solidFill>
              </a:rPr>
              <a:t> Engineering pipeline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46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18394" y="681495"/>
            <a:ext cx="12189372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Separate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into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train and test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this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separation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allows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us to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avoid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over-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fitting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Fix the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seed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Deal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missing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categorical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numerical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Transform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Categorical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Numerical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Temporal variables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Discrete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Deal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rare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lables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Encode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categoricla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Scale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continuous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variables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Save train and test data in new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5F40E-A554-D2FE-F972-CA00FD99840D}"/>
              </a:ext>
            </a:extLst>
          </p:cNvPr>
          <p:cNvSpPr txBox="1"/>
          <p:nvPr/>
        </p:nvSpPr>
        <p:spPr>
          <a:xfrm>
            <a:off x="-11822" y="154293"/>
            <a:ext cx="612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180FF"/>
                </a:solidFill>
              </a:rPr>
              <a:t>Features</a:t>
            </a:r>
            <a:r>
              <a:rPr lang="fr-FR" sz="2400" b="1" dirty="0">
                <a:solidFill>
                  <a:srgbClr val="0180FF"/>
                </a:solidFill>
              </a:rPr>
              <a:t> Engineering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594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8442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Part 3</a:t>
            </a:r>
          </a:p>
          <a:p>
            <a:pPr algn="ctr"/>
            <a:r>
              <a:rPr lang="fr-FR" sz="3600" dirty="0" err="1">
                <a:solidFill>
                  <a:srgbClr val="0180FF"/>
                </a:solidFill>
              </a:rPr>
              <a:t>Features</a:t>
            </a:r>
            <a:r>
              <a:rPr lang="fr-FR" sz="3600" dirty="0">
                <a:solidFill>
                  <a:srgbClr val="0180FF"/>
                </a:solidFill>
              </a:rPr>
              <a:t> </a:t>
            </a:r>
            <a:r>
              <a:rPr lang="fr-FR" sz="3600" dirty="0" err="1">
                <a:solidFill>
                  <a:srgbClr val="0180FF"/>
                </a:solidFill>
              </a:rPr>
              <a:t>Selection</a:t>
            </a:r>
            <a:r>
              <a:rPr lang="fr-FR" sz="3600" dirty="0">
                <a:solidFill>
                  <a:srgbClr val="0180FF"/>
                </a:solidFill>
              </a:rPr>
              <a:t> pipeline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378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7D05F-9B37-1062-7AD2-47355FC405C8}"/>
              </a:ext>
            </a:extLst>
          </p:cNvPr>
          <p:cNvSpPr txBox="1"/>
          <p:nvPr/>
        </p:nvSpPr>
        <p:spPr>
          <a:xfrm>
            <a:off x="18394" y="681495"/>
            <a:ext cx="1218937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A feature selection pipeline represents a systematic and automated process for selecting the 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most relevant features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(input variables) from a larger set of features in a machine learning project.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This pipeline is a series of steps or components that are used to preprocess and choose the most important features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before training a machine learning model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Feature selection is essential for 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improving model performance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, reducing overfitting, and enhancing interpretability.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Different feature selection algorithms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, such as </a:t>
            </a: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Recursive Feature Elimination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(RFE), </a:t>
            </a:r>
            <a:r>
              <a:rPr lang="en-US" b="1" i="0" dirty="0">
                <a:solidFill>
                  <a:srgbClr val="374151"/>
                </a:solidFill>
                <a:effectLst/>
                <a:latin typeface="+mj-lt"/>
              </a:rPr>
              <a:t>L1 regularization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 (Lasso), or forward/backward selection, are applied to choose the top-performing features based on their scores.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5F40E-A554-D2FE-F972-CA00FD99840D}"/>
              </a:ext>
            </a:extLst>
          </p:cNvPr>
          <p:cNvSpPr txBox="1"/>
          <p:nvPr/>
        </p:nvSpPr>
        <p:spPr>
          <a:xfrm>
            <a:off x="-11822" y="154293"/>
            <a:ext cx="612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180FF"/>
                </a:solidFill>
              </a:rPr>
              <a:t>Features</a:t>
            </a:r>
            <a:r>
              <a:rPr lang="fr-FR" sz="2400" b="1" dirty="0">
                <a:solidFill>
                  <a:srgbClr val="0180FF"/>
                </a:solidFill>
              </a:rPr>
              <a:t> </a:t>
            </a:r>
            <a:r>
              <a:rPr lang="fr-FR" sz="2400" b="1" dirty="0" err="1">
                <a:solidFill>
                  <a:srgbClr val="0180FF"/>
                </a:solidFill>
              </a:rPr>
              <a:t>Selection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994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8442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Part 4</a:t>
            </a:r>
          </a:p>
          <a:p>
            <a:pPr algn="ctr"/>
            <a:r>
              <a:rPr lang="fr-FR" sz="3600" dirty="0">
                <a:solidFill>
                  <a:srgbClr val="0180FF"/>
                </a:solidFill>
              </a:rPr>
              <a:t>Model Training pipeline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95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F5F40E-A554-D2FE-F972-CA00FD99840D}"/>
              </a:ext>
            </a:extLst>
          </p:cNvPr>
          <p:cNvSpPr txBox="1"/>
          <p:nvPr/>
        </p:nvSpPr>
        <p:spPr>
          <a:xfrm>
            <a:off x="-11822" y="154293"/>
            <a:ext cx="612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180FF"/>
                </a:solidFill>
              </a:rPr>
              <a:t>Model Training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44674-8C77-BC67-F165-F7426FAF0205}"/>
              </a:ext>
            </a:extLst>
          </p:cNvPr>
          <p:cNvSpPr txBox="1"/>
          <p:nvPr/>
        </p:nvSpPr>
        <p:spPr>
          <a:xfrm>
            <a:off x="18394" y="681495"/>
            <a:ext cx="1218937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Model Selection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Model Training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Model Tuning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1961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C580B-CD7B-F67E-C461-7C9A744A2930}"/>
              </a:ext>
            </a:extLst>
          </p:cNvPr>
          <p:cNvSpPr txBox="1"/>
          <p:nvPr/>
        </p:nvSpPr>
        <p:spPr>
          <a:xfrm>
            <a:off x="0" y="284422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0180FF"/>
                </a:solidFill>
              </a:rPr>
              <a:t>Part 5</a:t>
            </a:r>
          </a:p>
          <a:p>
            <a:pPr algn="ctr"/>
            <a:r>
              <a:rPr lang="fr-FR" sz="3600" dirty="0" err="1">
                <a:solidFill>
                  <a:srgbClr val="0180FF"/>
                </a:solidFill>
              </a:rPr>
              <a:t>Scoring</a:t>
            </a:r>
            <a:r>
              <a:rPr lang="fr-FR" sz="3600" dirty="0">
                <a:solidFill>
                  <a:srgbClr val="0180FF"/>
                </a:solidFill>
              </a:rPr>
              <a:t> pipeline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0487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F5F40E-A554-D2FE-F972-CA00FD99840D}"/>
              </a:ext>
            </a:extLst>
          </p:cNvPr>
          <p:cNvSpPr txBox="1"/>
          <p:nvPr/>
        </p:nvSpPr>
        <p:spPr>
          <a:xfrm>
            <a:off x="-11822" y="154293"/>
            <a:ext cx="612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180FF"/>
                </a:solidFill>
              </a:rPr>
              <a:t>Scoring</a:t>
            </a:r>
            <a:r>
              <a:rPr lang="fr-FR" sz="2400" b="1" dirty="0">
                <a:solidFill>
                  <a:srgbClr val="0180FF"/>
                </a:solidFill>
              </a:rPr>
              <a:t> pipeline</a:t>
            </a:r>
            <a:endParaRPr lang="fr-MA" sz="2400" b="1" dirty="0">
              <a:solidFill>
                <a:srgbClr val="0180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44674-8C77-BC67-F165-F7426FAF0205}"/>
              </a:ext>
            </a:extLst>
          </p:cNvPr>
          <p:cNvSpPr txBox="1"/>
          <p:nvPr/>
        </p:nvSpPr>
        <p:spPr>
          <a:xfrm>
            <a:off x="18394" y="681495"/>
            <a:ext cx="1218937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Test the model on data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never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seen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74417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94329</TotalTime>
  <Words>1940</Words>
  <Application>Microsoft Office PowerPoint</Application>
  <PresentationFormat>Widescreen</PresentationFormat>
  <Paragraphs>368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Helvetica Neue</vt:lpstr>
      <vt:lpstr>Söhne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784</cp:revision>
  <dcterms:created xsi:type="dcterms:W3CDTF">2019-09-13T15:50:46Z</dcterms:created>
  <dcterms:modified xsi:type="dcterms:W3CDTF">2023-12-02T21:58:00Z</dcterms:modified>
</cp:coreProperties>
</file>